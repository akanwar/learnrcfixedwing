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2.svg" ContentType="image/svg+xml"/>
  <Override PartName="/ppt/media/image-2-4.svg" ContentType="image/svg+xml"/>
  <Override PartName="/ppt/media/image-3-2.svg" ContentType="image/svg+xml"/>
  <Override PartName="/ppt/media/image-4-2.svg" ContentType="image/svg+xml"/>
  <Override PartName="/ppt/media/image-4-4.svg" ContentType="image/svg+xml"/>
  <Override PartName="/ppt/media/image-5-2.svg" ContentType="image/svg+xml"/>
  <Override PartName="/ppt/media/image-5-4.svg" ContentType="image/svg+xml"/>
  <Override PartName="/ppt/media/image-5-6.svg" ContentType="image/svg+xml"/>
  <Override PartName="/ppt/media/image-6-2.svg" ContentType="image/svg+xml"/>
  <Override PartName="/ppt/media/image-6-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317" r:id="rId68"/>
    <p:sldId id="294" r:id="rId45"/>
    <p:sldId id="256" r:id="rId2"/>
    <p:sldId id="257" r:id="rId3"/>
    <p:sldId id="258" r:id="rId4"/>
    <p:sldId id="259" r:id="rId5"/>
    <p:sldId id="260" r:id="rId6"/>
    <p:sldId id="261" r:id="rId7"/>
    <p:sldId id="262" r:id="rId8"/>
    <p:sldId id="318" r:id="rId69"/>
    <p:sldId id="319" r:id="rId70"/>
    <p:sldId id="320" r:id="rId71"/>
    <p:sldId id="321" r:id="rId72"/>
    <p:sldId id="263" r:id="rId14"/>
    <p:sldId id="264" r:id="rId15"/>
    <p:sldId id="265" r:id="rId16"/>
    <p:sldId id="266" r:id="rId17"/>
    <p:sldId id="267" r:id="rId18"/>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notesMasterIdLst>
    <p:notesMasterId r:id="rId9"/>
  </p:notesMasterIdLst>
  <p:sldSz cx="7772400" cy="9262872"/>
  <p:notesSz cx="9262872"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9.xml"/><Relationship Id="rId3" Type="http://schemas.openxmlformats.org/officeDocument/2006/relationships/slide" Target="slides/slide30.xml"/><Relationship Id="rId4" Type="http://schemas.openxmlformats.org/officeDocument/2006/relationships/slide" Target="slides/slide31.xml"/><Relationship Id="rId5" Type="http://schemas.openxmlformats.org/officeDocument/2006/relationships/slide" Target="slides/slide32.xml"/><Relationship Id="rId6" Type="http://schemas.openxmlformats.org/officeDocument/2006/relationships/slide" Target="slides/slide33.xml"/><Relationship Id="rId7" Type="http://schemas.openxmlformats.org/officeDocument/2006/relationships/slide" Target="slides/slide34.xml"/><Relationship Id="rId8" Type="http://schemas.openxmlformats.org/officeDocument/2006/relationships/slide" Target="slides/slide35.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0.xml"/><Relationship Id="rId15" Type="http://schemas.openxmlformats.org/officeDocument/2006/relationships/slide" Target="slides/slide41.xml"/><Relationship Id="rId16" Type="http://schemas.openxmlformats.org/officeDocument/2006/relationships/slide" Target="slides/slide42.xml"/><Relationship Id="rId17" Type="http://schemas.openxmlformats.org/officeDocument/2006/relationships/slide" Target="slides/slide43.xml"/><Relationship Id="rId18" Type="http://schemas.openxmlformats.org/officeDocument/2006/relationships/slide" Target="slides/slide44.xml"/><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slide" Target="slides/slide16.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20.xml"/><Relationship Id="rId39" Type="http://schemas.openxmlformats.org/officeDocument/2006/relationships/slide" Target="slides/slide21.xml"/><Relationship Id="rId40" Type="http://schemas.openxmlformats.org/officeDocument/2006/relationships/slide" Target="slides/slide22.xml"/><Relationship Id="rId41" Type="http://schemas.openxmlformats.org/officeDocument/2006/relationships/slide" Target="slides/slide23.xml"/><Relationship Id="rId42" Type="http://schemas.openxmlformats.org/officeDocument/2006/relationships/slide" Target="slides/slide24.xml"/><Relationship Id="rId43" Type="http://schemas.openxmlformats.org/officeDocument/2006/relationships/slide" Target="slides/slide25.xml"/><Relationship Id="rId44" Type="http://schemas.openxmlformats.org/officeDocument/2006/relationships/slide" Target="slides/slide26.xml"/><Relationship Id="rId45" Type="http://schemas.openxmlformats.org/officeDocument/2006/relationships/slide" Target="slides/slide28.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27.xml"/><Relationship Id="rId69" Type="http://schemas.openxmlformats.org/officeDocument/2006/relationships/slide" Target="slides/slide36.xml"/><Relationship Id="rId70" Type="http://schemas.openxmlformats.org/officeDocument/2006/relationships/slide" Target="slides/slide37.xml"/><Relationship Id="rId71" Type="http://schemas.openxmlformats.org/officeDocument/2006/relationships/slide" Target="slides/slide38.xml"/><Relationship Id="rId72"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7F9F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315200" y="9015984"/>
            <a:ext cx="182880" cy="13716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B8498"/>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315200" y="9015984"/>
            <a:ext cx="182880" cy="13716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B849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30.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33.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34.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1.grc.nasa.gov/beginners-guide-to-aeronautics/" TargetMode="External"/><Relationship Id="rId3" Type="http://schemas.openxmlformats.org/officeDocument/2006/relationships/hyperlink" Target="https://ocw.mit.edu/courses/16-01-unified-engineering-i-ii-iii-iv-fall-2005-spring-2006/" TargetMode="External"/><Relationship Id="rId4" Type="http://schemas.openxmlformats.org/officeDocument/2006/relationships/hyperlink" Target="https://m-selig.ae.illinois.edu/ads/coord_database.html" TargetMode="External"/><Relationship Id="rId5" Type="http://schemas.openxmlformats.org/officeDocument/2006/relationships/hyperlink" Target="https://www.modelaircraft.or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9262872"/>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21792"/>
            <a:ext cx="5303520" cy="210312"/>
          </a:xfrm>
          <a:prstGeom prst="rect">
            <a:avLst/>
          </a:prstGeom>
          <a:noFill/>
        </p:spPr>
        <p:txBody>
          <a:bodyPr wrap="square" lIns="0" rIns="0" tIns="0" bIns="0" anchor="t">
            <a:spAutoFit/>
          </a:bodyPr>
          <a:lstStyle/>
          <a:p>
            <a:pPr algn="l">
              <a:lnSpc>
                <a:spcPct val="100000"/>
              </a:lnSpc>
            </a:pPr>
            <a:r>
              <a:rPr sz="1000" b="1" i="0">
                <a:solidFill>
                  <a:srgbClr val="E0702B"/>
                </a:solidFill>
                <a:latin typeface="Arial"/>
              </a:rPr>
              <a:t>R/C AIRCRAFT DESIGN &amp; BUILD MANUAL</a:t>
            </a:r>
          </a:p>
        </p:txBody>
      </p:sp>
      <p:sp>
        <p:nvSpPr>
          <p:cNvPr id="5" name="TextBox 4"/>
          <p:cNvSpPr txBox="1"/>
          <p:nvPr/>
        </p:nvSpPr>
        <p:spPr>
          <a:xfrm>
            <a:off x="548640" y="1097280"/>
            <a:ext cx="6492240" cy="566928"/>
          </a:xfrm>
          <a:prstGeom prst="rect">
            <a:avLst/>
          </a:prstGeom>
          <a:noFill/>
        </p:spPr>
        <p:txBody>
          <a:bodyPr wrap="square" lIns="0" rIns="0" tIns="0" bIns="0" anchor="t">
            <a:spAutoFit/>
          </a:bodyPr>
          <a:lstStyle/>
          <a:p>
            <a:pPr algn="l">
              <a:lnSpc>
                <a:spcPct val="100000"/>
              </a:lnSpc>
            </a:pPr>
            <a:r>
              <a:rPr sz="3900" b="1" i="0">
                <a:solidFill>
                  <a:srgbClr val="FFFFFF"/>
                </a:solidFill>
                <a:latin typeface="Arial"/>
              </a:rPr>
              <a:t>From mission to</a:t>
            </a:r>
          </a:p>
        </p:txBody>
      </p:sp>
      <p:sp>
        <p:nvSpPr>
          <p:cNvPr id="6" name="TextBox 5"/>
          <p:cNvSpPr txBox="1"/>
          <p:nvPr/>
        </p:nvSpPr>
        <p:spPr>
          <a:xfrm>
            <a:off x="548640" y="1627632"/>
            <a:ext cx="6492240" cy="530352"/>
          </a:xfrm>
          <a:prstGeom prst="rect">
            <a:avLst/>
          </a:prstGeom>
          <a:noFill/>
        </p:spPr>
        <p:txBody>
          <a:bodyPr wrap="square" lIns="0" rIns="0" tIns="0" bIns="0" anchor="t">
            <a:spAutoFit/>
          </a:bodyPr>
          <a:lstStyle/>
          <a:p>
            <a:pPr algn="l">
              <a:lnSpc>
                <a:spcPct val="100000"/>
              </a:lnSpc>
            </a:pPr>
            <a:r>
              <a:rPr sz="3400" b="1" i="0">
                <a:solidFill>
                  <a:srgbClr val="E0702B"/>
                </a:solidFill>
                <a:latin typeface="Arial"/>
              </a:rPr>
              <a:t>maiden flight</a:t>
            </a:r>
          </a:p>
        </p:txBody>
      </p:sp>
      <p:sp>
        <p:nvSpPr>
          <p:cNvPr id="7" name="TextBox 6"/>
          <p:cNvSpPr txBox="1"/>
          <p:nvPr/>
        </p:nvSpPr>
        <p:spPr>
          <a:xfrm>
            <a:off x="548640" y="2560320"/>
            <a:ext cx="6035040" cy="713232"/>
          </a:xfrm>
          <a:prstGeom prst="rect">
            <a:avLst/>
          </a:prstGeom>
          <a:noFill/>
        </p:spPr>
        <p:txBody>
          <a:bodyPr wrap="square" lIns="0" rIns="0" tIns="0" bIns="0" anchor="t">
            <a:spAutoFit/>
          </a:bodyPr>
          <a:lstStyle/>
          <a:p>
            <a:pPr algn="l">
              <a:lnSpc>
                <a:spcPct val="100000"/>
              </a:lnSpc>
            </a:pPr>
            <a:r>
              <a:rPr sz="1520" b="0" i="0">
                <a:solidFill>
                  <a:srgbClr val="D2DAEC"/>
                </a:solidFill>
                <a:latin typeface="Arial"/>
              </a:rPr>
              <a:t>A practical, calculation-backed guide to sizing, stability, airfoils, structures, propulsion, radio setup, and safe flight testing.</a:t>
            </a:r>
          </a:p>
        </p:txBody>
      </p:sp>
      <p:sp>
        <p:nvSpPr>
          <p:cNvPr id="8" name="Rounded Rectangle 7"/>
          <p:cNvSpPr/>
          <p:nvPr/>
        </p:nvSpPr>
        <p:spPr>
          <a:xfrm>
            <a:off x="530352" y="3749039"/>
            <a:ext cx="6720840" cy="3154680"/>
          </a:xfrm>
          <a:prstGeom prst="roundRect">
            <a:avLst>
              <a:gd name="adj" fmla="val 8000"/>
            </a:avLst>
          </a:prstGeom>
          <a:solidFill>
            <a:srgbClr val="182451"/>
          </a:solidFill>
          <a:ln w="10160">
            <a:solidFill>
              <a:srgbClr val="283A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 y="7205472"/>
            <a:ext cx="1325880" cy="256032"/>
          </a:xfrm>
          <a:prstGeom prst="roundRect">
            <a:avLst>
              <a:gd name="adj" fmla="val 8000"/>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7255764"/>
            <a:ext cx="1216152" cy="146304"/>
          </a:xfrm>
          <a:prstGeom prst="rect">
            <a:avLst/>
          </a:prstGeom>
          <a:noFill/>
        </p:spPr>
        <p:txBody>
          <a:bodyPr wrap="square" lIns="0" rIns="0" tIns="0" bIns="0" anchor="ctr">
            <a:spAutoFit/>
          </a:bodyPr>
          <a:lstStyle/>
          <a:p>
            <a:pPr algn="ctr">
              <a:lnSpc>
                <a:spcPct val="100000"/>
              </a:lnSpc>
            </a:pPr>
            <a:r>
              <a:rPr sz="900" b="1" i="0">
                <a:solidFill>
                  <a:srgbClr val="FFFFFF"/>
                </a:solidFill>
                <a:latin typeface="Arial"/>
              </a:rPr>
              <a:t>VOLUME 1</a:t>
            </a:r>
          </a:p>
        </p:txBody>
      </p:sp>
      <p:sp>
        <p:nvSpPr>
          <p:cNvPr id="23" name="TextBox 22"/>
          <p:cNvSpPr txBox="1"/>
          <p:nvPr/>
        </p:nvSpPr>
        <p:spPr>
          <a:xfrm>
            <a:off x="2121408" y="7205472"/>
            <a:ext cx="4937760" cy="283464"/>
          </a:xfrm>
          <a:prstGeom prst="rect">
            <a:avLst/>
          </a:prstGeom>
          <a:noFill/>
        </p:spPr>
        <p:txBody>
          <a:bodyPr wrap="square" lIns="0" rIns="0" tIns="0" bIns="0" anchor="t">
            <a:spAutoFit/>
          </a:bodyPr>
          <a:lstStyle/>
          <a:p>
            <a:pPr algn="l">
              <a:lnSpc>
                <a:spcPct val="100000"/>
              </a:lnSpc>
            </a:pPr>
            <a:r>
              <a:rPr sz="1120" b="1" i="0">
                <a:solidFill>
                  <a:srgbClr val="FFFFFF"/>
                </a:solidFill>
                <a:latin typeface="Arial"/>
              </a:rPr>
              <a:t>Conventional fixed-wing sport and trainer aircraft</a:t>
            </a:r>
          </a:p>
        </p:txBody>
      </p:sp>
      <p:sp>
        <p:nvSpPr>
          <p:cNvPr id="24" name="TextBox 23"/>
          <p:cNvSpPr txBox="1"/>
          <p:nvPr/>
        </p:nvSpPr>
        <p:spPr>
          <a:xfrm>
            <a:off x="548640" y="7936992"/>
            <a:ext cx="6309360" cy="502920"/>
          </a:xfrm>
          <a:prstGeom prst="rect">
            <a:avLst/>
          </a:prstGeom>
          <a:noFill/>
        </p:spPr>
        <p:txBody>
          <a:bodyPr wrap="square" lIns="0" rIns="0" tIns="0" bIns="0" anchor="t">
            <a:spAutoFit/>
          </a:bodyPr>
          <a:lstStyle/>
          <a:p>
            <a:pPr algn="l">
              <a:lnSpc>
                <a:spcPct val="100000"/>
              </a:lnSpc>
            </a:pPr>
            <a:r>
              <a:rPr sz="1200" b="0" i="0">
                <a:solidFill>
                  <a:srgbClr val="D2DAEC"/>
                </a:solidFill>
                <a:latin typeface="Arial"/>
              </a:rPr>
              <a:t>Designed for builders who want to understand why the airplane works—not just copy dimensions.</a:t>
            </a:r>
          </a:p>
        </p:txBody>
      </p:sp>
      <p:sp>
        <p:nvSpPr>
          <p:cNvPr id="25" name="TextBox 24"/>
          <p:cNvSpPr txBox="1"/>
          <p:nvPr/>
        </p:nvSpPr>
        <p:spPr>
          <a:xfrm>
            <a:off x="548640" y="8641080"/>
            <a:ext cx="4114800" cy="164592"/>
          </a:xfrm>
          <a:prstGeom prst="rect">
            <a:avLst/>
          </a:prstGeom>
          <a:noFill/>
        </p:spPr>
        <p:txBody>
          <a:bodyPr wrap="square" lIns="0" rIns="0" tIns="0" bIns="0" anchor="t">
            <a:spAutoFit/>
          </a:bodyPr>
          <a:lstStyle/>
          <a:p>
            <a:pPr algn="l">
              <a:lnSpc>
                <a:spcPct val="100000"/>
              </a:lnSpc>
            </a:pPr>
            <a:r>
              <a:rPr sz="750" b="1" i="0">
                <a:solidFill>
                  <a:srgbClr val="E0702B"/>
                </a:solidFill>
                <a:latin typeface="Arial"/>
              </a:rPr>
              <a:t>FIRST EDITION • DESIGN, BUILD, TEST, IMPROVE</a:t>
            </a:r>
          </a:p>
        </p:txBody>
      </p:sp>
      <p:sp>
        <p:nvSpPr>
          <p:cNvPr id="26" name="TextBox 25"/>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1</a:t>
            </a:r>
          </a:p>
        </p:txBody>
      </p:sp>
      <p:sp>
        <p:nvSpPr>
          <p:cNvPr id="9" name="Freeform 8"/>
          <p:cNvSpPr/>
          <p:nvPr/>
        </p:nvSpPr>
        <p:spPr>
          <a:xfrm>
            <a:off x="3794760" y="4069080"/>
            <a:ext cx="182879" cy="2624328"/>
          </a:xfrm>
          <a:custGeom>
            <a:avLst/>
            <a:gdLst/>
            <a:ahLst/>
            <a:cxnLst/>
            <a:rect l="l" t="t" r="r" b="b"/>
            <a:pathLst>
              <a:path w="182879" h="2624328">
                <a:moveTo>
                  <a:pt x="27431" y="109728"/>
                </a:moveTo>
                <a:lnTo>
                  <a:pt x="91440" y="0"/>
                </a:lnTo>
                <a:lnTo>
                  <a:pt x="155448" y="109728"/>
                </a:lnTo>
                <a:lnTo>
                  <a:pt x="182879" y="2624328"/>
                </a:lnTo>
                <a:lnTo>
                  <a:pt x="0" y="2624328"/>
                </a:lnTo>
                <a:close/>
              </a:path>
            </a:pathLst>
          </a:custGeom>
          <a:solidFill>
            <a:srgbClr val="F7F9FC"/>
          </a:solidFill>
          <a:ln w="2222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3383280" y="4069080"/>
            <a:ext cx="1005840" cy="0"/>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143000" y="4709160"/>
            <a:ext cx="5486400" cy="987552"/>
          </a:xfrm>
          <a:prstGeom prst="rect">
            <a:avLst/>
          </a:prstGeom>
          <a:solidFill>
            <a:srgbClr val="EDF4FF"/>
          </a:solidFill>
          <a:ln w="22225">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143000" y="5509077"/>
            <a:ext cx="1261872" cy="187635"/>
          </a:xfrm>
          <a:custGeom>
            <a:avLst/>
            <a:gdLst/>
            <a:ahLst/>
            <a:cxnLst/>
            <a:rect l="l" t="t" r="r" b="b"/>
            <a:pathLst>
              <a:path w="1261872" h="187635">
                <a:moveTo>
                  <a:pt x="0" y="0"/>
                </a:moveTo>
                <a:lnTo>
                  <a:pt x="1261872" y="0"/>
                </a:lnTo>
                <a:lnTo>
                  <a:pt x="1261872" y="187635"/>
                </a:lnTo>
                <a:lnTo>
                  <a:pt x="0" y="187635"/>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5367528" y="5509077"/>
            <a:ext cx="1261872" cy="187635"/>
          </a:xfrm>
          <a:custGeom>
            <a:avLst/>
            <a:gdLst/>
            <a:ahLst/>
            <a:cxnLst/>
            <a:rect l="l" t="t" r="r" b="b"/>
            <a:pathLst>
              <a:path w="1261872" h="187635">
                <a:moveTo>
                  <a:pt x="0" y="0"/>
                </a:moveTo>
                <a:lnTo>
                  <a:pt x="1261872" y="0"/>
                </a:lnTo>
                <a:lnTo>
                  <a:pt x="1261872" y="187635"/>
                </a:lnTo>
                <a:lnTo>
                  <a:pt x="0" y="187635"/>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3220" y="6217920"/>
            <a:ext cx="1965960" cy="475488"/>
          </a:xfrm>
          <a:prstGeom prst="rect">
            <a:avLst/>
          </a:prstGeom>
          <a:solidFill>
            <a:srgbClr val="ECF7F0"/>
          </a:solidFill>
          <a:ln w="2222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03220" y="6541251"/>
            <a:ext cx="1965960" cy="152156"/>
          </a:xfrm>
          <a:prstGeom prst="rect">
            <a:avLst/>
          </a:prstGeom>
          <a:solidFill>
            <a:srgbClr val="D4EEDD"/>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845052" y="5827014"/>
            <a:ext cx="82296" cy="502508"/>
          </a:xfrm>
          <a:custGeom>
            <a:avLst/>
            <a:gdLst/>
            <a:ahLst/>
            <a:cxnLst/>
            <a:rect l="l" t="t" r="r" b="b"/>
            <a:pathLst>
              <a:path w="82296" h="502508">
                <a:moveTo>
                  <a:pt x="22860" y="0"/>
                </a:moveTo>
                <a:lnTo>
                  <a:pt x="59435" y="0"/>
                </a:lnTo>
                <a:lnTo>
                  <a:pt x="82296" y="502508"/>
                </a:lnTo>
                <a:lnTo>
                  <a:pt x="0" y="502508"/>
                </a:lnTo>
                <a:close/>
              </a:path>
            </a:pathLst>
          </a:custGeom>
          <a:solidFill>
            <a:srgbClr val="ECF7F0"/>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3831336" y="6329522"/>
            <a:ext cx="109727" cy="382174"/>
          </a:xfrm>
          <a:custGeom>
            <a:avLst/>
            <a:gdLst/>
            <a:ahLst/>
            <a:cxnLst/>
            <a:rect l="l" t="t" r="r" b="b"/>
            <a:pathLst>
              <a:path w="109727" h="382174">
                <a:moveTo>
                  <a:pt x="13716" y="0"/>
                </a:moveTo>
                <a:lnTo>
                  <a:pt x="96012" y="0"/>
                </a:lnTo>
                <a:lnTo>
                  <a:pt x="109727" y="382174"/>
                </a:lnTo>
                <a:lnTo>
                  <a:pt x="0" y="382174"/>
                </a:lnTo>
                <a:close/>
              </a:path>
            </a:pathLst>
          </a:custGeom>
          <a:solidFill>
            <a:srgbClr val="B7E0C6"/>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874519" y="4956048"/>
            <a:ext cx="4023361" cy="0"/>
          </a:xfrm>
          <a:prstGeom prst="line">
            <a:avLst/>
          </a:prstGeom>
          <a:ln w="12700">
            <a:solidFill>
              <a:srgbClr val="C83E3E"/>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3803904" y="4873752"/>
            <a:ext cx="164592" cy="164592"/>
          </a:xfrm>
          <a:prstGeom prst="ellipse">
            <a:avLst/>
          </a:prstGeom>
          <a:solidFill>
            <a:srgbClr val="C8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96512" y="4681728"/>
            <a:ext cx="548640" cy="201168"/>
          </a:xfrm>
          <a:prstGeom prst="rect">
            <a:avLst/>
          </a:prstGeom>
          <a:noFill/>
        </p:spPr>
        <p:txBody>
          <a:bodyPr wrap="square" lIns="0" rIns="0" tIns="0" bIns="0">
            <a:spAutoFit/>
          </a:bodyPr>
          <a:lstStyle/>
          <a:p>
            <a:pPr algn="l"/>
            <a:r>
              <a:rPr sz="1100" b="1" i="0">
                <a:solidFill>
                  <a:srgbClr val="C83E3E"/>
                </a:solidFill>
                <a:latin typeface="Arial"/>
              </a:rPr>
              <a:t>CG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E0702B"/>
                </a:solidFill>
                <a:latin typeface="Arial"/>
              </a:rPr>
              <a:t>START HERE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What this manual is—and what it is not</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Use it to make sound first-pass decisions, then verify them with testing and experienced help.</a:t>
            </a:r>
          </a:p>
        </p:txBody>
      </p:sp>
      <p:sp>
        <p:nvSpPr>
          <p:cNvPr id="8" name="Rounded Rectangle 7"/>
          <p:cNvSpPr/>
          <p:nvPr/>
        </p:nvSpPr>
        <p:spPr>
          <a:xfrm>
            <a:off x="347472" y="1188720"/>
            <a:ext cx="3474720" cy="301752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188720"/>
            <a:ext cx="50292" cy="3017520"/>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THIS MANUAL HELPS YOU</a:t>
            </a:r>
          </a:p>
        </p:txBody>
      </p:sp>
      <p:sp>
        <p:nvSpPr>
          <p:cNvPr id="11" name="TextBox 10"/>
          <p:cNvSpPr txBox="1"/>
          <p:nvPr/>
        </p:nvSpPr>
        <p:spPr>
          <a:xfrm>
            <a:off x="493776" y="1581912"/>
            <a:ext cx="3200400" cy="2523744"/>
          </a:xfrm>
          <a:prstGeom prst="rect">
            <a:avLst/>
          </a:prstGeom>
          <a:noFill/>
        </p:spPr>
        <p:txBody>
          <a:bodyPr wrap="square" lIns="18288" rIns="9144" tIns="9144" bIns="9144">
            <a:spAutoFit/>
          </a:bodyPr>
          <a:lstStyle/>
          <a:p>
            <a:pPr>
              <a:lnSpc>
                <a:spcPct val="100000"/>
              </a:lnSpc>
              <a:spcAft>
                <a:spcPts val="250"/>
              </a:spcAft>
            </a:pPr>
            <a:r>
              <a:rPr sz="965">
                <a:solidFill>
                  <a:srgbClr val="20263A"/>
                </a:solidFill>
                <a:latin typeface="Arial"/>
              </a:rPr>
              <a:t>• Turn a mission and target mass into a wing size.</a:t>
            </a:r>
          </a:p>
          <a:p>
            <a:pPr>
              <a:lnSpc>
                <a:spcPct val="100000"/>
              </a:lnSpc>
              <a:spcAft>
                <a:spcPts val="250"/>
              </a:spcAft>
            </a:pPr>
            <a:r>
              <a:rPr sz="965">
                <a:solidFill>
                  <a:srgbClr val="20263A"/>
                </a:solidFill>
                <a:latin typeface="Arial"/>
              </a:rPr>
              <a:t>• Size conventional tails using tail-volume coefficients.</a:t>
            </a:r>
          </a:p>
          <a:p>
            <a:pPr>
              <a:lnSpc>
                <a:spcPct val="100000"/>
              </a:lnSpc>
              <a:spcAft>
                <a:spcPts val="250"/>
              </a:spcAft>
            </a:pPr>
            <a:r>
              <a:rPr sz="965">
                <a:solidFill>
                  <a:srgbClr val="20263A"/>
                </a:solidFill>
                <a:latin typeface="Arial"/>
              </a:rPr>
              <a:t>• Choose useful starting proportions for control surfaces.</a:t>
            </a:r>
          </a:p>
          <a:p>
            <a:pPr>
              <a:lnSpc>
                <a:spcPct val="100000"/>
              </a:lnSpc>
              <a:spcAft>
                <a:spcPts val="250"/>
              </a:spcAft>
            </a:pPr>
            <a:r>
              <a:rPr sz="965">
                <a:solidFill>
                  <a:srgbClr val="20263A"/>
                </a:solidFill>
                <a:latin typeface="Arial"/>
              </a:rPr>
              <a:t>• Build straight, stiff, light structures with reliable linkages.</a:t>
            </a:r>
          </a:p>
          <a:p>
            <a:pPr>
              <a:lnSpc>
                <a:spcPct val="100000"/>
              </a:lnSpc>
              <a:spcAft>
                <a:spcPts val="250"/>
              </a:spcAft>
            </a:pPr>
            <a:r>
              <a:rPr sz="965">
                <a:solidFill>
                  <a:srgbClr val="20263A"/>
                </a:solidFill>
                <a:latin typeface="Arial"/>
              </a:rPr>
              <a:t>• Plan a cautious maiden flight and improve the design from evidence.</a:t>
            </a:r>
          </a:p>
        </p:txBody>
      </p:sp>
      <p:sp>
        <p:nvSpPr>
          <p:cNvPr id="12" name="Rounded Rectangle 11"/>
          <p:cNvSpPr/>
          <p:nvPr/>
        </p:nvSpPr>
        <p:spPr>
          <a:xfrm>
            <a:off x="3950208" y="1188720"/>
            <a:ext cx="3474720" cy="301752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0208" y="1188720"/>
            <a:ext cx="50292" cy="3017520"/>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6512"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IT DOES NOT REPLACE</a:t>
            </a:r>
          </a:p>
        </p:txBody>
      </p:sp>
      <p:sp>
        <p:nvSpPr>
          <p:cNvPr id="15" name="TextBox 14"/>
          <p:cNvSpPr txBox="1"/>
          <p:nvPr/>
        </p:nvSpPr>
        <p:spPr>
          <a:xfrm>
            <a:off x="4096512" y="1581912"/>
            <a:ext cx="3200400" cy="2523744"/>
          </a:xfrm>
          <a:prstGeom prst="rect">
            <a:avLst/>
          </a:prstGeom>
          <a:noFill/>
        </p:spPr>
        <p:txBody>
          <a:bodyPr wrap="square" lIns="18288" rIns="9144" tIns="9144" bIns="9144">
            <a:spAutoFit/>
          </a:bodyPr>
          <a:lstStyle/>
          <a:p>
            <a:pPr>
              <a:lnSpc>
                <a:spcPct val="100000"/>
              </a:lnSpc>
              <a:spcAft>
                <a:spcPts val="250"/>
              </a:spcAft>
            </a:pPr>
            <a:r>
              <a:rPr sz="965">
                <a:solidFill>
                  <a:srgbClr val="20263A"/>
                </a:solidFill>
                <a:latin typeface="Arial"/>
              </a:rPr>
              <a:t>• Local flying-field rules, insurance, or legal requirements.</a:t>
            </a:r>
          </a:p>
          <a:p>
            <a:pPr>
              <a:lnSpc>
                <a:spcPct val="100000"/>
              </a:lnSpc>
              <a:spcAft>
                <a:spcPts val="250"/>
              </a:spcAft>
            </a:pPr>
            <a:r>
              <a:rPr sz="965">
                <a:solidFill>
                  <a:srgbClr val="20263A"/>
                </a:solidFill>
                <a:latin typeface="Arial"/>
              </a:rPr>
              <a:t>• Manufacturer limits for batteries, motors, ESCs, servos, and radios.</a:t>
            </a:r>
          </a:p>
          <a:p>
            <a:pPr>
              <a:lnSpc>
                <a:spcPct val="100000"/>
              </a:lnSpc>
              <a:spcAft>
                <a:spcPts val="250"/>
              </a:spcAft>
            </a:pPr>
            <a:r>
              <a:rPr sz="965">
                <a:solidFill>
                  <a:srgbClr val="20263A"/>
                </a:solidFill>
                <a:latin typeface="Arial"/>
              </a:rPr>
              <a:t>• An experienced pilot for the maiden of an unproven design.</a:t>
            </a:r>
          </a:p>
          <a:p>
            <a:pPr>
              <a:lnSpc>
                <a:spcPct val="100000"/>
              </a:lnSpc>
              <a:spcAft>
                <a:spcPts val="250"/>
              </a:spcAft>
            </a:pPr>
            <a:r>
              <a:rPr sz="965">
                <a:solidFill>
                  <a:srgbClr val="20263A"/>
                </a:solidFill>
                <a:latin typeface="Arial"/>
              </a:rPr>
              <a:t>• Structural analysis for very fast, very large, turbine, or competition aircraft.</a:t>
            </a:r>
          </a:p>
        </p:txBody>
      </p:sp>
      <p:sp>
        <p:nvSpPr>
          <p:cNvPr id="16" name="Rounded Rectangle 15"/>
          <p:cNvSpPr/>
          <p:nvPr/>
        </p:nvSpPr>
        <p:spPr>
          <a:xfrm>
            <a:off x="347472" y="4462272"/>
            <a:ext cx="7077456" cy="1874519"/>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4462272"/>
            <a:ext cx="50292" cy="1874519"/>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4581144"/>
            <a:ext cx="6821424"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THE DESIGN ENVELOPE</a:t>
            </a:r>
          </a:p>
        </p:txBody>
      </p:sp>
      <p:sp>
        <p:nvSpPr>
          <p:cNvPr id="19" name="TextBox 18"/>
          <p:cNvSpPr txBox="1"/>
          <p:nvPr/>
        </p:nvSpPr>
        <p:spPr>
          <a:xfrm>
            <a:off x="493776" y="4855464"/>
            <a:ext cx="6803136" cy="1380743"/>
          </a:xfrm>
          <a:prstGeom prst="rect">
            <a:avLst/>
          </a:prstGeom>
          <a:noFill/>
        </p:spPr>
        <p:txBody>
          <a:bodyPr wrap="square" lIns="0" rIns="0" tIns="0" bIns="0" anchor="t">
            <a:spAutoFit/>
          </a:bodyPr>
          <a:lstStyle/>
          <a:p>
            <a:pPr algn="l">
              <a:lnSpc>
                <a:spcPct val="100000"/>
              </a:lnSpc>
            </a:pPr>
            <a:r>
              <a:rPr sz="1010" b="0" i="0">
                <a:solidFill>
                  <a:srgbClr val="20263A"/>
                </a:solidFill>
                <a:latin typeface="Arial"/>
              </a:rPr>
              <a:t>The numerical starting points in this volume target ordinary subsonic, conventional-tail, propeller-driven R/C aircraft—especially trainers and sport models. Swept wings, canards, flying wings, biplanes, ducted fans, turbines, and giant scale models need extra analysis.</a:t>
            </a:r>
          </a:p>
        </p:txBody>
      </p:sp>
      <p:sp>
        <p:nvSpPr>
          <p:cNvPr id="20" name="Rounded Rectangle 19"/>
          <p:cNvSpPr/>
          <p:nvPr/>
        </p:nvSpPr>
        <p:spPr>
          <a:xfrm>
            <a:off x="347472" y="6601968"/>
            <a:ext cx="7077456" cy="1024128"/>
          </a:xfrm>
          <a:prstGeom prst="roundRect">
            <a:avLst>
              <a:gd name="adj" fmla="val 8000"/>
            </a:avLst>
          </a:prstGeom>
          <a:solidFill>
            <a:srgbClr val="FDEEEE"/>
          </a:solidFill>
          <a:ln w="10160">
            <a:solidFill>
              <a:srgbClr val="C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7200" y="6967728"/>
            <a:ext cx="292608" cy="292608"/>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7022592"/>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23" name="TextBox 22"/>
          <p:cNvSpPr txBox="1"/>
          <p:nvPr/>
        </p:nvSpPr>
        <p:spPr>
          <a:xfrm>
            <a:off x="832104" y="6693407"/>
            <a:ext cx="6464808" cy="859536"/>
          </a:xfrm>
          <a:prstGeom prst="rect">
            <a:avLst/>
          </a:prstGeom>
          <a:noFill/>
        </p:spPr>
        <p:txBody>
          <a:bodyPr wrap="square" lIns="0" rIns="0" tIns="0" bIns="0" anchor="ctr">
            <a:spAutoFit/>
          </a:bodyPr>
          <a:lstStyle/>
          <a:p>
            <a:pPr algn="l">
              <a:lnSpc>
                <a:spcPct val="100000"/>
              </a:lnSpc>
            </a:pPr>
            <a:r>
              <a:rPr sz="1019" b="0" i="0">
                <a:solidFill>
                  <a:srgbClr val="20263A"/>
                </a:solidFill>
                <a:latin typeface="Arial"/>
              </a:rPr>
              <a:t>Safety rule: remove the propeller whenever you are setting up the radio, reversing channels, adjusting endpoints, or working near the power system.</a:t>
            </a:r>
          </a:p>
        </p:txBody>
      </p:sp>
      <p:sp>
        <p:nvSpPr>
          <p:cNvPr id="24" name="Rounded Rectangle 23"/>
          <p:cNvSpPr/>
          <p:nvPr/>
        </p:nvSpPr>
        <p:spPr>
          <a:xfrm>
            <a:off x="347472" y="7827264"/>
            <a:ext cx="7077456" cy="73152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7472" y="7827264"/>
            <a:ext cx="50292" cy="73152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 y="7946136"/>
            <a:ext cx="6821424"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HOW TO READ IT</a:t>
            </a:r>
          </a:p>
        </p:txBody>
      </p:sp>
      <p:sp>
        <p:nvSpPr>
          <p:cNvPr id="27" name="TextBox 26"/>
          <p:cNvSpPr txBox="1"/>
          <p:nvPr/>
        </p:nvSpPr>
        <p:spPr>
          <a:xfrm>
            <a:off x="493776" y="8220456"/>
            <a:ext cx="6803136" cy="237744"/>
          </a:xfrm>
          <a:prstGeom prst="rect">
            <a:avLst/>
          </a:prstGeom>
          <a:noFill/>
        </p:spPr>
        <p:txBody>
          <a:bodyPr wrap="square" lIns="0" rIns="0" tIns="0" bIns="0" anchor="t">
            <a:spAutoFit/>
          </a:bodyPr>
          <a:lstStyle/>
          <a:p>
            <a:pPr algn="l">
              <a:lnSpc>
                <a:spcPct val="100000"/>
              </a:lnSpc>
            </a:pPr>
            <a:r>
              <a:rPr sz="890" b="0" i="0">
                <a:solidFill>
                  <a:srgbClr val="20263A"/>
                </a:solidFill>
                <a:latin typeface="Arial"/>
              </a:rPr>
              <a:t>Green = recommended habit. Orange = design choice. Red = failure or safety risk. Equations are followed by plain-language meaning and worked examples.</a:t>
            </a:r>
          </a:p>
        </p:txBody>
      </p:sp>
      <p:sp>
        <p:nvSpPr>
          <p:cNvPr id="28" name="TextBox 27"/>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38C8C"/>
                </a:solidFill>
                <a:latin typeface="Arial"/>
              </a:rPr>
              <a:t>START HERE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The manual map</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front end takes you from requirements through the first flight; the airfoil guide is one chapter in the larger system.</a:t>
            </a:r>
          </a:p>
        </p:txBody>
      </p:sp>
      <p:sp>
        <p:nvSpPr>
          <p:cNvPr id="8" name="Oval 7"/>
          <p:cNvSpPr/>
          <p:nvPr/>
        </p:nvSpPr>
        <p:spPr>
          <a:xfrm>
            <a:off x="475488" y="1298448"/>
            <a:ext cx="566928" cy="566928"/>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435608"/>
            <a:ext cx="566928" cy="164592"/>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01</a:t>
            </a:r>
          </a:p>
        </p:txBody>
      </p:sp>
      <p:sp>
        <p:nvSpPr>
          <p:cNvPr id="10" name="Rounded Rectangle 9"/>
          <p:cNvSpPr/>
          <p:nvPr/>
        </p:nvSpPr>
        <p:spPr>
          <a:xfrm>
            <a:off x="1207008" y="1207008"/>
            <a:ext cx="6089904" cy="107899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08176" y="1344168"/>
            <a:ext cx="2331720" cy="228600"/>
          </a:xfrm>
          <a:prstGeom prst="rect">
            <a:avLst/>
          </a:prstGeom>
          <a:noFill/>
        </p:spPr>
        <p:txBody>
          <a:bodyPr wrap="square" lIns="0" rIns="0" tIns="0" bIns="0" anchor="t">
            <a:spAutoFit/>
          </a:bodyPr>
          <a:lstStyle/>
          <a:p>
            <a:pPr algn="l">
              <a:lnSpc>
                <a:spcPct val="100000"/>
              </a:lnSpc>
            </a:pPr>
            <a:r>
              <a:rPr sz="1400" b="1" i="0">
                <a:solidFill>
                  <a:srgbClr val="20263A"/>
                </a:solidFill>
                <a:latin typeface="Arial"/>
              </a:rPr>
              <a:t>Design the system</a:t>
            </a:r>
          </a:p>
        </p:txBody>
      </p:sp>
      <p:sp>
        <p:nvSpPr>
          <p:cNvPr id="12" name="TextBox 11"/>
          <p:cNvSpPr txBox="1"/>
          <p:nvPr/>
        </p:nvSpPr>
        <p:spPr>
          <a:xfrm>
            <a:off x="3749039" y="1371600"/>
            <a:ext cx="3273552" cy="393192"/>
          </a:xfrm>
          <a:prstGeom prst="rect">
            <a:avLst/>
          </a:prstGeom>
          <a:noFill/>
        </p:spPr>
        <p:txBody>
          <a:bodyPr wrap="square" lIns="0" rIns="0" tIns="0" bIns="0" anchor="t">
            <a:spAutoFit/>
          </a:bodyPr>
          <a:lstStyle/>
          <a:p>
            <a:pPr algn="l">
              <a:lnSpc>
                <a:spcPct val="100000"/>
              </a:lnSpc>
            </a:pPr>
            <a:r>
              <a:rPr sz="940" b="0" i="0">
                <a:solidFill>
                  <a:srgbClr val="5F687D"/>
                </a:solidFill>
                <a:latin typeface="Arial"/>
              </a:rPr>
              <a:t>Mission, forces, controls, wing, tail, CG</a:t>
            </a:r>
          </a:p>
        </p:txBody>
      </p:sp>
      <p:sp>
        <p:nvSpPr>
          <p:cNvPr id="13" name="Rectangle 12"/>
          <p:cNvSpPr/>
          <p:nvPr/>
        </p:nvSpPr>
        <p:spPr>
          <a:xfrm>
            <a:off x="1207008" y="1207008"/>
            <a:ext cx="54864" cy="1078992"/>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5488" y="2624328"/>
            <a:ext cx="566928" cy="566928"/>
          </a:xfrm>
          <a:prstGeom prst="ellipse">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761488"/>
            <a:ext cx="566928" cy="164592"/>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02</a:t>
            </a:r>
          </a:p>
        </p:txBody>
      </p:sp>
      <p:sp>
        <p:nvSpPr>
          <p:cNvPr id="16" name="Rounded Rectangle 15"/>
          <p:cNvSpPr/>
          <p:nvPr/>
        </p:nvSpPr>
        <p:spPr>
          <a:xfrm>
            <a:off x="1207008" y="2532888"/>
            <a:ext cx="6089904" cy="107899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08176" y="2670048"/>
            <a:ext cx="2331720" cy="228600"/>
          </a:xfrm>
          <a:prstGeom prst="rect">
            <a:avLst/>
          </a:prstGeom>
          <a:noFill/>
        </p:spPr>
        <p:txBody>
          <a:bodyPr wrap="square" lIns="0" rIns="0" tIns="0" bIns="0" anchor="t">
            <a:spAutoFit/>
          </a:bodyPr>
          <a:lstStyle/>
          <a:p>
            <a:pPr algn="l">
              <a:lnSpc>
                <a:spcPct val="100000"/>
              </a:lnSpc>
            </a:pPr>
            <a:r>
              <a:rPr sz="1400" b="1" i="0">
                <a:solidFill>
                  <a:srgbClr val="20263A"/>
                </a:solidFill>
                <a:latin typeface="Arial"/>
              </a:rPr>
              <a:t>Understand airfoils</a:t>
            </a:r>
          </a:p>
        </p:txBody>
      </p:sp>
      <p:sp>
        <p:nvSpPr>
          <p:cNvPr id="18" name="TextBox 17"/>
          <p:cNvSpPr txBox="1"/>
          <p:nvPr/>
        </p:nvSpPr>
        <p:spPr>
          <a:xfrm>
            <a:off x="3749039" y="2697480"/>
            <a:ext cx="3273552" cy="393192"/>
          </a:xfrm>
          <a:prstGeom prst="rect">
            <a:avLst/>
          </a:prstGeom>
          <a:noFill/>
        </p:spPr>
        <p:txBody>
          <a:bodyPr wrap="square" lIns="0" rIns="0" tIns="0" bIns="0" anchor="t">
            <a:spAutoFit/>
          </a:bodyPr>
          <a:lstStyle/>
          <a:p>
            <a:pPr algn="l">
              <a:lnSpc>
                <a:spcPct val="100000"/>
              </a:lnSpc>
            </a:pPr>
            <a:r>
              <a:rPr sz="940" b="0" i="0">
                <a:solidFill>
                  <a:srgbClr val="5F687D"/>
                </a:solidFill>
                <a:latin typeface="Arial"/>
              </a:rPr>
              <a:t>Shape, vocabulary, families, equations</a:t>
            </a:r>
          </a:p>
        </p:txBody>
      </p:sp>
      <p:sp>
        <p:nvSpPr>
          <p:cNvPr id="19" name="Rectangle 18"/>
          <p:cNvSpPr/>
          <p:nvPr/>
        </p:nvSpPr>
        <p:spPr>
          <a:xfrm>
            <a:off x="1207008" y="2532888"/>
            <a:ext cx="54864" cy="1078992"/>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75488" y="3950207"/>
            <a:ext cx="566928" cy="566928"/>
          </a:xfrm>
          <a:prstGeom prst="ellipse">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4087368"/>
            <a:ext cx="566928" cy="164592"/>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03</a:t>
            </a:r>
          </a:p>
        </p:txBody>
      </p:sp>
      <p:sp>
        <p:nvSpPr>
          <p:cNvPr id="22" name="Rounded Rectangle 21"/>
          <p:cNvSpPr/>
          <p:nvPr/>
        </p:nvSpPr>
        <p:spPr>
          <a:xfrm>
            <a:off x="1207008" y="3858768"/>
            <a:ext cx="6089904" cy="107899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08176" y="3995928"/>
            <a:ext cx="2331720" cy="228600"/>
          </a:xfrm>
          <a:prstGeom prst="rect">
            <a:avLst/>
          </a:prstGeom>
          <a:noFill/>
        </p:spPr>
        <p:txBody>
          <a:bodyPr wrap="square" lIns="0" rIns="0" tIns="0" bIns="0" anchor="t">
            <a:spAutoFit/>
          </a:bodyPr>
          <a:lstStyle/>
          <a:p>
            <a:pPr algn="l">
              <a:lnSpc>
                <a:spcPct val="100000"/>
              </a:lnSpc>
            </a:pPr>
            <a:r>
              <a:rPr sz="1400" b="1" i="0">
                <a:solidFill>
                  <a:srgbClr val="20263A"/>
                </a:solidFill>
                <a:latin typeface="Arial"/>
              </a:rPr>
              <a:t>Build the structure</a:t>
            </a:r>
          </a:p>
        </p:txBody>
      </p:sp>
      <p:sp>
        <p:nvSpPr>
          <p:cNvPr id="24" name="TextBox 23"/>
          <p:cNvSpPr txBox="1"/>
          <p:nvPr/>
        </p:nvSpPr>
        <p:spPr>
          <a:xfrm>
            <a:off x="3749039" y="4023359"/>
            <a:ext cx="3273552" cy="393192"/>
          </a:xfrm>
          <a:prstGeom prst="rect">
            <a:avLst/>
          </a:prstGeom>
          <a:noFill/>
        </p:spPr>
        <p:txBody>
          <a:bodyPr wrap="square" lIns="0" rIns="0" tIns="0" bIns="0" anchor="t">
            <a:spAutoFit/>
          </a:bodyPr>
          <a:lstStyle/>
          <a:p>
            <a:pPr algn="l">
              <a:lnSpc>
                <a:spcPct val="100000"/>
              </a:lnSpc>
            </a:pPr>
            <a:r>
              <a:rPr sz="940" b="0" i="0">
                <a:solidFill>
                  <a:srgbClr val="5F687D"/>
                </a:solidFill>
                <a:latin typeface="Arial"/>
              </a:rPr>
              <a:t>Materials, spars, alignment, hinges</a:t>
            </a:r>
          </a:p>
        </p:txBody>
      </p:sp>
      <p:sp>
        <p:nvSpPr>
          <p:cNvPr id="25" name="Rectangle 24"/>
          <p:cNvSpPr/>
          <p:nvPr/>
        </p:nvSpPr>
        <p:spPr>
          <a:xfrm>
            <a:off x="1207008" y="3858768"/>
            <a:ext cx="54864" cy="1078992"/>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5488" y="5276088"/>
            <a:ext cx="566928" cy="566928"/>
          </a:xfrm>
          <a:prstGeom prst="ellipse">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 y="5413248"/>
            <a:ext cx="566928" cy="164592"/>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04</a:t>
            </a:r>
          </a:p>
        </p:txBody>
      </p:sp>
      <p:sp>
        <p:nvSpPr>
          <p:cNvPr id="28" name="Rounded Rectangle 27"/>
          <p:cNvSpPr/>
          <p:nvPr/>
        </p:nvSpPr>
        <p:spPr>
          <a:xfrm>
            <a:off x="1207008" y="5184648"/>
            <a:ext cx="6089904" cy="107899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08176" y="5321808"/>
            <a:ext cx="2331720" cy="228600"/>
          </a:xfrm>
          <a:prstGeom prst="rect">
            <a:avLst/>
          </a:prstGeom>
          <a:noFill/>
        </p:spPr>
        <p:txBody>
          <a:bodyPr wrap="square" lIns="0" rIns="0" tIns="0" bIns="0" anchor="t">
            <a:spAutoFit/>
          </a:bodyPr>
          <a:lstStyle/>
          <a:p>
            <a:pPr algn="l">
              <a:lnSpc>
                <a:spcPct val="100000"/>
              </a:lnSpc>
            </a:pPr>
            <a:r>
              <a:rPr sz="1400" b="1" i="0">
                <a:solidFill>
                  <a:srgbClr val="20263A"/>
                </a:solidFill>
                <a:latin typeface="Arial"/>
              </a:rPr>
              <a:t>Choose the systems</a:t>
            </a:r>
          </a:p>
        </p:txBody>
      </p:sp>
      <p:sp>
        <p:nvSpPr>
          <p:cNvPr id="30" name="TextBox 29"/>
          <p:cNvSpPr txBox="1"/>
          <p:nvPr/>
        </p:nvSpPr>
        <p:spPr>
          <a:xfrm>
            <a:off x="3749039" y="5349240"/>
            <a:ext cx="3273552" cy="393192"/>
          </a:xfrm>
          <a:prstGeom prst="rect">
            <a:avLst/>
          </a:prstGeom>
          <a:noFill/>
        </p:spPr>
        <p:txBody>
          <a:bodyPr wrap="square" lIns="0" rIns="0" tIns="0" bIns="0" anchor="t">
            <a:spAutoFit/>
          </a:bodyPr>
          <a:lstStyle/>
          <a:p>
            <a:pPr algn="l">
              <a:lnSpc>
                <a:spcPct val="100000"/>
              </a:lnSpc>
            </a:pPr>
            <a:r>
              <a:rPr sz="940" b="0" i="0">
                <a:solidFill>
                  <a:srgbClr val="5F687D"/>
                </a:solidFill>
                <a:latin typeface="Arial"/>
              </a:rPr>
              <a:t>Power, propeller, battery, radio, servos</a:t>
            </a:r>
          </a:p>
        </p:txBody>
      </p:sp>
      <p:sp>
        <p:nvSpPr>
          <p:cNvPr id="31" name="Rectangle 30"/>
          <p:cNvSpPr/>
          <p:nvPr/>
        </p:nvSpPr>
        <p:spPr>
          <a:xfrm>
            <a:off x="1207008" y="5184648"/>
            <a:ext cx="54864" cy="1078992"/>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75488" y="6601968"/>
            <a:ext cx="566928" cy="566928"/>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6739128"/>
            <a:ext cx="566928" cy="164592"/>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05</a:t>
            </a:r>
          </a:p>
        </p:txBody>
      </p:sp>
      <p:sp>
        <p:nvSpPr>
          <p:cNvPr id="34" name="Rounded Rectangle 33"/>
          <p:cNvSpPr/>
          <p:nvPr/>
        </p:nvSpPr>
        <p:spPr>
          <a:xfrm>
            <a:off x="1207008" y="6510528"/>
            <a:ext cx="6089904" cy="107899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08176" y="6647688"/>
            <a:ext cx="2331720" cy="228600"/>
          </a:xfrm>
          <a:prstGeom prst="rect">
            <a:avLst/>
          </a:prstGeom>
          <a:noFill/>
        </p:spPr>
        <p:txBody>
          <a:bodyPr wrap="square" lIns="0" rIns="0" tIns="0" bIns="0" anchor="t">
            <a:spAutoFit/>
          </a:bodyPr>
          <a:lstStyle/>
          <a:p>
            <a:pPr algn="l">
              <a:lnSpc>
                <a:spcPct val="100000"/>
              </a:lnSpc>
            </a:pPr>
            <a:r>
              <a:rPr sz="1400" b="1" i="0">
                <a:solidFill>
                  <a:srgbClr val="20263A"/>
                </a:solidFill>
                <a:latin typeface="Arial"/>
              </a:rPr>
              <a:t>Test and improve</a:t>
            </a:r>
          </a:p>
        </p:txBody>
      </p:sp>
      <p:sp>
        <p:nvSpPr>
          <p:cNvPr id="36" name="TextBox 35"/>
          <p:cNvSpPr txBox="1"/>
          <p:nvPr/>
        </p:nvSpPr>
        <p:spPr>
          <a:xfrm>
            <a:off x="3749039" y="6675120"/>
            <a:ext cx="3273552" cy="393192"/>
          </a:xfrm>
          <a:prstGeom prst="rect">
            <a:avLst/>
          </a:prstGeom>
          <a:noFill/>
        </p:spPr>
        <p:txBody>
          <a:bodyPr wrap="square" lIns="0" rIns="0" tIns="0" bIns="0" anchor="t">
            <a:spAutoFit/>
          </a:bodyPr>
          <a:lstStyle/>
          <a:p>
            <a:pPr algn="l">
              <a:lnSpc>
                <a:spcPct val="100000"/>
              </a:lnSpc>
            </a:pPr>
            <a:r>
              <a:rPr sz="940" b="0" i="0">
                <a:solidFill>
                  <a:srgbClr val="5F687D"/>
                </a:solidFill>
                <a:latin typeface="Arial"/>
              </a:rPr>
              <a:t>Preflight, maiden, trim, diagnosis, repair</a:t>
            </a:r>
          </a:p>
        </p:txBody>
      </p:sp>
      <p:sp>
        <p:nvSpPr>
          <p:cNvPr id="37" name="Rectangle 36"/>
          <p:cNvSpPr/>
          <p:nvPr/>
        </p:nvSpPr>
        <p:spPr>
          <a:xfrm>
            <a:off x="1207008" y="6510528"/>
            <a:ext cx="54864" cy="1078992"/>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7472" y="8001000"/>
            <a:ext cx="7077456" cy="658368"/>
          </a:xfrm>
          <a:prstGeom prst="roundRect">
            <a:avLst>
              <a:gd name="adj" fmla="val 8000"/>
            </a:avLst>
          </a:prstGeom>
          <a:solidFill>
            <a:srgbClr val="EAF7F6"/>
          </a:solidFill>
          <a:ln w="10160">
            <a:solidFill>
              <a:srgbClr val="13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57200" y="8183879"/>
            <a:ext cx="292608" cy="292608"/>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8238744"/>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41" name="TextBox 40"/>
          <p:cNvSpPr txBox="1"/>
          <p:nvPr/>
        </p:nvSpPr>
        <p:spPr>
          <a:xfrm>
            <a:off x="832104" y="8092440"/>
            <a:ext cx="6464808" cy="493776"/>
          </a:xfrm>
          <a:prstGeom prst="rect">
            <a:avLst/>
          </a:prstGeom>
          <a:noFill/>
        </p:spPr>
        <p:txBody>
          <a:bodyPr wrap="square" lIns="0" rIns="0" tIns="0" bIns="0" anchor="ctr">
            <a:spAutoFit/>
          </a:bodyPr>
          <a:lstStyle/>
          <a:p>
            <a:pPr algn="l">
              <a:lnSpc>
                <a:spcPct val="100000"/>
              </a:lnSpc>
            </a:pPr>
            <a:r>
              <a:rPr sz="930" b="0" i="0">
                <a:solidFill>
                  <a:srgbClr val="20263A"/>
                </a:solidFill>
                <a:latin typeface="Arial"/>
              </a:rPr>
              <a:t>The process is a loop, not a straight line: changing weight changes wing area, power, structure, CG, and often the tail.</a:t>
            </a:r>
          </a:p>
        </p:txBody>
      </p:sp>
      <p:sp>
        <p:nvSpPr>
          <p:cNvPr id="42" name="TextBox 41"/>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E0702B"/>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The design loop: change one thing, update the rest</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A model airplane is a connected system. Every major choice affects several other choices.</a:t>
            </a:r>
          </a:p>
        </p:txBody>
      </p:sp>
      <p:sp>
        <p:nvSpPr>
          <p:cNvPr id="8" name="Rounded Rectangle 7"/>
          <p:cNvSpPr/>
          <p:nvPr/>
        </p:nvSpPr>
        <p:spPr>
          <a:xfrm>
            <a:off x="3282696" y="1618488"/>
            <a:ext cx="1207008" cy="914400"/>
          </a:xfrm>
          <a:prstGeom prst="roundRect">
            <a:avLst>
              <a:gd name="adj" fmla="val 8000"/>
            </a:avLst>
          </a:prstGeom>
          <a:solidFill>
            <a:srgbClr val="FFFFFF"/>
          </a:solidFill>
          <a:ln w="13970">
            <a:solidFill>
              <a:srgbClr val="E070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337560" y="1709928"/>
            <a:ext cx="265176" cy="265176"/>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1755648"/>
            <a:ext cx="265176" cy="118872"/>
          </a:xfrm>
          <a:prstGeom prst="rect">
            <a:avLst/>
          </a:prstGeom>
          <a:noFill/>
        </p:spPr>
        <p:txBody>
          <a:bodyPr wrap="square" lIns="0" rIns="0" tIns="0" bIns="0" anchor="t">
            <a:spAutoFit/>
          </a:bodyPr>
          <a:lstStyle/>
          <a:p>
            <a:pPr algn="ctr">
              <a:lnSpc>
                <a:spcPct val="100000"/>
              </a:lnSpc>
            </a:pPr>
            <a:r>
              <a:rPr sz="819" b="1" i="0">
                <a:solidFill>
                  <a:srgbClr val="FFFFFF"/>
                </a:solidFill>
                <a:latin typeface="Arial"/>
              </a:rPr>
              <a:t>1</a:t>
            </a:r>
          </a:p>
        </p:txBody>
      </p:sp>
      <p:sp>
        <p:nvSpPr>
          <p:cNvPr id="11" name="TextBox 10"/>
          <p:cNvSpPr txBox="1"/>
          <p:nvPr/>
        </p:nvSpPr>
        <p:spPr>
          <a:xfrm>
            <a:off x="3648456" y="1719072"/>
            <a:ext cx="768096" cy="164592"/>
          </a:xfrm>
          <a:prstGeom prst="rect">
            <a:avLst/>
          </a:prstGeom>
          <a:noFill/>
        </p:spPr>
        <p:txBody>
          <a:bodyPr wrap="square" lIns="0" rIns="0" tIns="0" bIns="0" anchor="t">
            <a:spAutoFit/>
          </a:bodyPr>
          <a:lstStyle/>
          <a:p>
            <a:pPr algn="l">
              <a:lnSpc>
                <a:spcPct val="100000"/>
              </a:lnSpc>
            </a:pPr>
            <a:r>
              <a:rPr sz="869" b="1" i="0">
                <a:solidFill>
                  <a:srgbClr val="E0702B"/>
                </a:solidFill>
                <a:latin typeface="Arial"/>
              </a:rPr>
              <a:t>MISSION</a:t>
            </a:r>
          </a:p>
        </p:txBody>
      </p:sp>
      <p:sp>
        <p:nvSpPr>
          <p:cNvPr id="12" name="TextBox 11"/>
          <p:cNvSpPr txBox="1"/>
          <p:nvPr/>
        </p:nvSpPr>
        <p:spPr>
          <a:xfrm>
            <a:off x="3374136" y="2029968"/>
            <a:ext cx="1024128" cy="338328"/>
          </a:xfrm>
          <a:prstGeom prst="rect">
            <a:avLst/>
          </a:prstGeom>
          <a:noFill/>
        </p:spPr>
        <p:txBody>
          <a:bodyPr wrap="square" lIns="0" rIns="0" tIns="0" bIns="0" anchor="t">
            <a:spAutoFit/>
          </a:bodyPr>
          <a:lstStyle/>
          <a:p>
            <a:pPr algn="ctr">
              <a:lnSpc>
                <a:spcPct val="100000"/>
              </a:lnSpc>
            </a:pPr>
            <a:r>
              <a:rPr sz="770" b="0" i="0">
                <a:solidFill>
                  <a:srgbClr val="20263A"/>
                </a:solidFill>
                <a:latin typeface="Arial"/>
              </a:rPr>
              <a:t>What must it do?</a:t>
            </a:r>
          </a:p>
        </p:txBody>
      </p:sp>
      <p:sp>
        <p:nvSpPr>
          <p:cNvPr id="13" name="Rounded Rectangle 12"/>
          <p:cNvSpPr/>
          <p:nvPr/>
        </p:nvSpPr>
        <p:spPr>
          <a:xfrm>
            <a:off x="5177198" y="2530832"/>
            <a:ext cx="1207008" cy="914400"/>
          </a:xfrm>
          <a:prstGeom prst="roundRect">
            <a:avLst>
              <a:gd name="adj" fmla="val 8000"/>
            </a:avLst>
          </a:prstGeom>
          <a:solidFill>
            <a:srgbClr val="FFFFFF"/>
          </a:solidFill>
          <a:ln w="13970">
            <a:solidFill>
              <a:srgbClr val="C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232062" y="2622272"/>
            <a:ext cx="265176" cy="265176"/>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2062" y="2667992"/>
            <a:ext cx="265176" cy="118872"/>
          </a:xfrm>
          <a:prstGeom prst="rect">
            <a:avLst/>
          </a:prstGeom>
          <a:noFill/>
        </p:spPr>
        <p:txBody>
          <a:bodyPr wrap="square" lIns="0" rIns="0" tIns="0" bIns="0" anchor="t">
            <a:spAutoFit/>
          </a:bodyPr>
          <a:lstStyle/>
          <a:p>
            <a:pPr algn="ctr">
              <a:lnSpc>
                <a:spcPct val="100000"/>
              </a:lnSpc>
            </a:pPr>
            <a:r>
              <a:rPr sz="819" b="1" i="0">
                <a:solidFill>
                  <a:srgbClr val="FFFFFF"/>
                </a:solidFill>
                <a:latin typeface="Arial"/>
              </a:rPr>
              <a:t>2</a:t>
            </a:r>
          </a:p>
        </p:txBody>
      </p:sp>
      <p:sp>
        <p:nvSpPr>
          <p:cNvPr id="16" name="TextBox 15"/>
          <p:cNvSpPr txBox="1"/>
          <p:nvPr/>
        </p:nvSpPr>
        <p:spPr>
          <a:xfrm>
            <a:off x="5542958" y="2631416"/>
            <a:ext cx="768096" cy="164592"/>
          </a:xfrm>
          <a:prstGeom prst="rect">
            <a:avLst/>
          </a:prstGeom>
          <a:noFill/>
        </p:spPr>
        <p:txBody>
          <a:bodyPr wrap="square" lIns="0" rIns="0" tIns="0" bIns="0" anchor="t">
            <a:spAutoFit/>
          </a:bodyPr>
          <a:lstStyle/>
          <a:p>
            <a:pPr algn="l">
              <a:lnSpc>
                <a:spcPct val="100000"/>
              </a:lnSpc>
            </a:pPr>
            <a:r>
              <a:rPr sz="869" b="1" i="0">
                <a:solidFill>
                  <a:srgbClr val="C83E3E"/>
                </a:solidFill>
                <a:latin typeface="Arial"/>
              </a:rPr>
              <a:t>MASS</a:t>
            </a:r>
          </a:p>
        </p:txBody>
      </p:sp>
      <p:sp>
        <p:nvSpPr>
          <p:cNvPr id="17" name="TextBox 16"/>
          <p:cNvSpPr txBox="1"/>
          <p:nvPr/>
        </p:nvSpPr>
        <p:spPr>
          <a:xfrm>
            <a:off x="5268638" y="2942312"/>
            <a:ext cx="1024128" cy="338328"/>
          </a:xfrm>
          <a:prstGeom prst="rect">
            <a:avLst/>
          </a:prstGeom>
          <a:noFill/>
        </p:spPr>
        <p:txBody>
          <a:bodyPr wrap="square" lIns="0" rIns="0" tIns="0" bIns="0" anchor="t">
            <a:spAutoFit/>
          </a:bodyPr>
          <a:lstStyle/>
          <a:p>
            <a:pPr algn="ctr">
              <a:lnSpc>
                <a:spcPct val="100000"/>
              </a:lnSpc>
            </a:pPr>
            <a:r>
              <a:rPr sz="770" b="0" i="0">
                <a:solidFill>
                  <a:srgbClr val="20263A"/>
                </a:solidFill>
                <a:latin typeface="Arial"/>
              </a:rPr>
              <a:t>What will it weigh?</a:t>
            </a:r>
          </a:p>
        </p:txBody>
      </p:sp>
      <p:sp>
        <p:nvSpPr>
          <p:cNvPr id="18" name="Rounded Rectangle 17"/>
          <p:cNvSpPr/>
          <p:nvPr/>
        </p:nvSpPr>
        <p:spPr>
          <a:xfrm>
            <a:off x="5645102" y="4580851"/>
            <a:ext cx="1207008" cy="914400"/>
          </a:xfrm>
          <a:prstGeom prst="roundRect">
            <a:avLst>
              <a:gd name="adj" fmla="val 8000"/>
            </a:avLst>
          </a:prstGeom>
          <a:solidFill>
            <a:srgbClr val="FFFFFF"/>
          </a:solidFill>
          <a:ln w="1397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99966" y="4672291"/>
            <a:ext cx="265176" cy="265176"/>
          </a:xfrm>
          <a:prstGeom prst="ellipse">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99966" y="4718011"/>
            <a:ext cx="265176" cy="118872"/>
          </a:xfrm>
          <a:prstGeom prst="rect">
            <a:avLst/>
          </a:prstGeom>
          <a:noFill/>
        </p:spPr>
        <p:txBody>
          <a:bodyPr wrap="square" lIns="0" rIns="0" tIns="0" bIns="0" anchor="t">
            <a:spAutoFit/>
          </a:bodyPr>
          <a:lstStyle/>
          <a:p>
            <a:pPr algn="ctr">
              <a:lnSpc>
                <a:spcPct val="100000"/>
              </a:lnSpc>
            </a:pPr>
            <a:r>
              <a:rPr sz="819" b="1" i="0">
                <a:solidFill>
                  <a:srgbClr val="FFFFFF"/>
                </a:solidFill>
                <a:latin typeface="Arial"/>
              </a:rPr>
              <a:t>3</a:t>
            </a:r>
          </a:p>
        </p:txBody>
      </p:sp>
      <p:sp>
        <p:nvSpPr>
          <p:cNvPr id="21" name="TextBox 20"/>
          <p:cNvSpPr txBox="1"/>
          <p:nvPr/>
        </p:nvSpPr>
        <p:spPr>
          <a:xfrm>
            <a:off x="6010862" y="4681435"/>
            <a:ext cx="768096" cy="164592"/>
          </a:xfrm>
          <a:prstGeom prst="rect">
            <a:avLst/>
          </a:prstGeom>
          <a:noFill/>
        </p:spPr>
        <p:txBody>
          <a:bodyPr wrap="square" lIns="0" rIns="0" tIns="0" bIns="0" anchor="t">
            <a:spAutoFit/>
          </a:bodyPr>
          <a:lstStyle/>
          <a:p>
            <a:pPr algn="l">
              <a:lnSpc>
                <a:spcPct val="100000"/>
              </a:lnSpc>
            </a:pPr>
            <a:r>
              <a:rPr sz="869" b="1" i="0">
                <a:solidFill>
                  <a:srgbClr val="246BCE"/>
                </a:solidFill>
                <a:latin typeface="Arial"/>
              </a:rPr>
              <a:t>WING</a:t>
            </a:r>
          </a:p>
        </p:txBody>
      </p:sp>
      <p:sp>
        <p:nvSpPr>
          <p:cNvPr id="22" name="TextBox 21"/>
          <p:cNvSpPr txBox="1"/>
          <p:nvPr/>
        </p:nvSpPr>
        <p:spPr>
          <a:xfrm>
            <a:off x="5736542" y="4992331"/>
            <a:ext cx="1024128" cy="338328"/>
          </a:xfrm>
          <a:prstGeom prst="rect">
            <a:avLst/>
          </a:prstGeom>
          <a:noFill/>
        </p:spPr>
        <p:txBody>
          <a:bodyPr wrap="square" lIns="0" rIns="0" tIns="0" bIns="0" anchor="t">
            <a:spAutoFit/>
          </a:bodyPr>
          <a:lstStyle/>
          <a:p>
            <a:pPr algn="ctr">
              <a:lnSpc>
                <a:spcPct val="100000"/>
              </a:lnSpc>
            </a:pPr>
            <a:r>
              <a:rPr sz="770" b="0" i="0">
                <a:solidFill>
                  <a:srgbClr val="20263A"/>
                </a:solidFill>
                <a:latin typeface="Arial"/>
              </a:rPr>
              <a:t>Area, span, chord</a:t>
            </a:r>
          </a:p>
        </p:txBody>
      </p:sp>
      <p:sp>
        <p:nvSpPr>
          <p:cNvPr id="23" name="Rounded Rectangle 22"/>
          <p:cNvSpPr/>
          <p:nvPr/>
        </p:nvSpPr>
        <p:spPr>
          <a:xfrm>
            <a:off x="4334065" y="6224839"/>
            <a:ext cx="1207008" cy="914400"/>
          </a:xfrm>
          <a:prstGeom prst="roundRect">
            <a:avLst>
              <a:gd name="adj" fmla="val 8000"/>
            </a:avLst>
          </a:prstGeom>
          <a:solidFill>
            <a:srgbClr val="FFFFFF"/>
          </a:solidFill>
          <a:ln w="13970">
            <a:solidFill>
              <a:srgbClr val="13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388929" y="6316279"/>
            <a:ext cx="265176" cy="265176"/>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8929" y="6361999"/>
            <a:ext cx="265176" cy="118872"/>
          </a:xfrm>
          <a:prstGeom prst="rect">
            <a:avLst/>
          </a:prstGeom>
          <a:noFill/>
        </p:spPr>
        <p:txBody>
          <a:bodyPr wrap="square" lIns="0" rIns="0" tIns="0" bIns="0" anchor="t">
            <a:spAutoFit/>
          </a:bodyPr>
          <a:lstStyle/>
          <a:p>
            <a:pPr algn="ctr">
              <a:lnSpc>
                <a:spcPct val="100000"/>
              </a:lnSpc>
            </a:pPr>
            <a:r>
              <a:rPr sz="819" b="1" i="0">
                <a:solidFill>
                  <a:srgbClr val="FFFFFF"/>
                </a:solidFill>
                <a:latin typeface="Arial"/>
              </a:rPr>
              <a:t>4</a:t>
            </a:r>
          </a:p>
        </p:txBody>
      </p:sp>
      <p:sp>
        <p:nvSpPr>
          <p:cNvPr id="26" name="TextBox 25"/>
          <p:cNvSpPr txBox="1"/>
          <p:nvPr/>
        </p:nvSpPr>
        <p:spPr>
          <a:xfrm>
            <a:off x="4699825" y="6325423"/>
            <a:ext cx="768096" cy="164592"/>
          </a:xfrm>
          <a:prstGeom prst="rect">
            <a:avLst/>
          </a:prstGeom>
          <a:noFill/>
        </p:spPr>
        <p:txBody>
          <a:bodyPr wrap="square" lIns="0" rIns="0" tIns="0" bIns="0" anchor="t">
            <a:spAutoFit/>
          </a:bodyPr>
          <a:lstStyle/>
          <a:p>
            <a:pPr algn="l">
              <a:lnSpc>
                <a:spcPct val="100000"/>
              </a:lnSpc>
            </a:pPr>
            <a:r>
              <a:rPr sz="869" b="1" i="0">
                <a:solidFill>
                  <a:srgbClr val="138C8C"/>
                </a:solidFill>
                <a:latin typeface="Arial"/>
              </a:rPr>
              <a:t>TAIL + CG</a:t>
            </a:r>
          </a:p>
        </p:txBody>
      </p:sp>
      <p:sp>
        <p:nvSpPr>
          <p:cNvPr id="27" name="TextBox 26"/>
          <p:cNvSpPr txBox="1"/>
          <p:nvPr/>
        </p:nvSpPr>
        <p:spPr>
          <a:xfrm>
            <a:off x="4425505" y="6636319"/>
            <a:ext cx="1024128" cy="338328"/>
          </a:xfrm>
          <a:prstGeom prst="rect">
            <a:avLst/>
          </a:prstGeom>
          <a:noFill/>
        </p:spPr>
        <p:txBody>
          <a:bodyPr wrap="square" lIns="0" rIns="0" tIns="0" bIns="0" anchor="t">
            <a:spAutoFit/>
          </a:bodyPr>
          <a:lstStyle/>
          <a:p>
            <a:pPr algn="ctr">
              <a:lnSpc>
                <a:spcPct val="100000"/>
              </a:lnSpc>
            </a:pPr>
            <a:r>
              <a:rPr sz="770" b="0" i="0">
                <a:solidFill>
                  <a:srgbClr val="20263A"/>
                </a:solidFill>
                <a:latin typeface="Arial"/>
              </a:rPr>
              <a:t>Stability and authority</a:t>
            </a:r>
          </a:p>
        </p:txBody>
      </p:sp>
      <p:sp>
        <p:nvSpPr>
          <p:cNvPr id="28" name="Rounded Rectangle 27"/>
          <p:cNvSpPr/>
          <p:nvPr/>
        </p:nvSpPr>
        <p:spPr>
          <a:xfrm>
            <a:off x="2231326" y="6224839"/>
            <a:ext cx="1207008" cy="914400"/>
          </a:xfrm>
          <a:prstGeom prst="roundRect">
            <a:avLst>
              <a:gd name="adj" fmla="val 8000"/>
            </a:avLst>
          </a:prstGeom>
          <a:solidFill>
            <a:srgbClr val="FFFFFF"/>
          </a:solidFill>
          <a:ln w="13970">
            <a:solidFill>
              <a:srgbClr val="A23D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286190" y="6316279"/>
            <a:ext cx="265176" cy="265176"/>
          </a:xfrm>
          <a:prstGeom prst="ellipse">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86190" y="6361999"/>
            <a:ext cx="265176" cy="118872"/>
          </a:xfrm>
          <a:prstGeom prst="rect">
            <a:avLst/>
          </a:prstGeom>
          <a:noFill/>
        </p:spPr>
        <p:txBody>
          <a:bodyPr wrap="square" lIns="0" rIns="0" tIns="0" bIns="0" anchor="t">
            <a:spAutoFit/>
          </a:bodyPr>
          <a:lstStyle/>
          <a:p>
            <a:pPr algn="ctr">
              <a:lnSpc>
                <a:spcPct val="100000"/>
              </a:lnSpc>
            </a:pPr>
            <a:r>
              <a:rPr sz="819" b="1" i="0">
                <a:solidFill>
                  <a:srgbClr val="FFFFFF"/>
                </a:solidFill>
                <a:latin typeface="Arial"/>
              </a:rPr>
              <a:t>5</a:t>
            </a:r>
          </a:p>
        </p:txBody>
      </p:sp>
      <p:sp>
        <p:nvSpPr>
          <p:cNvPr id="31" name="TextBox 30"/>
          <p:cNvSpPr txBox="1"/>
          <p:nvPr/>
        </p:nvSpPr>
        <p:spPr>
          <a:xfrm>
            <a:off x="2597086" y="6325423"/>
            <a:ext cx="768096" cy="164592"/>
          </a:xfrm>
          <a:prstGeom prst="rect">
            <a:avLst/>
          </a:prstGeom>
          <a:noFill/>
        </p:spPr>
        <p:txBody>
          <a:bodyPr wrap="square" lIns="0" rIns="0" tIns="0" bIns="0" anchor="t">
            <a:spAutoFit/>
          </a:bodyPr>
          <a:lstStyle/>
          <a:p>
            <a:pPr algn="l">
              <a:lnSpc>
                <a:spcPct val="100000"/>
              </a:lnSpc>
            </a:pPr>
            <a:r>
              <a:rPr sz="869" b="1" i="0">
                <a:solidFill>
                  <a:srgbClr val="A23DB6"/>
                </a:solidFill>
                <a:latin typeface="Arial"/>
              </a:rPr>
              <a:t>POWER</a:t>
            </a:r>
          </a:p>
        </p:txBody>
      </p:sp>
      <p:sp>
        <p:nvSpPr>
          <p:cNvPr id="32" name="TextBox 31"/>
          <p:cNvSpPr txBox="1"/>
          <p:nvPr/>
        </p:nvSpPr>
        <p:spPr>
          <a:xfrm>
            <a:off x="2322766" y="6636319"/>
            <a:ext cx="1024128" cy="338328"/>
          </a:xfrm>
          <a:prstGeom prst="rect">
            <a:avLst/>
          </a:prstGeom>
          <a:noFill/>
        </p:spPr>
        <p:txBody>
          <a:bodyPr wrap="square" lIns="0" rIns="0" tIns="0" bIns="0" anchor="t">
            <a:spAutoFit/>
          </a:bodyPr>
          <a:lstStyle/>
          <a:p>
            <a:pPr algn="ctr">
              <a:lnSpc>
                <a:spcPct val="100000"/>
              </a:lnSpc>
            </a:pPr>
            <a:r>
              <a:rPr sz="770" b="0" i="0">
                <a:solidFill>
                  <a:srgbClr val="20263A"/>
                </a:solidFill>
                <a:latin typeface="Arial"/>
              </a:rPr>
              <a:t>Thrust, energy, cooling</a:t>
            </a:r>
          </a:p>
        </p:txBody>
      </p:sp>
      <p:sp>
        <p:nvSpPr>
          <p:cNvPr id="33" name="Rounded Rectangle 32"/>
          <p:cNvSpPr/>
          <p:nvPr/>
        </p:nvSpPr>
        <p:spPr>
          <a:xfrm>
            <a:off x="920289" y="4580851"/>
            <a:ext cx="1207008" cy="914400"/>
          </a:xfrm>
          <a:prstGeom prst="roundRect">
            <a:avLst>
              <a:gd name="adj" fmla="val 8000"/>
            </a:avLst>
          </a:prstGeom>
          <a:solidFill>
            <a:srgbClr val="FFFFFF"/>
          </a:solidFill>
          <a:ln w="13970">
            <a:solidFill>
              <a:srgbClr val="2F8F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75153" y="4672291"/>
            <a:ext cx="265176" cy="265176"/>
          </a:xfrm>
          <a:prstGeom prst="ellipse">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5153" y="4718011"/>
            <a:ext cx="265176" cy="118872"/>
          </a:xfrm>
          <a:prstGeom prst="rect">
            <a:avLst/>
          </a:prstGeom>
          <a:noFill/>
        </p:spPr>
        <p:txBody>
          <a:bodyPr wrap="square" lIns="0" rIns="0" tIns="0" bIns="0" anchor="t">
            <a:spAutoFit/>
          </a:bodyPr>
          <a:lstStyle/>
          <a:p>
            <a:pPr algn="ctr">
              <a:lnSpc>
                <a:spcPct val="100000"/>
              </a:lnSpc>
            </a:pPr>
            <a:r>
              <a:rPr sz="819" b="1" i="0">
                <a:solidFill>
                  <a:srgbClr val="FFFFFF"/>
                </a:solidFill>
                <a:latin typeface="Arial"/>
              </a:rPr>
              <a:t>6</a:t>
            </a:r>
          </a:p>
        </p:txBody>
      </p:sp>
      <p:sp>
        <p:nvSpPr>
          <p:cNvPr id="36" name="TextBox 35"/>
          <p:cNvSpPr txBox="1"/>
          <p:nvPr/>
        </p:nvSpPr>
        <p:spPr>
          <a:xfrm>
            <a:off x="1286049" y="4681435"/>
            <a:ext cx="768096" cy="164592"/>
          </a:xfrm>
          <a:prstGeom prst="rect">
            <a:avLst/>
          </a:prstGeom>
          <a:noFill/>
        </p:spPr>
        <p:txBody>
          <a:bodyPr wrap="square" lIns="0" rIns="0" tIns="0" bIns="0" anchor="t">
            <a:spAutoFit/>
          </a:bodyPr>
          <a:lstStyle/>
          <a:p>
            <a:pPr algn="l">
              <a:lnSpc>
                <a:spcPct val="100000"/>
              </a:lnSpc>
            </a:pPr>
            <a:r>
              <a:rPr sz="869" b="1" i="0">
                <a:solidFill>
                  <a:srgbClr val="2F8F5B"/>
                </a:solidFill>
                <a:latin typeface="Arial"/>
              </a:rPr>
              <a:t>STRUCTURE</a:t>
            </a:r>
          </a:p>
        </p:txBody>
      </p:sp>
      <p:sp>
        <p:nvSpPr>
          <p:cNvPr id="37" name="TextBox 36"/>
          <p:cNvSpPr txBox="1"/>
          <p:nvPr/>
        </p:nvSpPr>
        <p:spPr>
          <a:xfrm>
            <a:off x="1011729" y="4992331"/>
            <a:ext cx="1024128" cy="338328"/>
          </a:xfrm>
          <a:prstGeom prst="rect">
            <a:avLst/>
          </a:prstGeom>
          <a:noFill/>
        </p:spPr>
        <p:txBody>
          <a:bodyPr wrap="square" lIns="0" rIns="0" tIns="0" bIns="0" anchor="t">
            <a:spAutoFit/>
          </a:bodyPr>
          <a:lstStyle/>
          <a:p>
            <a:pPr algn="ctr">
              <a:lnSpc>
                <a:spcPct val="100000"/>
              </a:lnSpc>
            </a:pPr>
            <a:r>
              <a:rPr sz="770" b="0" i="0">
                <a:solidFill>
                  <a:srgbClr val="20263A"/>
                </a:solidFill>
                <a:latin typeface="Arial"/>
              </a:rPr>
              <a:t>Strength, stiffness, accuracy</a:t>
            </a:r>
          </a:p>
        </p:txBody>
      </p:sp>
      <p:sp>
        <p:nvSpPr>
          <p:cNvPr id="38" name="Rounded Rectangle 37"/>
          <p:cNvSpPr/>
          <p:nvPr/>
        </p:nvSpPr>
        <p:spPr>
          <a:xfrm>
            <a:off x="1388193" y="2530832"/>
            <a:ext cx="1207008" cy="914400"/>
          </a:xfrm>
          <a:prstGeom prst="roundRect">
            <a:avLst>
              <a:gd name="adj" fmla="val 8000"/>
            </a:avLst>
          </a:prstGeom>
          <a:solidFill>
            <a:srgbClr val="FFFFFF"/>
          </a:solidFill>
          <a:ln w="13970">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443057" y="2622272"/>
            <a:ext cx="265176" cy="265176"/>
          </a:xfrm>
          <a:prstGeom prst="ellipse">
            <a:avLst/>
          </a:prstGeom>
          <a:solidFill>
            <a:srgbClr val="E2B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43057" y="2667992"/>
            <a:ext cx="265176" cy="118872"/>
          </a:xfrm>
          <a:prstGeom prst="rect">
            <a:avLst/>
          </a:prstGeom>
          <a:noFill/>
        </p:spPr>
        <p:txBody>
          <a:bodyPr wrap="square" lIns="0" rIns="0" tIns="0" bIns="0" anchor="t">
            <a:spAutoFit/>
          </a:bodyPr>
          <a:lstStyle/>
          <a:p>
            <a:pPr algn="ctr">
              <a:lnSpc>
                <a:spcPct val="100000"/>
              </a:lnSpc>
            </a:pPr>
            <a:r>
              <a:rPr sz="819" b="1" i="0">
                <a:solidFill>
                  <a:srgbClr val="FFFFFF"/>
                </a:solidFill>
                <a:latin typeface="Arial"/>
              </a:rPr>
              <a:t>7</a:t>
            </a:r>
          </a:p>
        </p:txBody>
      </p:sp>
      <p:sp>
        <p:nvSpPr>
          <p:cNvPr id="41" name="TextBox 40"/>
          <p:cNvSpPr txBox="1"/>
          <p:nvPr/>
        </p:nvSpPr>
        <p:spPr>
          <a:xfrm>
            <a:off x="1753953" y="2631416"/>
            <a:ext cx="768096" cy="164592"/>
          </a:xfrm>
          <a:prstGeom prst="rect">
            <a:avLst/>
          </a:prstGeom>
          <a:noFill/>
        </p:spPr>
        <p:txBody>
          <a:bodyPr wrap="square" lIns="0" rIns="0" tIns="0" bIns="0" anchor="t">
            <a:spAutoFit/>
          </a:bodyPr>
          <a:lstStyle/>
          <a:p>
            <a:pPr algn="l">
              <a:lnSpc>
                <a:spcPct val="100000"/>
              </a:lnSpc>
            </a:pPr>
            <a:r>
              <a:rPr sz="869" b="1" i="0">
                <a:solidFill>
                  <a:srgbClr val="E2B93B"/>
                </a:solidFill>
                <a:latin typeface="Arial"/>
              </a:rPr>
              <a:t>TEST</a:t>
            </a:r>
          </a:p>
        </p:txBody>
      </p:sp>
      <p:sp>
        <p:nvSpPr>
          <p:cNvPr id="42" name="TextBox 41"/>
          <p:cNvSpPr txBox="1"/>
          <p:nvPr/>
        </p:nvSpPr>
        <p:spPr>
          <a:xfrm>
            <a:off x="1479633" y="2942312"/>
            <a:ext cx="1024128" cy="338328"/>
          </a:xfrm>
          <a:prstGeom prst="rect">
            <a:avLst/>
          </a:prstGeom>
          <a:noFill/>
        </p:spPr>
        <p:txBody>
          <a:bodyPr wrap="square" lIns="0" rIns="0" tIns="0" bIns="0" anchor="t">
            <a:spAutoFit/>
          </a:bodyPr>
          <a:lstStyle/>
          <a:p>
            <a:pPr algn="ctr">
              <a:lnSpc>
                <a:spcPct val="100000"/>
              </a:lnSpc>
            </a:pPr>
            <a:r>
              <a:rPr sz="770" b="0" i="0">
                <a:solidFill>
                  <a:srgbClr val="20263A"/>
                </a:solidFill>
                <a:latin typeface="Arial"/>
              </a:rPr>
              <a:t>Measure, trim, learn</a:t>
            </a:r>
          </a:p>
        </p:txBody>
      </p:sp>
      <p:sp>
        <p:nvSpPr>
          <p:cNvPr id="43" name="Oval 42"/>
          <p:cNvSpPr/>
          <p:nvPr/>
        </p:nvSpPr>
        <p:spPr>
          <a:xfrm>
            <a:off x="3227832" y="3840480"/>
            <a:ext cx="1316736" cy="1316736"/>
          </a:xfrm>
          <a:prstGeom prst="ellipse">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19272" y="4206240"/>
            <a:ext cx="1133856" cy="530352"/>
          </a:xfrm>
          <a:prstGeom prst="rect">
            <a:avLst/>
          </a:prstGeom>
          <a:noFill/>
        </p:spPr>
        <p:txBody>
          <a:bodyPr wrap="square" lIns="0" rIns="0" tIns="0" bIns="0" anchor="ctr">
            <a:spAutoFit/>
          </a:bodyPr>
          <a:lstStyle/>
          <a:p>
            <a:pPr algn="ctr">
              <a:lnSpc>
                <a:spcPct val="100000"/>
              </a:lnSpc>
            </a:pPr>
            <a:r>
              <a:rPr sz="1400" b="1" i="0">
                <a:solidFill>
                  <a:srgbClr val="FFFFFF"/>
                </a:solidFill>
                <a:latin typeface="Arial"/>
              </a:rPr>
              <a:t>YOUR</a:t>
            </a:r>
            <a:br/>
            <a:r>
              <a:rPr sz="1400" b="1" i="0">
                <a:solidFill>
                  <a:srgbClr val="FFFFFF"/>
                </a:solidFill>
                <a:latin typeface="Arial"/>
              </a:rPr>
              <a:t>AIRPLANE</a:t>
            </a:r>
          </a:p>
        </p:txBody>
      </p:sp>
      <p:sp>
        <p:nvSpPr>
          <p:cNvPr id="45" name="Rounded Rectangle 44"/>
          <p:cNvSpPr/>
          <p:nvPr/>
        </p:nvSpPr>
        <p:spPr>
          <a:xfrm>
            <a:off x="347472" y="8138160"/>
            <a:ext cx="7077456" cy="566928"/>
          </a:xfrm>
          <a:prstGeom prst="roundRect">
            <a:avLst>
              <a:gd name="adj" fmla="val 8000"/>
            </a:avLst>
          </a:prstGeom>
          <a:solidFill>
            <a:srgbClr val="FFF3E9"/>
          </a:solidFill>
          <a:ln w="10160">
            <a:solidFill>
              <a:srgbClr val="E070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57200" y="8275320"/>
            <a:ext cx="292608" cy="292608"/>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8330184"/>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48" name="TextBox 47"/>
          <p:cNvSpPr txBox="1"/>
          <p:nvPr/>
        </p:nvSpPr>
        <p:spPr>
          <a:xfrm>
            <a:off x="832104" y="8229600"/>
            <a:ext cx="6464808" cy="402336"/>
          </a:xfrm>
          <a:prstGeom prst="rect">
            <a:avLst/>
          </a:prstGeom>
          <a:noFill/>
        </p:spPr>
        <p:txBody>
          <a:bodyPr wrap="square" lIns="0" rIns="0" tIns="0" bIns="0" anchor="ctr">
            <a:spAutoFit/>
          </a:bodyPr>
          <a:lstStyle/>
          <a:p>
            <a:pPr algn="l">
              <a:lnSpc>
                <a:spcPct val="100000"/>
              </a:lnSpc>
            </a:pPr>
            <a:r>
              <a:rPr sz="890" b="0" i="0">
                <a:solidFill>
                  <a:srgbClr val="20263A"/>
                </a:solidFill>
                <a:latin typeface="Arial"/>
              </a:rPr>
              <a:t>Freeze the mission first. Otherwise the design grows heavier, faster, and more complicated every time a new feature is added.</a:t>
            </a:r>
          </a:p>
        </p:txBody>
      </p:sp>
      <p:sp>
        <p:nvSpPr>
          <p:cNvPr id="49" name="TextBox 48"/>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4</a:t>
            </a:r>
          </a:p>
        </p:txBody>
      </p:sp>
      <p:cxnSp>
        <p:nvCxnSpPr>
          <p:cNvPr id="57" name="Connector 56"/>
          <p:cNvCxnSpPr/>
          <p:nvPr/>
        </p:nvCxnSpPr>
        <p:spPr>
          <a:xfrm>
            <a:off x="2651760" y="2990088"/>
            <a:ext cx="2468880" cy="0"/>
          </a:xfrm>
          <a:prstGeom prst="line">
            <a:avLst/>
          </a:prstGeom>
          <a:ln w="15875">
            <a:solidFill>
              <a:srgbClr val="5F687D"/>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2834640" y="3054096"/>
            <a:ext cx="2103120" cy="146304"/>
          </a:xfrm>
          <a:prstGeom prst="rect">
            <a:avLst/>
          </a:prstGeom>
          <a:noFill/>
        </p:spPr>
        <p:txBody>
          <a:bodyPr wrap="square" lIns="0" rIns="0" tIns="0" bIns="0">
            <a:spAutoFit/>
          </a:bodyPr>
          <a:lstStyle/>
          <a:p>
            <a:pPr algn="ctr"/>
            <a:r>
              <a:rPr sz="700" b="0" i="1">
                <a:solidFill>
                  <a:srgbClr val="5F687D"/>
                </a:solidFill>
                <a:latin typeface="Arial"/>
              </a:rPr>
              <a:t>measured results update the budget</a:t>
            </a:r>
          </a:p>
        </p:txBody>
      </p:sp>
      <p:sp>
        <p:nvSpPr>
          <p:cNvPr id="59" name="Arc 58"/>
          <p:cNvSpPr/>
          <p:nvPr/>
        </p:nvSpPr>
        <p:spPr>
          <a:xfrm>
            <a:off x="1490472" y="2103120"/>
            <a:ext cx="4791456" cy="4791456"/>
          </a:xfrm>
          <a:prstGeom prst="arc">
            <a:avLst>
              <a:gd name="adj1" fmla="val 17321999"/>
              <a:gd name="adj2" fmla="val 17948496"/>
            </a:avLst>
          </a:prstGeom>
          <a:noFill/>
          <a:ln w="25400">
            <a:solidFill>
              <a:srgbClr val="5F687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rc 59"/>
          <p:cNvSpPr/>
          <p:nvPr/>
        </p:nvSpPr>
        <p:spPr>
          <a:xfrm>
            <a:off x="1490472" y="2103120"/>
            <a:ext cx="4791456" cy="4791456"/>
          </a:xfrm>
          <a:prstGeom prst="arc">
            <a:avLst>
              <a:gd name="adj1" fmla="val 20288496"/>
              <a:gd name="adj2" fmla="val 21490861"/>
            </a:avLst>
          </a:prstGeom>
          <a:noFill/>
          <a:ln w="25400">
            <a:solidFill>
              <a:srgbClr val="5F687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rc 60"/>
          <p:cNvSpPr/>
          <p:nvPr/>
        </p:nvSpPr>
        <p:spPr>
          <a:xfrm>
            <a:off x="1490472" y="2103120"/>
            <a:ext cx="4791456" cy="4791456"/>
          </a:xfrm>
          <a:prstGeom prst="arc">
            <a:avLst>
              <a:gd name="adj1" fmla="val 1726861"/>
              <a:gd name="adj2" fmla="val 2496267"/>
            </a:avLst>
          </a:prstGeom>
          <a:noFill/>
          <a:ln w="25400">
            <a:solidFill>
              <a:srgbClr val="5F687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rc 61"/>
          <p:cNvSpPr/>
          <p:nvPr/>
        </p:nvSpPr>
        <p:spPr>
          <a:xfrm>
            <a:off x="1490472" y="2103120"/>
            <a:ext cx="4791456" cy="4791456"/>
          </a:xfrm>
          <a:prstGeom prst="arc">
            <a:avLst>
              <a:gd name="adj1" fmla="val 4980267"/>
              <a:gd name="adj2" fmla="val 5819732"/>
            </a:avLst>
          </a:prstGeom>
          <a:noFill/>
          <a:ln w="25400">
            <a:solidFill>
              <a:srgbClr val="5F687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rc 62"/>
          <p:cNvSpPr/>
          <p:nvPr/>
        </p:nvSpPr>
        <p:spPr>
          <a:xfrm>
            <a:off x="1490472" y="2103120"/>
            <a:ext cx="4791456" cy="4791456"/>
          </a:xfrm>
          <a:prstGeom prst="arc">
            <a:avLst>
              <a:gd name="adj1" fmla="val 8303732"/>
              <a:gd name="adj2" fmla="val 9073138"/>
            </a:avLst>
          </a:prstGeom>
          <a:noFill/>
          <a:ln w="25400">
            <a:solidFill>
              <a:srgbClr val="5F687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rc 63"/>
          <p:cNvSpPr/>
          <p:nvPr/>
        </p:nvSpPr>
        <p:spPr>
          <a:xfrm>
            <a:off x="1490472" y="2103120"/>
            <a:ext cx="4791456" cy="4791456"/>
          </a:xfrm>
          <a:prstGeom prst="arc">
            <a:avLst>
              <a:gd name="adj1" fmla="val 10909138"/>
              <a:gd name="adj2" fmla="val 12111503"/>
            </a:avLst>
          </a:prstGeom>
          <a:noFill/>
          <a:ln w="25400">
            <a:solidFill>
              <a:srgbClr val="5F687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rc 64"/>
          <p:cNvSpPr/>
          <p:nvPr/>
        </p:nvSpPr>
        <p:spPr>
          <a:xfrm>
            <a:off x="1490472" y="2103120"/>
            <a:ext cx="4791456" cy="4791456"/>
          </a:xfrm>
          <a:prstGeom prst="arc">
            <a:avLst>
              <a:gd name="adj1" fmla="val 14451503"/>
              <a:gd name="adj2" fmla="val 15078000"/>
            </a:avLst>
          </a:prstGeom>
          <a:noFill/>
          <a:ln w="25400">
            <a:solidFill>
              <a:srgbClr val="5F687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E0702B"/>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Write the mission before drawing the airplane</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Clear requirements prevent the design from becoming a random collection of appealing features.</a:t>
            </a:r>
          </a:p>
        </p:txBody>
      </p:sp>
      <p:sp>
        <p:nvSpPr>
          <p:cNvPr id="8" name="Rounded Rectangle 7"/>
          <p:cNvSpPr/>
          <p:nvPr/>
        </p:nvSpPr>
        <p:spPr>
          <a:xfrm>
            <a:off x="347472" y="1225296"/>
            <a:ext cx="3474720" cy="331012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225296"/>
            <a:ext cx="50292" cy="3310128"/>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34416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FLIGHT TASK</a:t>
            </a:r>
          </a:p>
        </p:txBody>
      </p:sp>
      <p:sp>
        <p:nvSpPr>
          <p:cNvPr id="11" name="TextBox 10"/>
          <p:cNvSpPr txBox="1"/>
          <p:nvPr/>
        </p:nvSpPr>
        <p:spPr>
          <a:xfrm>
            <a:off x="493776" y="1618488"/>
            <a:ext cx="3200400" cy="2816352"/>
          </a:xfrm>
          <a:prstGeom prst="rect">
            <a:avLst/>
          </a:prstGeom>
          <a:noFill/>
        </p:spPr>
        <p:txBody>
          <a:bodyPr wrap="square" lIns="18288" rIns="9144" tIns="9144" bIns="9144">
            <a:spAutoFit/>
          </a:bodyPr>
          <a:lstStyle/>
          <a:p>
            <a:pPr>
              <a:lnSpc>
                <a:spcPct val="100000"/>
              </a:lnSpc>
              <a:spcAft>
                <a:spcPts val="250"/>
              </a:spcAft>
            </a:pPr>
            <a:r>
              <a:rPr sz="965">
                <a:solidFill>
                  <a:srgbClr val="20263A"/>
                </a:solidFill>
                <a:latin typeface="Arial"/>
              </a:rPr>
              <a:t>• Trainer, sport, glider, aerobatic, scale, STOL, payload, endurance, or speed?</a:t>
            </a:r>
          </a:p>
          <a:p>
            <a:pPr>
              <a:lnSpc>
                <a:spcPct val="100000"/>
              </a:lnSpc>
              <a:spcAft>
                <a:spcPts val="250"/>
              </a:spcAft>
            </a:pPr>
            <a:r>
              <a:rPr sz="965">
                <a:solidFill>
                  <a:srgbClr val="20263A"/>
                </a:solidFill>
                <a:latin typeface="Arial"/>
              </a:rPr>
              <a:t>• Choose one primary mission and at most two secondary goals.</a:t>
            </a:r>
          </a:p>
        </p:txBody>
      </p:sp>
      <p:sp>
        <p:nvSpPr>
          <p:cNvPr id="12" name="Rounded Rectangle 11"/>
          <p:cNvSpPr/>
          <p:nvPr/>
        </p:nvSpPr>
        <p:spPr>
          <a:xfrm>
            <a:off x="3950208" y="1225296"/>
            <a:ext cx="3474720" cy="331012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0208" y="1225296"/>
            <a:ext cx="50292" cy="3310128"/>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6512" y="134416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OPERATING SPACE</a:t>
            </a:r>
          </a:p>
        </p:txBody>
      </p:sp>
      <p:sp>
        <p:nvSpPr>
          <p:cNvPr id="15" name="TextBox 14"/>
          <p:cNvSpPr txBox="1"/>
          <p:nvPr/>
        </p:nvSpPr>
        <p:spPr>
          <a:xfrm>
            <a:off x="4096512" y="1618488"/>
            <a:ext cx="3200400" cy="2816352"/>
          </a:xfrm>
          <a:prstGeom prst="rect">
            <a:avLst/>
          </a:prstGeom>
          <a:noFill/>
        </p:spPr>
        <p:txBody>
          <a:bodyPr wrap="square" lIns="18288" rIns="9144" tIns="9144" bIns="9144">
            <a:spAutoFit/>
          </a:bodyPr>
          <a:lstStyle/>
          <a:p>
            <a:pPr>
              <a:lnSpc>
                <a:spcPct val="100000"/>
              </a:lnSpc>
              <a:spcAft>
                <a:spcPts val="250"/>
              </a:spcAft>
            </a:pPr>
            <a:r>
              <a:rPr sz="965">
                <a:solidFill>
                  <a:srgbClr val="20263A"/>
                </a:solidFill>
                <a:latin typeface="Arial"/>
              </a:rPr>
              <a:t>• Field size, surface, wind, noise limits, transport box, launch method, landing method.</a:t>
            </a:r>
          </a:p>
          <a:p>
            <a:pPr>
              <a:lnSpc>
                <a:spcPct val="100000"/>
              </a:lnSpc>
              <a:spcAft>
                <a:spcPts val="250"/>
              </a:spcAft>
            </a:pPr>
            <a:r>
              <a:rPr sz="965">
                <a:solidFill>
                  <a:srgbClr val="20263A"/>
                </a:solidFill>
                <a:latin typeface="Arial"/>
              </a:rPr>
              <a:t>• A small field often demands low wing loading more than high top speed.</a:t>
            </a:r>
          </a:p>
        </p:txBody>
      </p:sp>
      <p:sp>
        <p:nvSpPr>
          <p:cNvPr id="16" name="Rounded Rectangle 15"/>
          <p:cNvSpPr/>
          <p:nvPr/>
        </p:nvSpPr>
        <p:spPr>
          <a:xfrm>
            <a:off x="347472" y="4873752"/>
            <a:ext cx="3474720" cy="331012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4873752"/>
            <a:ext cx="50292" cy="3310128"/>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499262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TARGETS</a:t>
            </a:r>
          </a:p>
        </p:txBody>
      </p:sp>
      <p:sp>
        <p:nvSpPr>
          <p:cNvPr id="19" name="TextBox 18"/>
          <p:cNvSpPr txBox="1"/>
          <p:nvPr/>
        </p:nvSpPr>
        <p:spPr>
          <a:xfrm>
            <a:off x="493776" y="5266944"/>
            <a:ext cx="3200400" cy="2816352"/>
          </a:xfrm>
          <a:prstGeom prst="rect">
            <a:avLst/>
          </a:prstGeom>
          <a:noFill/>
        </p:spPr>
        <p:txBody>
          <a:bodyPr wrap="square" lIns="18288" rIns="9144" tIns="9144" bIns="9144">
            <a:spAutoFit/>
          </a:bodyPr>
          <a:lstStyle/>
          <a:p>
            <a:pPr>
              <a:lnSpc>
                <a:spcPct val="100000"/>
              </a:lnSpc>
              <a:spcAft>
                <a:spcPts val="250"/>
              </a:spcAft>
            </a:pPr>
            <a:r>
              <a:rPr sz="965">
                <a:solidFill>
                  <a:srgbClr val="20263A"/>
                </a:solidFill>
                <a:latin typeface="Arial"/>
              </a:rPr>
              <a:t>• All-up mass, stall speed, flight time, climb rate, wingspan limit, construction time, and budget.</a:t>
            </a:r>
          </a:p>
          <a:p>
            <a:pPr>
              <a:lnSpc>
                <a:spcPct val="100000"/>
              </a:lnSpc>
              <a:spcAft>
                <a:spcPts val="250"/>
              </a:spcAft>
            </a:pPr>
            <a:r>
              <a:rPr sz="965">
                <a:solidFill>
                  <a:srgbClr val="20263A"/>
                </a:solidFill>
                <a:latin typeface="Arial"/>
              </a:rPr>
              <a:t>• Use numbers where possible, not words such as “light” or “fast.”</a:t>
            </a:r>
          </a:p>
        </p:txBody>
      </p:sp>
      <p:sp>
        <p:nvSpPr>
          <p:cNvPr id="20" name="Rounded Rectangle 19"/>
          <p:cNvSpPr/>
          <p:nvPr/>
        </p:nvSpPr>
        <p:spPr>
          <a:xfrm>
            <a:off x="3950208" y="4873752"/>
            <a:ext cx="3474720" cy="331012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50208" y="4873752"/>
            <a:ext cx="50292" cy="3310128"/>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96512" y="499262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NON-NEGOTIABLES</a:t>
            </a:r>
          </a:p>
        </p:txBody>
      </p:sp>
      <p:sp>
        <p:nvSpPr>
          <p:cNvPr id="23" name="TextBox 22"/>
          <p:cNvSpPr txBox="1"/>
          <p:nvPr/>
        </p:nvSpPr>
        <p:spPr>
          <a:xfrm>
            <a:off x="4096512" y="5266944"/>
            <a:ext cx="3200400" cy="2816352"/>
          </a:xfrm>
          <a:prstGeom prst="rect">
            <a:avLst/>
          </a:prstGeom>
          <a:noFill/>
        </p:spPr>
        <p:txBody>
          <a:bodyPr wrap="square" lIns="18288" rIns="9144" tIns="9144" bIns="9144">
            <a:spAutoFit/>
          </a:bodyPr>
          <a:lstStyle/>
          <a:p>
            <a:pPr>
              <a:lnSpc>
                <a:spcPct val="100000"/>
              </a:lnSpc>
              <a:spcAft>
                <a:spcPts val="250"/>
              </a:spcAft>
            </a:pPr>
            <a:r>
              <a:rPr sz="965">
                <a:solidFill>
                  <a:srgbClr val="20263A"/>
                </a:solidFill>
                <a:latin typeface="Arial"/>
              </a:rPr>
              <a:t>• Radio failsafe, battery access, cooling, removable wing, landing gear, camera, tow hook, or float mount.</a:t>
            </a:r>
          </a:p>
          <a:p>
            <a:pPr>
              <a:lnSpc>
                <a:spcPct val="100000"/>
              </a:lnSpc>
              <a:spcAft>
                <a:spcPts val="250"/>
              </a:spcAft>
            </a:pPr>
            <a:r>
              <a:rPr sz="965">
                <a:solidFill>
                  <a:srgbClr val="20263A"/>
                </a:solidFill>
                <a:latin typeface="Arial"/>
              </a:rPr>
              <a:t>• Each requirement has mass and drag costs.</a:t>
            </a:r>
          </a:p>
        </p:txBody>
      </p:sp>
      <p:sp>
        <p:nvSpPr>
          <p:cNvPr id="24" name="TextBox 23"/>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46BCE"/>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Four forces—and the moments they create</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An airplane moves because forces act at locations. A force away from the CG also creates a turning moment.</a:t>
            </a:r>
          </a:p>
        </p:txBody>
      </p:sp>
      <p:sp>
        <p:nvSpPr>
          <p:cNvPr id="8" name="Rounded Rectangle 7"/>
          <p:cNvSpPr/>
          <p:nvPr/>
        </p:nvSpPr>
        <p:spPr>
          <a:xfrm>
            <a:off x="347472" y="1188720"/>
            <a:ext cx="7077456" cy="31546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54526" y="1449781"/>
            <a:ext cx="1185062" cy="416966"/>
          </a:xfrm>
          <a:prstGeom prst="rect">
            <a:avLst/>
          </a:prstGeom>
          <a:noFill/>
        </p:spPr>
        <p:txBody>
          <a:bodyPr wrap="square" lIns="0" rIns="0" tIns="0" bIns="0" anchor="t">
            <a:spAutoFit/>
          </a:bodyPr>
          <a:lstStyle/>
          <a:p>
            <a:pPr algn="l">
              <a:lnSpc>
                <a:spcPct val="100000"/>
              </a:lnSpc>
            </a:pPr>
            <a:r>
              <a:rPr sz="840" b="1" i="0">
                <a:solidFill>
                  <a:srgbClr val="2F8F5B"/>
                </a:solidFill>
                <a:latin typeface="Arial"/>
              </a:rPr>
              <a:t>Lift</a:t>
            </a:r>
          </a:p>
        </p:txBody>
      </p:sp>
      <p:sp>
        <p:nvSpPr>
          <p:cNvPr id="22" name="TextBox 21"/>
          <p:cNvSpPr txBox="1"/>
          <p:nvPr/>
        </p:nvSpPr>
        <p:spPr>
          <a:xfrm>
            <a:off x="3754526" y="3508552"/>
            <a:ext cx="1448409" cy="416966"/>
          </a:xfrm>
          <a:prstGeom prst="rect">
            <a:avLst/>
          </a:prstGeom>
          <a:noFill/>
        </p:spPr>
        <p:txBody>
          <a:bodyPr wrap="square" lIns="0" rIns="0" tIns="0" bIns="0" anchor="t">
            <a:spAutoFit/>
          </a:bodyPr>
          <a:lstStyle/>
          <a:p>
            <a:pPr algn="l">
              <a:lnSpc>
                <a:spcPct val="100000"/>
              </a:lnSpc>
            </a:pPr>
            <a:r>
              <a:rPr sz="840" b="1" i="0">
                <a:solidFill>
                  <a:srgbClr val="C83E3E"/>
                </a:solidFill>
                <a:latin typeface="Arial"/>
              </a:rPr>
              <a:t>Weight</a:t>
            </a:r>
          </a:p>
        </p:txBody>
      </p:sp>
      <p:sp>
        <p:nvSpPr>
          <p:cNvPr id="27" name="Rounded Rectangle 26"/>
          <p:cNvSpPr/>
          <p:nvPr/>
        </p:nvSpPr>
        <p:spPr>
          <a:xfrm>
            <a:off x="347472" y="4590288"/>
            <a:ext cx="3474720" cy="151790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7472" y="4590288"/>
            <a:ext cx="50292" cy="151790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3776" y="470915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FORCES</a:t>
            </a:r>
          </a:p>
        </p:txBody>
      </p:sp>
      <p:sp>
        <p:nvSpPr>
          <p:cNvPr id="30" name="TextBox 29"/>
          <p:cNvSpPr txBox="1"/>
          <p:nvPr/>
        </p:nvSpPr>
        <p:spPr>
          <a:xfrm>
            <a:off x="493776" y="4983479"/>
            <a:ext cx="3200400" cy="1024127"/>
          </a:xfrm>
          <a:prstGeom prst="rect">
            <a:avLst/>
          </a:prstGeom>
          <a:noFill/>
        </p:spPr>
        <p:txBody>
          <a:bodyPr wrap="square" lIns="18288" rIns="9144" tIns="9144" bIns="9144">
            <a:spAutoFit/>
          </a:bodyPr>
          <a:lstStyle/>
          <a:p>
            <a:pPr>
              <a:lnSpc>
                <a:spcPct val="100000"/>
              </a:lnSpc>
              <a:spcAft>
                <a:spcPts val="250"/>
              </a:spcAft>
            </a:pPr>
            <a:r>
              <a:rPr sz="910">
                <a:solidFill>
                  <a:srgbClr val="20263A"/>
                </a:solidFill>
                <a:latin typeface="Arial"/>
              </a:rPr>
              <a:t>• Lift acts roughly perpendicular to the relative wind.</a:t>
            </a:r>
          </a:p>
          <a:p>
            <a:pPr>
              <a:lnSpc>
                <a:spcPct val="100000"/>
              </a:lnSpc>
              <a:spcAft>
                <a:spcPts val="250"/>
              </a:spcAft>
            </a:pPr>
            <a:r>
              <a:rPr sz="910">
                <a:solidFill>
                  <a:srgbClr val="20263A"/>
                </a:solidFill>
                <a:latin typeface="Arial"/>
              </a:rPr>
              <a:t>• Weight acts through the CG.</a:t>
            </a:r>
          </a:p>
          <a:p>
            <a:pPr>
              <a:lnSpc>
                <a:spcPct val="100000"/>
              </a:lnSpc>
              <a:spcAft>
                <a:spcPts val="250"/>
              </a:spcAft>
            </a:pPr>
            <a:r>
              <a:rPr sz="910">
                <a:solidFill>
                  <a:srgbClr val="20263A"/>
                </a:solidFill>
                <a:latin typeface="Arial"/>
              </a:rPr>
              <a:t>• Thrust and drag act roughly along the flight path.</a:t>
            </a:r>
          </a:p>
        </p:txBody>
      </p:sp>
      <p:sp>
        <p:nvSpPr>
          <p:cNvPr id="31" name="Rounded Rectangle 30"/>
          <p:cNvSpPr/>
          <p:nvPr/>
        </p:nvSpPr>
        <p:spPr>
          <a:xfrm>
            <a:off x="3950208" y="4590288"/>
            <a:ext cx="3474720" cy="151790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50208" y="4590288"/>
            <a:ext cx="50292" cy="1517904"/>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96512" y="470915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MOMENTS</a:t>
            </a:r>
          </a:p>
        </p:txBody>
      </p:sp>
      <p:sp>
        <p:nvSpPr>
          <p:cNvPr id="34" name="TextBox 33"/>
          <p:cNvSpPr txBox="1"/>
          <p:nvPr/>
        </p:nvSpPr>
        <p:spPr>
          <a:xfrm>
            <a:off x="4096512" y="4983479"/>
            <a:ext cx="3200400" cy="1024127"/>
          </a:xfrm>
          <a:prstGeom prst="rect">
            <a:avLst/>
          </a:prstGeom>
          <a:noFill/>
        </p:spPr>
        <p:txBody>
          <a:bodyPr wrap="square" lIns="18288" rIns="9144" tIns="9144" bIns="9144">
            <a:spAutoFit/>
          </a:bodyPr>
          <a:lstStyle/>
          <a:p>
            <a:pPr>
              <a:lnSpc>
                <a:spcPct val="100000"/>
              </a:lnSpc>
              <a:spcAft>
                <a:spcPts val="250"/>
              </a:spcAft>
            </a:pPr>
            <a:r>
              <a:rPr sz="910">
                <a:solidFill>
                  <a:srgbClr val="20263A"/>
                </a:solidFill>
                <a:latin typeface="Arial"/>
              </a:rPr>
              <a:t>• Pitch turns nose up/down.</a:t>
            </a:r>
          </a:p>
          <a:p>
            <a:pPr>
              <a:lnSpc>
                <a:spcPct val="100000"/>
              </a:lnSpc>
              <a:spcAft>
                <a:spcPts val="250"/>
              </a:spcAft>
            </a:pPr>
            <a:r>
              <a:rPr sz="910">
                <a:solidFill>
                  <a:srgbClr val="20263A"/>
                </a:solidFill>
                <a:latin typeface="Arial"/>
              </a:rPr>
              <a:t>• Roll rotates wingtip to wingtip.</a:t>
            </a:r>
          </a:p>
          <a:p>
            <a:pPr>
              <a:lnSpc>
                <a:spcPct val="100000"/>
              </a:lnSpc>
              <a:spcAft>
                <a:spcPts val="250"/>
              </a:spcAft>
            </a:pPr>
            <a:r>
              <a:rPr sz="910">
                <a:solidFill>
                  <a:srgbClr val="20263A"/>
                </a:solidFill>
                <a:latin typeface="Arial"/>
              </a:rPr>
              <a:t>• Yaw swings the nose left/right.</a:t>
            </a:r>
          </a:p>
        </p:txBody>
      </p:sp>
      <p:sp>
        <p:nvSpPr>
          <p:cNvPr id="35" name="Rounded Rectangle 34"/>
          <p:cNvSpPr/>
          <p:nvPr/>
        </p:nvSpPr>
        <p:spPr>
          <a:xfrm>
            <a:off x="347472" y="6327648"/>
            <a:ext cx="7077456" cy="133502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47472" y="6327648"/>
            <a:ext cx="50292" cy="1335024"/>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3776" y="6446520"/>
            <a:ext cx="6821424"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TRIMMED FLIGHT</a:t>
            </a:r>
          </a:p>
        </p:txBody>
      </p:sp>
      <p:sp>
        <p:nvSpPr>
          <p:cNvPr id="38" name="TextBox 37"/>
          <p:cNvSpPr txBox="1"/>
          <p:nvPr/>
        </p:nvSpPr>
        <p:spPr>
          <a:xfrm>
            <a:off x="493776" y="6720840"/>
            <a:ext cx="6803136" cy="841247"/>
          </a:xfrm>
          <a:prstGeom prst="rect">
            <a:avLst/>
          </a:prstGeom>
          <a:noFill/>
        </p:spPr>
        <p:txBody>
          <a:bodyPr wrap="square" lIns="0" rIns="0" tIns="0" bIns="0" anchor="t">
            <a:spAutoFit/>
          </a:bodyPr>
          <a:lstStyle/>
          <a:p>
            <a:pPr algn="l">
              <a:lnSpc>
                <a:spcPct val="100000"/>
              </a:lnSpc>
            </a:pPr>
            <a:r>
              <a:rPr sz="960" b="0" i="0">
                <a:solidFill>
                  <a:srgbClr val="20263A"/>
                </a:solidFill>
                <a:latin typeface="Arial"/>
              </a:rPr>
              <a:t>Steady flight requires both force balance and moment balance. Lift can equal weight while the airplane still pitches uncontrollably if the moments do not balance about the CG.</a:t>
            </a:r>
          </a:p>
        </p:txBody>
      </p:sp>
      <p:sp>
        <p:nvSpPr>
          <p:cNvPr id="39" name="Rounded Rectangle 38"/>
          <p:cNvSpPr/>
          <p:nvPr/>
        </p:nvSpPr>
        <p:spPr>
          <a:xfrm>
            <a:off x="347472" y="7882127"/>
            <a:ext cx="7077456" cy="658368"/>
          </a:xfrm>
          <a:prstGeom prst="roundRect">
            <a:avLst>
              <a:gd name="adj" fmla="val 8000"/>
            </a:avLst>
          </a:prstGeom>
          <a:solidFill>
            <a:srgbClr val="EAF7F6"/>
          </a:solidFill>
          <a:ln w="10160">
            <a:solidFill>
              <a:srgbClr val="13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57200" y="8065007"/>
            <a:ext cx="292608" cy="292608"/>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8119871"/>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42" name="TextBox 41"/>
          <p:cNvSpPr txBox="1"/>
          <p:nvPr/>
        </p:nvSpPr>
        <p:spPr>
          <a:xfrm>
            <a:off x="832104" y="7973567"/>
            <a:ext cx="6464808" cy="493776"/>
          </a:xfrm>
          <a:prstGeom prst="rect">
            <a:avLst/>
          </a:prstGeom>
          <a:noFill/>
        </p:spPr>
        <p:txBody>
          <a:bodyPr wrap="square" lIns="0" rIns="0" tIns="0" bIns="0" anchor="ctr">
            <a:spAutoFit/>
          </a:bodyPr>
          <a:lstStyle/>
          <a:p>
            <a:pPr algn="l">
              <a:lnSpc>
                <a:spcPct val="100000"/>
              </a:lnSpc>
            </a:pPr>
            <a:r>
              <a:rPr sz="910" b="0" i="0">
                <a:solidFill>
                  <a:srgbClr val="20263A"/>
                </a:solidFill>
                <a:latin typeface="Arial"/>
              </a:rPr>
              <a:t>A tail is not merely a small rear wing. It supplies leverage that balances and damps pitching and yawing motion.</a:t>
            </a:r>
          </a:p>
        </p:txBody>
      </p:sp>
      <p:sp>
        <p:nvSpPr>
          <p:cNvPr id="43" name="TextBox 42"/>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Reference basis: NASA Glenn Beginner’s Guide to Aeronautics—forces, lift, drag, and moments.</a:t>
            </a:r>
          </a:p>
        </p:txBody>
      </p:sp>
      <p:sp>
        <p:nvSpPr>
          <p:cNvPr id="44" name="TextBox 43"/>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6</a:t>
            </a:r>
          </a:p>
        </p:txBody>
      </p:sp>
      <p:cxnSp>
        <p:nvCxnSpPr>
          <p:cNvPr id="45" name="Connector 44"/>
          <p:cNvCxnSpPr/>
          <p:nvPr/>
        </p:nvCxnSpPr>
        <p:spPr>
          <a:xfrm flipV="1">
            <a:off x="3621024" y="1353312"/>
            <a:ext cx="0" cy="1115568"/>
          </a:xfrm>
          <a:prstGeom prst="line">
            <a:avLst/>
          </a:prstGeom>
          <a:ln w="28575">
            <a:solidFill>
              <a:srgbClr val="2F8F5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621024" y="2779776"/>
            <a:ext cx="0" cy="1170432"/>
          </a:xfrm>
          <a:prstGeom prst="line">
            <a:avLst/>
          </a:prstGeom>
          <a:ln w="28575">
            <a:solidFill>
              <a:srgbClr val="C83E3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75488" y="2779776"/>
            <a:ext cx="365760" cy="0"/>
          </a:xfrm>
          <a:prstGeom prst="line">
            <a:avLst/>
          </a:prstGeom>
          <a:ln w="28575">
            <a:solidFill>
              <a:srgbClr val="246BC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29768" y="2395728"/>
            <a:ext cx="868680" cy="274320"/>
          </a:xfrm>
          <a:prstGeom prst="rect">
            <a:avLst/>
          </a:prstGeom>
          <a:noFill/>
        </p:spPr>
        <p:txBody>
          <a:bodyPr wrap="square" lIns="0" rIns="0" tIns="0" bIns="0">
            <a:spAutoFit/>
          </a:bodyPr>
          <a:lstStyle/>
          <a:p>
            <a:pPr algn="l"/>
            <a:r>
              <a:rPr sz="1000" b="1" i="0">
                <a:solidFill>
                  <a:srgbClr val="246BCE"/>
                </a:solidFill>
                <a:latin typeface="Arial"/>
              </a:rPr>
              <a:t>Thrust</a:t>
            </a:r>
          </a:p>
        </p:txBody>
      </p:sp>
      <p:cxnSp>
        <p:nvCxnSpPr>
          <p:cNvPr id="49" name="Connector 48"/>
          <p:cNvCxnSpPr/>
          <p:nvPr/>
        </p:nvCxnSpPr>
        <p:spPr>
          <a:xfrm>
            <a:off x="6876288" y="2779776"/>
            <a:ext cx="384048" cy="0"/>
          </a:xfrm>
          <a:prstGeom prst="line">
            <a:avLst/>
          </a:prstGeom>
          <a:ln w="28575">
            <a:solidFill>
              <a:srgbClr val="E070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382512" y="3054096"/>
            <a:ext cx="868680" cy="274320"/>
          </a:xfrm>
          <a:prstGeom prst="rect">
            <a:avLst/>
          </a:prstGeom>
          <a:noFill/>
        </p:spPr>
        <p:txBody>
          <a:bodyPr wrap="square" lIns="0" rIns="0" tIns="0" bIns="0">
            <a:spAutoFit/>
          </a:bodyPr>
          <a:lstStyle/>
          <a:p>
            <a:pPr algn="l"/>
            <a:r>
              <a:rPr sz="1000" b="1" i="0">
                <a:solidFill>
                  <a:srgbClr val="E0702B"/>
                </a:solidFill>
                <a:latin typeface="Arial"/>
              </a:rPr>
              <a:t>Drag</a:t>
            </a:r>
          </a:p>
        </p:txBody>
      </p:sp>
      <p:sp>
        <p:nvSpPr>
          <p:cNvPr id="9" name="Freeform 8"/>
          <p:cNvSpPr/>
          <p:nvPr/>
        </p:nvSpPr>
        <p:spPr>
          <a:xfrm>
            <a:off x="859536" y="2606040"/>
            <a:ext cx="5989320" cy="347472"/>
          </a:xfrm>
          <a:custGeom>
            <a:avLst/>
            <a:gdLst/>
            <a:ahLst/>
            <a:cxnLst/>
            <a:rect l="l" t="t" r="r" b="b"/>
            <a:pathLst>
              <a:path w="5989320" h="347472">
                <a:moveTo>
                  <a:pt x="0" y="54864"/>
                </a:moveTo>
                <a:lnTo>
                  <a:pt x="5166360" y="27432"/>
                </a:lnTo>
                <a:lnTo>
                  <a:pt x="5989320" y="0"/>
                </a:lnTo>
                <a:lnTo>
                  <a:pt x="5989320" y="210312"/>
                </a:lnTo>
                <a:lnTo>
                  <a:pt x="502920" y="347472"/>
                </a:lnTo>
                <a:lnTo>
                  <a:pt x="0" y="292608"/>
                </a:lnTo>
                <a:close/>
              </a:path>
            </a:pathLst>
          </a:custGeom>
          <a:solidFill>
            <a:srgbClr val="F7F9FC"/>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731519" y="2688336"/>
            <a:ext cx="128017" cy="182880"/>
          </a:xfrm>
          <a:custGeom>
            <a:avLst/>
            <a:gdLst/>
            <a:ahLst/>
            <a:cxnLst/>
            <a:rect l="l" t="t" r="r" b="b"/>
            <a:pathLst>
              <a:path w="128017" h="182880">
                <a:moveTo>
                  <a:pt x="128017" y="0"/>
                </a:moveTo>
                <a:lnTo>
                  <a:pt x="0" y="91440"/>
                </a:lnTo>
                <a:lnTo>
                  <a:pt x="128017" y="182880"/>
                </a:lnTo>
                <a:close/>
              </a:path>
            </a:pathLst>
          </a:custGeom>
          <a:solidFill>
            <a:srgbClr val="D8DDE8"/>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704087" y="2432304"/>
            <a:ext cx="0" cy="694944"/>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2441448" y="2380869"/>
            <a:ext cx="2240280" cy="374126"/>
          </a:xfrm>
          <a:custGeom>
            <a:avLst/>
            <a:gdLst/>
            <a:ahLst/>
            <a:cxnLst/>
            <a:rect l="l" t="t" r="r" b="b"/>
            <a:pathLst>
              <a:path w="2240280" h="374126">
                <a:moveTo>
                  <a:pt x="0" y="280035"/>
                </a:moveTo>
                <a:lnTo>
                  <a:pt x="33604" y="183702"/>
                </a:lnTo>
                <a:lnTo>
                  <a:pt x="89611" y="141137"/>
                </a:lnTo>
                <a:lnTo>
                  <a:pt x="179222" y="96332"/>
                </a:lnTo>
                <a:lnTo>
                  <a:pt x="336042" y="49286"/>
                </a:lnTo>
                <a:lnTo>
                  <a:pt x="560070" y="8961"/>
                </a:lnTo>
                <a:lnTo>
                  <a:pt x="672084" y="0"/>
                </a:lnTo>
                <a:lnTo>
                  <a:pt x="896112" y="8961"/>
                </a:lnTo>
                <a:lnTo>
                  <a:pt x="1120140" y="33604"/>
                </a:lnTo>
                <a:lnTo>
                  <a:pt x="1344167" y="71688"/>
                </a:lnTo>
                <a:lnTo>
                  <a:pt x="1568196" y="118734"/>
                </a:lnTo>
                <a:lnTo>
                  <a:pt x="1792224" y="170261"/>
                </a:lnTo>
                <a:lnTo>
                  <a:pt x="2016252" y="221787"/>
                </a:lnTo>
                <a:lnTo>
                  <a:pt x="2240280" y="275554"/>
                </a:lnTo>
                <a:lnTo>
                  <a:pt x="2240280" y="280035"/>
                </a:lnTo>
                <a:lnTo>
                  <a:pt x="2016252" y="286755"/>
                </a:lnTo>
                <a:lnTo>
                  <a:pt x="1792224" y="295716"/>
                </a:lnTo>
                <a:lnTo>
                  <a:pt x="1568196" y="306918"/>
                </a:lnTo>
                <a:lnTo>
                  <a:pt x="1344167" y="320360"/>
                </a:lnTo>
                <a:lnTo>
                  <a:pt x="1120140" y="333801"/>
                </a:lnTo>
                <a:lnTo>
                  <a:pt x="896112" y="347243"/>
                </a:lnTo>
                <a:lnTo>
                  <a:pt x="672084" y="360685"/>
                </a:lnTo>
                <a:lnTo>
                  <a:pt x="560070" y="365165"/>
                </a:lnTo>
                <a:lnTo>
                  <a:pt x="336042" y="374126"/>
                </a:lnTo>
                <a:lnTo>
                  <a:pt x="179222" y="371886"/>
                </a:lnTo>
                <a:lnTo>
                  <a:pt x="89611" y="360685"/>
                </a:lnTo>
                <a:lnTo>
                  <a:pt x="33604" y="342762"/>
                </a:lnTo>
                <a:close/>
              </a:path>
            </a:pathLst>
          </a:custGeom>
          <a:solidFill>
            <a:srgbClr val="EDF4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5769864" y="2624328"/>
            <a:ext cx="713232" cy="109728"/>
          </a:xfrm>
          <a:custGeom>
            <a:avLst/>
            <a:gdLst/>
            <a:ahLst/>
            <a:cxnLst/>
            <a:rect l="l" t="t" r="r" b="b"/>
            <a:pathLst>
              <a:path w="713232" h="109728">
                <a:moveTo>
                  <a:pt x="0" y="9144"/>
                </a:moveTo>
                <a:lnTo>
                  <a:pt x="713232" y="0"/>
                </a:lnTo>
                <a:lnTo>
                  <a:pt x="713232" y="109728"/>
                </a:lnTo>
                <a:lnTo>
                  <a:pt x="0" y="100584"/>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83096" y="2615184"/>
            <a:ext cx="420624" cy="118872"/>
          </a:xfrm>
          <a:custGeom>
            <a:avLst/>
            <a:gdLst/>
            <a:ahLst/>
            <a:cxnLst/>
            <a:rect l="l" t="t" r="r" b="b"/>
            <a:pathLst>
              <a:path w="420624" h="118872">
                <a:moveTo>
                  <a:pt x="0" y="9144"/>
                </a:moveTo>
                <a:lnTo>
                  <a:pt x="420624" y="0"/>
                </a:lnTo>
                <a:lnTo>
                  <a:pt x="420624" y="109728"/>
                </a:lnTo>
                <a:lnTo>
                  <a:pt x="0" y="118872"/>
                </a:lnTo>
                <a:close/>
              </a:path>
            </a:pathLst>
          </a:custGeom>
          <a:solidFill>
            <a:srgbClr val="D4EEDD"/>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5916168" y="1901952"/>
            <a:ext cx="530352" cy="731520"/>
          </a:xfrm>
          <a:custGeom>
            <a:avLst/>
            <a:gdLst/>
            <a:ahLst/>
            <a:cxnLst/>
            <a:rect l="l" t="t" r="r" b="b"/>
            <a:pathLst>
              <a:path w="530352" h="731520">
                <a:moveTo>
                  <a:pt x="0" y="731520"/>
                </a:moveTo>
                <a:lnTo>
                  <a:pt x="402336" y="0"/>
                </a:lnTo>
                <a:lnTo>
                  <a:pt x="530352" y="0"/>
                </a:lnTo>
                <a:lnTo>
                  <a:pt x="530352" y="726948"/>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6446520" y="1901952"/>
            <a:ext cx="384048" cy="726948"/>
          </a:xfrm>
          <a:custGeom>
            <a:avLst/>
            <a:gdLst/>
            <a:ahLst/>
            <a:cxnLst/>
            <a:rect l="l" t="t" r="r" b="b"/>
            <a:pathLst>
              <a:path w="384048" h="726948">
                <a:moveTo>
                  <a:pt x="0" y="0"/>
                </a:moveTo>
                <a:lnTo>
                  <a:pt x="347472" y="54864"/>
                </a:lnTo>
                <a:lnTo>
                  <a:pt x="384048" y="722376"/>
                </a:lnTo>
                <a:lnTo>
                  <a:pt x="0" y="726948"/>
                </a:lnTo>
                <a:close/>
              </a:path>
            </a:pathLst>
          </a:custGeom>
          <a:solidFill>
            <a:srgbClr val="D4EEDD"/>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3127248" y="2926080"/>
            <a:ext cx="0" cy="164592"/>
          </a:xfrm>
          <a:prstGeom prst="line">
            <a:avLst/>
          </a:prstGeom>
          <a:ln w="1905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3008376" y="3072384"/>
            <a:ext cx="237744" cy="237744"/>
          </a:xfrm>
          <a:prstGeom prst="ellipse">
            <a:avLst/>
          </a:prstGeom>
          <a:solidFill>
            <a:srgbClr val="FFFFFF"/>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391656" y="2807208"/>
            <a:ext cx="128016" cy="128016"/>
          </a:xfrm>
          <a:prstGeom prst="ellipse">
            <a:avLst/>
          </a:prstGeom>
          <a:solidFill>
            <a:srgbClr val="FFFF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0681" y="2635529"/>
            <a:ext cx="184343" cy="184343"/>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64484" y="1892808"/>
            <a:ext cx="1316736" cy="364845"/>
          </a:xfrm>
          <a:prstGeom prst="rect">
            <a:avLst/>
          </a:prstGeom>
          <a:noFill/>
        </p:spPr>
        <p:txBody>
          <a:bodyPr wrap="square" lIns="0" rIns="0" tIns="0" bIns="0" anchor="t">
            <a:spAutoFit/>
          </a:bodyPr>
          <a:lstStyle/>
          <a:p>
            <a:pPr algn="ctr">
              <a:lnSpc>
                <a:spcPct val="100000"/>
              </a:lnSpc>
            </a:pPr>
            <a:r>
              <a:rPr sz="850" b="1" i="0">
                <a:solidFill>
                  <a:srgbClr val="C83E3E"/>
                </a:solidFill>
                <a:latin typeface="Arial"/>
              </a:rPr>
              <a:t>CG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38C8C"/>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Pitch, roll, and yaw—and the surfaces that control them</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pilot commands rotations. The airplane’s stability decides what happens after the command.</a:t>
            </a:r>
          </a:p>
        </p:txBody>
      </p:sp>
      <p:sp>
        <p:nvSpPr>
          <p:cNvPr id="8" name="Rounded Rectangle 7"/>
          <p:cNvSpPr/>
          <p:nvPr/>
        </p:nvSpPr>
        <p:spPr>
          <a:xfrm>
            <a:off x="347472" y="1188720"/>
            <a:ext cx="7077456" cy="324612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7472" y="4681728"/>
            <a:ext cx="960120" cy="493776"/>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2336" y="4800600"/>
            <a:ext cx="850392"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AXIS</a:t>
            </a:r>
          </a:p>
        </p:txBody>
      </p:sp>
      <p:sp>
        <p:nvSpPr>
          <p:cNvPr id="26" name="Rectangle 25"/>
          <p:cNvSpPr/>
          <p:nvPr/>
        </p:nvSpPr>
        <p:spPr>
          <a:xfrm>
            <a:off x="1307592" y="4681728"/>
            <a:ext cx="1417320" cy="493776"/>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62456" y="4800600"/>
            <a:ext cx="1307592"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MAIN CONTROL</a:t>
            </a:r>
          </a:p>
        </p:txBody>
      </p:sp>
      <p:sp>
        <p:nvSpPr>
          <p:cNvPr id="28" name="Rectangle 27"/>
          <p:cNvSpPr/>
          <p:nvPr/>
        </p:nvSpPr>
        <p:spPr>
          <a:xfrm>
            <a:off x="2724912" y="4681728"/>
            <a:ext cx="2157984" cy="493776"/>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800600"/>
            <a:ext cx="2048255"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PILOT SEES</a:t>
            </a:r>
          </a:p>
        </p:txBody>
      </p:sp>
      <p:sp>
        <p:nvSpPr>
          <p:cNvPr id="30" name="Rectangle 29"/>
          <p:cNvSpPr/>
          <p:nvPr/>
        </p:nvSpPr>
        <p:spPr>
          <a:xfrm>
            <a:off x="4882896" y="4681728"/>
            <a:ext cx="2542032" cy="493776"/>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59" y="4800600"/>
            <a:ext cx="2432303"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STABILIZER</a:t>
            </a:r>
          </a:p>
        </p:txBody>
      </p:sp>
      <p:sp>
        <p:nvSpPr>
          <p:cNvPr id="32" name="Rectangle 31"/>
          <p:cNvSpPr/>
          <p:nvPr/>
        </p:nvSpPr>
        <p:spPr>
          <a:xfrm>
            <a:off x="347472" y="5175504"/>
            <a:ext cx="960120"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2336" y="5285232"/>
            <a:ext cx="850392" cy="320040"/>
          </a:xfrm>
          <a:prstGeom prst="rect">
            <a:avLst/>
          </a:prstGeom>
          <a:noFill/>
        </p:spPr>
        <p:txBody>
          <a:bodyPr wrap="square" lIns="0" rIns="0" tIns="0" bIns="0" anchor="ctr">
            <a:spAutoFit/>
          </a:bodyPr>
          <a:lstStyle/>
          <a:p>
            <a:pPr algn="l">
              <a:lnSpc>
                <a:spcPct val="100000"/>
              </a:lnSpc>
            </a:pPr>
            <a:r>
              <a:rPr sz="900" b="1" i="0">
                <a:solidFill>
                  <a:srgbClr val="20263A"/>
                </a:solidFill>
                <a:latin typeface="Arial"/>
              </a:rPr>
              <a:t>Pitch</a:t>
            </a:r>
          </a:p>
        </p:txBody>
      </p:sp>
      <p:sp>
        <p:nvSpPr>
          <p:cNvPr id="34" name="Rectangle 33"/>
          <p:cNvSpPr/>
          <p:nvPr/>
        </p:nvSpPr>
        <p:spPr>
          <a:xfrm>
            <a:off x="1307592" y="5175504"/>
            <a:ext cx="1417320"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62456" y="5285232"/>
            <a:ext cx="1307592" cy="320040"/>
          </a:xfrm>
          <a:prstGeom prst="rect">
            <a:avLst/>
          </a:prstGeom>
          <a:noFill/>
        </p:spPr>
        <p:txBody>
          <a:bodyPr wrap="square" lIns="0" rIns="0" tIns="0" bIns="0" anchor="ctr">
            <a:spAutoFit/>
          </a:bodyPr>
          <a:lstStyle/>
          <a:p>
            <a:pPr algn="l">
              <a:lnSpc>
                <a:spcPct val="100000"/>
              </a:lnSpc>
            </a:pPr>
            <a:r>
              <a:rPr sz="900" b="0" i="0">
                <a:solidFill>
                  <a:srgbClr val="20263A"/>
                </a:solidFill>
                <a:latin typeface="Arial"/>
              </a:rPr>
              <a:t>Elevator</a:t>
            </a:r>
          </a:p>
        </p:txBody>
      </p:sp>
      <p:sp>
        <p:nvSpPr>
          <p:cNvPr id="36" name="Rectangle 35"/>
          <p:cNvSpPr/>
          <p:nvPr/>
        </p:nvSpPr>
        <p:spPr>
          <a:xfrm>
            <a:off x="2724912" y="5175504"/>
            <a:ext cx="2157984"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79776" y="5285232"/>
            <a:ext cx="2048255" cy="320040"/>
          </a:xfrm>
          <a:prstGeom prst="rect">
            <a:avLst/>
          </a:prstGeom>
          <a:noFill/>
        </p:spPr>
        <p:txBody>
          <a:bodyPr wrap="square" lIns="0" rIns="0" tIns="0" bIns="0" anchor="ctr">
            <a:spAutoFit/>
          </a:bodyPr>
          <a:lstStyle/>
          <a:p>
            <a:pPr algn="l">
              <a:lnSpc>
                <a:spcPct val="100000"/>
              </a:lnSpc>
            </a:pPr>
            <a:r>
              <a:rPr sz="900" b="0" i="0">
                <a:solidFill>
                  <a:srgbClr val="20263A"/>
                </a:solidFill>
                <a:latin typeface="Arial"/>
              </a:rPr>
              <a:t>Nose up or down</a:t>
            </a:r>
          </a:p>
        </p:txBody>
      </p:sp>
      <p:sp>
        <p:nvSpPr>
          <p:cNvPr id="38" name="Rectangle 37"/>
          <p:cNvSpPr/>
          <p:nvPr/>
        </p:nvSpPr>
        <p:spPr>
          <a:xfrm>
            <a:off x="4882896" y="5175504"/>
            <a:ext cx="2542032"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37759" y="5285232"/>
            <a:ext cx="2432303" cy="320040"/>
          </a:xfrm>
          <a:prstGeom prst="rect">
            <a:avLst/>
          </a:prstGeom>
          <a:noFill/>
        </p:spPr>
        <p:txBody>
          <a:bodyPr wrap="square" lIns="0" rIns="0" tIns="0" bIns="0" anchor="ctr">
            <a:spAutoFit/>
          </a:bodyPr>
          <a:lstStyle/>
          <a:p>
            <a:pPr algn="l">
              <a:lnSpc>
                <a:spcPct val="100000"/>
              </a:lnSpc>
            </a:pPr>
            <a:r>
              <a:rPr sz="900" b="0" i="0">
                <a:solidFill>
                  <a:srgbClr val="20263A"/>
                </a:solidFill>
                <a:latin typeface="Arial"/>
              </a:rPr>
              <a:t>Horizontal tail</a:t>
            </a:r>
          </a:p>
        </p:txBody>
      </p:sp>
      <p:sp>
        <p:nvSpPr>
          <p:cNvPr id="40" name="Rectangle 39"/>
          <p:cNvSpPr/>
          <p:nvPr/>
        </p:nvSpPr>
        <p:spPr>
          <a:xfrm>
            <a:off x="347472" y="5769864"/>
            <a:ext cx="960120"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879592"/>
            <a:ext cx="850392" cy="320040"/>
          </a:xfrm>
          <a:prstGeom prst="rect">
            <a:avLst/>
          </a:prstGeom>
          <a:noFill/>
        </p:spPr>
        <p:txBody>
          <a:bodyPr wrap="square" lIns="0" rIns="0" tIns="0" bIns="0" anchor="ctr">
            <a:spAutoFit/>
          </a:bodyPr>
          <a:lstStyle/>
          <a:p>
            <a:pPr algn="l">
              <a:lnSpc>
                <a:spcPct val="100000"/>
              </a:lnSpc>
            </a:pPr>
            <a:r>
              <a:rPr sz="900" b="1" i="0">
                <a:solidFill>
                  <a:srgbClr val="20263A"/>
                </a:solidFill>
                <a:latin typeface="Arial"/>
              </a:rPr>
              <a:t>Roll</a:t>
            </a:r>
          </a:p>
        </p:txBody>
      </p:sp>
      <p:sp>
        <p:nvSpPr>
          <p:cNvPr id="42" name="Rectangle 41"/>
          <p:cNvSpPr/>
          <p:nvPr/>
        </p:nvSpPr>
        <p:spPr>
          <a:xfrm>
            <a:off x="1307592" y="5769864"/>
            <a:ext cx="1417320"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62456" y="5879592"/>
            <a:ext cx="1307592" cy="320040"/>
          </a:xfrm>
          <a:prstGeom prst="rect">
            <a:avLst/>
          </a:prstGeom>
          <a:noFill/>
        </p:spPr>
        <p:txBody>
          <a:bodyPr wrap="square" lIns="0" rIns="0" tIns="0" bIns="0" anchor="ctr">
            <a:spAutoFit/>
          </a:bodyPr>
          <a:lstStyle/>
          <a:p>
            <a:pPr algn="l">
              <a:lnSpc>
                <a:spcPct val="100000"/>
              </a:lnSpc>
            </a:pPr>
            <a:r>
              <a:rPr sz="900" b="0" i="0">
                <a:solidFill>
                  <a:srgbClr val="20263A"/>
                </a:solidFill>
                <a:latin typeface="Arial"/>
              </a:rPr>
              <a:t>Ailerons</a:t>
            </a:r>
          </a:p>
        </p:txBody>
      </p:sp>
      <p:sp>
        <p:nvSpPr>
          <p:cNvPr id="44" name="Rectangle 43"/>
          <p:cNvSpPr/>
          <p:nvPr/>
        </p:nvSpPr>
        <p:spPr>
          <a:xfrm>
            <a:off x="2724912" y="5769864"/>
            <a:ext cx="2157984"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79776" y="5879592"/>
            <a:ext cx="2048255" cy="320040"/>
          </a:xfrm>
          <a:prstGeom prst="rect">
            <a:avLst/>
          </a:prstGeom>
          <a:noFill/>
        </p:spPr>
        <p:txBody>
          <a:bodyPr wrap="square" lIns="0" rIns="0" tIns="0" bIns="0" anchor="ctr">
            <a:spAutoFit/>
          </a:bodyPr>
          <a:lstStyle/>
          <a:p>
            <a:pPr algn="l">
              <a:lnSpc>
                <a:spcPct val="100000"/>
              </a:lnSpc>
            </a:pPr>
            <a:r>
              <a:rPr sz="900" b="0" i="0">
                <a:solidFill>
                  <a:srgbClr val="20263A"/>
                </a:solidFill>
                <a:latin typeface="Arial"/>
              </a:rPr>
              <a:t>Bank left or right</a:t>
            </a:r>
          </a:p>
        </p:txBody>
      </p:sp>
      <p:sp>
        <p:nvSpPr>
          <p:cNvPr id="46" name="Rectangle 45"/>
          <p:cNvSpPr/>
          <p:nvPr/>
        </p:nvSpPr>
        <p:spPr>
          <a:xfrm>
            <a:off x="4882896" y="5769864"/>
            <a:ext cx="2542032"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59" y="5879592"/>
            <a:ext cx="2432303" cy="320040"/>
          </a:xfrm>
          <a:prstGeom prst="rect">
            <a:avLst/>
          </a:prstGeom>
          <a:noFill/>
        </p:spPr>
        <p:txBody>
          <a:bodyPr wrap="square" lIns="0" rIns="0" tIns="0" bIns="0" anchor="ctr">
            <a:spAutoFit/>
          </a:bodyPr>
          <a:lstStyle/>
          <a:p>
            <a:pPr algn="l">
              <a:lnSpc>
                <a:spcPct val="100000"/>
              </a:lnSpc>
            </a:pPr>
            <a:r>
              <a:rPr sz="900" b="0" i="0">
                <a:solidFill>
                  <a:srgbClr val="20263A"/>
                </a:solidFill>
                <a:latin typeface="Arial"/>
              </a:rPr>
              <a:t>Main wing tips</a:t>
            </a:r>
          </a:p>
        </p:txBody>
      </p:sp>
      <p:sp>
        <p:nvSpPr>
          <p:cNvPr id="48" name="Rectangle 47"/>
          <p:cNvSpPr/>
          <p:nvPr/>
        </p:nvSpPr>
        <p:spPr>
          <a:xfrm>
            <a:off x="347472" y="6364224"/>
            <a:ext cx="960120"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473952"/>
            <a:ext cx="850392" cy="320040"/>
          </a:xfrm>
          <a:prstGeom prst="rect">
            <a:avLst/>
          </a:prstGeom>
          <a:noFill/>
        </p:spPr>
        <p:txBody>
          <a:bodyPr wrap="square" lIns="0" rIns="0" tIns="0" bIns="0" anchor="ctr">
            <a:spAutoFit/>
          </a:bodyPr>
          <a:lstStyle/>
          <a:p>
            <a:pPr algn="l">
              <a:lnSpc>
                <a:spcPct val="100000"/>
              </a:lnSpc>
            </a:pPr>
            <a:r>
              <a:rPr sz="900" b="1" i="0">
                <a:solidFill>
                  <a:srgbClr val="20263A"/>
                </a:solidFill>
                <a:latin typeface="Arial"/>
              </a:rPr>
              <a:t>Yaw</a:t>
            </a:r>
          </a:p>
        </p:txBody>
      </p:sp>
      <p:sp>
        <p:nvSpPr>
          <p:cNvPr id="50" name="Rectangle 49"/>
          <p:cNvSpPr/>
          <p:nvPr/>
        </p:nvSpPr>
        <p:spPr>
          <a:xfrm>
            <a:off x="1307592" y="6364224"/>
            <a:ext cx="1417320"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62456" y="6473952"/>
            <a:ext cx="1307592" cy="320040"/>
          </a:xfrm>
          <a:prstGeom prst="rect">
            <a:avLst/>
          </a:prstGeom>
          <a:noFill/>
        </p:spPr>
        <p:txBody>
          <a:bodyPr wrap="square" lIns="0" rIns="0" tIns="0" bIns="0" anchor="ctr">
            <a:spAutoFit/>
          </a:bodyPr>
          <a:lstStyle/>
          <a:p>
            <a:pPr algn="l">
              <a:lnSpc>
                <a:spcPct val="100000"/>
              </a:lnSpc>
            </a:pPr>
            <a:r>
              <a:rPr sz="900" b="0" i="0">
                <a:solidFill>
                  <a:srgbClr val="20263A"/>
                </a:solidFill>
                <a:latin typeface="Arial"/>
              </a:rPr>
              <a:t>Rudder</a:t>
            </a:r>
          </a:p>
        </p:txBody>
      </p:sp>
      <p:sp>
        <p:nvSpPr>
          <p:cNvPr id="52" name="Rectangle 51"/>
          <p:cNvSpPr/>
          <p:nvPr/>
        </p:nvSpPr>
        <p:spPr>
          <a:xfrm>
            <a:off x="2724912" y="6364224"/>
            <a:ext cx="2157984"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79776" y="6473952"/>
            <a:ext cx="2048255" cy="320040"/>
          </a:xfrm>
          <a:prstGeom prst="rect">
            <a:avLst/>
          </a:prstGeom>
          <a:noFill/>
        </p:spPr>
        <p:txBody>
          <a:bodyPr wrap="square" lIns="0" rIns="0" tIns="0" bIns="0" anchor="ctr">
            <a:spAutoFit/>
          </a:bodyPr>
          <a:lstStyle/>
          <a:p>
            <a:pPr algn="l">
              <a:lnSpc>
                <a:spcPct val="100000"/>
              </a:lnSpc>
            </a:pPr>
            <a:r>
              <a:rPr sz="900" b="0" i="0">
                <a:solidFill>
                  <a:srgbClr val="20263A"/>
                </a:solidFill>
                <a:latin typeface="Arial"/>
              </a:rPr>
              <a:t>Nose left or right</a:t>
            </a:r>
          </a:p>
        </p:txBody>
      </p:sp>
      <p:sp>
        <p:nvSpPr>
          <p:cNvPr id="54" name="Rectangle 53"/>
          <p:cNvSpPr/>
          <p:nvPr/>
        </p:nvSpPr>
        <p:spPr>
          <a:xfrm>
            <a:off x="4882896" y="6364224"/>
            <a:ext cx="2542032"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937759" y="6473952"/>
            <a:ext cx="2432303" cy="320040"/>
          </a:xfrm>
          <a:prstGeom prst="rect">
            <a:avLst/>
          </a:prstGeom>
          <a:noFill/>
        </p:spPr>
        <p:txBody>
          <a:bodyPr wrap="square" lIns="0" rIns="0" tIns="0" bIns="0" anchor="ctr">
            <a:spAutoFit/>
          </a:bodyPr>
          <a:lstStyle/>
          <a:p>
            <a:pPr algn="l">
              <a:lnSpc>
                <a:spcPct val="100000"/>
              </a:lnSpc>
            </a:pPr>
            <a:r>
              <a:rPr sz="900" b="0" i="0">
                <a:solidFill>
                  <a:srgbClr val="20263A"/>
                </a:solidFill>
                <a:latin typeface="Arial"/>
              </a:rPr>
              <a:t>Vertical tail</a:t>
            </a:r>
          </a:p>
        </p:txBody>
      </p:sp>
      <p:sp>
        <p:nvSpPr>
          <p:cNvPr id="56" name="Rounded Rectangle 55"/>
          <p:cNvSpPr/>
          <p:nvPr/>
        </p:nvSpPr>
        <p:spPr>
          <a:xfrm>
            <a:off x="347472" y="7132320"/>
            <a:ext cx="7077456" cy="868680"/>
          </a:xfrm>
          <a:prstGeom prst="roundRect">
            <a:avLst>
              <a:gd name="adj" fmla="val 8000"/>
            </a:avLst>
          </a:prstGeom>
          <a:solidFill>
            <a:srgbClr val="EAF7F6"/>
          </a:solidFill>
          <a:ln w="10160">
            <a:solidFill>
              <a:srgbClr val="13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57200" y="7420356"/>
            <a:ext cx="292608" cy="292608"/>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7475220"/>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59" name="TextBox 58"/>
          <p:cNvSpPr txBox="1"/>
          <p:nvPr/>
        </p:nvSpPr>
        <p:spPr>
          <a:xfrm>
            <a:off x="832104" y="7223759"/>
            <a:ext cx="6464808" cy="704088"/>
          </a:xfrm>
          <a:prstGeom prst="rect">
            <a:avLst/>
          </a:prstGeom>
          <a:noFill/>
        </p:spPr>
        <p:txBody>
          <a:bodyPr wrap="square" lIns="0" rIns="0" tIns="0" bIns="0" anchor="ctr">
            <a:spAutoFit/>
          </a:bodyPr>
          <a:lstStyle/>
          <a:p>
            <a:pPr algn="l">
              <a:lnSpc>
                <a:spcPct val="100000"/>
              </a:lnSpc>
            </a:pPr>
            <a:r>
              <a:rPr sz="950" b="0" i="0">
                <a:solidFill>
                  <a:srgbClr val="20263A"/>
                </a:solidFill>
                <a:latin typeface="Arial"/>
              </a:rPr>
              <a:t>A normal turn is a three-axis event: ailerons bank, elevator maintains the curved flight path, and rudder prevents the airplane from skidding or slipping badly.</a:t>
            </a:r>
          </a:p>
        </p:txBody>
      </p:sp>
      <p:sp>
        <p:nvSpPr>
          <p:cNvPr id="60" name="TextBox 59"/>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Reference basis: NASA aircraft axes and control surfaces.</a:t>
            </a:r>
          </a:p>
        </p:txBody>
      </p:sp>
      <p:sp>
        <p:nvSpPr>
          <p:cNvPr id="61" name="TextBox 60"/>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7</a:t>
            </a:r>
          </a:p>
        </p:txBody>
      </p:sp>
      <p:sp>
        <p:nvSpPr>
          <p:cNvPr id="62" name="TextBox 61"/>
          <p:cNvSpPr txBox="1"/>
          <p:nvPr/>
        </p:nvSpPr>
        <p:spPr>
          <a:xfrm>
            <a:off x="612647" y="1417320"/>
            <a:ext cx="1828800" cy="237744"/>
          </a:xfrm>
          <a:prstGeom prst="rect">
            <a:avLst/>
          </a:prstGeom>
          <a:noFill/>
        </p:spPr>
        <p:txBody>
          <a:bodyPr wrap="square" lIns="0" rIns="0" tIns="0" bIns="0">
            <a:spAutoFit/>
          </a:bodyPr>
          <a:lstStyle/>
          <a:p>
            <a:pPr algn="ctr"/>
            <a:r>
              <a:rPr sz="1200" b="1" i="0">
                <a:solidFill>
                  <a:srgbClr val="E0702B"/>
                </a:solidFill>
                <a:latin typeface="Arial"/>
              </a:rPr>
              <a:t>ROLL</a:t>
            </a:r>
          </a:p>
        </p:txBody>
      </p:sp>
      <p:sp>
        <p:nvSpPr>
          <p:cNvPr id="63" name="TextBox 62"/>
          <p:cNvSpPr txBox="1"/>
          <p:nvPr/>
        </p:nvSpPr>
        <p:spPr>
          <a:xfrm>
            <a:off x="612647" y="1664208"/>
            <a:ext cx="1828800" cy="182880"/>
          </a:xfrm>
          <a:prstGeom prst="rect">
            <a:avLst/>
          </a:prstGeom>
          <a:noFill/>
        </p:spPr>
        <p:txBody>
          <a:bodyPr wrap="square" lIns="0" rIns="0" tIns="0" bIns="0">
            <a:spAutoFit/>
          </a:bodyPr>
          <a:lstStyle/>
          <a:p>
            <a:pPr algn="ctr"/>
            <a:r>
              <a:rPr sz="800" b="0" i="1">
                <a:solidFill>
                  <a:srgbClr val="5F687D"/>
                </a:solidFill>
                <a:latin typeface="Arial"/>
              </a:rPr>
              <a:t>front view</a:t>
            </a:r>
          </a:p>
        </p:txBody>
      </p:sp>
      <p:sp>
        <p:nvSpPr>
          <p:cNvPr id="9" name="Freeform 8"/>
          <p:cNvSpPr/>
          <p:nvPr/>
        </p:nvSpPr>
        <p:spPr>
          <a:xfrm>
            <a:off x="612647" y="2551176"/>
            <a:ext cx="1828801" cy="73152"/>
          </a:xfrm>
          <a:custGeom>
            <a:avLst/>
            <a:gdLst/>
            <a:ahLst/>
            <a:cxnLst/>
            <a:rect l="l" t="t" r="r" b="b"/>
            <a:pathLst>
              <a:path w="1828801" h="73152">
                <a:moveTo>
                  <a:pt x="0" y="73152"/>
                </a:moveTo>
                <a:lnTo>
                  <a:pt x="1828801" y="73152"/>
                </a:lnTo>
                <a:lnTo>
                  <a:pt x="1828801" y="0"/>
                </a:lnTo>
                <a:lnTo>
                  <a:pt x="0" y="0"/>
                </a:lnTo>
                <a:close/>
              </a:path>
            </a:pathLst>
          </a:custGeom>
          <a:solidFill>
            <a:srgbClr val="EDF4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399031" y="2459736"/>
            <a:ext cx="256032" cy="256032"/>
          </a:xfrm>
          <a:prstGeom prst="ellipse">
            <a:avLst/>
          </a:prstGeom>
          <a:solidFill>
            <a:srgbClr val="FFFFFF"/>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508760" y="2130552"/>
            <a:ext cx="109728" cy="329184"/>
          </a:xfrm>
          <a:custGeom>
            <a:avLst/>
            <a:gdLst/>
            <a:ahLst/>
            <a:cxnLst/>
            <a:rect l="l" t="t" r="r" b="b"/>
            <a:pathLst>
              <a:path w="109728" h="329184">
                <a:moveTo>
                  <a:pt x="0" y="329184"/>
                </a:moveTo>
                <a:lnTo>
                  <a:pt x="0" y="0"/>
                </a:lnTo>
                <a:lnTo>
                  <a:pt x="109728" y="329184"/>
                </a:lnTo>
                <a:close/>
              </a:path>
            </a:pathLst>
          </a:custGeom>
          <a:solidFill>
            <a:srgbClr val="ECF7F0"/>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rc 64"/>
          <p:cNvSpPr/>
          <p:nvPr/>
        </p:nvSpPr>
        <p:spPr>
          <a:xfrm>
            <a:off x="685799" y="1764792"/>
            <a:ext cx="1682496" cy="1682496"/>
          </a:xfrm>
          <a:prstGeom prst="arc">
            <a:avLst>
              <a:gd name="adj1" fmla="val 12300000"/>
              <a:gd name="adj2" fmla="val 20100000"/>
            </a:avLst>
          </a:prstGeom>
          <a:noFill/>
          <a:ln w="28575">
            <a:solidFill>
              <a:srgbClr val="E0702B"/>
            </a:solidFill>
            <a:headEnd type="triangle" w="med" len="med"/>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495044" y="2574036"/>
            <a:ext cx="64008" cy="64008"/>
          </a:xfrm>
          <a:prstGeom prst="ellipse">
            <a:avLst/>
          </a:prstGeom>
          <a:solidFill>
            <a:srgbClr val="E07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6927" y="3611880"/>
            <a:ext cx="1920240" cy="502920"/>
          </a:xfrm>
          <a:prstGeom prst="rect">
            <a:avLst/>
          </a:prstGeom>
          <a:noFill/>
        </p:spPr>
        <p:txBody>
          <a:bodyPr wrap="square" lIns="0" rIns="0" tIns="0" bIns="0">
            <a:spAutoFit/>
          </a:bodyPr>
          <a:lstStyle/>
          <a:p>
            <a:pPr algn="ctr"/>
            <a:r>
              <a:rPr sz="800" b="0" i="0">
                <a:solidFill>
                  <a:srgbClr val="20263A"/>
                </a:solidFill>
                <a:latin typeface="Arial"/>
              </a:rPr>
              <a:t>rotates around the</a:t>
            </a:r>
          </a:p>
          <a:p>
            <a:pPr algn="ctr"/>
            <a:r>
              <a:rPr sz="800" b="0" i="0">
                <a:solidFill>
                  <a:srgbClr val="20263A"/>
                </a:solidFill>
                <a:latin typeface="Arial"/>
              </a:rPr>
              <a:t>nose-to-tail axis</a:t>
            </a:r>
          </a:p>
        </p:txBody>
      </p:sp>
      <p:sp>
        <p:nvSpPr>
          <p:cNvPr id="68" name="TextBox 67"/>
          <p:cNvSpPr txBox="1"/>
          <p:nvPr/>
        </p:nvSpPr>
        <p:spPr>
          <a:xfrm>
            <a:off x="2971800" y="1417320"/>
            <a:ext cx="1828800" cy="237744"/>
          </a:xfrm>
          <a:prstGeom prst="rect">
            <a:avLst/>
          </a:prstGeom>
          <a:noFill/>
        </p:spPr>
        <p:txBody>
          <a:bodyPr wrap="square" lIns="0" rIns="0" tIns="0" bIns="0">
            <a:spAutoFit/>
          </a:bodyPr>
          <a:lstStyle/>
          <a:p>
            <a:pPr algn="ctr"/>
            <a:r>
              <a:rPr sz="1200" b="1" i="0">
                <a:solidFill>
                  <a:srgbClr val="A23DB6"/>
                </a:solidFill>
                <a:latin typeface="Arial"/>
              </a:rPr>
              <a:t>PITCH</a:t>
            </a:r>
          </a:p>
        </p:txBody>
      </p:sp>
      <p:sp>
        <p:nvSpPr>
          <p:cNvPr id="69" name="TextBox 68"/>
          <p:cNvSpPr txBox="1"/>
          <p:nvPr/>
        </p:nvSpPr>
        <p:spPr>
          <a:xfrm>
            <a:off x="2971800" y="1664208"/>
            <a:ext cx="1828800" cy="182880"/>
          </a:xfrm>
          <a:prstGeom prst="rect">
            <a:avLst/>
          </a:prstGeom>
          <a:noFill/>
        </p:spPr>
        <p:txBody>
          <a:bodyPr wrap="square" lIns="0" rIns="0" tIns="0" bIns="0">
            <a:spAutoFit/>
          </a:bodyPr>
          <a:lstStyle/>
          <a:p>
            <a:pPr algn="ctr"/>
            <a:r>
              <a:rPr sz="800" b="0" i="1">
                <a:solidFill>
                  <a:srgbClr val="5F687D"/>
                </a:solidFill>
                <a:latin typeface="Arial"/>
              </a:rPr>
              <a:t>side view</a:t>
            </a:r>
          </a:p>
        </p:txBody>
      </p:sp>
      <p:sp>
        <p:nvSpPr>
          <p:cNvPr id="11" name="Freeform 10"/>
          <p:cNvSpPr/>
          <p:nvPr/>
        </p:nvSpPr>
        <p:spPr>
          <a:xfrm>
            <a:off x="2971800" y="2423160"/>
            <a:ext cx="1828800" cy="237744"/>
          </a:xfrm>
          <a:custGeom>
            <a:avLst/>
            <a:gdLst/>
            <a:ahLst/>
            <a:cxnLst/>
            <a:rect l="l" t="t" r="r" b="b"/>
            <a:pathLst>
              <a:path w="1828800" h="237744">
                <a:moveTo>
                  <a:pt x="0" y="137160"/>
                </a:moveTo>
                <a:lnTo>
                  <a:pt x="1691640" y="91440"/>
                </a:lnTo>
                <a:lnTo>
                  <a:pt x="1828800" y="0"/>
                </a:lnTo>
                <a:lnTo>
                  <a:pt x="1828800" y="201168"/>
                </a:lnTo>
                <a:lnTo>
                  <a:pt x="137160" y="237744"/>
                </a:lnTo>
                <a:close/>
              </a:path>
            </a:pathLst>
          </a:custGeom>
          <a:solidFill>
            <a:srgbClr val="F7F9FC"/>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383280" y="2459736"/>
            <a:ext cx="457200" cy="91440"/>
          </a:xfrm>
          <a:custGeom>
            <a:avLst/>
            <a:gdLst/>
            <a:ahLst/>
            <a:cxnLst/>
            <a:rect l="l" t="t" r="r" b="b"/>
            <a:pathLst>
              <a:path w="457200" h="91440">
                <a:moveTo>
                  <a:pt x="0" y="91440"/>
                </a:moveTo>
                <a:lnTo>
                  <a:pt x="457200" y="91440"/>
                </a:lnTo>
                <a:lnTo>
                  <a:pt x="365759" y="0"/>
                </a:lnTo>
                <a:lnTo>
                  <a:pt x="45720" y="0"/>
                </a:lnTo>
                <a:close/>
              </a:path>
            </a:pathLst>
          </a:custGeom>
          <a:solidFill>
            <a:srgbClr val="EDF4FF"/>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4544568" y="2514600"/>
            <a:ext cx="256032" cy="0"/>
          </a:xfrm>
          <a:prstGeom prst="line">
            <a:avLst/>
          </a:prstGeom>
          <a:ln w="2540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71" name="Arc 70"/>
          <p:cNvSpPr/>
          <p:nvPr/>
        </p:nvSpPr>
        <p:spPr>
          <a:xfrm>
            <a:off x="3044952" y="1764792"/>
            <a:ext cx="1682496" cy="1682496"/>
          </a:xfrm>
          <a:prstGeom prst="arc">
            <a:avLst>
              <a:gd name="adj1" fmla="val 12300000"/>
              <a:gd name="adj2" fmla="val 20100000"/>
            </a:avLst>
          </a:prstGeom>
          <a:noFill/>
          <a:ln w="28575">
            <a:solidFill>
              <a:srgbClr val="A23DB6"/>
            </a:solidFill>
            <a:headEnd type="triangle" w="med" len="med"/>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854196" y="2574036"/>
            <a:ext cx="64008" cy="64008"/>
          </a:xfrm>
          <a:prstGeom prst="ellipse">
            <a:avLst/>
          </a:prstGeom>
          <a:solidFill>
            <a:srgbClr val="A23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26080" y="3611880"/>
            <a:ext cx="1920240" cy="502920"/>
          </a:xfrm>
          <a:prstGeom prst="rect">
            <a:avLst/>
          </a:prstGeom>
          <a:noFill/>
        </p:spPr>
        <p:txBody>
          <a:bodyPr wrap="square" lIns="0" rIns="0" tIns="0" bIns="0">
            <a:spAutoFit/>
          </a:bodyPr>
          <a:lstStyle/>
          <a:p>
            <a:pPr algn="ctr"/>
            <a:r>
              <a:rPr sz="800" b="0" i="0">
                <a:solidFill>
                  <a:srgbClr val="20263A"/>
                </a:solidFill>
                <a:latin typeface="Arial"/>
              </a:rPr>
              <a:t>nose tips up / down around</a:t>
            </a:r>
          </a:p>
          <a:p>
            <a:pPr algn="ctr"/>
            <a:r>
              <a:rPr sz="800" b="0" i="0">
                <a:solidFill>
                  <a:srgbClr val="20263A"/>
                </a:solidFill>
                <a:latin typeface="Arial"/>
              </a:rPr>
              <a:t>the wingtip-to-wingtip axis</a:t>
            </a:r>
          </a:p>
        </p:txBody>
      </p:sp>
      <p:sp>
        <p:nvSpPr>
          <p:cNvPr id="74" name="TextBox 73"/>
          <p:cNvSpPr txBox="1"/>
          <p:nvPr/>
        </p:nvSpPr>
        <p:spPr>
          <a:xfrm>
            <a:off x="5330952" y="1417320"/>
            <a:ext cx="1828800" cy="237744"/>
          </a:xfrm>
          <a:prstGeom prst="rect">
            <a:avLst/>
          </a:prstGeom>
          <a:noFill/>
        </p:spPr>
        <p:txBody>
          <a:bodyPr wrap="square" lIns="0" rIns="0" tIns="0" bIns="0">
            <a:spAutoFit/>
          </a:bodyPr>
          <a:lstStyle/>
          <a:p>
            <a:pPr algn="ctr"/>
            <a:r>
              <a:rPr sz="1200" b="1" i="0">
                <a:solidFill>
                  <a:srgbClr val="138C8C"/>
                </a:solidFill>
                <a:latin typeface="Arial"/>
              </a:rPr>
              <a:t>YAW</a:t>
            </a:r>
          </a:p>
        </p:txBody>
      </p:sp>
      <p:sp>
        <p:nvSpPr>
          <p:cNvPr id="75" name="TextBox 74"/>
          <p:cNvSpPr txBox="1"/>
          <p:nvPr/>
        </p:nvSpPr>
        <p:spPr>
          <a:xfrm>
            <a:off x="5330952" y="1664208"/>
            <a:ext cx="1828800" cy="182880"/>
          </a:xfrm>
          <a:prstGeom prst="rect">
            <a:avLst/>
          </a:prstGeom>
          <a:noFill/>
        </p:spPr>
        <p:txBody>
          <a:bodyPr wrap="square" lIns="0" rIns="0" tIns="0" bIns="0">
            <a:spAutoFit/>
          </a:bodyPr>
          <a:lstStyle/>
          <a:p>
            <a:pPr algn="ctr"/>
            <a:r>
              <a:rPr sz="800" b="0" i="1">
                <a:solidFill>
                  <a:srgbClr val="5F687D"/>
                </a:solidFill>
                <a:latin typeface="Arial"/>
              </a:rPr>
              <a:t>top view</a:t>
            </a:r>
          </a:p>
        </p:txBody>
      </p:sp>
      <p:sp>
        <p:nvSpPr>
          <p:cNvPr id="13" name="Freeform 12"/>
          <p:cNvSpPr/>
          <p:nvPr/>
        </p:nvSpPr>
        <p:spPr>
          <a:xfrm>
            <a:off x="6181344" y="2039112"/>
            <a:ext cx="128016" cy="1133856"/>
          </a:xfrm>
          <a:custGeom>
            <a:avLst/>
            <a:gdLst/>
            <a:ahLst/>
            <a:cxnLst/>
            <a:rect l="l" t="t" r="r" b="b"/>
            <a:pathLst>
              <a:path w="128016" h="1133856">
                <a:moveTo>
                  <a:pt x="18288" y="0"/>
                </a:moveTo>
                <a:lnTo>
                  <a:pt x="109728" y="0"/>
                </a:lnTo>
                <a:lnTo>
                  <a:pt x="128016" y="1133856"/>
                </a:lnTo>
                <a:lnTo>
                  <a:pt x="0" y="1133856"/>
                </a:lnTo>
                <a:close/>
              </a:path>
            </a:pathLst>
          </a:custGeom>
          <a:solidFill>
            <a:srgbClr val="F7F9FC"/>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5586984" y="2441448"/>
            <a:ext cx="1316736" cy="256032"/>
          </a:xfrm>
          <a:custGeom>
            <a:avLst/>
            <a:gdLst/>
            <a:ahLst/>
            <a:cxnLst/>
            <a:rect l="l" t="t" r="r" b="b"/>
            <a:pathLst>
              <a:path w="1316736" h="256032">
                <a:moveTo>
                  <a:pt x="0" y="0"/>
                </a:moveTo>
                <a:lnTo>
                  <a:pt x="1316736" y="0"/>
                </a:lnTo>
                <a:lnTo>
                  <a:pt x="1316736" y="256032"/>
                </a:lnTo>
                <a:lnTo>
                  <a:pt x="0" y="256032"/>
                </a:lnTo>
                <a:close/>
              </a:path>
            </a:pathLst>
          </a:custGeom>
          <a:solidFill>
            <a:srgbClr val="EDF4FF"/>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952744" y="3008376"/>
            <a:ext cx="585216" cy="146304"/>
          </a:xfrm>
          <a:custGeom>
            <a:avLst/>
            <a:gdLst/>
            <a:ahLst/>
            <a:cxnLst/>
            <a:rect l="l" t="t" r="r" b="b"/>
            <a:pathLst>
              <a:path w="585216" h="146304">
                <a:moveTo>
                  <a:pt x="0" y="0"/>
                </a:moveTo>
                <a:lnTo>
                  <a:pt x="585216" y="0"/>
                </a:lnTo>
                <a:lnTo>
                  <a:pt x="585216" y="146304"/>
                </a:lnTo>
                <a:lnTo>
                  <a:pt x="0" y="146304"/>
                </a:lnTo>
                <a:close/>
              </a:path>
            </a:pathLst>
          </a:custGeom>
          <a:solidFill>
            <a:srgbClr val="ECF7F0"/>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rc 75"/>
          <p:cNvSpPr/>
          <p:nvPr/>
        </p:nvSpPr>
        <p:spPr>
          <a:xfrm>
            <a:off x="5404104" y="1764792"/>
            <a:ext cx="1682496" cy="1682496"/>
          </a:xfrm>
          <a:prstGeom prst="arc">
            <a:avLst>
              <a:gd name="adj1" fmla="val 12300000"/>
              <a:gd name="adj2" fmla="val 20100000"/>
            </a:avLst>
          </a:prstGeom>
          <a:noFill/>
          <a:ln w="28575">
            <a:solidFill>
              <a:srgbClr val="138C8C"/>
            </a:solidFill>
            <a:headEnd type="triangle" w="med" len="med"/>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213348" y="2574036"/>
            <a:ext cx="64008" cy="64008"/>
          </a:xfrm>
          <a:prstGeom prst="ellipse">
            <a:avLst/>
          </a:prstGeom>
          <a:solidFill>
            <a:srgbClr val="13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285232" y="3611880"/>
            <a:ext cx="1920240" cy="502920"/>
          </a:xfrm>
          <a:prstGeom prst="rect">
            <a:avLst/>
          </a:prstGeom>
          <a:noFill/>
        </p:spPr>
        <p:txBody>
          <a:bodyPr wrap="square" lIns="0" rIns="0" tIns="0" bIns="0">
            <a:spAutoFit/>
          </a:bodyPr>
          <a:lstStyle/>
          <a:p>
            <a:pPr algn="ctr"/>
            <a:r>
              <a:rPr sz="800" b="0" i="0">
                <a:solidFill>
                  <a:srgbClr val="20263A"/>
                </a:solidFill>
                <a:latin typeface="Arial"/>
              </a:rPr>
              <a:t>nose swings left / right</a:t>
            </a:r>
          </a:p>
          <a:p>
            <a:pPr algn="ctr"/>
            <a:r>
              <a:rPr sz="800" b="0" i="0">
                <a:solidFill>
                  <a:srgbClr val="20263A"/>
                </a:solidFill>
                <a:latin typeface="Arial"/>
              </a:rPr>
              <a:t>around the vertical axis</a:t>
            </a:r>
          </a:p>
        </p:txBody>
      </p:sp>
      <p:sp>
        <p:nvSpPr>
          <p:cNvPr id="79" name="TextBox 78"/>
          <p:cNvSpPr txBox="1"/>
          <p:nvPr/>
        </p:nvSpPr>
        <p:spPr>
          <a:xfrm>
            <a:off x="548640" y="4133087"/>
            <a:ext cx="6675120" cy="201168"/>
          </a:xfrm>
          <a:prstGeom prst="rect">
            <a:avLst/>
          </a:prstGeom>
          <a:noFill/>
        </p:spPr>
        <p:txBody>
          <a:bodyPr wrap="square" lIns="0" rIns="0" tIns="0" bIns="0">
            <a:spAutoFit/>
          </a:bodyPr>
          <a:lstStyle/>
          <a:p>
            <a:pPr algn="ctr"/>
            <a:r>
              <a:rPr sz="800" b="0" i="1">
                <a:solidFill>
                  <a:srgbClr val="5F687D"/>
                </a:solidFill>
                <a:latin typeface="Arial"/>
              </a:rPr>
              <a:t>Each view looks straight down the rotation axis (the colored dot) — the motion happens in the plane of the page.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C83E3E"/>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Banked turns raise the stall speed</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wing must make more lift in a turn because only part of the lift vector points upward.</a:t>
            </a:r>
          </a:p>
        </p:txBody>
      </p:sp>
      <p:sp>
        <p:nvSpPr>
          <p:cNvPr id="8" name="Rounded Rectangle 7"/>
          <p:cNvSpPr/>
          <p:nvPr/>
        </p:nvSpPr>
        <p:spPr>
          <a:xfrm>
            <a:off x="347472" y="1188720"/>
            <a:ext cx="3474720" cy="301752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68426" y="3196742"/>
            <a:ext cx="2814523" cy="0"/>
          </a:xfrm>
          <a:prstGeom prst="line">
            <a:avLst/>
          </a:prstGeom>
          <a:ln w="15240">
            <a:solidFill>
              <a:srgbClr val="AEB6C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rot="18900000">
            <a:off x="1137513" y="2723083"/>
            <a:ext cx="1876348" cy="128015"/>
          </a:xfrm>
          <a:prstGeom prst="roundRect">
            <a:avLst>
              <a:gd name="adj" fmla="val 8000"/>
            </a:avLst>
          </a:prstGeom>
          <a:solidFill>
            <a:srgbClr val="EDF4FF"/>
          </a:solidFill>
          <a:ln w="1016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rot="18900000">
            <a:off x="1966234" y="2479852"/>
            <a:ext cx="218907" cy="614476"/>
          </a:xfrm>
          <a:prstGeom prst="roundRect">
            <a:avLst>
              <a:gd name="adj" fmla="val 8000"/>
            </a:avLst>
          </a:prstGeom>
          <a:solidFill>
            <a:srgbClr val="FFFFFF"/>
          </a:solidFill>
          <a:ln w="10160">
            <a:solidFill>
              <a:srgbClr val="2026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13877" y="2203364"/>
            <a:ext cx="562904" cy="384048"/>
          </a:xfrm>
          <a:prstGeom prst="rect">
            <a:avLst/>
          </a:prstGeom>
          <a:noFill/>
        </p:spPr>
        <p:txBody>
          <a:bodyPr wrap="square" lIns="0" rIns="0" tIns="0" bIns="0" anchor="t">
            <a:spAutoFit/>
          </a:bodyPr>
          <a:lstStyle/>
          <a:p>
            <a:pPr algn="l">
              <a:lnSpc>
                <a:spcPct val="100000"/>
              </a:lnSpc>
            </a:pPr>
            <a:r>
              <a:rPr sz="900" b="1" i="0">
                <a:solidFill>
                  <a:srgbClr val="2F8F5B"/>
                </a:solidFill>
                <a:latin typeface="Arial"/>
              </a:rPr>
              <a:t>L</a:t>
            </a:r>
          </a:p>
        </p:txBody>
      </p:sp>
      <p:sp>
        <p:nvSpPr>
          <p:cNvPr id="15" name="TextBox 14"/>
          <p:cNvSpPr txBox="1"/>
          <p:nvPr/>
        </p:nvSpPr>
        <p:spPr>
          <a:xfrm>
            <a:off x="2138232" y="3503980"/>
            <a:ext cx="562904" cy="384048"/>
          </a:xfrm>
          <a:prstGeom prst="rect">
            <a:avLst/>
          </a:prstGeom>
          <a:noFill/>
        </p:spPr>
        <p:txBody>
          <a:bodyPr wrap="square" lIns="0" rIns="0" tIns="0" bIns="0" anchor="t">
            <a:spAutoFit/>
          </a:bodyPr>
          <a:lstStyle/>
          <a:p>
            <a:pPr algn="l">
              <a:lnSpc>
                <a:spcPct val="100000"/>
              </a:lnSpc>
            </a:pPr>
            <a:r>
              <a:rPr sz="900" b="1" i="0">
                <a:solidFill>
                  <a:srgbClr val="C83E3E"/>
                </a:solidFill>
                <a:latin typeface="Arial"/>
              </a:rPr>
              <a:t>W</a:t>
            </a:r>
          </a:p>
        </p:txBody>
      </p:sp>
      <p:sp>
        <p:nvSpPr>
          <p:cNvPr id="16" name="TextBox 15"/>
          <p:cNvSpPr txBox="1"/>
          <p:nvPr/>
        </p:nvSpPr>
        <p:spPr>
          <a:xfrm>
            <a:off x="762243" y="1609344"/>
            <a:ext cx="1063264" cy="512063"/>
          </a:xfrm>
          <a:prstGeom prst="rect">
            <a:avLst/>
          </a:prstGeom>
          <a:noFill/>
        </p:spPr>
        <p:txBody>
          <a:bodyPr wrap="square" lIns="0" rIns="0" tIns="0" bIns="0" anchor="t">
            <a:spAutoFit/>
          </a:bodyPr>
          <a:lstStyle/>
          <a:p>
            <a:pPr algn="l">
              <a:lnSpc>
                <a:spcPct val="100000"/>
              </a:lnSpc>
            </a:pPr>
            <a:r>
              <a:rPr sz="1300" b="1" i="0">
                <a:solidFill>
                  <a:srgbClr val="111A42"/>
                </a:solidFill>
                <a:latin typeface="Arial"/>
              </a:rPr>
              <a:t>45° bank</a:t>
            </a:r>
          </a:p>
        </p:txBody>
      </p:sp>
      <p:sp>
        <p:nvSpPr>
          <p:cNvPr id="17" name="Rounded Rectangle 16"/>
          <p:cNvSpPr/>
          <p:nvPr/>
        </p:nvSpPr>
        <p:spPr>
          <a:xfrm>
            <a:off x="3950208" y="1188720"/>
            <a:ext cx="3474720" cy="1353312"/>
          </a:xfrm>
          <a:prstGeom prst="roundRect">
            <a:avLst>
              <a:gd name="adj" fmla="val 8000"/>
            </a:avLst>
          </a:prstGeom>
          <a:solidFill>
            <a:srgbClr val="FDEEEE"/>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950208" y="1188720"/>
            <a:ext cx="54864" cy="1353312"/>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05656" y="1298448"/>
            <a:ext cx="3209544" cy="164592"/>
          </a:xfrm>
          <a:prstGeom prst="rect">
            <a:avLst/>
          </a:prstGeom>
          <a:noFill/>
        </p:spPr>
        <p:txBody>
          <a:bodyPr wrap="square" lIns="0" rIns="0" tIns="0" bIns="0" anchor="t">
            <a:spAutoFit/>
          </a:bodyPr>
          <a:lstStyle/>
          <a:p>
            <a:pPr algn="l">
              <a:lnSpc>
                <a:spcPct val="100000"/>
              </a:lnSpc>
            </a:pPr>
            <a:r>
              <a:rPr sz="840" b="1" i="0">
                <a:solidFill>
                  <a:srgbClr val="C83E3E"/>
                </a:solidFill>
                <a:latin typeface="Arial"/>
              </a:rPr>
              <a:t>LOAD FACTOR</a:t>
            </a:r>
          </a:p>
        </p:txBody>
      </p:sp>
      <p:sp>
        <p:nvSpPr>
          <p:cNvPr id="20" name="TextBox 19"/>
          <p:cNvSpPr txBox="1"/>
          <p:nvPr/>
        </p:nvSpPr>
        <p:spPr>
          <a:xfrm>
            <a:off x="4105656" y="1554480"/>
            <a:ext cx="3209544" cy="365760"/>
          </a:xfrm>
          <a:prstGeom prst="rect">
            <a:avLst/>
          </a:prstGeom>
          <a:noFill/>
        </p:spPr>
        <p:txBody>
          <a:bodyPr wrap="square" lIns="0" rIns="0" tIns="0" bIns="0" anchor="ctr">
            <a:spAutoFit/>
          </a:bodyPr>
          <a:lstStyle/>
          <a:p>
            <a:pPr algn="ctr">
              <a:lnSpc>
                <a:spcPct val="100000"/>
              </a:lnSpc>
            </a:pPr>
            <a:r>
              <a:rPr sz="1800" b="1" i="0">
                <a:solidFill>
                  <a:srgbClr val="20263A"/>
                </a:solidFill>
                <a:latin typeface="Arial"/>
              </a:rPr>
              <a:t>n = 1 / cos φ</a:t>
            </a:r>
          </a:p>
        </p:txBody>
      </p:sp>
      <p:sp>
        <p:nvSpPr>
          <p:cNvPr id="21" name="TextBox 20"/>
          <p:cNvSpPr txBox="1"/>
          <p:nvPr/>
        </p:nvSpPr>
        <p:spPr>
          <a:xfrm>
            <a:off x="4105656" y="2029968"/>
            <a:ext cx="3209544" cy="411479"/>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φ is bank angle. At 60°, the wing supports about twice the aircraft weight.</a:t>
            </a:r>
          </a:p>
        </p:txBody>
      </p:sp>
      <p:sp>
        <p:nvSpPr>
          <p:cNvPr id="22" name="Rounded Rectangle 21"/>
          <p:cNvSpPr/>
          <p:nvPr/>
        </p:nvSpPr>
        <p:spPr>
          <a:xfrm>
            <a:off x="3950208" y="2761488"/>
            <a:ext cx="3474720" cy="1444752"/>
          </a:xfrm>
          <a:prstGeom prst="roundRect">
            <a:avLst>
              <a:gd name="adj" fmla="val 8000"/>
            </a:avLst>
          </a:prstGeom>
          <a:solidFill>
            <a:srgbClr val="FFF3E9"/>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950208" y="2761488"/>
            <a:ext cx="54864" cy="1444752"/>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05656" y="2871216"/>
            <a:ext cx="3209544" cy="164592"/>
          </a:xfrm>
          <a:prstGeom prst="rect">
            <a:avLst/>
          </a:prstGeom>
          <a:noFill/>
        </p:spPr>
        <p:txBody>
          <a:bodyPr wrap="square" lIns="0" rIns="0" tIns="0" bIns="0" anchor="t">
            <a:spAutoFit/>
          </a:bodyPr>
          <a:lstStyle/>
          <a:p>
            <a:pPr algn="l">
              <a:lnSpc>
                <a:spcPct val="100000"/>
              </a:lnSpc>
            </a:pPr>
            <a:r>
              <a:rPr sz="840" b="1" i="0">
                <a:solidFill>
                  <a:srgbClr val="E0702B"/>
                </a:solidFill>
                <a:latin typeface="Arial"/>
              </a:rPr>
              <a:t>TURNING STALL SPEED</a:t>
            </a:r>
          </a:p>
        </p:txBody>
      </p:sp>
      <p:sp>
        <p:nvSpPr>
          <p:cNvPr id="25" name="TextBox 24"/>
          <p:cNvSpPr txBox="1"/>
          <p:nvPr/>
        </p:nvSpPr>
        <p:spPr>
          <a:xfrm>
            <a:off x="4105656" y="3127248"/>
            <a:ext cx="3209544" cy="365760"/>
          </a:xfrm>
          <a:prstGeom prst="rect">
            <a:avLst/>
          </a:prstGeom>
          <a:noFill/>
        </p:spPr>
        <p:txBody>
          <a:bodyPr wrap="square" lIns="0" rIns="0" tIns="0" bIns="0" anchor="ctr">
            <a:spAutoFit/>
          </a:bodyPr>
          <a:lstStyle/>
          <a:p>
            <a:pPr algn="ctr">
              <a:lnSpc>
                <a:spcPct val="100000"/>
              </a:lnSpc>
            </a:pPr>
            <a:r>
              <a:rPr sz="1700" b="1" i="0">
                <a:solidFill>
                  <a:srgbClr val="20263A"/>
                </a:solidFill>
                <a:latin typeface="Arial"/>
              </a:rPr>
              <a:t>Vₛ,turn = Vₛ √n</a:t>
            </a:r>
          </a:p>
        </p:txBody>
      </p:sp>
      <p:sp>
        <p:nvSpPr>
          <p:cNvPr id="26" name="TextBox 25"/>
          <p:cNvSpPr txBox="1"/>
          <p:nvPr/>
        </p:nvSpPr>
        <p:spPr>
          <a:xfrm>
            <a:off x="4105656" y="3602736"/>
            <a:ext cx="3209544" cy="502920"/>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The stall speed increases with the square root of load factor.</a:t>
            </a:r>
          </a:p>
        </p:txBody>
      </p:sp>
      <p:sp>
        <p:nvSpPr>
          <p:cNvPr id="27" name="Rectangle 26"/>
          <p:cNvSpPr/>
          <p:nvPr/>
        </p:nvSpPr>
        <p:spPr>
          <a:xfrm>
            <a:off x="347472" y="4498848"/>
            <a:ext cx="1920240"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4617720"/>
            <a:ext cx="1792224" cy="182880"/>
          </a:xfrm>
          <a:prstGeom prst="rect">
            <a:avLst/>
          </a:prstGeom>
          <a:noFill/>
        </p:spPr>
        <p:txBody>
          <a:bodyPr wrap="square" lIns="0" rIns="0" tIns="0" bIns="0" anchor="t">
            <a:spAutoFit/>
          </a:bodyPr>
          <a:lstStyle/>
          <a:p>
            <a:pPr algn="l">
              <a:lnSpc>
                <a:spcPct val="100000"/>
              </a:lnSpc>
            </a:pPr>
            <a:r>
              <a:rPr sz="840" b="1" i="0">
                <a:solidFill>
                  <a:srgbClr val="FFFFFF"/>
                </a:solidFill>
                <a:latin typeface="Arial"/>
              </a:rPr>
              <a:t>BANK</a:t>
            </a:r>
          </a:p>
        </p:txBody>
      </p:sp>
      <p:sp>
        <p:nvSpPr>
          <p:cNvPr id="29" name="Rectangle 28"/>
          <p:cNvSpPr/>
          <p:nvPr/>
        </p:nvSpPr>
        <p:spPr>
          <a:xfrm>
            <a:off x="2267712" y="4498848"/>
            <a:ext cx="2468880"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331720" y="4617720"/>
            <a:ext cx="2340864" cy="182880"/>
          </a:xfrm>
          <a:prstGeom prst="rect">
            <a:avLst/>
          </a:prstGeom>
          <a:noFill/>
        </p:spPr>
        <p:txBody>
          <a:bodyPr wrap="square" lIns="0" rIns="0" tIns="0" bIns="0" anchor="t">
            <a:spAutoFit/>
          </a:bodyPr>
          <a:lstStyle/>
          <a:p>
            <a:pPr algn="l">
              <a:lnSpc>
                <a:spcPct val="100000"/>
              </a:lnSpc>
            </a:pPr>
            <a:r>
              <a:rPr sz="840" b="1" i="0">
                <a:solidFill>
                  <a:srgbClr val="FFFFFF"/>
                </a:solidFill>
                <a:latin typeface="Arial"/>
              </a:rPr>
              <a:t>LOAD FACTOR n</a:t>
            </a:r>
          </a:p>
        </p:txBody>
      </p:sp>
      <p:sp>
        <p:nvSpPr>
          <p:cNvPr id="31" name="Rectangle 30"/>
          <p:cNvSpPr/>
          <p:nvPr/>
        </p:nvSpPr>
        <p:spPr>
          <a:xfrm>
            <a:off x="4736592" y="4498848"/>
            <a:ext cx="2688336"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00600" y="4617720"/>
            <a:ext cx="2560320" cy="182880"/>
          </a:xfrm>
          <a:prstGeom prst="rect">
            <a:avLst/>
          </a:prstGeom>
          <a:noFill/>
        </p:spPr>
        <p:txBody>
          <a:bodyPr wrap="square" lIns="0" rIns="0" tIns="0" bIns="0" anchor="t">
            <a:spAutoFit/>
          </a:bodyPr>
          <a:lstStyle/>
          <a:p>
            <a:pPr algn="l">
              <a:lnSpc>
                <a:spcPct val="100000"/>
              </a:lnSpc>
            </a:pPr>
            <a:r>
              <a:rPr sz="840" b="1" i="0">
                <a:solidFill>
                  <a:srgbClr val="FFFFFF"/>
                </a:solidFill>
                <a:latin typeface="Arial"/>
              </a:rPr>
              <a:t>STALL-SPEED MULTIPLIER</a:t>
            </a:r>
          </a:p>
        </p:txBody>
      </p:sp>
      <p:sp>
        <p:nvSpPr>
          <p:cNvPr id="33" name="Rectangle 32"/>
          <p:cNvSpPr/>
          <p:nvPr/>
        </p:nvSpPr>
        <p:spPr>
          <a:xfrm>
            <a:off x="347472" y="5001768"/>
            <a:ext cx="1920240" cy="54864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5120640"/>
            <a:ext cx="1792224" cy="201168"/>
          </a:xfrm>
          <a:prstGeom prst="rect">
            <a:avLst/>
          </a:prstGeom>
          <a:noFill/>
        </p:spPr>
        <p:txBody>
          <a:bodyPr wrap="square" lIns="0" rIns="0" tIns="0" bIns="0" anchor="t">
            <a:spAutoFit/>
          </a:bodyPr>
          <a:lstStyle/>
          <a:p>
            <a:pPr algn="l">
              <a:lnSpc>
                <a:spcPct val="100000"/>
              </a:lnSpc>
            </a:pPr>
            <a:r>
              <a:rPr sz="919" b="1" i="0">
                <a:solidFill>
                  <a:srgbClr val="20263A"/>
                </a:solidFill>
                <a:latin typeface="Arial"/>
              </a:rPr>
              <a:t>0°</a:t>
            </a:r>
          </a:p>
        </p:txBody>
      </p:sp>
      <p:sp>
        <p:nvSpPr>
          <p:cNvPr id="35" name="Rectangle 34"/>
          <p:cNvSpPr/>
          <p:nvPr/>
        </p:nvSpPr>
        <p:spPr>
          <a:xfrm>
            <a:off x="2267712" y="5001768"/>
            <a:ext cx="2468880" cy="54864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31720" y="5120640"/>
            <a:ext cx="2340864" cy="201168"/>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1.00</a:t>
            </a:r>
          </a:p>
        </p:txBody>
      </p:sp>
      <p:sp>
        <p:nvSpPr>
          <p:cNvPr id="37" name="Rectangle 36"/>
          <p:cNvSpPr/>
          <p:nvPr/>
        </p:nvSpPr>
        <p:spPr>
          <a:xfrm>
            <a:off x="4736592" y="5001768"/>
            <a:ext cx="2688336" cy="54864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00600" y="5120640"/>
            <a:ext cx="2560320" cy="201168"/>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1.00 ×</a:t>
            </a:r>
          </a:p>
        </p:txBody>
      </p:sp>
      <p:sp>
        <p:nvSpPr>
          <p:cNvPr id="39" name="Rectangle 38"/>
          <p:cNvSpPr/>
          <p:nvPr/>
        </p:nvSpPr>
        <p:spPr>
          <a:xfrm>
            <a:off x="347472" y="5550407"/>
            <a:ext cx="1920240" cy="54864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5669279"/>
            <a:ext cx="1792224" cy="201168"/>
          </a:xfrm>
          <a:prstGeom prst="rect">
            <a:avLst/>
          </a:prstGeom>
          <a:noFill/>
        </p:spPr>
        <p:txBody>
          <a:bodyPr wrap="square" lIns="0" rIns="0" tIns="0" bIns="0" anchor="t">
            <a:spAutoFit/>
          </a:bodyPr>
          <a:lstStyle/>
          <a:p>
            <a:pPr algn="l">
              <a:lnSpc>
                <a:spcPct val="100000"/>
              </a:lnSpc>
            </a:pPr>
            <a:r>
              <a:rPr sz="919" b="1" i="0">
                <a:solidFill>
                  <a:srgbClr val="20263A"/>
                </a:solidFill>
                <a:latin typeface="Arial"/>
              </a:rPr>
              <a:t>30°</a:t>
            </a:r>
          </a:p>
        </p:txBody>
      </p:sp>
      <p:sp>
        <p:nvSpPr>
          <p:cNvPr id="41" name="Rectangle 40"/>
          <p:cNvSpPr/>
          <p:nvPr/>
        </p:nvSpPr>
        <p:spPr>
          <a:xfrm>
            <a:off x="2267712" y="5550407"/>
            <a:ext cx="2468880" cy="54864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331720" y="5669279"/>
            <a:ext cx="2340864" cy="201168"/>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1.15</a:t>
            </a:r>
          </a:p>
        </p:txBody>
      </p:sp>
      <p:sp>
        <p:nvSpPr>
          <p:cNvPr id="43" name="Rectangle 42"/>
          <p:cNvSpPr/>
          <p:nvPr/>
        </p:nvSpPr>
        <p:spPr>
          <a:xfrm>
            <a:off x="4736592" y="5550407"/>
            <a:ext cx="2688336" cy="54864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00600" y="5669279"/>
            <a:ext cx="2560320" cy="201168"/>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1.07 ×</a:t>
            </a:r>
          </a:p>
        </p:txBody>
      </p:sp>
      <p:sp>
        <p:nvSpPr>
          <p:cNvPr id="45" name="Rectangle 44"/>
          <p:cNvSpPr/>
          <p:nvPr/>
        </p:nvSpPr>
        <p:spPr>
          <a:xfrm>
            <a:off x="347472" y="6099047"/>
            <a:ext cx="1920240" cy="54864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80" y="6217919"/>
            <a:ext cx="1792224" cy="201168"/>
          </a:xfrm>
          <a:prstGeom prst="rect">
            <a:avLst/>
          </a:prstGeom>
          <a:noFill/>
        </p:spPr>
        <p:txBody>
          <a:bodyPr wrap="square" lIns="0" rIns="0" tIns="0" bIns="0" anchor="t">
            <a:spAutoFit/>
          </a:bodyPr>
          <a:lstStyle/>
          <a:p>
            <a:pPr algn="l">
              <a:lnSpc>
                <a:spcPct val="100000"/>
              </a:lnSpc>
            </a:pPr>
            <a:r>
              <a:rPr sz="919" b="1" i="0">
                <a:solidFill>
                  <a:srgbClr val="20263A"/>
                </a:solidFill>
                <a:latin typeface="Arial"/>
              </a:rPr>
              <a:t>45°</a:t>
            </a:r>
          </a:p>
        </p:txBody>
      </p:sp>
      <p:sp>
        <p:nvSpPr>
          <p:cNvPr id="47" name="Rectangle 46"/>
          <p:cNvSpPr/>
          <p:nvPr/>
        </p:nvSpPr>
        <p:spPr>
          <a:xfrm>
            <a:off x="2267712" y="6099047"/>
            <a:ext cx="2468880" cy="54864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31720" y="6217919"/>
            <a:ext cx="2340864" cy="201168"/>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1.41</a:t>
            </a:r>
          </a:p>
        </p:txBody>
      </p:sp>
      <p:sp>
        <p:nvSpPr>
          <p:cNvPr id="49" name="Rectangle 48"/>
          <p:cNvSpPr/>
          <p:nvPr/>
        </p:nvSpPr>
        <p:spPr>
          <a:xfrm>
            <a:off x="4736592" y="6099047"/>
            <a:ext cx="2688336" cy="54864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00600" y="6217919"/>
            <a:ext cx="2560320" cy="201168"/>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1.19 ×</a:t>
            </a:r>
          </a:p>
        </p:txBody>
      </p:sp>
      <p:sp>
        <p:nvSpPr>
          <p:cNvPr id="51" name="Rectangle 50"/>
          <p:cNvSpPr/>
          <p:nvPr/>
        </p:nvSpPr>
        <p:spPr>
          <a:xfrm>
            <a:off x="347472" y="6647687"/>
            <a:ext cx="1920240" cy="54864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80" y="6766559"/>
            <a:ext cx="1792224" cy="201168"/>
          </a:xfrm>
          <a:prstGeom prst="rect">
            <a:avLst/>
          </a:prstGeom>
          <a:noFill/>
        </p:spPr>
        <p:txBody>
          <a:bodyPr wrap="square" lIns="0" rIns="0" tIns="0" bIns="0" anchor="t">
            <a:spAutoFit/>
          </a:bodyPr>
          <a:lstStyle/>
          <a:p>
            <a:pPr algn="l">
              <a:lnSpc>
                <a:spcPct val="100000"/>
              </a:lnSpc>
            </a:pPr>
            <a:r>
              <a:rPr sz="919" b="1" i="0">
                <a:solidFill>
                  <a:srgbClr val="20263A"/>
                </a:solidFill>
                <a:latin typeface="Arial"/>
              </a:rPr>
              <a:t>60°</a:t>
            </a:r>
          </a:p>
        </p:txBody>
      </p:sp>
      <p:sp>
        <p:nvSpPr>
          <p:cNvPr id="53" name="Rectangle 52"/>
          <p:cNvSpPr/>
          <p:nvPr/>
        </p:nvSpPr>
        <p:spPr>
          <a:xfrm>
            <a:off x="2267712" y="6647687"/>
            <a:ext cx="2468880" cy="54864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331720" y="6766559"/>
            <a:ext cx="2340864" cy="201168"/>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2.00</a:t>
            </a:r>
          </a:p>
        </p:txBody>
      </p:sp>
      <p:sp>
        <p:nvSpPr>
          <p:cNvPr id="55" name="Rectangle 54"/>
          <p:cNvSpPr/>
          <p:nvPr/>
        </p:nvSpPr>
        <p:spPr>
          <a:xfrm>
            <a:off x="4736592" y="6647687"/>
            <a:ext cx="2688336" cy="54864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800600" y="6766559"/>
            <a:ext cx="2560320" cy="201168"/>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1.41 ×</a:t>
            </a:r>
          </a:p>
        </p:txBody>
      </p:sp>
      <p:sp>
        <p:nvSpPr>
          <p:cNvPr id="57" name="Rounded Rectangle 56"/>
          <p:cNvSpPr/>
          <p:nvPr/>
        </p:nvSpPr>
        <p:spPr>
          <a:xfrm>
            <a:off x="347472" y="7370064"/>
            <a:ext cx="7077456" cy="877824"/>
          </a:xfrm>
          <a:prstGeom prst="roundRect">
            <a:avLst>
              <a:gd name="adj" fmla="val 8000"/>
            </a:avLst>
          </a:prstGeom>
          <a:solidFill>
            <a:srgbClr val="FDEEEE"/>
          </a:solidFill>
          <a:ln w="10160">
            <a:solidFill>
              <a:srgbClr val="C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457200" y="7662672"/>
            <a:ext cx="292608" cy="292608"/>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7717536"/>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60" name="TextBox 59"/>
          <p:cNvSpPr txBox="1"/>
          <p:nvPr/>
        </p:nvSpPr>
        <p:spPr>
          <a:xfrm>
            <a:off x="832104" y="7461504"/>
            <a:ext cx="6464808" cy="713232"/>
          </a:xfrm>
          <a:prstGeom prst="rect">
            <a:avLst/>
          </a:prstGeom>
          <a:noFill/>
        </p:spPr>
        <p:txBody>
          <a:bodyPr wrap="square" lIns="0" rIns="0" tIns="0" bIns="0" anchor="ctr">
            <a:spAutoFit/>
          </a:bodyPr>
          <a:lstStyle/>
          <a:p>
            <a:pPr algn="l">
              <a:lnSpc>
                <a:spcPct val="100000"/>
              </a:lnSpc>
            </a:pPr>
            <a:r>
              <a:rPr sz="960" b="0" i="0">
                <a:solidFill>
                  <a:srgbClr val="20263A"/>
                </a:solidFill>
                <a:latin typeface="Arial"/>
              </a:rPr>
              <a:t>Practical lesson: do not make steep, slow turns near the ground. Add speed before banking, and keep the turn coordinated.</a:t>
            </a:r>
          </a:p>
        </p:txBody>
      </p:sp>
      <p:sp>
        <p:nvSpPr>
          <p:cNvPr id="61" name="TextBox 60"/>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Equations follow standard level-turn mechanics; use as an idealized estimate.</a:t>
            </a:r>
          </a:p>
        </p:txBody>
      </p:sp>
      <p:sp>
        <p:nvSpPr>
          <p:cNvPr id="62" name="TextBox 61"/>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8</a:t>
            </a:r>
          </a:p>
        </p:txBody>
      </p:sp>
      <p:cxnSp>
        <p:nvCxnSpPr>
          <p:cNvPr id="63" name="Connector 62"/>
          <p:cNvCxnSpPr/>
          <p:nvPr/>
        </p:nvCxnSpPr>
        <p:spPr>
          <a:xfrm flipV="1">
            <a:off x="2075688" y="2267712"/>
            <a:ext cx="521208" cy="521208"/>
          </a:xfrm>
          <a:prstGeom prst="line">
            <a:avLst/>
          </a:prstGeom>
          <a:ln w="31750">
            <a:solidFill>
              <a:srgbClr val="2F8F5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075688" y="2788920"/>
            <a:ext cx="0" cy="996695"/>
          </a:xfrm>
          <a:prstGeom prst="line">
            <a:avLst/>
          </a:prstGeom>
          <a:ln w="31750">
            <a:solidFill>
              <a:srgbClr val="C83E3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2075688" y="2267712"/>
            <a:ext cx="0" cy="521208"/>
          </a:xfrm>
          <a:prstGeom prst="line">
            <a:avLst/>
          </a:prstGeom>
          <a:ln w="19050">
            <a:solidFill>
              <a:srgbClr val="2F8F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2075688" y="2788920"/>
            <a:ext cx="521208" cy="0"/>
          </a:xfrm>
          <a:prstGeom prst="line">
            <a:avLst/>
          </a:prstGeom>
          <a:ln w="19050">
            <a:solidFill>
              <a:srgbClr val="138C8C"/>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2075688" y="2267712"/>
            <a:ext cx="521208" cy="0"/>
          </a:xfrm>
          <a:prstGeom prst="line">
            <a:avLst/>
          </a:prstGeom>
          <a:ln w="9525">
            <a:solidFill>
              <a:srgbClr val="5F687D"/>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2596896" y="2267712"/>
            <a:ext cx="0" cy="521208"/>
          </a:xfrm>
          <a:prstGeom prst="line">
            <a:avLst/>
          </a:prstGeom>
          <a:ln w="9525">
            <a:solidFill>
              <a:srgbClr val="5F687D"/>
            </a:solidFill>
            <a:prstDash val="sysDot"/>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1005840" y="2084831"/>
            <a:ext cx="1024128" cy="274320"/>
          </a:xfrm>
          <a:prstGeom prst="rect">
            <a:avLst/>
          </a:prstGeom>
          <a:noFill/>
        </p:spPr>
        <p:txBody>
          <a:bodyPr wrap="square" lIns="0" rIns="0" tIns="0" bIns="0">
            <a:spAutoFit/>
          </a:bodyPr>
          <a:lstStyle/>
          <a:p>
            <a:pPr algn="r"/>
            <a:r>
              <a:rPr sz="700" b="1" i="0">
                <a:solidFill>
                  <a:srgbClr val="2F8F5B"/>
                </a:solidFill>
                <a:latin typeface="Arial"/>
              </a:rPr>
              <a:t>L cos φ</a:t>
            </a:r>
          </a:p>
          <a:p>
            <a:pPr algn="r"/>
            <a:r>
              <a:rPr sz="700" b="1" i="0">
                <a:solidFill>
                  <a:srgbClr val="2F8F5B"/>
                </a:solidFill>
                <a:latin typeface="Arial"/>
              </a:rPr>
              <a:t>must equal W</a:t>
            </a:r>
          </a:p>
        </p:txBody>
      </p:sp>
      <p:sp>
        <p:nvSpPr>
          <p:cNvPr id="70" name="TextBox 69"/>
          <p:cNvSpPr txBox="1"/>
          <p:nvPr/>
        </p:nvSpPr>
        <p:spPr>
          <a:xfrm>
            <a:off x="2670048" y="2834640"/>
            <a:ext cx="1097280" cy="274320"/>
          </a:xfrm>
          <a:prstGeom prst="rect">
            <a:avLst/>
          </a:prstGeom>
          <a:noFill/>
        </p:spPr>
        <p:txBody>
          <a:bodyPr wrap="square" lIns="0" rIns="0" tIns="0" bIns="0">
            <a:spAutoFit/>
          </a:bodyPr>
          <a:lstStyle/>
          <a:p>
            <a:pPr algn="l"/>
            <a:r>
              <a:rPr sz="700" b="1" i="0">
                <a:solidFill>
                  <a:srgbClr val="138C8C"/>
                </a:solidFill>
                <a:latin typeface="Arial"/>
              </a:rPr>
              <a:t>L sin φ</a:t>
            </a:r>
          </a:p>
          <a:p>
            <a:pPr algn="l"/>
            <a:r>
              <a:rPr sz="700" b="1" i="0">
                <a:solidFill>
                  <a:srgbClr val="138C8C"/>
                </a:solidFill>
                <a:latin typeface="Arial"/>
              </a:rPr>
              <a:t>turns you</a:t>
            </a:r>
          </a:p>
        </p:txBody>
      </p:sp>
      <p:sp>
        <p:nvSpPr>
          <p:cNvPr id="71" name="Rounded Rectangle 70"/>
          <p:cNvSpPr/>
          <p:nvPr/>
        </p:nvSpPr>
        <p:spPr>
          <a:xfrm>
            <a:off x="347472" y="8284464"/>
            <a:ext cx="7077456" cy="530352"/>
          </a:xfrm>
          <a:prstGeom prst="roundRect">
            <a:avLst>
              <a:gd name="adj" fmla="val 10000"/>
            </a:avLst>
          </a:prstGeom>
          <a:solidFill>
            <a:srgbClr val="FDF6E3"/>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66344" y="8403335"/>
            <a:ext cx="292608" cy="292608"/>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66344" y="8453627"/>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74" name="TextBox 73"/>
          <p:cNvSpPr txBox="1"/>
          <p:nvPr/>
        </p:nvSpPr>
        <p:spPr>
          <a:xfrm>
            <a:off x="859536" y="8366760"/>
            <a:ext cx="1005840" cy="137160"/>
          </a:xfrm>
          <a:prstGeom prst="rect">
            <a:avLst/>
          </a:prstGeom>
          <a:noFill/>
        </p:spPr>
        <p:txBody>
          <a:bodyPr wrap="square" lIns="0" rIns="0" tIns="0" bIns="0">
            <a:spAutoFit/>
          </a:bodyPr>
          <a:lstStyle/>
          <a:p>
            <a:pPr algn="l"/>
            <a:r>
              <a:rPr sz="800" b="1" i="0">
                <a:solidFill>
                  <a:srgbClr val="20263A"/>
                </a:solidFill>
                <a:latin typeface="Arial"/>
              </a:rPr>
              <a:t>YOUR TURN</a:t>
            </a:r>
          </a:p>
        </p:txBody>
      </p:sp>
      <p:sp>
        <p:nvSpPr>
          <p:cNvPr id="75" name="TextBox 74"/>
          <p:cNvSpPr txBox="1"/>
          <p:nvPr/>
        </p:nvSpPr>
        <p:spPr>
          <a:xfrm>
            <a:off x="859536" y="8522208"/>
            <a:ext cx="6391656" cy="219455"/>
          </a:xfrm>
          <a:prstGeom prst="rect">
            <a:avLst/>
          </a:prstGeom>
          <a:noFill/>
        </p:spPr>
        <p:txBody>
          <a:bodyPr wrap="square" lIns="0" rIns="0" tIns="0" bIns="0">
            <a:spAutoFit/>
          </a:bodyPr>
          <a:lstStyle/>
          <a:p>
            <a:pPr algn="l"/>
            <a:r>
              <a:rPr sz="800" b="0" i="0">
                <a:solidFill>
                  <a:srgbClr val="20263A"/>
                </a:solidFill>
                <a:latin typeface="Arial"/>
              </a:rPr>
              <a:t>At what bank angle does stall speed rise by 25%? Work backwards: n = 1.25² = 1.5625 → cos φ = 1/1.5625 = 0.64 → φ ≈ 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E0702B"/>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Control surfaces: useful starting proportions</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Authority comes from area, lever arm, deflection, airspeed, stiffness, and clean airflow—not area alone.</a:t>
            </a:r>
          </a:p>
        </p:txBody>
      </p:sp>
      <p:sp>
        <p:nvSpPr>
          <p:cNvPr id="8" name="Rounded Rectangle 7"/>
          <p:cNvSpPr/>
          <p:nvPr/>
        </p:nvSpPr>
        <p:spPr>
          <a:xfrm>
            <a:off x="347472" y="1188720"/>
            <a:ext cx="7077456" cy="288036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8616" y="1350751"/>
            <a:ext cx="1899757" cy="256032"/>
          </a:xfrm>
          <a:prstGeom prst="roundRect">
            <a:avLst>
              <a:gd name="adj" fmla="val 8000"/>
            </a:avLst>
          </a:prstGeom>
          <a:solidFill>
            <a:srgbClr val="FF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3480" y="1401043"/>
            <a:ext cx="1790029" cy="146304"/>
          </a:xfrm>
          <a:prstGeom prst="rect">
            <a:avLst/>
          </a:prstGeom>
          <a:noFill/>
        </p:spPr>
        <p:txBody>
          <a:bodyPr wrap="square" lIns="0" rIns="0" tIns="0" bIns="0" anchor="ctr">
            <a:spAutoFit/>
          </a:bodyPr>
          <a:lstStyle/>
          <a:p>
            <a:pPr algn="ctr">
              <a:lnSpc>
                <a:spcPct val="100000"/>
              </a:lnSpc>
            </a:pPr>
            <a:r>
              <a:rPr sz="830" b="1" i="0">
                <a:solidFill>
                  <a:srgbClr val="E0702B"/>
                </a:solidFill>
                <a:latin typeface="Arial"/>
              </a:rPr>
              <a:t>AILERONS</a:t>
            </a:r>
          </a:p>
        </p:txBody>
      </p:sp>
      <p:sp>
        <p:nvSpPr>
          <p:cNvPr id="20" name="Rounded Rectangle 19"/>
          <p:cNvSpPr/>
          <p:nvPr/>
        </p:nvSpPr>
        <p:spPr>
          <a:xfrm>
            <a:off x="5202936" y="2788920"/>
            <a:ext cx="1899757" cy="256032"/>
          </a:xfrm>
          <a:prstGeom prst="roundRect">
            <a:avLst>
              <a:gd name="adj" fmla="val 8000"/>
            </a:avLst>
          </a:prstGeom>
          <a:solidFill>
            <a:srgbClr val="F6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2834640"/>
            <a:ext cx="1790029" cy="146304"/>
          </a:xfrm>
          <a:prstGeom prst="rect">
            <a:avLst/>
          </a:prstGeom>
          <a:noFill/>
        </p:spPr>
        <p:txBody>
          <a:bodyPr wrap="square" lIns="0" rIns="0" tIns="0" bIns="0" anchor="ctr">
            <a:spAutoFit/>
          </a:bodyPr>
          <a:lstStyle/>
          <a:p>
            <a:pPr algn="ctr">
              <a:lnSpc>
                <a:spcPct val="100000"/>
              </a:lnSpc>
            </a:pPr>
            <a:r>
              <a:rPr sz="830" b="1" i="0">
                <a:solidFill>
                  <a:srgbClr val="A23DB6"/>
                </a:solidFill>
                <a:latin typeface="Arial"/>
              </a:rPr>
              <a:t>ELEVATOR</a:t>
            </a:r>
          </a:p>
        </p:txBody>
      </p:sp>
      <p:sp>
        <p:nvSpPr>
          <p:cNvPr id="22" name="Rounded Rectangle 21"/>
          <p:cNvSpPr/>
          <p:nvPr/>
        </p:nvSpPr>
        <p:spPr>
          <a:xfrm>
            <a:off x="5202936" y="3529584"/>
            <a:ext cx="1899757" cy="256032"/>
          </a:xfrm>
          <a:prstGeom prst="roundRect">
            <a:avLst>
              <a:gd name="adj" fmla="val 8000"/>
            </a:avLst>
          </a:prstGeom>
          <a:solidFill>
            <a:srgbClr val="FD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3575304"/>
            <a:ext cx="1790029" cy="146304"/>
          </a:xfrm>
          <a:prstGeom prst="rect">
            <a:avLst/>
          </a:prstGeom>
          <a:noFill/>
        </p:spPr>
        <p:txBody>
          <a:bodyPr wrap="square" lIns="0" rIns="0" tIns="0" bIns="0" anchor="ctr">
            <a:spAutoFit/>
          </a:bodyPr>
          <a:lstStyle/>
          <a:p>
            <a:pPr algn="ctr">
              <a:lnSpc>
                <a:spcPct val="100000"/>
              </a:lnSpc>
            </a:pPr>
            <a:r>
              <a:rPr sz="830" b="1" i="0">
                <a:solidFill>
                  <a:srgbClr val="C83E3E"/>
                </a:solidFill>
                <a:latin typeface="Arial"/>
              </a:rPr>
              <a:t>RUDDER</a:t>
            </a:r>
          </a:p>
        </p:txBody>
      </p:sp>
      <p:sp>
        <p:nvSpPr>
          <p:cNvPr id="24" name="Rectangle 23"/>
          <p:cNvSpPr/>
          <p:nvPr/>
        </p:nvSpPr>
        <p:spPr>
          <a:xfrm>
            <a:off x="347472" y="4279392"/>
            <a:ext cx="1051560"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2336" y="4398264"/>
            <a:ext cx="941831"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SURFACE</a:t>
            </a:r>
          </a:p>
        </p:txBody>
      </p:sp>
      <p:sp>
        <p:nvSpPr>
          <p:cNvPr id="26" name="Rectangle 25"/>
          <p:cNvSpPr/>
          <p:nvPr/>
        </p:nvSpPr>
        <p:spPr>
          <a:xfrm>
            <a:off x="1399031" y="4279392"/>
            <a:ext cx="1664208"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53895" y="4398264"/>
            <a:ext cx="1554480"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CHORD</a:t>
            </a:r>
          </a:p>
        </p:txBody>
      </p:sp>
      <p:sp>
        <p:nvSpPr>
          <p:cNvPr id="28" name="Rectangle 27"/>
          <p:cNvSpPr/>
          <p:nvPr/>
        </p:nvSpPr>
        <p:spPr>
          <a:xfrm>
            <a:off x="3063239" y="4279392"/>
            <a:ext cx="2651760"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18103" y="4398264"/>
            <a:ext cx="2542032"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SPAN / HEIGHT</a:t>
            </a:r>
          </a:p>
        </p:txBody>
      </p:sp>
      <p:sp>
        <p:nvSpPr>
          <p:cNvPr id="30" name="Rectangle 29"/>
          <p:cNvSpPr/>
          <p:nvPr/>
        </p:nvSpPr>
        <p:spPr>
          <a:xfrm>
            <a:off x="5715000" y="4279392"/>
            <a:ext cx="1709928"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9864" y="4398264"/>
            <a:ext cx="1600200"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MAIN JOB</a:t>
            </a:r>
          </a:p>
        </p:txBody>
      </p:sp>
      <p:sp>
        <p:nvSpPr>
          <p:cNvPr id="32" name="Rectangle 31"/>
          <p:cNvSpPr/>
          <p:nvPr/>
        </p:nvSpPr>
        <p:spPr>
          <a:xfrm>
            <a:off x="347472" y="4782312"/>
            <a:ext cx="1051560"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2336" y="4873751"/>
            <a:ext cx="941831" cy="384048"/>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Aileron</a:t>
            </a:r>
          </a:p>
        </p:txBody>
      </p:sp>
      <p:sp>
        <p:nvSpPr>
          <p:cNvPr id="34" name="Rectangle 33"/>
          <p:cNvSpPr/>
          <p:nvPr/>
        </p:nvSpPr>
        <p:spPr>
          <a:xfrm>
            <a:off x="1399031" y="4782312"/>
            <a:ext cx="1664208"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53895" y="4873751"/>
            <a:ext cx="1554480"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18–22% of wing chord</a:t>
            </a:r>
          </a:p>
        </p:txBody>
      </p:sp>
      <p:sp>
        <p:nvSpPr>
          <p:cNvPr id="36" name="Rectangle 35"/>
          <p:cNvSpPr/>
          <p:nvPr/>
        </p:nvSpPr>
        <p:spPr>
          <a:xfrm>
            <a:off x="3063239" y="4782312"/>
            <a:ext cx="2651760"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873751"/>
            <a:ext cx="2542032"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Outer 40–50% of each half-wing</a:t>
            </a:r>
          </a:p>
        </p:txBody>
      </p:sp>
      <p:sp>
        <p:nvSpPr>
          <p:cNvPr id="38" name="Rectangle 37"/>
          <p:cNvSpPr/>
          <p:nvPr/>
        </p:nvSpPr>
        <p:spPr>
          <a:xfrm>
            <a:off x="5715000" y="4782312"/>
            <a:ext cx="1709928"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69864" y="4873751"/>
            <a:ext cx="1600200"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Roll</a:t>
            </a:r>
          </a:p>
        </p:txBody>
      </p:sp>
      <p:sp>
        <p:nvSpPr>
          <p:cNvPr id="40" name="Rectangle 39"/>
          <p:cNvSpPr/>
          <p:nvPr/>
        </p:nvSpPr>
        <p:spPr>
          <a:xfrm>
            <a:off x="347472" y="5376672"/>
            <a:ext cx="1051560"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468112"/>
            <a:ext cx="941831" cy="384048"/>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Elevator</a:t>
            </a:r>
          </a:p>
        </p:txBody>
      </p:sp>
      <p:sp>
        <p:nvSpPr>
          <p:cNvPr id="42" name="Rectangle 41"/>
          <p:cNvSpPr/>
          <p:nvPr/>
        </p:nvSpPr>
        <p:spPr>
          <a:xfrm>
            <a:off x="1399031" y="5376672"/>
            <a:ext cx="1664208"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453895" y="5468112"/>
            <a:ext cx="1554480"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25–35% of tail chord</a:t>
            </a:r>
          </a:p>
        </p:txBody>
      </p:sp>
      <p:sp>
        <p:nvSpPr>
          <p:cNvPr id="44" name="Rectangle 43"/>
          <p:cNvSpPr/>
          <p:nvPr/>
        </p:nvSpPr>
        <p:spPr>
          <a:xfrm>
            <a:off x="3063239" y="5376672"/>
            <a:ext cx="2651760"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118103" y="5468112"/>
            <a:ext cx="2542032"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About 80–95% of tail span</a:t>
            </a:r>
          </a:p>
        </p:txBody>
      </p:sp>
      <p:sp>
        <p:nvSpPr>
          <p:cNvPr id="46" name="Rectangle 45"/>
          <p:cNvSpPr/>
          <p:nvPr/>
        </p:nvSpPr>
        <p:spPr>
          <a:xfrm>
            <a:off x="5715000" y="5376672"/>
            <a:ext cx="1709928"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69864" y="5468112"/>
            <a:ext cx="1600200"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Pitch</a:t>
            </a:r>
          </a:p>
        </p:txBody>
      </p:sp>
      <p:sp>
        <p:nvSpPr>
          <p:cNvPr id="48" name="Rectangle 47"/>
          <p:cNvSpPr/>
          <p:nvPr/>
        </p:nvSpPr>
        <p:spPr>
          <a:xfrm>
            <a:off x="347472" y="5971032"/>
            <a:ext cx="1051560"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062472"/>
            <a:ext cx="941831" cy="384048"/>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Rudder</a:t>
            </a:r>
          </a:p>
        </p:txBody>
      </p:sp>
      <p:sp>
        <p:nvSpPr>
          <p:cNvPr id="50" name="Rectangle 49"/>
          <p:cNvSpPr/>
          <p:nvPr/>
        </p:nvSpPr>
        <p:spPr>
          <a:xfrm>
            <a:off x="1399031" y="5971032"/>
            <a:ext cx="1664208"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453895" y="6062472"/>
            <a:ext cx="1554480"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30–40% of fin chord</a:t>
            </a:r>
          </a:p>
        </p:txBody>
      </p:sp>
      <p:sp>
        <p:nvSpPr>
          <p:cNvPr id="52" name="Rectangle 51"/>
          <p:cNvSpPr/>
          <p:nvPr/>
        </p:nvSpPr>
        <p:spPr>
          <a:xfrm>
            <a:off x="3063239" y="5971032"/>
            <a:ext cx="2651760"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118103" y="6062472"/>
            <a:ext cx="2542032"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Most of fin height</a:t>
            </a:r>
          </a:p>
        </p:txBody>
      </p:sp>
      <p:sp>
        <p:nvSpPr>
          <p:cNvPr id="54" name="Rectangle 53"/>
          <p:cNvSpPr/>
          <p:nvPr/>
        </p:nvSpPr>
        <p:spPr>
          <a:xfrm>
            <a:off x="5715000" y="5971032"/>
            <a:ext cx="1709928" cy="59436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69864" y="6062472"/>
            <a:ext cx="1600200"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Yaw</a:t>
            </a:r>
          </a:p>
        </p:txBody>
      </p:sp>
      <p:sp>
        <p:nvSpPr>
          <p:cNvPr id="56" name="Rectangle 55"/>
          <p:cNvSpPr/>
          <p:nvPr/>
        </p:nvSpPr>
        <p:spPr>
          <a:xfrm>
            <a:off x="347472" y="6565392"/>
            <a:ext cx="1051560"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2336" y="6656832"/>
            <a:ext cx="941831" cy="384048"/>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Flap</a:t>
            </a:r>
          </a:p>
        </p:txBody>
      </p:sp>
      <p:sp>
        <p:nvSpPr>
          <p:cNvPr id="58" name="Rectangle 57"/>
          <p:cNvSpPr/>
          <p:nvPr/>
        </p:nvSpPr>
        <p:spPr>
          <a:xfrm>
            <a:off x="1399031" y="6565392"/>
            <a:ext cx="1664208"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453895" y="6656832"/>
            <a:ext cx="1554480"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20–30% of wing chord</a:t>
            </a:r>
          </a:p>
        </p:txBody>
      </p:sp>
      <p:sp>
        <p:nvSpPr>
          <p:cNvPr id="60" name="Rectangle 59"/>
          <p:cNvSpPr/>
          <p:nvPr/>
        </p:nvSpPr>
        <p:spPr>
          <a:xfrm>
            <a:off x="3063239" y="6565392"/>
            <a:ext cx="2651760"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118103" y="6656832"/>
            <a:ext cx="2542032"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Inner 40–60% of each half-wing</a:t>
            </a:r>
          </a:p>
        </p:txBody>
      </p:sp>
      <p:sp>
        <p:nvSpPr>
          <p:cNvPr id="62" name="Rectangle 61"/>
          <p:cNvSpPr/>
          <p:nvPr/>
        </p:nvSpPr>
        <p:spPr>
          <a:xfrm>
            <a:off x="5715000" y="6565392"/>
            <a:ext cx="1709928" cy="59436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769864" y="6656832"/>
            <a:ext cx="1600200" cy="384048"/>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Lift/drag</a:t>
            </a:r>
          </a:p>
        </p:txBody>
      </p:sp>
      <p:sp>
        <p:nvSpPr>
          <p:cNvPr id="64" name="Rounded Rectangle 63"/>
          <p:cNvSpPr/>
          <p:nvPr/>
        </p:nvSpPr>
        <p:spPr>
          <a:xfrm>
            <a:off x="347472" y="7424927"/>
            <a:ext cx="7077456" cy="804672"/>
          </a:xfrm>
          <a:prstGeom prst="roundRect">
            <a:avLst>
              <a:gd name="adj" fmla="val 8000"/>
            </a:avLst>
          </a:prstGeom>
          <a:solidFill>
            <a:srgbClr val="FFF3E9"/>
          </a:solidFill>
          <a:ln w="10160">
            <a:solidFill>
              <a:srgbClr val="E070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57200" y="7680959"/>
            <a:ext cx="292608" cy="292608"/>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7200" y="7735823"/>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67" name="TextBox 66"/>
          <p:cNvSpPr txBox="1"/>
          <p:nvPr/>
        </p:nvSpPr>
        <p:spPr>
          <a:xfrm>
            <a:off x="832104" y="7516367"/>
            <a:ext cx="6464808" cy="640080"/>
          </a:xfrm>
          <a:prstGeom prst="rect">
            <a:avLst/>
          </a:prstGeom>
          <a:noFill/>
        </p:spPr>
        <p:txBody>
          <a:bodyPr wrap="square" lIns="0" rIns="0" tIns="0" bIns="0" anchor="ctr">
            <a:spAutoFit/>
          </a:bodyPr>
          <a:lstStyle/>
          <a:p>
            <a:pPr algn="l">
              <a:lnSpc>
                <a:spcPct val="100000"/>
              </a:lnSpc>
            </a:pPr>
            <a:r>
              <a:rPr sz="919" b="0" i="0">
                <a:solidFill>
                  <a:srgbClr val="20263A"/>
                </a:solidFill>
                <a:latin typeface="Arial"/>
              </a:rPr>
              <a:t>These are conventional-trainer starting points, not laws. A fast model needs less deflection; a slow 3D model may use much larger surfaces.</a:t>
            </a:r>
          </a:p>
        </p:txBody>
      </p:sp>
      <p:sp>
        <p:nvSpPr>
          <p:cNvPr id="68" name="TextBox 67"/>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9</a:t>
            </a:r>
          </a:p>
        </p:txBody>
      </p:sp>
      <p:sp>
        <p:nvSpPr>
          <p:cNvPr id="9" name="Freeform 8"/>
          <p:cNvSpPr/>
          <p:nvPr/>
        </p:nvSpPr>
        <p:spPr>
          <a:xfrm>
            <a:off x="3794760" y="1481328"/>
            <a:ext cx="182879" cy="2340863"/>
          </a:xfrm>
          <a:custGeom>
            <a:avLst/>
            <a:gdLst/>
            <a:ahLst/>
            <a:cxnLst/>
            <a:rect l="l" t="t" r="r" b="b"/>
            <a:pathLst>
              <a:path w="182879" h="2340863">
                <a:moveTo>
                  <a:pt x="27431" y="109728"/>
                </a:moveTo>
                <a:lnTo>
                  <a:pt x="91440" y="0"/>
                </a:lnTo>
                <a:lnTo>
                  <a:pt x="155448" y="109728"/>
                </a:lnTo>
                <a:lnTo>
                  <a:pt x="182879" y="2340863"/>
                </a:lnTo>
                <a:lnTo>
                  <a:pt x="0" y="2340863"/>
                </a:lnTo>
                <a:close/>
              </a:path>
            </a:pathLst>
          </a:custGeom>
          <a:solidFill>
            <a:srgbClr val="F7F9FC"/>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3383280" y="1481328"/>
            <a:ext cx="1005840" cy="0"/>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325880" y="1847088"/>
            <a:ext cx="5120640" cy="731520"/>
          </a:xfrm>
          <a:prstGeom prst="rect">
            <a:avLst/>
          </a:prstGeom>
          <a:solidFill>
            <a:srgbClr val="EDF4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325880" y="2439619"/>
            <a:ext cx="1177747" cy="138989"/>
          </a:xfrm>
          <a:custGeom>
            <a:avLst/>
            <a:gdLst/>
            <a:ahLst/>
            <a:cxnLst/>
            <a:rect l="l" t="t" r="r" b="b"/>
            <a:pathLst>
              <a:path w="1177747" h="138989">
                <a:moveTo>
                  <a:pt x="0" y="0"/>
                </a:moveTo>
                <a:lnTo>
                  <a:pt x="1177747" y="0"/>
                </a:lnTo>
                <a:lnTo>
                  <a:pt x="1177747" y="138989"/>
                </a:lnTo>
                <a:lnTo>
                  <a:pt x="0" y="138989"/>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5268772" y="2439619"/>
            <a:ext cx="1177748" cy="138989"/>
          </a:xfrm>
          <a:custGeom>
            <a:avLst/>
            <a:gdLst/>
            <a:ahLst/>
            <a:cxnLst/>
            <a:rect l="l" t="t" r="r" b="b"/>
            <a:pathLst>
              <a:path w="1177748" h="138989">
                <a:moveTo>
                  <a:pt x="0" y="0"/>
                </a:moveTo>
                <a:lnTo>
                  <a:pt x="1177748" y="0"/>
                </a:lnTo>
                <a:lnTo>
                  <a:pt x="1177748" y="138989"/>
                </a:lnTo>
                <a:lnTo>
                  <a:pt x="0" y="138989"/>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994660" y="3401568"/>
            <a:ext cx="1783080" cy="420624"/>
          </a:xfrm>
          <a:prstGeom prst="rect">
            <a:avLst/>
          </a:pr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994660" y="3687592"/>
            <a:ext cx="1783080" cy="134599"/>
          </a:xfrm>
          <a:prstGeom prst="rect">
            <a:avLst/>
          </a:prstGeom>
          <a:solidFill>
            <a:srgbClr val="DDE4F4"/>
          </a:solidFill>
          <a:ln w="15875">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845052" y="2784348"/>
            <a:ext cx="82296" cy="601949"/>
          </a:xfrm>
          <a:custGeom>
            <a:avLst/>
            <a:gdLst/>
            <a:ahLst/>
            <a:cxnLst/>
            <a:rect l="l" t="t" r="r" b="b"/>
            <a:pathLst>
              <a:path w="82296" h="601949">
                <a:moveTo>
                  <a:pt x="22860" y="0"/>
                </a:moveTo>
                <a:lnTo>
                  <a:pt x="59435" y="0"/>
                </a:lnTo>
                <a:lnTo>
                  <a:pt x="82296" y="601949"/>
                </a:lnTo>
                <a:lnTo>
                  <a:pt x="0" y="601949"/>
                </a:lnTo>
                <a:close/>
              </a:path>
            </a:pathLst>
          </a:custGeom>
          <a:solidFill>
            <a:srgbClr val="ECF7F0"/>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3831336" y="3386297"/>
            <a:ext cx="109727" cy="454182"/>
          </a:xfrm>
          <a:custGeom>
            <a:avLst/>
            <a:gdLst/>
            <a:ahLst/>
            <a:cxnLst/>
            <a:rect l="l" t="t" r="r" b="b"/>
            <a:pathLst>
              <a:path w="109727" h="454182">
                <a:moveTo>
                  <a:pt x="13716" y="0"/>
                </a:moveTo>
                <a:lnTo>
                  <a:pt x="96012" y="0"/>
                </a:lnTo>
                <a:lnTo>
                  <a:pt x="109727" y="454182"/>
                </a:lnTo>
                <a:lnTo>
                  <a:pt x="0" y="454182"/>
                </a:lnTo>
                <a:close/>
              </a:path>
            </a:pathLst>
          </a:custGeom>
          <a:solidFill>
            <a:srgbClr val="B7E0C6"/>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1691640" y="1627632"/>
            <a:ext cx="365760" cy="768096"/>
          </a:xfrm>
          <a:prstGeom prst="line">
            <a:avLst/>
          </a:prstGeom>
          <a:ln w="12700">
            <a:solidFill>
              <a:srgbClr val="E0702B"/>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4526280" y="2944368"/>
            <a:ext cx="649224" cy="658368"/>
          </a:xfrm>
          <a:prstGeom prst="line">
            <a:avLst/>
          </a:prstGeom>
          <a:ln w="12700">
            <a:solidFill>
              <a:srgbClr val="246BCE"/>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3968496" y="3657600"/>
            <a:ext cx="1207008" cy="73152"/>
          </a:xfrm>
          <a:prstGeom prst="line">
            <a:avLst/>
          </a:prstGeom>
          <a:ln w="12700">
            <a:solidFill>
              <a:srgbClr val="2F8F5B"/>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E0702B"/>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Control throw, rates, expo, and differential</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Start modestly. Excess control is harder to manage than slightly too little control.</a:t>
            </a:r>
          </a:p>
        </p:txBody>
      </p:sp>
      <p:sp>
        <p:nvSpPr>
          <p:cNvPr id="8" name="Rectangle 7"/>
          <p:cNvSpPr/>
          <p:nvPr/>
        </p:nvSpPr>
        <p:spPr>
          <a:xfrm>
            <a:off x="347472" y="1234440"/>
            <a:ext cx="1417320" cy="603504"/>
          </a:xfrm>
          <a:prstGeom prst="rect">
            <a:avLst/>
          </a:prstGeom>
          <a:solidFill>
            <a:srgbClr val="111A4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307592"/>
            <a:ext cx="1307592" cy="493776"/>
          </a:xfrm>
          <a:prstGeom prst="rect">
            <a:avLst/>
          </a:prstGeom>
          <a:noFill/>
        </p:spPr>
        <p:txBody>
          <a:bodyPr wrap="square" lIns="0" rIns="0" tIns="0" bIns="0" anchor="ctr">
            <a:spAutoFit/>
          </a:bodyPr>
          <a:lstStyle/>
          <a:p>
            <a:pPr algn="l">
              <a:lnSpc>
                <a:spcPct val="100000"/>
              </a:lnSpc>
            </a:pPr>
            <a:r>
              <a:rPr sz="880" b="1" i="0">
                <a:solidFill>
                  <a:srgbClr val="FFFFFF"/>
                </a:solidFill>
                <a:latin typeface="Arial"/>
              </a:rPr>
              <a:t>SETTING</a:t>
            </a:r>
          </a:p>
        </p:txBody>
      </p:sp>
      <p:sp>
        <p:nvSpPr>
          <p:cNvPr id="10" name="Rectangle 9"/>
          <p:cNvSpPr/>
          <p:nvPr/>
        </p:nvSpPr>
        <p:spPr>
          <a:xfrm>
            <a:off x="1764792" y="1234440"/>
            <a:ext cx="1463040" cy="603504"/>
          </a:xfrm>
          <a:prstGeom prst="rect">
            <a:avLst/>
          </a:prstGeom>
          <a:solidFill>
            <a:srgbClr val="111A4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19656" y="1307592"/>
            <a:ext cx="1353312" cy="493776"/>
          </a:xfrm>
          <a:prstGeom prst="rect">
            <a:avLst/>
          </a:prstGeom>
          <a:noFill/>
        </p:spPr>
        <p:txBody>
          <a:bodyPr wrap="square" lIns="0" rIns="0" tIns="0" bIns="0" anchor="ctr">
            <a:spAutoFit/>
          </a:bodyPr>
          <a:lstStyle/>
          <a:p>
            <a:pPr algn="l">
              <a:lnSpc>
                <a:spcPct val="100000"/>
              </a:lnSpc>
            </a:pPr>
            <a:r>
              <a:rPr sz="880" b="1" i="0">
                <a:solidFill>
                  <a:srgbClr val="FFFFFF"/>
                </a:solidFill>
                <a:latin typeface="Arial"/>
              </a:rPr>
              <a:t>TRAINER START</a:t>
            </a:r>
          </a:p>
        </p:txBody>
      </p:sp>
      <p:sp>
        <p:nvSpPr>
          <p:cNvPr id="12" name="Rectangle 11"/>
          <p:cNvSpPr/>
          <p:nvPr/>
        </p:nvSpPr>
        <p:spPr>
          <a:xfrm>
            <a:off x="3227832" y="1234440"/>
            <a:ext cx="2103120" cy="603504"/>
          </a:xfrm>
          <a:prstGeom prst="rect">
            <a:avLst/>
          </a:prstGeom>
          <a:solidFill>
            <a:srgbClr val="111A4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82696" y="1307592"/>
            <a:ext cx="1993391" cy="493776"/>
          </a:xfrm>
          <a:prstGeom prst="rect">
            <a:avLst/>
          </a:prstGeom>
          <a:noFill/>
        </p:spPr>
        <p:txBody>
          <a:bodyPr wrap="square" lIns="0" rIns="0" tIns="0" bIns="0" anchor="ctr">
            <a:spAutoFit/>
          </a:bodyPr>
          <a:lstStyle/>
          <a:p>
            <a:pPr algn="l">
              <a:lnSpc>
                <a:spcPct val="100000"/>
              </a:lnSpc>
            </a:pPr>
            <a:r>
              <a:rPr sz="880" b="1" i="0">
                <a:solidFill>
                  <a:srgbClr val="FFFFFF"/>
                </a:solidFill>
                <a:latin typeface="Arial"/>
              </a:rPr>
              <a:t>WHAT IT CHANGES</a:t>
            </a:r>
          </a:p>
        </p:txBody>
      </p:sp>
      <p:sp>
        <p:nvSpPr>
          <p:cNvPr id="14" name="Rectangle 13"/>
          <p:cNvSpPr/>
          <p:nvPr/>
        </p:nvSpPr>
        <p:spPr>
          <a:xfrm>
            <a:off x="5330952" y="1234440"/>
            <a:ext cx="2093976" cy="603504"/>
          </a:xfrm>
          <a:prstGeom prst="rect">
            <a:avLst/>
          </a:prstGeom>
          <a:solidFill>
            <a:srgbClr val="111A4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85816" y="1307592"/>
            <a:ext cx="1984248" cy="493776"/>
          </a:xfrm>
          <a:prstGeom prst="rect">
            <a:avLst/>
          </a:prstGeom>
          <a:noFill/>
        </p:spPr>
        <p:txBody>
          <a:bodyPr wrap="square" lIns="0" rIns="0" tIns="0" bIns="0" anchor="ctr">
            <a:spAutoFit/>
          </a:bodyPr>
          <a:lstStyle/>
          <a:p>
            <a:pPr algn="l">
              <a:lnSpc>
                <a:spcPct val="100000"/>
              </a:lnSpc>
            </a:pPr>
            <a:r>
              <a:rPr sz="880" b="1" i="0">
                <a:solidFill>
                  <a:srgbClr val="FFFFFF"/>
                </a:solidFill>
                <a:latin typeface="Arial"/>
              </a:rPr>
              <a:t>COMMON MISTAKE</a:t>
            </a:r>
          </a:p>
        </p:txBody>
      </p:sp>
      <p:sp>
        <p:nvSpPr>
          <p:cNvPr id="16" name="Rectangle 15"/>
          <p:cNvSpPr/>
          <p:nvPr/>
        </p:nvSpPr>
        <p:spPr>
          <a:xfrm>
            <a:off x="347472" y="1837944"/>
            <a:ext cx="141732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1883664"/>
            <a:ext cx="1307592" cy="530352"/>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Aileron throw</a:t>
            </a:r>
          </a:p>
        </p:txBody>
      </p:sp>
      <p:sp>
        <p:nvSpPr>
          <p:cNvPr id="18" name="Rectangle 17"/>
          <p:cNvSpPr/>
          <p:nvPr/>
        </p:nvSpPr>
        <p:spPr>
          <a:xfrm>
            <a:off x="1764792" y="1837944"/>
            <a:ext cx="146304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19656" y="1883664"/>
            <a:ext cx="1353312"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10–15° each way</a:t>
            </a:r>
          </a:p>
        </p:txBody>
      </p:sp>
      <p:sp>
        <p:nvSpPr>
          <p:cNvPr id="20" name="Rectangle 19"/>
          <p:cNvSpPr/>
          <p:nvPr/>
        </p:nvSpPr>
        <p:spPr>
          <a:xfrm>
            <a:off x="3227832" y="1837944"/>
            <a:ext cx="210312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82696" y="1883664"/>
            <a:ext cx="1993391"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Roll rate</a:t>
            </a:r>
          </a:p>
        </p:txBody>
      </p:sp>
      <p:sp>
        <p:nvSpPr>
          <p:cNvPr id="22" name="Rectangle 21"/>
          <p:cNvSpPr/>
          <p:nvPr/>
        </p:nvSpPr>
        <p:spPr>
          <a:xfrm>
            <a:off x="5330952" y="1837944"/>
            <a:ext cx="2093976"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85816" y="1883664"/>
            <a:ext cx="1984248"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Huge travel causes snap-like response</a:t>
            </a:r>
          </a:p>
        </p:txBody>
      </p:sp>
      <p:sp>
        <p:nvSpPr>
          <p:cNvPr id="24" name="Rectangle 23"/>
          <p:cNvSpPr/>
          <p:nvPr/>
        </p:nvSpPr>
        <p:spPr>
          <a:xfrm>
            <a:off x="347472" y="2441448"/>
            <a:ext cx="1417320"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2336" y="2487168"/>
            <a:ext cx="1307592" cy="530352"/>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Elevator throw</a:t>
            </a:r>
          </a:p>
        </p:txBody>
      </p:sp>
      <p:sp>
        <p:nvSpPr>
          <p:cNvPr id="26" name="Rectangle 25"/>
          <p:cNvSpPr/>
          <p:nvPr/>
        </p:nvSpPr>
        <p:spPr>
          <a:xfrm>
            <a:off x="1764792" y="2441448"/>
            <a:ext cx="1463040"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19656" y="2487168"/>
            <a:ext cx="1353312"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10–15° each way</a:t>
            </a:r>
          </a:p>
        </p:txBody>
      </p:sp>
      <p:sp>
        <p:nvSpPr>
          <p:cNvPr id="28" name="Rectangle 27"/>
          <p:cNvSpPr/>
          <p:nvPr/>
        </p:nvSpPr>
        <p:spPr>
          <a:xfrm>
            <a:off x="3227832" y="2441448"/>
            <a:ext cx="2103120"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82696" y="2487168"/>
            <a:ext cx="1993391"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Pitch rate / flare</a:t>
            </a:r>
          </a:p>
        </p:txBody>
      </p:sp>
      <p:sp>
        <p:nvSpPr>
          <p:cNvPr id="30" name="Rectangle 29"/>
          <p:cNvSpPr/>
          <p:nvPr/>
        </p:nvSpPr>
        <p:spPr>
          <a:xfrm>
            <a:off x="5330952" y="2441448"/>
            <a:ext cx="2093976"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85816" y="2487168"/>
            <a:ext cx="1984248"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Too much makes CG problems feel worse</a:t>
            </a:r>
          </a:p>
        </p:txBody>
      </p:sp>
      <p:sp>
        <p:nvSpPr>
          <p:cNvPr id="32" name="Rectangle 31"/>
          <p:cNvSpPr/>
          <p:nvPr/>
        </p:nvSpPr>
        <p:spPr>
          <a:xfrm>
            <a:off x="347472" y="3044952"/>
            <a:ext cx="141732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2336" y="3090672"/>
            <a:ext cx="1307592" cy="530352"/>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Rudder throw</a:t>
            </a:r>
          </a:p>
        </p:txBody>
      </p:sp>
      <p:sp>
        <p:nvSpPr>
          <p:cNvPr id="34" name="Rectangle 33"/>
          <p:cNvSpPr/>
          <p:nvPr/>
        </p:nvSpPr>
        <p:spPr>
          <a:xfrm>
            <a:off x="1764792" y="3044952"/>
            <a:ext cx="146304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19656" y="3090672"/>
            <a:ext cx="1353312"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20–25° each way</a:t>
            </a:r>
          </a:p>
        </p:txBody>
      </p:sp>
      <p:sp>
        <p:nvSpPr>
          <p:cNvPr id="36" name="Rectangle 35"/>
          <p:cNvSpPr/>
          <p:nvPr/>
        </p:nvSpPr>
        <p:spPr>
          <a:xfrm>
            <a:off x="3227832" y="3044952"/>
            <a:ext cx="210312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82696" y="3090672"/>
            <a:ext cx="1993391"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Yaw / ground steering</a:t>
            </a:r>
          </a:p>
        </p:txBody>
      </p:sp>
      <p:sp>
        <p:nvSpPr>
          <p:cNvPr id="38" name="Rectangle 37"/>
          <p:cNvSpPr/>
          <p:nvPr/>
        </p:nvSpPr>
        <p:spPr>
          <a:xfrm>
            <a:off x="5330952" y="3044952"/>
            <a:ext cx="2093976"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85816" y="3090672"/>
            <a:ext cx="1984248"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Binding at full travel</a:t>
            </a:r>
          </a:p>
        </p:txBody>
      </p:sp>
      <p:sp>
        <p:nvSpPr>
          <p:cNvPr id="40" name="Rectangle 39"/>
          <p:cNvSpPr/>
          <p:nvPr/>
        </p:nvSpPr>
        <p:spPr>
          <a:xfrm>
            <a:off x="347472" y="3648456"/>
            <a:ext cx="1417320"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3694176"/>
            <a:ext cx="1307592" cy="530352"/>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Flap throw</a:t>
            </a:r>
          </a:p>
        </p:txBody>
      </p:sp>
      <p:sp>
        <p:nvSpPr>
          <p:cNvPr id="42" name="Rectangle 41"/>
          <p:cNvSpPr/>
          <p:nvPr/>
        </p:nvSpPr>
        <p:spPr>
          <a:xfrm>
            <a:off x="1764792" y="3648456"/>
            <a:ext cx="1463040"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19656" y="3694176"/>
            <a:ext cx="1353312"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15–25° takeoff; 30–45° landing</a:t>
            </a:r>
          </a:p>
        </p:txBody>
      </p:sp>
      <p:sp>
        <p:nvSpPr>
          <p:cNvPr id="44" name="Rectangle 43"/>
          <p:cNvSpPr/>
          <p:nvPr/>
        </p:nvSpPr>
        <p:spPr>
          <a:xfrm>
            <a:off x="3227832" y="3648456"/>
            <a:ext cx="2103120"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82696" y="3694176"/>
            <a:ext cx="1993391"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Lift and drag</a:t>
            </a:r>
          </a:p>
        </p:txBody>
      </p:sp>
      <p:sp>
        <p:nvSpPr>
          <p:cNvPr id="46" name="Rectangle 45"/>
          <p:cNvSpPr/>
          <p:nvPr/>
        </p:nvSpPr>
        <p:spPr>
          <a:xfrm>
            <a:off x="5330952" y="3648456"/>
            <a:ext cx="2093976"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85816" y="3694176"/>
            <a:ext cx="1984248"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Deploying too fast without elevator mix</a:t>
            </a:r>
          </a:p>
        </p:txBody>
      </p:sp>
      <p:sp>
        <p:nvSpPr>
          <p:cNvPr id="48" name="Rectangle 47"/>
          <p:cNvSpPr/>
          <p:nvPr/>
        </p:nvSpPr>
        <p:spPr>
          <a:xfrm>
            <a:off x="347472" y="4251960"/>
            <a:ext cx="141732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4297680"/>
            <a:ext cx="1307592" cy="530352"/>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Dual rates</a:t>
            </a:r>
          </a:p>
        </p:txBody>
      </p:sp>
      <p:sp>
        <p:nvSpPr>
          <p:cNvPr id="50" name="Rectangle 49"/>
          <p:cNvSpPr/>
          <p:nvPr/>
        </p:nvSpPr>
        <p:spPr>
          <a:xfrm>
            <a:off x="1764792" y="4251960"/>
            <a:ext cx="146304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819656" y="4297680"/>
            <a:ext cx="1353312"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Low for maiden; high available</a:t>
            </a:r>
          </a:p>
        </p:txBody>
      </p:sp>
      <p:sp>
        <p:nvSpPr>
          <p:cNvPr id="52" name="Rectangle 51"/>
          <p:cNvSpPr/>
          <p:nvPr/>
        </p:nvSpPr>
        <p:spPr>
          <a:xfrm>
            <a:off x="3227832" y="4251960"/>
            <a:ext cx="210312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82696" y="4297680"/>
            <a:ext cx="1993391"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Maximum travel</a:t>
            </a:r>
          </a:p>
        </p:txBody>
      </p:sp>
      <p:sp>
        <p:nvSpPr>
          <p:cNvPr id="54" name="Rectangle 53"/>
          <p:cNvSpPr/>
          <p:nvPr/>
        </p:nvSpPr>
        <p:spPr>
          <a:xfrm>
            <a:off x="5330952" y="4251960"/>
            <a:ext cx="2093976"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85816" y="4297680"/>
            <a:ext cx="1984248"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Maiden on high rates accidentally</a:t>
            </a:r>
          </a:p>
        </p:txBody>
      </p:sp>
      <p:sp>
        <p:nvSpPr>
          <p:cNvPr id="56" name="Rectangle 55"/>
          <p:cNvSpPr/>
          <p:nvPr/>
        </p:nvSpPr>
        <p:spPr>
          <a:xfrm>
            <a:off x="347472" y="4855464"/>
            <a:ext cx="1417320"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2336" y="4901184"/>
            <a:ext cx="1307592" cy="530352"/>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Expo</a:t>
            </a:r>
          </a:p>
        </p:txBody>
      </p:sp>
      <p:sp>
        <p:nvSpPr>
          <p:cNvPr id="58" name="Rectangle 57"/>
          <p:cNvSpPr/>
          <p:nvPr/>
        </p:nvSpPr>
        <p:spPr>
          <a:xfrm>
            <a:off x="1764792" y="4855464"/>
            <a:ext cx="1463040"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819656" y="4901184"/>
            <a:ext cx="1353312"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About 15–30% as a start</a:t>
            </a:r>
          </a:p>
        </p:txBody>
      </p:sp>
      <p:sp>
        <p:nvSpPr>
          <p:cNvPr id="60" name="Rectangle 59"/>
          <p:cNvSpPr/>
          <p:nvPr/>
        </p:nvSpPr>
        <p:spPr>
          <a:xfrm>
            <a:off x="3227832" y="4855464"/>
            <a:ext cx="2103120"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82696" y="4901184"/>
            <a:ext cx="1993391"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Softness near center</a:t>
            </a:r>
          </a:p>
        </p:txBody>
      </p:sp>
      <p:sp>
        <p:nvSpPr>
          <p:cNvPr id="62" name="Rectangle 61"/>
          <p:cNvSpPr/>
          <p:nvPr/>
        </p:nvSpPr>
        <p:spPr>
          <a:xfrm>
            <a:off x="5330952" y="4855464"/>
            <a:ext cx="2093976" cy="603504"/>
          </a:xfrm>
          <a:prstGeom prst="rect">
            <a:avLst/>
          </a:prstGeom>
          <a:solidFill>
            <a:srgbClr val="F7F9FC"/>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385816" y="4901184"/>
            <a:ext cx="1984248"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Using expo to hide linkage slop</a:t>
            </a:r>
          </a:p>
        </p:txBody>
      </p:sp>
      <p:sp>
        <p:nvSpPr>
          <p:cNvPr id="64" name="Rectangle 63"/>
          <p:cNvSpPr/>
          <p:nvPr/>
        </p:nvSpPr>
        <p:spPr>
          <a:xfrm>
            <a:off x="347472" y="5458968"/>
            <a:ext cx="141732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02336" y="5504688"/>
            <a:ext cx="1307592" cy="530352"/>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Aileron differential</a:t>
            </a:r>
          </a:p>
        </p:txBody>
      </p:sp>
      <p:sp>
        <p:nvSpPr>
          <p:cNvPr id="66" name="Rectangle 65"/>
          <p:cNvSpPr/>
          <p:nvPr/>
        </p:nvSpPr>
        <p:spPr>
          <a:xfrm>
            <a:off x="1764792" y="5458968"/>
            <a:ext cx="146304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819656" y="5504688"/>
            <a:ext cx="1353312"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1.5:1 to 2:1 up/down</a:t>
            </a:r>
          </a:p>
        </p:txBody>
      </p:sp>
      <p:sp>
        <p:nvSpPr>
          <p:cNvPr id="68" name="Rectangle 67"/>
          <p:cNvSpPr/>
          <p:nvPr/>
        </p:nvSpPr>
        <p:spPr>
          <a:xfrm>
            <a:off x="3227832" y="5458968"/>
            <a:ext cx="2103120"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82696" y="5504688"/>
            <a:ext cx="1993391"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Reduces adverse yaw</a:t>
            </a:r>
          </a:p>
        </p:txBody>
      </p:sp>
      <p:sp>
        <p:nvSpPr>
          <p:cNvPr id="70" name="Rectangle 69"/>
          <p:cNvSpPr/>
          <p:nvPr/>
        </p:nvSpPr>
        <p:spPr>
          <a:xfrm>
            <a:off x="5330952" y="5458968"/>
            <a:ext cx="2093976" cy="603504"/>
          </a:xfrm>
          <a:prstGeom prst="rect">
            <a:avLst/>
          </a:prstGeom>
          <a:solidFill>
            <a:srgbClr val="FFFFFF"/>
          </a:solidFill>
          <a:ln w="6985">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385816" y="5504688"/>
            <a:ext cx="1984248" cy="53035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Equal travel on draggy wings</a:t>
            </a:r>
          </a:p>
        </p:txBody>
      </p:sp>
      <p:sp>
        <p:nvSpPr>
          <p:cNvPr id="72" name="Rounded Rectangle 71"/>
          <p:cNvSpPr/>
          <p:nvPr/>
        </p:nvSpPr>
        <p:spPr>
          <a:xfrm>
            <a:off x="347472" y="6245352"/>
            <a:ext cx="7077456" cy="621792"/>
          </a:xfrm>
          <a:prstGeom prst="roundRect">
            <a:avLst>
              <a:gd name="adj" fmla="val 8000"/>
            </a:avLst>
          </a:prstGeom>
          <a:solidFill>
            <a:srgbClr val="EDF4FF"/>
          </a:solidFill>
          <a:ln w="10160">
            <a:solidFill>
              <a:srgbClr val="E070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457200" y="6409944"/>
            <a:ext cx="292608" cy="292608"/>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7200" y="6464808"/>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75" name="TextBox 74"/>
          <p:cNvSpPr txBox="1"/>
          <p:nvPr/>
        </p:nvSpPr>
        <p:spPr>
          <a:xfrm>
            <a:off x="832104" y="6336792"/>
            <a:ext cx="6464808" cy="457200"/>
          </a:xfrm>
          <a:prstGeom prst="rect">
            <a:avLst/>
          </a:prstGeom>
          <a:noFill/>
        </p:spPr>
        <p:txBody>
          <a:bodyPr wrap="square" lIns="0" rIns="0" tIns="0" bIns="0" anchor="ctr">
            <a:spAutoFit/>
          </a:bodyPr>
          <a:lstStyle/>
          <a:p>
            <a:pPr algn="l">
              <a:lnSpc>
                <a:spcPct val="100000"/>
              </a:lnSpc>
            </a:pPr>
            <a:r>
              <a:rPr sz="880" b="0" i="0">
                <a:solidFill>
                  <a:srgbClr val="20263A"/>
                </a:solidFill>
                <a:latin typeface="Arial"/>
              </a:rPr>
              <a:t>Measure throws at the widest part of the surface. Confirm the radio’s expo sign: different brands define positive and negative differently.</a:t>
            </a:r>
          </a:p>
        </p:txBody>
      </p:sp>
      <p:sp>
        <p:nvSpPr>
          <p:cNvPr id="76" name="TextBox 75"/>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A23DB6"/>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Servo and linkage geometry</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A rigid, slop-free linkage makes a modest servo work better than a powerful servo connected badly.</a:t>
            </a:r>
          </a:p>
        </p:txBody>
      </p:sp>
      <p:sp>
        <p:nvSpPr>
          <p:cNvPr id="8" name="Rounded Rectangle 7"/>
          <p:cNvSpPr/>
          <p:nvPr/>
        </p:nvSpPr>
        <p:spPr>
          <a:xfrm>
            <a:off x="347472" y="1188720"/>
            <a:ext cx="7077456" cy="306324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23544" y="2265426"/>
            <a:ext cx="1645920" cy="848105"/>
          </a:xfrm>
          <a:prstGeom prst="roundRect">
            <a:avLst>
              <a:gd name="adj" fmla="val 8000"/>
            </a:avLst>
          </a:prstGeom>
          <a:solidFill>
            <a:srgbClr val="EDF4FF"/>
          </a:solidFill>
          <a:ln w="1016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581912" y="2435047"/>
            <a:ext cx="395020" cy="395020"/>
          </a:xfrm>
          <a:prstGeom prst="ellipse">
            <a:avLst/>
          </a:prstGeom>
          <a:solidFill>
            <a:srgbClr val="FFFFFF"/>
          </a:solidFill>
          <a:ln w="1016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9380" y="2822752"/>
            <a:ext cx="1514246" cy="290779"/>
          </a:xfrm>
          <a:prstGeom prst="rect">
            <a:avLst/>
          </a:prstGeom>
          <a:noFill/>
        </p:spPr>
        <p:txBody>
          <a:bodyPr wrap="square" lIns="0" rIns="0" tIns="0" bIns="0" anchor="t">
            <a:spAutoFit/>
          </a:bodyPr>
          <a:lstStyle/>
          <a:p>
            <a:pPr algn="ctr">
              <a:lnSpc>
                <a:spcPct val="100000"/>
              </a:lnSpc>
            </a:pPr>
            <a:r>
              <a:rPr sz="800" b="1" i="0">
                <a:solidFill>
                  <a:srgbClr val="246BCE"/>
                </a:solidFill>
                <a:latin typeface="Arial"/>
              </a:rPr>
              <a:t>SERVO</a:t>
            </a:r>
          </a:p>
        </p:txBody>
      </p:sp>
      <p:cxnSp>
        <p:nvCxnSpPr>
          <p:cNvPr id="12" name="Connector 11"/>
          <p:cNvCxnSpPr/>
          <p:nvPr/>
        </p:nvCxnSpPr>
        <p:spPr>
          <a:xfrm flipV="1">
            <a:off x="1779422" y="1901952"/>
            <a:ext cx="0" cy="605789"/>
          </a:xfrm>
          <a:prstGeom prst="line">
            <a:avLst/>
          </a:prstGeom>
          <a:ln w="25400">
            <a:solidFill>
              <a:srgbClr val="20263A"/>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700418" y="1853488"/>
            <a:ext cx="158008" cy="158008"/>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779422" y="1877720"/>
            <a:ext cx="3555187" cy="218084"/>
          </a:xfrm>
          <a:prstGeom prst="line">
            <a:avLst/>
          </a:prstGeom>
          <a:ln w="26670">
            <a:solidFill>
              <a:srgbClr val="E0702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071262" y="1659636"/>
            <a:ext cx="0" cy="1696212"/>
          </a:xfrm>
          <a:prstGeom prst="line">
            <a:avLst/>
          </a:prstGeom>
          <a:ln w="20320">
            <a:solidFill>
              <a:srgbClr val="20263A"/>
            </a:solidFill>
          </a:ln>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5071262" y="1659636"/>
            <a:ext cx="1711757" cy="1599285"/>
          </a:xfrm>
          <a:custGeom>
            <a:avLst/>
            <a:gdLst/>
            <a:ahLst/>
            <a:cxnLst/>
            <a:rect l="l" t="t" r="r" b="b"/>
            <a:pathLst>
              <a:path w="1711757" h="1599285">
                <a:moveTo>
                  <a:pt x="0" y="193852"/>
                </a:moveTo>
                <a:lnTo>
                  <a:pt x="1711757" y="0"/>
                </a:lnTo>
                <a:lnTo>
                  <a:pt x="1711757" y="1599285"/>
                </a:lnTo>
                <a:lnTo>
                  <a:pt x="0" y="1356969"/>
                </a:lnTo>
                <a:close/>
              </a:path>
            </a:pathLst>
          </a:custGeom>
          <a:solidFill>
            <a:srgbClr val="EAF7F6"/>
          </a:solidFill>
          <a:ln w="12700">
            <a:solidFill>
              <a:srgbClr val="13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5334609" y="2095804"/>
            <a:ext cx="0" cy="630022"/>
          </a:xfrm>
          <a:prstGeom prst="line">
            <a:avLst/>
          </a:prstGeom>
          <a:ln w="22860">
            <a:solidFill>
              <a:srgbClr val="20263A"/>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255605" y="2064303"/>
            <a:ext cx="158008" cy="158008"/>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83710" y="3404311"/>
            <a:ext cx="2633472" cy="315010"/>
          </a:xfrm>
          <a:prstGeom prst="rect">
            <a:avLst/>
          </a:prstGeom>
          <a:noFill/>
        </p:spPr>
        <p:txBody>
          <a:bodyPr wrap="square" lIns="0" rIns="0" tIns="0" bIns="0" anchor="t">
            <a:spAutoFit/>
          </a:bodyPr>
          <a:lstStyle/>
          <a:p>
            <a:pPr algn="ctr">
              <a:lnSpc>
                <a:spcPct val="100000"/>
              </a:lnSpc>
            </a:pPr>
            <a:r>
              <a:rPr sz="750" b="0" i="0">
                <a:solidFill>
                  <a:srgbClr val="5F687D"/>
                </a:solidFill>
                <a:latin typeface="Arial"/>
              </a:rPr>
              <a:t>control horn near hinge line</a:t>
            </a:r>
          </a:p>
        </p:txBody>
      </p:sp>
      <p:sp>
        <p:nvSpPr>
          <p:cNvPr id="20" name="TextBox 19"/>
          <p:cNvSpPr txBox="1"/>
          <p:nvPr/>
        </p:nvSpPr>
        <p:spPr>
          <a:xfrm>
            <a:off x="791870" y="1538478"/>
            <a:ext cx="2304288" cy="315010"/>
          </a:xfrm>
          <a:prstGeom prst="rect">
            <a:avLst/>
          </a:prstGeom>
          <a:noFill/>
        </p:spPr>
        <p:txBody>
          <a:bodyPr wrap="square" lIns="0" rIns="0" tIns="0" bIns="0" anchor="t">
            <a:spAutoFit/>
          </a:bodyPr>
          <a:lstStyle/>
          <a:p>
            <a:pPr algn="l">
              <a:lnSpc>
                <a:spcPct val="100000"/>
              </a:lnSpc>
            </a:pPr>
            <a:r>
              <a:rPr sz="740" b="0" i="0">
                <a:solidFill>
                  <a:srgbClr val="5F687D"/>
                </a:solidFill>
                <a:latin typeface="Arial"/>
              </a:rPr>
              <a:t>inner servo hole = more force, less travel</a:t>
            </a:r>
          </a:p>
        </p:txBody>
      </p:sp>
      <p:sp>
        <p:nvSpPr>
          <p:cNvPr id="21" name="Rounded Rectangle 20"/>
          <p:cNvSpPr/>
          <p:nvPr/>
        </p:nvSpPr>
        <p:spPr>
          <a:xfrm>
            <a:off x="347472" y="4498848"/>
            <a:ext cx="3474720" cy="205740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7472" y="4498848"/>
            <a:ext cx="50292" cy="2057400"/>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 y="461772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MECHANICAL ADVANTAGE</a:t>
            </a:r>
          </a:p>
        </p:txBody>
      </p:sp>
      <p:sp>
        <p:nvSpPr>
          <p:cNvPr id="24" name="TextBox 23"/>
          <p:cNvSpPr txBox="1"/>
          <p:nvPr/>
        </p:nvSpPr>
        <p:spPr>
          <a:xfrm>
            <a:off x="493776" y="4892040"/>
            <a:ext cx="3200400" cy="1563624"/>
          </a:xfrm>
          <a:prstGeom prst="rect">
            <a:avLst/>
          </a:prstGeom>
          <a:noFill/>
        </p:spPr>
        <p:txBody>
          <a:bodyPr wrap="square" lIns="18288" rIns="9144" tIns="9144" bIns="9144">
            <a:spAutoFit/>
          </a:bodyPr>
          <a:lstStyle/>
          <a:p>
            <a:pPr>
              <a:lnSpc>
                <a:spcPct val="100000"/>
              </a:lnSpc>
              <a:spcAft>
                <a:spcPts val="250"/>
              </a:spcAft>
            </a:pPr>
            <a:r>
              <a:rPr sz="910">
                <a:solidFill>
                  <a:srgbClr val="20263A"/>
                </a:solidFill>
                <a:latin typeface="Arial"/>
              </a:rPr>
              <a:t>• Move the pushrod inward on the servo horn for more force and less surface travel.</a:t>
            </a:r>
          </a:p>
          <a:p>
            <a:pPr>
              <a:lnSpc>
                <a:spcPct val="100000"/>
              </a:lnSpc>
              <a:spcAft>
                <a:spcPts val="250"/>
              </a:spcAft>
            </a:pPr>
            <a:r>
              <a:rPr sz="910">
                <a:solidFill>
                  <a:srgbClr val="20263A"/>
                </a:solidFill>
                <a:latin typeface="Arial"/>
              </a:rPr>
              <a:t>• Move it outward on the control horn for more force and less travel.</a:t>
            </a:r>
          </a:p>
          <a:p>
            <a:pPr>
              <a:lnSpc>
                <a:spcPct val="100000"/>
              </a:lnSpc>
              <a:spcAft>
                <a:spcPts val="250"/>
              </a:spcAft>
            </a:pPr>
            <a:r>
              <a:rPr sz="910">
                <a:solidFill>
                  <a:srgbClr val="20263A"/>
                </a:solidFill>
                <a:latin typeface="Arial"/>
              </a:rPr>
              <a:t>• Keep the control-horn hole close to the hinge line to avoid changing geometry badly.</a:t>
            </a:r>
          </a:p>
        </p:txBody>
      </p:sp>
      <p:sp>
        <p:nvSpPr>
          <p:cNvPr id="25" name="Rounded Rectangle 24"/>
          <p:cNvSpPr/>
          <p:nvPr/>
        </p:nvSpPr>
        <p:spPr>
          <a:xfrm>
            <a:off x="3950208" y="4498848"/>
            <a:ext cx="3474720" cy="205740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950208" y="4498848"/>
            <a:ext cx="50292" cy="2057400"/>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96512" y="461772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GOOD INSTALLATION</a:t>
            </a:r>
          </a:p>
        </p:txBody>
      </p:sp>
      <p:sp>
        <p:nvSpPr>
          <p:cNvPr id="28" name="TextBox 27"/>
          <p:cNvSpPr txBox="1"/>
          <p:nvPr/>
        </p:nvSpPr>
        <p:spPr>
          <a:xfrm>
            <a:off x="4096512" y="4892040"/>
            <a:ext cx="3200400" cy="1563624"/>
          </a:xfrm>
          <a:prstGeom prst="rect">
            <a:avLst/>
          </a:prstGeom>
          <a:noFill/>
        </p:spPr>
        <p:txBody>
          <a:bodyPr wrap="square" lIns="18288" rIns="9144" tIns="9144" bIns="9144">
            <a:spAutoFit/>
          </a:bodyPr>
          <a:lstStyle/>
          <a:p>
            <a:pPr>
              <a:lnSpc>
                <a:spcPct val="100000"/>
              </a:lnSpc>
              <a:spcAft>
                <a:spcPts val="250"/>
              </a:spcAft>
            </a:pPr>
            <a:r>
              <a:rPr sz="910">
                <a:solidFill>
                  <a:srgbClr val="20263A"/>
                </a:solidFill>
                <a:latin typeface="Arial"/>
              </a:rPr>
              <a:t>• Servo arm near 90° to the pushrod at neutral.</a:t>
            </a:r>
          </a:p>
          <a:p>
            <a:pPr>
              <a:lnSpc>
                <a:spcPct val="100000"/>
              </a:lnSpc>
              <a:spcAft>
                <a:spcPts val="250"/>
              </a:spcAft>
            </a:pPr>
            <a:r>
              <a:rPr sz="910">
                <a:solidFill>
                  <a:srgbClr val="20263A"/>
                </a:solidFill>
                <a:latin typeface="Arial"/>
              </a:rPr>
              <a:t>• No flexing pushrod, loose clevis, or soft mount.</a:t>
            </a:r>
          </a:p>
          <a:p>
            <a:pPr>
              <a:lnSpc>
                <a:spcPct val="100000"/>
              </a:lnSpc>
              <a:spcAft>
                <a:spcPts val="250"/>
              </a:spcAft>
            </a:pPr>
            <a:r>
              <a:rPr sz="910">
                <a:solidFill>
                  <a:srgbClr val="20263A"/>
                </a:solidFill>
                <a:latin typeface="Arial"/>
              </a:rPr>
              <a:t>• No binding at full travel; servo does not buzz continuously.</a:t>
            </a:r>
          </a:p>
          <a:p>
            <a:pPr>
              <a:lnSpc>
                <a:spcPct val="100000"/>
              </a:lnSpc>
              <a:spcAft>
                <a:spcPts val="250"/>
              </a:spcAft>
            </a:pPr>
            <a:r>
              <a:rPr sz="910">
                <a:solidFill>
                  <a:srgbClr val="20263A"/>
                </a:solidFill>
                <a:latin typeface="Arial"/>
              </a:rPr>
              <a:t>• Retainers fitted to clevises and wire bends.</a:t>
            </a:r>
          </a:p>
        </p:txBody>
      </p:sp>
      <p:sp>
        <p:nvSpPr>
          <p:cNvPr id="29" name="Rounded Rectangle 28"/>
          <p:cNvSpPr/>
          <p:nvPr/>
        </p:nvSpPr>
        <p:spPr>
          <a:xfrm>
            <a:off x="347472" y="6839712"/>
            <a:ext cx="7077456" cy="932688"/>
          </a:xfrm>
          <a:prstGeom prst="roundRect">
            <a:avLst>
              <a:gd name="adj" fmla="val 8000"/>
            </a:avLst>
          </a:prstGeom>
          <a:solidFill>
            <a:srgbClr val="FDEEEE"/>
          </a:solidFill>
          <a:ln w="10160">
            <a:solidFill>
              <a:srgbClr val="C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7200" y="7159752"/>
            <a:ext cx="292608" cy="292608"/>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7214616"/>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32" name="TextBox 31"/>
          <p:cNvSpPr txBox="1"/>
          <p:nvPr/>
        </p:nvSpPr>
        <p:spPr>
          <a:xfrm>
            <a:off x="832104" y="6931152"/>
            <a:ext cx="6464808" cy="768096"/>
          </a:xfrm>
          <a:prstGeom prst="rect">
            <a:avLst/>
          </a:prstGeom>
          <a:noFill/>
        </p:spPr>
        <p:txBody>
          <a:bodyPr wrap="square" lIns="0" rIns="0" tIns="0" bIns="0" anchor="ctr">
            <a:spAutoFit/>
          </a:bodyPr>
          <a:lstStyle/>
          <a:p>
            <a:pPr algn="l">
              <a:lnSpc>
                <a:spcPct val="100000"/>
              </a:lnSpc>
            </a:pPr>
            <a:r>
              <a:rPr sz="950" b="0" i="0">
                <a:solidFill>
                  <a:srgbClr val="20263A"/>
                </a:solidFill>
                <a:latin typeface="Arial"/>
              </a:rPr>
              <a:t>Flutter risk rises quickly with speed. Stiff surfaces, tight hinges, short rigid linkages, and adequate servo torque are structural safety items—not cosmetic details.</a:t>
            </a:r>
          </a:p>
        </p:txBody>
      </p:sp>
      <p:sp>
        <p:nvSpPr>
          <p:cNvPr id="33" name="TextBox 32"/>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Use the servo manufacturer’s torque and voltage limits; verify under expected aerodynamic load.</a:t>
            </a:r>
          </a:p>
        </p:txBody>
      </p:sp>
      <p:sp>
        <p:nvSpPr>
          <p:cNvPr id="34" name="TextBox 33"/>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11</a:t>
            </a:r>
          </a:p>
        </p:txBody>
      </p:sp>
      <p:sp>
        <p:nvSpPr>
          <p:cNvPr id="35" name="Oval 34"/>
          <p:cNvSpPr/>
          <p:nvPr/>
        </p:nvSpPr>
        <p:spPr>
          <a:xfrm>
            <a:off x="5020056" y="1691640"/>
            <a:ext cx="109728" cy="109728"/>
          </a:xfrm>
          <a:prstGeom prst="ellipse">
            <a:avLst/>
          </a:prstGeom>
          <a:solidFill>
            <a:srgbClr val="FFFF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020056" y="3127248"/>
            <a:ext cx="109728" cy="109728"/>
          </a:xfrm>
          <a:prstGeom prst="ellipse">
            <a:avLst/>
          </a:prstGeom>
          <a:solidFill>
            <a:srgbClr val="FFFF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rc 38"/>
          <p:cNvSpPr/>
          <p:nvPr/>
        </p:nvSpPr>
        <p:spPr>
          <a:xfrm>
            <a:off x="882396" y="1732788"/>
            <a:ext cx="1792224" cy="1792224"/>
          </a:xfrm>
          <a:prstGeom prst="arc">
            <a:avLst>
              <a:gd name="adj1" fmla="val 14880000"/>
              <a:gd name="adj2" fmla="val 17520000"/>
            </a:avLst>
          </a:prstGeom>
          <a:noFill/>
          <a:ln w="19050">
            <a:solidFill>
              <a:srgbClr val="5F687D"/>
            </a:solidFill>
            <a:prstDash val="dash"/>
            <a:headEnd type="triangle" w="med" len="med"/>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12848" y="1700784"/>
            <a:ext cx="1737360" cy="274320"/>
          </a:xfrm>
          <a:prstGeom prst="rect">
            <a:avLst/>
          </a:prstGeom>
          <a:noFill/>
        </p:spPr>
        <p:txBody>
          <a:bodyPr wrap="square" lIns="0" rIns="0" tIns="0" bIns="0">
            <a:spAutoFit/>
          </a:bodyPr>
          <a:lstStyle/>
          <a:p>
            <a:pPr algn="l"/>
            <a:r>
              <a:rPr sz="700" b="0" i="1">
                <a:solidFill>
                  <a:srgbClr val="5F687D"/>
                </a:solidFill>
                <a:latin typeface="Arial"/>
              </a:rPr>
              <a:t>outer hole = bigger swing</a:t>
            </a:r>
          </a:p>
        </p:txBody>
      </p:sp>
      <p:sp>
        <p:nvSpPr>
          <p:cNvPr id="41" name="Oval 40"/>
          <p:cNvSpPr/>
          <p:nvPr/>
        </p:nvSpPr>
        <p:spPr>
          <a:xfrm>
            <a:off x="1732788" y="2212848"/>
            <a:ext cx="91440" cy="91440"/>
          </a:xfrm>
          <a:prstGeom prst="ellipse">
            <a:avLst/>
          </a:prstGeom>
          <a:solidFill>
            <a:srgbClr val="5F68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938528" y="2212848"/>
            <a:ext cx="1188720" cy="164592"/>
          </a:xfrm>
          <a:prstGeom prst="rect">
            <a:avLst/>
          </a:prstGeom>
          <a:noFill/>
        </p:spPr>
        <p:txBody>
          <a:bodyPr wrap="square" lIns="0" rIns="0" tIns="0" bIns="0">
            <a:spAutoFit/>
          </a:bodyPr>
          <a:lstStyle/>
          <a:p>
            <a:pPr algn="l"/>
            <a:r>
              <a:rPr sz="700" b="0" i="1">
                <a:solidFill>
                  <a:srgbClr val="5F687D"/>
                </a:solidFill>
                <a:latin typeface="Arial"/>
              </a:rPr>
              <a:t>inner hole</a:t>
            </a:r>
          </a:p>
        </p:txBody>
      </p:sp>
      <p:sp>
        <p:nvSpPr>
          <p:cNvPr id="44" name="TextBox 43"/>
          <p:cNvSpPr txBox="1"/>
          <p:nvPr/>
        </p:nvSpPr>
        <p:spPr>
          <a:xfrm>
            <a:off x="5532120" y="1481328"/>
            <a:ext cx="1828800" cy="164592"/>
          </a:xfrm>
          <a:prstGeom prst="rect">
            <a:avLst/>
          </a:prstGeom>
          <a:noFill/>
        </p:spPr>
        <p:txBody>
          <a:bodyPr wrap="square" lIns="0" rIns="0" tIns="0" bIns="0">
            <a:spAutoFit/>
          </a:bodyPr>
          <a:lstStyle/>
          <a:p>
            <a:pPr algn="l"/>
            <a:r>
              <a:rPr sz="700" b="0" i="1">
                <a:solidFill>
                  <a:srgbClr val="5F687D"/>
                </a:solidFill>
                <a:latin typeface="Arial"/>
              </a:rPr>
              <a:t>surface swings through this arc</a:t>
            </a:r>
          </a:p>
        </p:txBody>
      </p:sp>
      <p:sp>
        <p:nvSpPr>
          <p:cNvPr id="45" name="Arc 44"/>
          <p:cNvSpPr/>
          <p:nvPr/>
        </p:nvSpPr>
        <p:spPr>
          <a:xfrm>
            <a:off x="3502152" y="886968"/>
            <a:ext cx="3145536" cy="3145536"/>
          </a:xfrm>
          <a:prstGeom prst="arc">
            <a:avLst>
              <a:gd name="adj1" fmla="val -960000"/>
              <a:gd name="adj2" fmla="val 960000"/>
            </a:avLst>
          </a:prstGeom>
          <a:noFill/>
          <a:ln w="19050">
            <a:solidFill>
              <a:srgbClr val="5F687D"/>
            </a:solidFill>
            <a:headEnd type="triangle" w="med" len="med"/>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46BCE"/>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How large does the wing need to be?</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Start with all-up mass and desired low-speed behavior. Span comes later.</a:t>
            </a:r>
          </a:p>
        </p:txBody>
      </p:sp>
      <p:sp>
        <p:nvSpPr>
          <p:cNvPr id="8" name="TextBox 7"/>
          <p:cNvSpPr txBox="1"/>
          <p:nvPr/>
        </p:nvSpPr>
        <p:spPr>
          <a:xfrm>
            <a:off x="530352" y="1280160"/>
            <a:ext cx="3127248" cy="2834640"/>
          </a:xfrm>
          <a:prstGeom prst="rect">
            <a:avLst/>
          </a:prstGeom>
          <a:noFill/>
        </p:spPr>
        <p:txBody>
          <a:bodyPr wrap="square" lIns="18288" rIns="9144" tIns="9144" bIns="9144">
            <a:spAutoFit/>
          </a:bodyPr>
          <a:lstStyle/>
          <a:p>
            <a:pPr>
              <a:lnSpc>
                <a:spcPct val="100000"/>
              </a:lnSpc>
              <a:spcAft>
                <a:spcPts val="320"/>
              </a:spcAft>
            </a:pPr>
            <a:r>
              <a:rPr sz="950">
                <a:solidFill>
                  <a:srgbClr val="20263A"/>
                </a:solidFill>
                <a:latin typeface="Arial"/>
              </a:rPr>
              <a:t>1. Estimate all-up flying mass—including battery, wiring, covering, fasteners, and glue.</a:t>
            </a:r>
          </a:p>
          <a:p>
            <a:pPr>
              <a:lnSpc>
                <a:spcPct val="100000"/>
              </a:lnSpc>
              <a:spcAft>
                <a:spcPts val="320"/>
              </a:spcAft>
            </a:pPr>
            <a:r>
              <a:rPr sz="950">
                <a:solidFill>
                  <a:srgbClr val="20263A"/>
                </a:solidFill>
                <a:latin typeface="Arial"/>
              </a:rPr>
              <a:t>2. Choose a target wing loading appropriate to size and mission.</a:t>
            </a:r>
          </a:p>
          <a:p>
            <a:pPr>
              <a:lnSpc>
                <a:spcPct val="100000"/>
              </a:lnSpc>
              <a:spcAft>
                <a:spcPts val="320"/>
              </a:spcAft>
            </a:pPr>
            <a:r>
              <a:rPr sz="950">
                <a:solidFill>
                  <a:srgbClr val="20263A"/>
                </a:solidFill>
                <a:latin typeface="Arial"/>
              </a:rPr>
              <a:t>3. Calculate wing area from mass ÷ wing loading.</a:t>
            </a:r>
          </a:p>
          <a:p>
            <a:pPr>
              <a:lnSpc>
                <a:spcPct val="100000"/>
              </a:lnSpc>
              <a:spcAft>
                <a:spcPts val="320"/>
              </a:spcAft>
            </a:pPr>
            <a:r>
              <a:rPr sz="950">
                <a:solidFill>
                  <a:srgbClr val="20263A"/>
                </a:solidFill>
                <a:latin typeface="Arial"/>
              </a:rPr>
              <a:t>4. Choose aspect ratio; calculate span and average chord.</a:t>
            </a:r>
          </a:p>
          <a:p>
            <a:pPr>
              <a:lnSpc>
                <a:spcPct val="100000"/>
              </a:lnSpc>
              <a:spcAft>
                <a:spcPts val="320"/>
              </a:spcAft>
            </a:pPr>
            <a:r>
              <a:rPr sz="950">
                <a:solidFill>
                  <a:srgbClr val="20263A"/>
                </a:solidFill>
                <a:latin typeface="Arial"/>
              </a:rPr>
              <a:t>5. Check stall speed with an estimated Cₗmax.</a:t>
            </a:r>
          </a:p>
          <a:p>
            <a:pPr>
              <a:lnSpc>
                <a:spcPct val="100000"/>
              </a:lnSpc>
              <a:spcAft>
                <a:spcPts val="320"/>
              </a:spcAft>
            </a:pPr>
            <a:r>
              <a:rPr sz="950">
                <a:solidFill>
                  <a:srgbClr val="20263A"/>
                </a:solidFill>
                <a:latin typeface="Arial"/>
              </a:rPr>
              <a:t>6. Revisit structure, power, and mass. Repeat until the numbers agree.</a:t>
            </a:r>
          </a:p>
        </p:txBody>
      </p:sp>
      <p:sp>
        <p:nvSpPr>
          <p:cNvPr id="9" name="Rounded Rectangle 8"/>
          <p:cNvSpPr/>
          <p:nvPr/>
        </p:nvSpPr>
        <p:spPr>
          <a:xfrm>
            <a:off x="3950208" y="1207008"/>
            <a:ext cx="3474720" cy="290779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89450" y="2052828"/>
            <a:ext cx="2814523" cy="1028700"/>
          </a:xfrm>
          <a:custGeom>
            <a:avLst/>
            <a:gdLst/>
            <a:ahLst/>
            <a:cxnLst/>
            <a:rect l="l" t="t" r="r" b="b"/>
            <a:pathLst>
              <a:path w="2814523" h="1028700">
                <a:moveTo>
                  <a:pt x="0" y="0"/>
                </a:moveTo>
                <a:lnTo>
                  <a:pt x="2814523" y="0"/>
                </a:lnTo>
                <a:lnTo>
                  <a:pt x="2814523" y="1028700"/>
                </a:lnTo>
                <a:lnTo>
                  <a:pt x="0" y="1028700"/>
                </a:lnTo>
                <a:close/>
              </a:path>
            </a:pathLst>
          </a:custGeom>
          <a:solidFill>
            <a:srgbClr val="EDF4FF"/>
          </a:solidFill>
          <a:ln w="1524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4289450" y="1664208"/>
            <a:ext cx="2814523" cy="0"/>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289450" y="1595628"/>
            <a:ext cx="0" cy="137160"/>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103973" y="1595628"/>
            <a:ext cx="0" cy="137160"/>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83987" y="1458468"/>
            <a:ext cx="625449" cy="274320"/>
          </a:xfrm>
          <a:prstGeom prst="rect">
            <a:avLst/>
          </a:prstGeom>
          <a:noFill/>
        </p:spPr>
        <p:txBody>
          <a:bodyPr wrap="square" lIns="0" rIns="0" tIns="0" bIns="0" anchor="t">
            <a:spAutoFit/>
          </a:bodyPr>
          <a:lstStyle/>
          <a:p>
            <a:pPr algn="ctr">
              <a:lnSpc>
                <a:spcPct val="100000"/>
              </a:lnSpc>
            </a:pPr>
            <a:r>
              <a:rPr sz="760" b="1" i="0">
                <a:solidFill>
                  <a:srgbClr val="A23DB6"/>
                </a:solidFill>
                <a:latin typeface="Arial"/>
              </a:rPr>
              <a:t>span b</a:t>
            </a:r>
          </a:p>
        </p:txBody>
      </p:sp>
      <p:sp>
        <p:nvSpPr>
          <p:cNvPr id="18" name="Rounded Rectangle 17"/>
          <p:cNvSpPr/>
          <p:nvPr/>
        </p:nvSpPr>
        <p:spPr>
          <a:xfrm>
            <a:off x="347472" y="4407408"/>
            <a:ext cx="3474720" cy="1755648"/>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7472" y="4407408"/>
            <a:ext cx="54864" cy="1755648"/>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517136"/>
            <a:ext cx="3209544" cy="164592"/>
          </a:xfrm>
          <a:prstGeom prst="rect">
            <a:avLst/>
          </a:prstGeom>
          <a:noFill/>
        </p:spPr>
        <p:txBody>
          <a:bodyPr wrap="square" lIns="0" rIns="0" tIns="0" bIns="0" anchor="t">
            <a:spAutoFit/>
          </a:bodyPr>
          <a:lstStyle/>
          <a:p>
            <a:pPr algn="l">
              <a:lnSpc>
                <a:spcPct val="100000"/>
              </a:lnSpc>
            </a:pPr>
            <a:r>
              <a:rPr sz="840" b="1" i="0">
                <a:solidFill>
                  <a:srgbClr val="246BCE"/>
                </a:solidFill>
                <a:latin typeface="Arial"/>
              </a:rPr>
              <a:t>AREA FROM WING LOADING</a:t>
            </a:r>
          </a:p>
        </p:txBody>
      </p:sp>
      <p:sp>
        <p:nvSpPr>
          <p:cNvPr id="21" name="TextBox 20"/>
          <p:cNvSpPr txBox="1"/>
          <p:nvPr/>
        </p:nvSpPr>
        <p:spPr>
          <a:xfrm>
            <a:off x="502920" y="4773168"/>
            <a:ext cx="3209544" cy="365760"/>
          </a:xfrm>
          <a:prstGeom prst="rect">
            <a:avLst/>
          </a:prstGeom>
          <a:noFill/>
        </p:spPr>
        <p:txBody>
          <a:bodyPr wrap="square" lIns="0" rIns="0" tIns="0" bIns="0" anchor="ctr">
            <a:spAutoFit/>
          </a:bodyPr>
          <a:lstStyle/>
          <a:p>
            <a:pPr algn="ctr">
              <a:lnSpc>
                <a:spcPct val="100000"/>
              </a:lnSpc>
            </a:pPr>
            <a:r>
              <a:rPr sz="1800" b="1" i="0">
                <a:solidFill>
                  <a:srgbClr val="20263A"/>
                </a:solidFill>
                <a:latin typeface="Arial"/>
              </a:rPr>
              <a:t>S = m ÷ wing loading</a:t>
            </a:r>
          </a:p>
        </p:txBody>
      </p:sp>
      <p:sp>
        <p:nvSpPr>
          <p:cNvPr id="22" name="TextBox 21"/>
          <p:cNvSpPr txBox="1"/>
          <p:nvPr/>
        </p:nvSpPr>
        <p:spPr>
          <a:xfrm>
            <a:off x="502920" y="5248656"/>
            <a:ext cx="3209544" cy="813815"/>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In model units: area in dm² = mass in grams ÷ target g/dm².</a:t>
            </a:r>
          </a:p>
        </p:txBody>
      </p:sp>
      <p:sp>
        <p:nvSpPr>
          <p:cNvPr id="23" name="Rounded Rectangle 22"/>
          <p:cNvSpPr/>
          <p:nvPr/>
        </p:nvSpPr>
        <p:spPr>
          <a:xfrm>
            <a:off x="3950208" y="4407408"/>
            <a:ext cx="3474720" cy="1755648"/>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50208" y="4407408"/>
            <a:ext cx="54864" cy="1755648"/>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4517136"/>
            <a:ext cx="3209544" cy="164592"/>
          </a:xfrm>
          <a:prstGeom prst="rect">
            <a:avLst/>
          </a:prstGeom>
          <a:noFill/>
        </p:spPr>
        <p:txBody>
          <a:bodyPr wrap="square" lIns="0" rIns="0" tIns="0" bIns="0" anchor="t">
            <a:spAutoFit/>
          </a:bodyPr>
          <a:lstStyle/>
          <a:p>
            <a:pPr algn="l">
              <a:lnSpc>
                <a:spcPct val="100000"/>
              </a:lnSpc>
            </a:pPr>
            <a:r>
              <a:rPr sz="840" b="1" i="0">
                <a:solidFill>
                  <a:srgbClr val="138C8C"/>
                </a:solidFill>
                <a:latin typeface="Arial"/>
              </a:rPr>
              <a:t>SPAN FROM ASPECT RATIO</a:t>
            </a:r>
          </a:p>
        </p:txBody>
      </p:sp>
      <p:sp>
        <p:nvSpPr>
          <p:cNvPr id="26" name="TextBox 25"/>
          <p:cNvSpPr txBox="1"/>
          <p:nvPr/>
        </p:nvSpPr>
        <p:spPr>
          <a:xfrm>
            <a:off x="4105656" y="4773168"/>
            <a:ext cx="3209544" cy="365760"/>
          </a:xfrm>
          <a:prstGeom prst="rect">
            <a:avLst/>
          </a:prstGeom>
          <a:noFill/>
        </p:spPr>
        <p:txBody>
          <a:bodyPr wrap="square" lIns="0" rIns="0" tIns="0" bIns="0" anchor="ctr">
            <a:spAutoFit/>
          </a:bodyPr>
          <a:lstStyle/>
          <a:p>
            <a:pPr algn="ctr">
              <a:lnSpc>
                <a:spcPct val="100000"/>
              </a:lnSpc>
            </a:pPr>
            <a:r>
              <a:rPr sz="1800" b="1" i="0">
                <a:solidFill>
                  <a:srgbClr val="20263A"/>
                </a:solidFill>
                <a:latin typeface="Arial"/>
              </a:rPr>
              <a:t>b = √(AR × S)</a:t>
            </a:r>
          </a:p>
        </p:txBody>
      </p:sp>
      <p:sp>
        <p:nvSpPr>
          <p:cNvPr id="27" name="TextBox 26"/>
          <p:cNvSpPr txBox="1"/>
          <p:nvPr/>
        </p:nvSpPr>
        <p:spPr>
          <a:xfrm>
            <a:off x="4105656" y="5248656"/>
            <a:ext cx="3209544" cy="813815"/>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After choosing AR, span follows. Average chord is S ÷ b.</a:t>
            </a:r>
          </a:p>
        </p:txBody>
      </p:sp>
      <p:sp>
        <p:nvSpPr>
          <p:cNvPr id="28" name="Rounded Rectangle 27"/>
          <p:cNvSpPr/>
          <p:nvPr/>
        </p:nvSpPr>
        <p:spPr>
          <a:xfrm>
            <a:off x="347472" y="6419088"/>
            <a:ext cx="7077456" cy="1143000"/>
          </a:xfrm>
          <a:prstGeom prst="roundRect">
            <a:avLst>
              <a:gd name="adj" fmla="val 8000"/>
            </a:avLst>
          </a:prstGeom>
          <a:solidFill>
            <a:srgbClr val="EDF4FF"/>
          </a:solidFill>
          <a:ln w="1016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57200" y="6844283"/>
            <a:ext cx="292608" cy="292608"/>
          </a:xfrm>
          <a:prstGeom prst="ellipse">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899148"/>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31" name="TextBox 30"/>
          <p:cNvSpPr txBox="1"/>
          <p:nvPr/>
        </p:nvSpPr>
        <p:spPr>
          <a:xfrm>
            <a:off x="832104" y="6510527"/>
            <a:ext cx="6464808" cy="978408"/>
          </a:xfrm>
          <a:prstGeom prst="rect">
            <a:avLst/>
          </a:prstGeom>
          <a:noFill/>
        </p:spPr>
        <p:txBody>
          <a:bodyPr wrap="square" lIns="0" rIns="0" tIns="0" bIns="0" anchor="ctr">
            <a:spAutoFit/>
          </a:bodyPr>
          <a:lstStyle/>
          <a:p>
            <a:pPr algn="l">
              <a:lnSpc>
                <a:spcPct val="100000"/>
              </a:lnSpc>
            </a:pPr>
            <a:r>
              <a:rPr sz="969" b="0" i="0">
                <a:solidFill>
                  <a:srgbClr val="20263A"/>
                </a:solidFill>
                <a:latin typeface="Arial"/>
              </a:rPr>
              <a:t>Do not select wingspan because it “looks right.” Two aircraft with the same span can have very different areas, loading, stall speeds, and handling.</a:t>
            </a:r>
          </a:p>
        </p:txBody>
      </p:sp>
      <p:sp>
        <p:nvSpPr>
          <p:cNvPr id="32" name="TextBox 31"/>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Reference basis: standard wing-loading, aspect-ratio, and lift relationships.</a:t>
            </a:r>
          </a:p>
        </p:txBody>
      </p:sp>
      <p:sp>
        <p:nvSpPr>
          <p:cNvPr id="33" name="TextBox 32"/>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12</a:t>
            </a:r>
          </a:p>
        </p:txBody>
      </p:sp>
      <p:cxnSp>
        <p:nvCxnSpPr>
          <p:cNvPr id="34" name="Connector 33"/>
          <p:cNvCxnSpPr/>
          <p:nvPr/>
        </p:nvCxnSpPr>
        <p:spPr>
          <a:xfrm>
            <a:off x="7132320" y="2057400"/>
            <a:ext cx="201168" cy="0"/>
          </a:xfrm>
          <a:prstGeom prst="line">
            <a:avLst/>
          </a:prstGeom>
          <a:ln w="12700">
            <a:solidFill>
              <a:srgbClr val="5F687D"/>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32320" y="3081528"/>
            <a:ext cx="201168" cy="0"/>
          </a:xfrm>
          <a:prstGeom prst="line">
            <a:avLst/>
          </a:prstGeom>
          <a:ln w="12700">
            <a:solidFill>
              <a:srgbClr val="5F687D"/>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260336" y="2084831"/>
            <a:ext cx="0" cy="969265"/>
          </a:xfrm>
          <a:prstGeom prst="line">
            <a:avLst/>
          </a:prstGeom>
          <a:ln w="15875">
            <a:solidFill>
              <a:srgbClr val="2F8F5B"/>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rot="16200000">
            <a:off x="6711696" y="2450592"/>
            <a:ext cx="731520" cy="201168"/>
          </a:xfrm>
          <a:prstGeom prst="rect">
            <a:avLst/>
          </a:prstGeom>
          <a:noFill/>
        </p:spPr>
        <p:txBody>
          <a:bodyPr wrap="square" lIns="0" rIns="0" tIns="0" bIns="0">
            <a:spAutoFit/>
          </a:bodyPr>
          <a:lstStyle/>
          <a:p>
            <a:pPr algn="ctr"/>
            <a:r>
              <a:rPr sz="800" b="1" i="0">
                <a:solidFill>
                  <a:srgbClr val="2F8F5B"/>
                </a:solidFill>
                <a:latin typeface="Arial"/>
              </a:rPr>
              <a:t>chord c</a:t>
            </a:r>
          </a:p>
        </p:txBody>
      </p:sp>
      <p:sp>
        <p:nvSpPr>
          <p:cNvPr id="38" name="Rounded Rectangle 37"/>
          <p:cNvSpPr/>
          <p:nvPr/>
        </p:nvSpPr>
        <p:spPr>
          <a:xfrm>
            <a:off x="347472" y="7818120"/>
            <a:ext cx="7077456" cy="822960"/>
          </a:xfrm>
          <a:prstGeom prst="roundRect">
            <a:avLst>
              <a:gd name="adj" fmla="val 10000"/>
            </a:avLst>
          </a:prstGeom>
          <a:solidFill>
            <a:srgbClr val="FDF6E3"/>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66344" y="8083296"/>
            <a:ext cx="292608" cy="292608"/>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6344" y="8133588"/>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41" name="TextBox 40"/>
          <p:cNvSpPr txBox="1"/>
          <p:nvPr/>
        </p:nvSpPr>
        <p:spPr>
          <a:xfrm>
            <a:off x="859536" y="7900416"/>
            <a:ext cx="1005840" cy="137160"/>
          </a:xfrm>
          <a:prstGeom prst="rect">
            <a:avLst/>
          </a:prstGeom>
          <a:noFill/>
        </p:spPr>
        <p:txBody>
          <a:bodyPr wrap="square" lIns="0" rIns="0" tIns="0" bIns="0">
            <a:spAutoFit/>
          </a:bodyPr>
          <a:lstStyle/>
          <a:p>
            <a:pPr algn="l"/>
            <a:r>
              <a:rPr sz="800" b="1" i="0">
                <a:solidFill>
                  <a:srgbClr val="20263A"/>
                </a:solidFill>
                <a:latin typeface="Arial"/>
              </a:rPr>
              <a:t>YOUR TURN</a:t>
            </a:r>
          </a:p>
        </p:txBody>
      </p:sp>
      <p:sp>
        <p:nvSpPr>
          <p:cNvPr id="42" name="TextBox 41"/>
          <p:cNvSpPr txBox="1"/>
          <p:nvPr/>
        </p:nvSpPr>
        <p:spPr>
          <a:xfrm>
            <a:off x="859536" y="8055864"/>
            <a:ext cx="6391656" cy="512064"/>
          </a:xfrm>
          <a:prstGeom prst="rect">
            <a:avLst/>
          </a:prstGeom>
          <a:noFill/>
        </p:spPr>
        <p:txBody>
          <a:bodyPr wrap="square" lIns="0" rIns="0" tIns="0" bIns="0">
            <a:spAutoFit/>
          </a:bodyPr>
          <a:lstStyle/>
          <a:p>
            <a:pPr algn="l"/>
            <a:r>
              <a:rPr sz="850" b="0" i="0">
                <a:solidFill>
                  <a:srgbClr val="20263A"/>
                </a:solidFill>
                <a:latin typeface="Arial"/>
              </a:rPr>
              <a:t>A 2000 g version of your design keeps the same 45 g/dm² loading. Find S and the span at AR 6.5. (S = 44.4 dm² → b = √(6.5 × 0.444) ≈ 1.70 m. Weight grew 33% but span only grew 16% — can you see why in the equations?)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46BCE"/>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Wing loading: mass carried by each unit of wing area</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Lower loading usually means slower flight and gentler landings; higher loading means more speed and energy.</a:t>
            </a:r>
          </a:p>
        </p:txBody>
      </p:sp>
      <p:sp>
        <p:nvSpPr>
          <p:cNvPr id="8" name="Rounded Rectangle 7"/>
          <p:cNvSpPr/>
          <p:nvPr/>
        </p:nvSpPr>
        <p:spPr>
          <a:xfrm>
            <a:off x="347472" y="1188720"/>
            <a:ext cx="3474720" cy="1883664"/>
          </a:xfrm>
          <a:prstGeom prst="roundRect">
            <a:avLst>
              <a:gd name="adj" fmla="val 8000"/>
            </a:avLst>
          </a:prstGeom>
          <a:solidFill>
            <a:srgbClr val="EDF4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188720"/>
            <a:ext cx="54864" cy="188366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298448"/>
            <a:ext cx="3209544" cy="164592"/>
          </a:xfrm>
          <a:prstGeom prst="rect">
            <a:avLst/>
          </a:prstGeom>
          <a:noFill/>
        </p:spPr>
        <p:txBody>
          <a:bodyPr wrap="square" lIns="0" rIns="0" tIns="0" bIns="0" anchor="t">
            <a:spAutoFit/>
          </a:bodyPr>
          <a:lstStyle/>
          <a:p>
            <a:pPr algn="l">
              <a:lnSpc>
                <a:spcPct val="100000"/>
              </a:lnSpc>
            </a:pPr>
            <a:r>
              <a:rPr sz="840" b="1" i="0">
                <a:solidFill>
                  <a:srgbClr val="246BCE"/>
                </a:solidFill>
                <a:latin typeface="Arial"/>
              </a:rPr>
              <a:t>MODEL-BUILDER FORM</a:t>
            </a:r>
          </a:p>
        </p:txBody>
      </p:sp>
      <p:sp>
        <p:nvSpPr>
          <p:cNvPr id="11" name="TextBox 10"/>
          <p:cNvSpPr txBox="1"/>
          <p:nvPr/>
        </p:nvSpPr>
        <p:spPr>
          <a:xfrm>
            <a:off x="502920" y="1554480"/>
            <a:ext cx="3209544" cy="365760"/>
          </a:xfrm>
          <a:prstGeom prst="rect">
            <a:avLst/>
          </a:prstGeom>
          <a:noFill/>
        </p:spPr>
        <p:txBody>
          <a:bodyPr wrap="square" lIns="0" rIns="0" tIns="0" bIns="0" anchor="ctr">
            <a:spAutoFit/>
          </a:bodyPr>
          <a:lstStyle/>
          <a:p>
            <a:pPr algn="ctr">
              <a:lnSpc>
                <a:spcPct val="100000"/>
              </a:lnSpc>
            </a:pPr>
            <a:r>
              <a:rPr sz="1800" b="1" i="0">
                <a:solidFill>
                  <a:srgbClr val="20263A"/>
                </a:solidFill>
                <a:latin typeface="Arial"/>
              </a:rPr>
              <a:t>Wing loading = mass / area</a:t>
            </a:r>
          </a:p>
        </p:txBody>
      </p:sp>
      <p:sp>
        <p:nvSpPr>
          <p:cNvPr id="12" name="TextBox 11"/>
          <p:cNvSpPr txBox="1"/>
          <p:nvPr/>
        </p:nvSpPr>
        <p:spPr>
          <a:xfrm>
            <a:off x="502920" y="2029968"/>
            <a:ext cx="3209544" cy="941832"/>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Common metric unit: g/dm². Use all-up mass, not bare airframe mass.</a:t>
            </a:r>
          </a:p>
        </p:txBody>
      </p:sp>
      <p:sp>
        <p:nvSpPr>
          <p:cNvPr id="13" name="Rounded Rectangle 12"/>
          <p:cNvSpPr/>
          <p:nvPr/>
        </p:nvSpPr>
        <p:spPr>
          <a:xfrm>
            <a:off x="3950208" y="1188720"/>
            <a:ext cx="3474720" cy="1883664"/>
          </a:xfrm>
          <a:prstGeom prst="roundRect">
            <a:avLst>
              <a:gd name="adj" fmla="val 8000"/>
            </a:avLst>
          </a:prstGeom>
          <a:solidFill>
            <a:srgbClr val="EAF7F6"/>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50208" y="1188720"/>
            <a:ext cx="54864" cy="18836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05656" y="1298448"/>
            <a:ext cx="3209544" cy="164592"/>
          </a:xfrm>
          <a:prstGeom prst="rect">
            <a:avLst/>
          </a:prstGeom>
          <a:noFill/>
        </p:spPr>
        <p:txBody>
          <a:bodyPr wrap="square" lIns="0" rIns="0" tIns="0" bIns="0" anchor="t">
            <a:spAutoFit/>
          </a:bodyPr>
          <a:lstStyle/>
          <a:p>
            <a:pPr algn="l">
              <a:lnSpc>
                <a:spcPct val="100000"/>
              </a:lnSpc>
            </a:pPr>
            <a:r>
              <a:rPr sz="840" b="1" i="0">
                <a:solidFill>
                  <a:srgbClr val="138C8C"/>
                </a:solidFill>
                <a:latin typeface="Arial"/>
              </a:rPr>
              <a:t>SOLVE FOR AREA</a:t>
            </a:r>
          </a:p>
        </p:txBody>
      </p:sp>
      <p:sp>
        <p:nvSpPr>
          <p:cNvPr id="16" name="TextBox 15"/>
          <p:cNvSpPr txBox="1"/>
          <p:nvPr/>
        </p:nvSpPr>
        <p:spPr>
          <a:xfrm>
            <a:off x="4105656" y="1554480"/>
            <a:ext cx="3209544" cy="365760"/>
          </a:xfrm>
          <a:prstGeom prst="rect">
            <a:avLst/>
          </a:prstGeom>
          <a:noFill/>
        </p:spPr>
        <p:txBody>
          <a:bodyPr wrap="square" lIns="0" rIns="0" tIns="0" bIns="0" anchor="ctr">
            <a:spAutoFit/>
          </a:bodyPr>
          <a:lstStyle/>
          <a:p>
            <a:pPr algn="ctr">
              <a:lnSpc>
                <a:spcPct val="100000"/>
              </a:lnSpc>
            </a:pPr>
            <a:r>
              <a:rPr sz="1800" b="1" i="0">
                <a:solidFill>
                  <a:srgbClr val="20263A"/>
                </a:solidFill>
                <a:latin typeface="Arial"/>
              </a:rPr>
              <a:t>S = mass / target loading</a:t>
            </a:r>
          </a:p>
        </p:txBody>
      </p:sp>
      <p:sp>
        <p:nvSpPr>
          <p:cNvPr id="17" name="TextBox 16"/>
          <p:cNvSpPr txBox="1"/>
          <p:nvPr/>
        </p:nvSpPr>
        <p:spPr>
          <a:xfrm>
            <a:off x="4105656" y="2029968"/>
            <a:ext cx="3209544" cy="941832"/>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This is the fastest first-pass way to size a trainer wing.</a:t>
            </a:r>
          </a:p>
        </p:txBody>
      </p:sp>
      <p:sp>
        <p:nvSpPr>
          <p:cNvPr id="18" name="Rounded Rectangle 17"/>
          <p:cNvSpPr/>
          <p:nvPr/>
        </p:nvSpPr>
        <p:spPr>
          <a:xfrm>
            <a:off x="347472" y="3364992"/>
            <a:ext cx="2249424" cy="1188720"/>
          </a:xfrm>
          <a:prstGeom prst="roundRect">
            <a:avLst>
              <a:gd name="adj" fmla="val 8000"/>
            </a:avLst>
          </a:prstGeom>
          <a:solidFill>
            <a:srgbClr val="ECF7F0"/>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456432"/>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SLOW / FLOATY</a:t>
            </a:r>
          </a:p>
        </p:txBody>
      </p:sp>
      <p:sp>
        <p:nvSpPr>
          <p:cNvPr id="20" name="TextBox 19"/>
          <p:cNvSpPr txBox="1"/>
          <p:nvPr/>
        </p:nvSpPr>
        <p:spPr>
          <a:xfrm>
            <a:off x="457200" y="3648456"/>
            <a:ext cx="2029967" cy="320040"/>
          </a:xfrm>
          <a:prstGeom prst="rect">
            <a:avLst/>
          </a:prstGeom>
          <a:noFill/>
        </p:spPr>
        <p:txBody>
          <a:bodyPr wrap="square" lIns="0" rIns="0" tIns="0" bIns="0" anchor="t">
            <a:spAutoFit/>
          </a:bodyPr>
          <a:lstStyle/>
          <a:p>
            <a:pPr algn="l">
              <a:lnSpc>
                <a:spcPct val="100000"/>
              </a:lnSpc>
            </a:pPr>
            <a:r>
              <a:rPr sz="2000" b="1" i="0">
                <a:solidFill>
                  <a:srgbClr val="2F8F5B"/>
                </a:solidFill>
                <a:latin typeface="Arial"/>
              </a:rPr>
              <a:t>≈ 25–40</a:t>
            </a:r>
          </a:p>
        </p:txBody>
      </p:sp>
      <p:sp>
        <p:nvSpPr>
          <p:cNvPr id="21" name="TextBox 20"/>
          <p:cNvSpPr txBox="1"/>
          <p:nvPr/>
        </p:nvSpPr>
        <p:spPr>
          <a:xfrm>
            <a:off x="457200" y="4270248"/>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g/dm², size dependent</a:t>
            </a:r>
          </a:p>
        </p:txBody>
      </p:sp>
      <p:sp>
        <p:nvSpPr>
          <p:cNvPr id="22" name="Rounded Rectangle 21"/>
          <p:cNvSpPr/>
          <p:nvPr/>
        </p:nvSpPr>
        <p:spPr>
          <a:xfrm>
            <a:off x="2761488" y="3364992"/>
            <a:ext cx="2249424" cy="1188720"/>
          </a:xfrm>
          <a:prstGeom prst="roundRect">
            <a:avLst>
              <a:gd name="adj" fmla="val 8000"/>
            </a:avLst>
          </a:prstGeom>
          <a:solidFill>
            <a:srgbClr val="EDF4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71216" y="3456432"/>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TRAINER / SPORT</a:t>
            </a:r>
          </a:p>
        </p:txBody>
      </p:sp>
      <p:sp>
        <p:nvSpPr>
          <p:cNvPr id="24" name="TextBox 23"/>
          <p:cNvSpPr txBox="1"/>
          <p:nvPr/>
        </p:nvSpPr>
        <p:spPr>
          <a:xfrm>
            <a:off x="2871216" y="3648456"/>
            <a:ext cx="2029967" cy="320040"/>
          </a:xfrm>
          <a:prstGeom prst="rect">
            <a:avLst/>
          </a:prstGeom>
          <a:noFill/>
        </p:spPr>
        <p:txBody>
          <a:bodyPr wrap="square" lIns="0" rIns="0" tIns="0" bIns="0" anchor="t">
            <a:spAutoFit/>
          </a:bodyPr>
          <a:lstStyle/>
          <a:p>
            <a:pPr algn="l">
              <a:lnSpc>
                <a:spcPct val="100000"/>
              </a:lnSpc>
            </a:pPr>
            <a:r>
              <a:rPr sz="2000" b="1" i="0">
                <a:solidFill>
                  <a:srgbClr val="246BCE"/>
                </a:solidFill>
                <a:latin typeface="Arial"/>
              </a:rPr>
              <a:t>≈ 40–60</a:t>
            </a:r>
          </a:p>
        </p:txBody>
      </p:sp>
      <p:sp>
        <p:nvSpPr>
          <p:cNvPr id="25" name="TextBox 24"/>
          <p:cNvSpPr txBox="1"/>
          <p:nvPr/>
        </p:nvSpPr>
        <p:spPr>
          <a:xfrm>
            <a:off x="2871216" y="4270248"/>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g/dm², size dependent</a:t>
            </a:r>
          </a:p>
        </p:txBody>
      </p:sp>
      <p:sp>
        <p:nvSpPr>
          <p:cNvPr id="26" name="Rounded Rectangle 25"/>
          <p:cNvSpPr/>
          <p:nvPr/>
        </p:nvSpPr>
        <p:spPr>
          <a:xfrm>
            <a:off x="5175504" y="3364992"/>
            <a:ext cx="2249424" cy="1188720"/>
          </a:xfrm>
          <a:prstGeom prst="roundRect">
            <a:avLst>
              <a:gd name="adj" fmla="val 8000"/>
            </a:avLst>
          </a:prstGeom>
          <a:solidFill>
            <a:srgbClr val="FFF3E9"/>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85232" y="3456432"/>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FAST / HEAVY</a:t>
            </a:r>
          </a:p>
        </p:txBody>
      </p:sp>
      <p:sp>
        <p:nvSpPr>
          <p:cNvPr id="28" name="TextBox 27"/>
          <p:cNvSpPr txBox="1"/>
          <p:nvPr/>
        </p:nvSpPr>
        <p:spPr>
          <a:xfrm>
            <a:off x="5285232" y="3648456"/>
            <a:ext cx="2029967" cy="320040"/>
          </a:xfrm>
          <a:prstGeom prst="rect">
            <a:avLst/>
          </a:prstGeom>
          <a:noFill/>
        </p:spPr>
        <p:txBody>
          <a:bodyPr wrap="square" lIns="0" rIns="0" tIns="0" bIns="0" anchor="t">
            <a:spAutoFit/>
          </a:bodyPr>
          <a:lstStyle/>
          <a:p>
            <a:pPr algn="l">
              <a:lnSpc>
                <a:spcPct val="100000"/>
              </a:lnSpc>
            </a:pPr>
            <a:r>
              <a:rPr sz="2000" b="1" i="0">
                <a:solidFill>
                  <a:srgbClr val="E0702B"/>
                </a:solidFill>
                <a:latin typeface="Arial"/>
              </a:rPr>
              <a:t>60+</a:t>
            </a:r>
          </a:p>
        </p:txBody>
      </p:sp>
      <p:sp>
        <p:nvSpPr>
          <p:cNvPr id="29" name="TextBox 28"/>
          <p:cNvSpPr txBox="1"/>
          <p:nvPr/>
        </p:nvSpPr>
        <p:spPr>
          <a:xfrm>
            <a:off x="5285232" y="4270248"/>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g/dm²; not a universal boundary</a:t>
            </a:r>
          </a:p>
        </p:txBody>
      </p:sp>
      <p:sp>
        <p:nvSpPr>
          <p:cNvPr id="30" name="Rounded Rectangle 29"/>
          <p:cNvSpPr/>
          <p:nvPr/>
        </p:nvSpPr>
        <p:spPr>
          <a:xfrm>
            <a:off x="347472" y="4846320"/>
            <a:ext cx="7077456" cy="170078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47472" y="4846320"/>
            <a:ext cx="50292" cy="1700784"/>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3776" y="4965192"/>
            <a:ext cx="6821424"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WHY SIZE MATTERS</a:t>
            </a:r>
          </a:p>
        </p:txBody>
      </p:sp>
      <p:sp>
        <p:nvSpPr>
          <p:cNvPr id="33" name="TextBox 32"/>
          <p:cNvSpPr txBox="1"/>
          <p:nvPr/>
        </p:nvSpPr>
        <p:spPr>
          <a:xfrm>
            <a:off x="493776" y="5239512"/>
            <a:ext cx="6803136" cy="1207008"/>
          </a:xfrm>
          <a:prstGeom prst="rect">
            <a:avLst/>
          </a:prstGeom>
          <a:noFill/>
        </p:spPr>
        <p:txBody>
          <a:bodyPr wrap="square" lIns="0" rIns="0" tIns="0" bIns="0" anchor="t">
            <a:spAutoFit/>
          </a:bodyPr>
          <a:lstStyle/>
          <a:p>
            <a:pPr algn="l">
              <a:lnSpc>
                <a:spcPct val="100000"/>
              </a:lnSpc>
            </a:pPr>
            <a:r>
              <a:rPr sz="969" b="0" i="0">
                <a:solidFill>
                  <a:srgbClr val="20263A"/>
                </a:solidFill>
                <a:latin typeface="Arial"/>
              </a:rPr>
              <a:t>Simple wing loading does not scale perfectly. Small models operate at lower Reynolds numbers and often need proportionally lighter loading to feel as forgiving as a larger model. Use comparable successful aircraft of similar size as a reality check.</a:t>
            </a:r>
          </a:p>
        </p:txBody>
      </p:sp>
      <p:sp>
        <p:nvSpPr>
          <p:cNvPr id="34" name="Rounded Rectangle 33"/>
          <p:cNvSpPr/>
          <p:nvPr/>
        </p:nvSpPr>
        <p:spPr>
          <a:xfrm>
            <a:off x="347472" y="6821424"/>
            <a:ext cx="7077456" cy="932688"/>
          </a:xfrm>
          <a:prstGeom prst="roundRect">
            <a:avLst>
              <a:gd name="adj" fmla="val 8000"/>
            </a:avLst>
          </a:prstGeom>
          <a:solidFill>
            <a:srgbClr val="FDEEEE"/>
          </a:solidFill>
          <a:ln w="10160">
            <a:solidFill>
              <a:srgbClr val="C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57200" y="7141464"/>
            <a:ext cx="292608" cy="292608"/>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7196328"/>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37" name="TextBox 36"/>
          <p:cNvSpPr txBox="1"/>
          <p:nvPr/>
        </p:nvSpPr>
        <p:spPr>
          <a:xfrm>
            <a:off x="832104" y="6912864"/>
            <a:ext cx="6464808" cy="768096"/>
          </a:xfrm>
          <a:prstGeom prst="rect">
            <a:avLst/>
          </a:prstGeom>
          <a:noFill/>
        </p:spPr>
        <p:txBody>
          <a:bodyPr wrap="square" lIns="0" rIns="0" tIns="0" bIns="0" anchor="ctr">
            <a:spAutoFit/>
          </a:bodyPr>
          <a:lstStyle/>
          <a:p>
            <a:pPr algn="l">
              <a:lnSpc>
                <a:spcPct val="100000"/>
              </a:lnSpc>
            </a:pPr>
            <a:r>
              <a:rPr sz="950" b="0" i="0">
                <a:solidFill>
                  <a:srgbClr val="20263A"/>
                </a:solidFill>
                <a:latin typeface="Arial"/>
              </a:rPr>
              <a:t>Keep a mass budget. Reserve roughly 10–15% for items you forgot. Weight added late forces faster flight, stronger structure, and often a larger power system.</a:t>
            </a:r>
          </a:p>
        </p:txBody>
      </p:sp>
      <p:sp>
        <p:nvSpPr>
          <p:cNvPr id="38" name="TextBox 37"/>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Ranges are broad hobby starting points, not category standards. Compare with proven models of similar scale.</a:t>
            </a:r>
          </a:p>
        </p:txBody>
      </p:sp>
      <p:sp>
        <p:nvSpPr>
          <p:cNvPr id="39" name="TextBox 38"/>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C83E3E"/>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700" b="1" i="0">
                <a:solidFill>
                  <a:srgbClr val="FFFFFF"/>
                </a:solidFill>
                <a:latin typeface="Arial"/>
              </a:rPr>
              <a:t>Stall speed: the speed where the wing runs out of usable lift</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equation links weight, area, air density, and maximum lift coefficient.</a:t>
            </a:r>
          </a:p>
        </p:txBody>
      </p:sp>
      <p:sp>
        <p:nvSpPr>
          <p:cNvPr id="8" name="Rounded Rectangle 7"/>
          <p:cNvSpPr/>
          <p:nvPr/>
        </p:nvSpPr>
        <p:spPr>
          <a:xfrm>
            <a:off x="347472" y="1188720"/>
            <a:ext cx="7077456" cy="1508760"/>
          </a:xfrm>
          <a:prstGeom prst="roundRect">
            <a:avLst>
              <a:gd name="adj" fmla="val 8000"/>
            </a:avLst>
          </a:prstGeom>
          <a:solidFill>
            <a:srgbClr val="FDEEEE"/>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188720"/>
            <a:ext cx="54864" cy="1508760"/>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298448"/>
            <a:ext cx="6812280" cy="164592"/>
          </a:xfrm>
          <a:prstGeom prst="rect">
            <a:avLst/>
          </a:prstGeom>
          <a:noFill/>
        </p:spPr>
        <p:txBody>
          <a:bodyPr wrap="square" lIns="0" rIns="0" tIns="0" bIns="0" anchor="t">
            <a:spAutoFit/>
          </a:bodyPr>
          <a:lstStyle/>
          <a:p>
            <a:pPr algn="l">
              <a:lnSpc>
                <a:spcPct val="100000"/>
              </a:lnSpc>
            </a:pPr>
            <a:r>
              <a:rPr sz="840" b="1" i="0">
                <a:solidFill>
                  <a:srgbClr val="C83E3E"/>
                </a:solidFill>
                <a:latin typeface="Arial"/>
              </a:rPr>
              <a:t>STALL-SPEED ESTIMATE</a:t>
            </a:r>
          </a:p>
        </p:txBody>
      </p:sp>
      <p:sp>
        <p:nvSpPr>
          <p:cNvPr id="11" name="TextBox 10"/>
          <p:cNvSpPr txBox="1"/>
          <p:nvPr/>
        </p:nvSpPr>
        <p:spPr>
          <a:xfrm>
            <a:off x="502920" y="1554480"/>
            <a:ext cx="6812280" cy="365760"/>
          </a:xfrm>
          <a:prstGeom prst="rect">
            <a:avLst/>
          </a:prstGeom>
          <a:noFill/>
        </p:spPr>
        <p:txBody>
          <a:bodyPr wrap="square" lIns="0" rIns="0" tIns="0" bIns="0" anchor="ctr">
            <a:spAutoFit/>
          </a:bodyPr>
          <a:lstStyle/>
          <a:p>
            <a:pPr algn="ctr">
              <a:lnSpc>
                <a:spcPct val="100000"/>
              </a:lnSpc>
            </a:pPr>
            <a:r>
              <a:rPr sz="2200" b="1" i="0">
                <a:solidFill>
                  <a:srgbClr val="20263A"/>
                </a:solidFill>
                <a:latin typeface="Arial"/>
              </a:rPr>
              <a:t>Vₛ = √[ 2 W / (ρ S Cₗmax) ]</a:t>
            </a:r>
          </a:p>
        </p:txBody>
      </p:sp>
      <p:sp>
        <p:nvSpPr>
          <p:cNvPr id="12" name="TextBox 11"/>
          <p:cNvSpPr txBox="1"/>
          <p:nvPr/>
        </p:nvSpPr>
        <p:spPr>
          <a:xfrm>
            <a:off x="502920" y="2029968"/>
            <a:ext cx="6812280" cy="566927"/>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W is weight in newtons, ρ is air density, S is wing area, and Cₗmax is the wing’s maximum lift coefficient.</a:t>
            </a:r>
          </a:p>
        </p:txBody>
      </p:sp>
      <p:sp>
        <p:nvSpPr>
          <p:cNvPr id="13" name="Rounded Rectangle 12"/>
          <p:cNvSpPr/>
          <p:nvPr/>
        </p:nvSpPr>
        <p:spPr>
          <a:xfrm>
            <a:off x="347472" y="2999232"/>
            <a:ext cx="3474720" cy="1627632"/>
          </a:xfrm>
          <a:prstGeom prst="roundRect">
            <a:avLst>
              <a:gd name="adj" fmla="val 8000"/>
            </a:avLst>
          </a:prstGeom>
          <a:solidFill>
            <a:srgbClr val="FDEEEE"/>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 y="2999232"/>
            <a:ext cx="50292" cy="1627632"/>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 y="3118103"/>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WEIGHT W</a:t>
            </a:r>
          </a:p>
        </p:txBody>
      </p:sp>
      <p:sp>
        <p:nvSpPr>
          <p:cNvPr id="16" name="TextBox 15"/>
          <p:cNvSpPr txBox="1"/>
          <p:nvPr/>
        </p:nvSpPr>
        <p:spPr>
          <a:xfrm>
            <a:off x="493776" y="3392424"/>
            <a:ext cx="3200400" cy="1133856"/>
          </a:xfrm>
          <a:prstGeom prst="rect">
            <a:avLst/>
          </a:prstGeom>
          <a:noFill/>
        </p:spPr>
        <p:txBody>
          <a:bodyPr wrap="square" lIns="0" rIns="0" tIns="0" bIns="0" anchor="t">
            <a:spAutoFit/>
          </a:bodyPr>
          <a:lstStyle/>
          <a:p>
            <a:pPr algn="l">
              <a:lnSpc>
                <a:spcPct val="100000"/>
              </a:lnSpc>
            </a:pPr>
            <a:r>
              <a:rPr sz="900" b="0" i="0">
                <a:solidFill>
                  <a:srgbClr val="20263A"/>
                </a:solidFill>
                <a:latin typeface="Arial"/>
              </a:rPr>
              <a:t>More weight raises stall speed. Doubling weight raises Vₛ by √2, not by 2.</a:t>
            </a:r>
          </a:p>
        </p:txBody>
      </p:sp>
      <p:sp>
        <p:nvSpPr>
          <p:cNvPr id="17" name="Rounded Rectangle 16"/>
          <p:cNvSpPr/>
          <p:nvPr/>
        </p:nvSpPr>
        <p:spPr>
          <a:xfrm>
            <a:off x="3950208" y="2999232"/>
            <a:ext cx="3474720" cy="1627632"/>
          </a:xfrm>
          <a:prstGeom prst="roundRect">
            <a:avLst>
              <a:gd name="adj" fmla="val 8000"/>
            </a:avLst>
          </a:prstGeom>
          <a:solidFill>
            <a:srgbClr val="EDF4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950208" y="2999232"/>
            <a:ext cx="50292" cy="1627632"/>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6512" y="3118103"/>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AREA S</a:t>
            </a:r>
          </a:p>
        </p:txBody>
      </p:sp>
      <p:sp>
        <p:nvSpPr>
          <p:cNvPr id="20" name="TextBox 19"/>
          <p:cNvSpPr txBox="1"/>
          <p:nvPr/>
        </p:nvSpPr>
        <p:spPr>
          <a:xfrm>
            <a:off x="4096512" y="3392424"/>
            <a:ext cx="3200400" cy="1133856"/>
          </a:xfrm>
          <a:prstGeom prst="rect">
            <a:avLst/>
          </a:prstGeom>
          <a:noFill/>
        </p:spPr>
        <p:txBody>
          <a:bodyPr wrap="square" lIns="0" rIns="0" tIns="0" bIns="0" anchor="t">
            <a:spAutoFit/>
          </a:bodyPr>
          <a:lstStyle/>
          <a:p>
            <a:pPr algn="l">
              <a:lnSpc>
                <a:spcPct val="100000"/>
              </a:lnSpc>
            </a:pPr>
            <a:r>
              <a:rPr sz="900" b="0" i="0">
                <a:solidFill>
                  <a:srgbClr val="20263A"/>
                </a:solidFill>
                <a:latin typeface="Arial"/>
              </a:rPr>
              <a:t>More wing area lowers stall speed. It also adds structure and drag.</a:t>
            </a:r>
          </a:p>
        </p:txBody>
      </p:sp>
      <p:sp>
        <p:nvSpPr>
          <p:cNvPr id="21" name="Rounded Rectangle 20"/>
          <p:cNvSpPr/>
          <p:nvPr/>
        </p:nvSpPr>
        <p:spPr>
          <a:xfrm>
            <a:off x="347472" y="4873752"/>
            <a:ext cx="3474720" cy="1627632"/>
          </a:xfrm>
          <a:prstGeom prst="roundRect">
            <a:avLst>
              <a:gd name="adj" fmla="val 8000"/>
            </a:avLst>
          </a:prstGeom>
          <a:solidFill>
            <a:srgbClr val="FFF3E9"/>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7472" y="4873752"/>
            <a:ext cx="50292" cy="1627632"/>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 y="499262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CₗMAX</a:t>
            </a:r>
          </a:p>
        </p:txBody>
      </p:sp>
      <p:sp>
        <p:nvSpPr>
          <p:cNvPr id="24" name="TextBox 23"/>
          <p:cNvSpPr txBox="1"/>
          <p:nvPr/>
        </p:nvSpPr>
        <p:spPr>
          <a:xfrm>
            <a:off x="493776" y="5266944"/>
            <a:ext cx="3200400" cy="1133856"/>
          </a:xfrm>
          <a:prstGeom prst="rect">
            <a:avLst/>
          </a:prstGeom>
          <a:noFill/>
        </p:spPr>
        <p:txBody>
          <a:bodyPr wrap="square" lIns="0" rIns="0" tIns="0" bIns="0" anchor="t">
            <a:spAutoFit/>
          </a:bodyPr>
          <a:lstStyle/>
          <a:p>
            <a:pPr algn="l">
              <a:lnSpc>
                <a:spcPct val="100000"/>
              </a:lnSpc>
            </a:pPr>
            <a:r>
              <a:rPr sz="900" b="0" i="0">
                <a:solidFill>
                  <a:srgbClr val="20263A"/>
                </a:solidFill>
                <a:latin typeface="Arial"/>
              </a:rPr>
              <a:t>Airfoil, roughness, Reynolds number, flap setting, planform, and stall pattern all affect it.</a:t>
            </a:r>
          </a:p>
        </p:txBody>
      </p:sp>
      <p:sp>
        <p:nvSpPr>
          <p:cNvPr id="25" name="Rounded Rectangle 24"/>
          <p:cNvSpPr/>
          <p:nvPr/>
        </p:nvSpPr>
        <p:spPr>
          <a:xfrm>
            <a:off x="3950208" y="4873752"/>
            <a:ext cx="3474720" cy="1627632"/>
          </a:xfrm>
          <a:prstGeom prst="roundRect">
            <a:avLst>
              <a:gd name="adj" fmla="val 8000"/>
            </a:avLst>
          </a:prstGeom>
          <a:solidFill>
            <a:srgbClr val="ECF7F0"/>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950208" y="4873752"/>
            <a:ext cx="50292" cy="1627632"/>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96512" y="499262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SPEED MARGIN</a:t>
            </a:r>
          </a:p>
        </p:txBody>
      </p:sp>
      <p:sp>
        <p:nvSpPr>
          <p:cNvPr id="28" name="TextBox 27"/>
          <p:cNvSpPr txBox="1"/>
          <p:nvPr/>
        </p:nvSpPr>
        <p:spPr>
          <a:xfrm>
            <a:off x="4096512" y="5266944"/>
            <a:ext cx="3200400" cy="1133856"/>
          </a:xfrm>
          <a:prstGeom prst="rect">
            <a:avLst/>
          </a:prstGeom>
          <a:noFill/>
        </p:spPr>
        <p:txBody>
          <a:bodyPr wrap="square" lIns="0" rIns="0" tIns="0" bIns="0" anchor="t">
            <a:spAutoFit/>
          </a:bodyPr>
          <a:lstStyle/>
          <a:p>
            <a:pPr algn="l">
              <a:lnSpc>
                <a:spcPct val="100000"/>
              </a:lnSpc>
            </a:pPr>
            <a:r>
              <a:rPr sz="900" b="0" i="0">
                <a:solidFill>
                  <a:srgbClr val="20263A"/>
                </a:solidFill>
                <a:latin typeface="Arial"/>
              </a:rPr>
              <a:t>A practical approach is often around 1.3 Vₛ in calm air, then adjusted for gusts and pilot skill.</a:t>
            </a:r>
          </a:p>
        </p:txBody>
      </p:sp>
      <p:sp>
        <p:nvSpPr>
          <p:cNvPr id="29" name="Rounded Rectangle 28"/>
          <p:cNvSpPr/>
          <p:nvPr/>
        </p:nvSpPr>
        <p:spPr>
          <a:xfrm>
            <a:off x="347472" y="6812280"/>
            <a:ext cx="7077456" cy="932688"/>
          </a:xfrm>
          <a:prstGeom prst="roundRect">
            <a:avLst>
              <a:gd name="adj" fmla="val 8000"/>
            </a:avLst>
          </a:prstGeom>
          <a:solidFill>
            <a:srgbClr val="FDEEEE"/>
          </a:solidFill>
          <a:ln w="10160">
            <a:solidFill>
              <a:srgbClr val="C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7200" y="7132320"/>
            <a:ext cx="292608" cy="292608"/>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7187184"/>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32" name="TextBox 31"/>
          <p:cNvSpPr txBox="1"/>
          <p:nvPr/>
        </p:nvSpPr>
        <p:spPr>
          <a:xfrm>
            <a:off x="832104" y="6903720"/>
            <a:ext cx="6464808" cy="768096"/>
          </a:xfrm>
          <a:prstGeom prst="rect">
            <a:avLst/>
          </a:prstGeom>
          <a:noFill/>
        </p:spPr>
        <p:txBody>
          <a:bodyPr wrap="square" lIns="0" rIns="0" tIns="0" bIns="0" anchor="ctr">
            <a:spAutoFit/>
          </a:bodyPr>
          <a:lstStyle/>
          <a:p>
            <a:pPr algn="l">
              <a:lnSpc>
                <a:spcPct val="100000"/>
              </a:lnSpc>
            </a:pPr>
            <a:r>
              <a:rPr sz="940" b="0" i="0">
                <a:solidFill>
                  <a:srgbClr val="20263A"/>
                </a:solidFill>
                <a:latin typeface="Arial"/>
              </a:rPr>
              <a:t>Cₗmax is usually the least certain input. Treat the result as an estimate and validate with conservative flight testing at safe altitude.</a:t>
            </a:r>
          </a:p>
        </p:txBody>
      </p:sp>
      <p:sp>
        <p:nvSpPr>
          <p:cNvPr id="33" name="TextBox 32"/>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Reference basis: NASA Glenn lift equation. The stall expression follows from setting lift equal to weight at Cₗmax.</a:t>
            </a:r>
          </a:p>
        </p:txBody>
      </p:sp>
      <p:sp>
        <p:nvSpPr>
          <p:cNvPr id="34" name="TextBox 33"/>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38C8C"/>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Span, chord, and aspect ratio</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Wing area sets the basic lift requirement; aspect ratio decides how that area is distributed.</a:t>
            </a:r>
          </a:p>
        </p:txBody>
      </p:sp>
      <p:sp>
        <p:nvSpPr>
          <p:cNvPr id="8" name="Rounded Rectangle 7"/>
          <p:cNvSpPr/>
          <p:nvPr/>
        </p:nvSpPr>
        <p:spPr>
          <a:xfrm>
            <a:off x="347472" y="1188720"/>
            <a:ext cx="7077456" cy="306324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899769" y="1840870"/>
            <a:ext cx="5991149" cy="1302837"/>
          </a:xfrm>
          <a:custGeom>
            <a:avLst/>
            <a:gdLst/>
            <a:ahLst/>
            <a:cxnLst/>
            <a:rect l="l" t="t" r="r" b="b"/>
            <a:pathLst>
              <a:path w="5991149" h="1302837">
                <a:moveTo>
                  <a:pt x="0" y="300654"/>
                </a:moveTo>
                <a:lnTo>
                  <a:pt x="2862438" y="0"/>
                </a:lnTo>
                <a:lnTo>
                  <a:pt x="3128711" y="0"/>
                </a:lnTo>
                <a:lnTo>
                  <a:pt x="5991149" y="300654"/>
                </a:lnTo>
                <a:lnTo>
                  <a:pt x="5724876" y="1302837"/>
                </a:lnTo>
                <a:lnTo>
                  <a:pt x="3128711" y="1052291"/>
                </a:lnTo>
                <a:lnTo>
                  <a:pt x="2862438" y="1052291"/>
                </a:lnTo>
                <a:lnTo>
                  <a:pt x="266273" y="1302837"/>
                </a:lnTo>
                <a:close/>
              </a:path>
            </a:pathLst>
          </a:custGeom>
          <a:solidFill>
            <a:srgbClr val="EDF4FF"/>
          </a:solidFill>
          <a:ln w="1524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3895344" y="1690542"/>
            <a:ext cx="0" cy="1653601"/>
          </a:xfrm>
          <a:prstGeom prst="line">
            <a:avLst/>
          </a:prstGeom>
          <a:ln w="11430">
            <a:solidFill>
              <a:srgbClr val="AEB6C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99769" y="1590324"/>
            <a:ext cx="5991149" cy="0"/>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99769" y="1515160"/>
            <a:ext cx="0" cy="150328"/>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90918" y="1515160"/>
            <a:ext cx="0" cy="150328"/>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229660" y="1364833"/>
            <a:ext cx="1331366" cy="300654"/>
          </a:xfrm>
          <a:prstGeom prst="rect">
            <a:avLst/>
          </a:prstGeom>
          <a:noFill/>
        </p:spPr>
        <p:txBody>
          <a:bodyPr wrap="square" lIns="0" rIns="0" tIns="0" bIns="0" anchor="t">
            <a:spAutoFit/>
          </a:bodyPr>
          <a:lstStyle/>
          <a:p>
            <a:pPr algn="ctr">
              <a:lnSpc>
                <a:spcPct val="100000"/>
              </a:lnSpc>
            </a:pPr>
            <a:r>
              <a:rPr sz="760" b="1" i="0">
                <a:solidFill>
                  <a:srgbClr val="A23DB6"/>
                </a:solidFill>
                <a:latin typeface="Arial"/>
              </a:rPr>
              <a:t>span b</a:t>
            </a:r>
          </a:p>
        </p:txBody>
      </p:sp>
      <p:cxnSp>
        <p:nvCxnSpPr>
          <p:cNvPr id="15" name="Connector 14"/>
          <p:cNvCxnSpPr/>
          <p:nvPr/>
        </p:nvCxnSpPr>
        <p:spPr>
          <a:xfrm>
            <a:off x="3895344" y="1840870"/>
            <a:ext cx="0" cy="1052291"/>
          </a:xfrm>
          <a:prstGeom prst="line">
            <a:avLst/>
          </a:prstGeom>
          <a:ln w="15240">
            <a:solidFill>
              <a:srgbClr val="2F8F5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028480" y="2141524"/>
            <a:ext cx="1331366" cy="300654"/>
          </a:xfrm>
          <a:prstGeom prst="rect">
            <a:avLst/>
          </a:prstGeom>
          <a:noFill/>
        </p:spPr>
        <p:txBody>
          <a:bodyPr wrap="square" lIns="0" rIns="0" tIns="0" bIns="0" anchor="t">
            <a:spAutoFit/>
          </a:bodyPr>
          <a:lstStyle/>
          <a:p>
            <a:pPr algn="l">
              <a:lnSpc>
                <a:spcPct val="100000"/>
              </a:lnSpc>
            </a:pPr>
            <a:r>
              <a:rPr sz="740" b="1" i="0">
                <a:solidFill>
                  <a:srgbClr val="2F8F5B"/>
                </a:solidFill>
                <a:latin typeface="Arial"/>
              </a:rPr>
              <a:t>chord c</a:t>
            </a:r>
          </a:p>
        </p:txBody>
      </p:sp>
      <p:sp>
        <p:nvSpPr>
          <p:cNvPr id="17" name="Rounded Rectangle 16"/>
          <p:cNvSpPr/>
          <p:nvPr/>
        </p:nvSpPr>
        <p:spPr>
          <a:xfrm>
            <a:off x="347472" y="4498848"/>
            <a:ext cx="3474720" cy="1664208"/>
          </a:xfrm>
          <a:prstGeom prst="roundRect">
            <a:avLst>
              <a:gd name="adj" fmla="val 8000"/>
            </a:avLst>
          </a:prstGeom>
          <a:solidFill>
            <a:srgbClr val="EAF7F6"/>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7472" y="4498848"/>
            <a:ext cx="54864" cy="1664208"/>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608576"/>
            <a:ext cx="3209544" cy="164592"/>
          </a:xfrm>
          <a:prstGeom prst="rect">
            <a:avLst/>
          </a:prstGeom>
          <a:noFill/>
        </p:spPr>
        <p:txBody>
          <a:bodyPr wrap="square" lIns="0" rIns="0" tIns="0" bIns="0" anchor="t">
            <a:spAutoFit/>
          </a:bodyPr>
          <a:lstStyle/>
          <a:p>
            <a:pPr algn="l">
              <a:lnSpc>
                <a:spcPct val="100000"/>
              </a:lnSpc>
            </a:pPr>
            <a:r>
              <a:rPr sz="840" b="1" i="0">
                <a:solidFill>
                  <a:srgbClr val="138C8C"/>
                </a:solidFill>
                <a:latin typeface="Arial"/>
              </a:rPr>
              <a:t>ASPECT RATIO</a:t>
            </a:r>
          </a:p>
        </p:txBody>
      </p:sp>
      <p:sp>
        <p:nvSpPr>
          <p:cNvPr id="20" name="TextBox 19"/>
          <p:cNvSpPr txBox="1"/>
          <p:nvPr/>
        </p:nvSpPr>
        <p:spPr>
          <a:xfrm>
            <a:off x="502920" y="4864608"/>
            <a:ext cx="3209544" cy="365760"/>
          </a:xfrm>
          <a:prstGeom prst="rect">
            <a:avLst/>
          </a:prstGeom>
          <a:noFill/>
        </p:spPr>
        <p:txBody>
          <a:bodyPr wrap="square" lIns="0" rIns="0" tIns="0" bIns="0" anchor="ctr">
            <a:spAutoFit/>
          </a:bodyPr>
          <a:lstStyle/>
          <a:p>
            <a:pPr algn="ctr">
              <a:lnSpc>
                <a:spcPct val="100000"/>
              </a:lnSpc>
            </a:pPr>
            <a:r>
              <a:rPr sz="2000" b="1" i="0">
                <a:solidFill>
                  <a:srgbClr val="20263A"/>
                </a:solidFill>
                <a:latin typeface="Arial"/>
              </a:rPr>
              <a:t>AR = b² / S</a:t>
            </a:r>
          </a:p>
        </p:txBody>
      </p:sp>
      <p:sp>
        <p:nvSpPr>
          <p:cNvPr id="21" name="TextBox 20"/>
          <p:cNvSpPr txBox="1"/>
          <p:nvPr/>
        </p:nvSpPr>
        <p:spPr>
          <a:xfrm>
            <a:off x="502920" y="5340096"/>
            <a:ext cx="3209544" cy="722376"/>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Long, narrow wings have high AR. Short, broad wings have low AR.</a:t>
            </a:r>
          </a:p>
        </p:txBody>
      </p:sp>
      <p:sp>
        <p:nvSpPr>
          <p:cNvPr id="22" name="Rounded Rectangle 21"/>
          <p:cNvSpPr/>
          <p:nvPr/>
        </p:nvSpPr>
        <p:spPr>
          <a:xfrm>
            <a:off x="3950208" y="4498848"/>
            <a:ext cx="3474720" cy="1664208"/>
          </a:xfrm>
          <a:prstGeom prst="roundRect">
            <a:avLst>
              <a:gd name="adj" fmla="val 8000"/>
            </a:avLst>
          </a:prstGeom>
          <a:solidFill>
            <a:srgbClr val="EDF4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950208" y="4498848"/>
            <a:ext cx="54864" cy="1664208"/>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05656" y="4608576"/>
            <a:ext cx="3209544" cy="164592"/>
          </a:xfrm>
          <a:prstGeom prst="rect">
            <a:avLst/>
          </a:prstGeom>
          <a:noFill/>
        </p:spPr>
        <p:txBody>
          <a:bodyPr wrap="square" lIns="0" rIns="0" tIns="0" bIns="0" anchor="t">
            <a:spAutoFit/>
          </a:bodyPr>
          <a:lstStyle/>
          <a:p>
            <a:pPr algn="l">
              <a:lnSpc>
                <a:spcPct val="100000"/>
              </a:lnSpc>
            </a:pPr>
            <a:r>
              <a:rPr sz="840" b="1" i="0">
                <a:solidFill>
                  <a:srgbClr val="246BCE"/>
                </a:solidFill>
                <a:latin typeface="Arial"/>
              </a:rPr>
              <a:t>RECTANGULAR WING</a:t>
            </a:r>
          </a:p>
        </p:txBody>
      </p:sp>
      <p:sp>
        <p:nvSpPr>
          <p:cNvPr id="25" name="TextBox 24"/>
          <p:cNvSpPr txBox="1"/>
          <p:nvPr/>
        </p:nvSpPr>
        <p:spPr>
          <a:xfrm>
            <a:off x="4105656" y="4864608"/>
            <a:ext cx="3209544" cy="365760"/>
          </a:xfrm>
          <a:prstGeom prst="rect">
            <a:avLst/>
          </a:prstGeom>
          <a:noFill/>
        </p:spPr>
        <p:txBody>
          <a:bodyPr wrap="square" lIns="0" rIns="0" tIns="0" bIns="0" anchor="ctr">
            <a:spAutoFit/>
          </a:bodyPr>
          <a:lstStyle/>
          <a:p>
            <a:pPr algn="ctr">
              <a:lnSpc>
                <a:spcPct val="100000"/>
              </a:lnSpc>
            </a:pPr>
            <a:r>
              <a:rPr sz="2000" b="1" i="0">
                <a:solidFill>
                  <a:srgbClr val="20263A"/>
                </a:solidFill>
                <a:latin typeface="Arial"/>
              </a:rPr>
              <a:t>S = b × c</a:t>
            </a:r>
          </a:p>
        </p:txBody>
      </p:sp>
      <p:sp>
        <p:nvSpPr>
          <p:cNvPr id="26" name="TextBox 25"/>
          <p:cNvSpPr txBox="1"/>
          <p:nvPr/>
        </p:nvSpPr>
        <p:spPr>
          <a:xfrm>
            <a:off x="4105656" y="5340096"/>
            <a:ext cx="3209544" cy="722376"/>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For a rectangle, average chord is simply area divided by span.</a:t>
            </a:r>
          </a:p>
        </p:txBody>
      </p:sp>
      <p:sp>
        <p:nvSpPr>
          <p:cNvPr id="27" name="Rounded Rectangle 26"/>
          <p:cNvSpPr/>
          <p:nvPr/>
        </p:nvSpPr>
        <p:spPr>
          <a:xfrm>
            <a:off x="347472" y="6419088"/>
            <a:ext cx="3474720" cy="13258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7472" y="6419088"/>
            <a:ext cx="50292" cy="1325880"/>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3776" y="653795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HIGHER AR</a:t>
            </a:r>
          </a:p>
        </p:txBody>
      </p:sp>
      <p:sp>
        <p:nvSpPr>
          <p:cNvPr id="30" name="TextBox 29"/>
          <p:cNvSpPr txBox="1"/>
          <p:nvPr/>
        </p:nvSpPr>
        <p:spPr>
          <a:xfrm>
            <a:off x="493776" y="6812279"/>
            <a:ext cx="3200400" cy="832103"/>
          </a:xfrm>
          <a:prstGeom prst="rect">
            <a:avLst/>
          </a:prstGeom>
          <a:noFill/>
        </p:spPr>
        <p:txBody>
          <a:bodyPr wrap="square" lIns="18288" rIns="9144" tIns="9144" bIns="9144">
            <a:spAutoFit/>
          </a:bodyPr>
          <a:lstStyle/>
          <a:p>
            <a:pPr>
              <a:lnSpc>
                <a:spcPct val="100000"/>
              </a:lnSpc>
              <a:spcAft>
                <a:spcPts val="250"/>
              </a:spcAft>
            </a:pPr>
            <a:r>
              <a:rPr sz="869">
                <a:solidFill>
                  <a:srgbClr val="20263A"/>
                </a:solidFill>
                <a:latin typeface="Arial"/>
              </a:rPr>
              <a:t>• Lower induced drag for a given lift.</a:t>
            </a:r>
          </a:p>
          <a:p>
            <a:pPr>
              <a:lnSpc>
                <a:spcPct val="100000"/>
              </a:lnSpc>
              <a:spcAft>
                <a:spcPts val="250"/>
              </a:spcAft>
            </a:pPr>
            <a:r>
              <a:rPr sz="869">
                <a:solidFill>
                  <a:srgbClr val="20263A"/>
                </a:solidFill>
                <a:latin typeface="Arial"/>
              </a:rPr>
              <a:t>• Efficient gliding.</a:t>
            </a:r>
          </a:p>
          <a:p>
            <a:pPr>
              <a:lnSpc>
                <a:spcPct val="100000"/>
              </a:lnSpc>
              <a:spcAft>
                <a:spcPts val="250"/>
              </a:spcAft>
            </a:pPr>
            <a:r>
              <a:rPr sz="869">
                <a:solidFill>
                  <a:srgbClr val="20263A"/>
                </a:solidFill>
                <a:latin typeface="Arial"/>
              </a:rPr>
              <a:t>• Longer spar and greater bending challenge.</a:t>
            </a:r>
          </a:p>
        </p:txBody>
      </p:sp>
      <p:sp>
        <p:nvSpPr>
          <p:cNvPr id="31" name="Rounded Rectangle 30"/>
          <p:cNvSpPr/>
          <p:nvPr/>
        </p:nvSpPr>
        <p:spPr>
          <a:xfrm>
            <a:off x="3950208" y="6419088"/>
            <a:ext cx="3474720" cy="13258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50208" y="6419088"/>
            <a:ext cx="50292" cy="132588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96512" y="653795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LOWER AR</a:t>
            </a:r>
          </a:p>
        </p:txBody>
      </p:sp>
      <p:sp>
        <p:nvSpPr>
          <p:cNvPr id="34" name="TextBox 33"/>
          <p:cNvSpPr txBox="1"/>
          <p:nvPr/>
        </p:nvSpPr>
        <p:spPr>
          <a:xfrm>
            <a:off x="4096512" y="6812279"/>
            <a:ext cx="3200400" cy="832103"/>
          </a:xfrm>
          <a:prstGeom prst="rect">
            <a:avLst/>
          </a:prstGeom>
          <a:noFill/>
        </p:spPr>
        <p:txBody>
          <a:bodyPr wrap="square" lIns="18288" rIns="9144" tIns="9144" bIns="9144">
            <a:spAutoFit/>
          </a:bodyPr>
          <a:lstStyle/>
          <a:p>
            <a:pPr>
              <a:lnSpc>
                <a:spcPct val="100000"/>
              </a:lnSpc>
              <a:spcAft>
                <a:spcPts val="250"/>
              </a:spcAft>
            </a:pPr>
            <a:r>
              <a:rPr sz="869">
                <a:solidFill>
                  <a:srgbClr val="20263A"/>
                </a:solidFill>
                <a:latin typeface="Arial"/>
              </a:rPr>
              <a:t>• Compact and often agile.</a:t>
            </a:r>
          </a:p>
          <a:p>
            <a:pPr>
              <a:lnSpc>
                <a:spcPct val="100000"/>
              </a:lnSpc>
              <a:spcAft>
                <a:spcPts val="250"/>
              </a:spcAft>
            </a:pPr>
            <a:r>
              <a:rPr sz="869">
                <a:solidFill>
                  <a:srgbClr val="20263A"/>
                </a:solidFill>
                <a:latin typeface="Arial"/>
              </a:rPr>
              <a:t>• More induced drag.</a:t>
            </a:r>
          </a:p>
          <a:p>
            <a:pPr>
              <a:lnSpc>
                <a:spcPct val="100000"/>
              </a:lnSpc>
              <a:spcAft>
                <a:spcPts val="250"/>
              </a:spcAft>
            </a:pPr>
            <a:r>
              <a:rPr sz="869">
                <a:solidFill>
                  <a:srgbClr val="20263A"/>
                </a:solidFill>
                <a:latin typeface="Arial"/>
              </a:rPr>
              <a:t>• Usually easier to make stiff.</a:t>
            </a:r>
          </a:p>
        </p:txBody>
      </p:sp>
      <p:sp>
        <p:nvSpPr>
          <p:cNvPr id="35" name="TextBox 34"/>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Reference basis: NASA Glenn aspect-ratio definition and finite-wing behavior.</a:t>
            </a:r>
          </a:p>
        </p:txBody>
      </p:sp>
      <p:sp>
        <p:nvSpPr>
          <p:cNvPr id="36" name="TextBox 35"/>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46BCE"/>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Planform, taper, and sweep</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outline of the wing affects stall progression, structure, efficiency, and control placement.</a:t>
            </a:r>
          </a:p>
        </p:txBody>
      </p:sp>
      <p:sp>
        <p:nvSpPr>
          <p:cNvPr id="8" name="Rounded Rectangle 7"/>
          <p:cNvSpPr/>
          <p:nvPr/>
        </p:nvSpPr>
        <p:spPr>
          <a:xfrm>
            <a:off x="347472" y="1188720"/>
            <a:ext cx="3474720" cy="3218688"/>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 y="1307592"/>
            <a:ext cx="3182112" cy="201168"/>
          </a:xfrm>
          <a:prstGeom prst="rect">
            <a:avLst/>
          </a:prstGeom>
          <a:noFill/>
        </p:spPr>
        <p:txBody>
          <a:bodyPr wrap="square" lIns="0" rIns="0" tIns="0" bIns="0" anchor="t">
            <a:spAutoFit/>
          </a:bodyPr>
          <a:lstStyle/>
          <a:p>
            <a:pPr algn="ctr">
              <a:lnSpc>
                <a:spcPct val="100000"/>
              </a:lnSpc>
            </a:pPr>
            <a:r>
              <a:rPr sz="1000" b="1" i="0">
                <a:solidFill>
                  <a:srgbClr val="2F8F5B"/>
                </a:solidFill>
                <a:latin typeface="Arial"/>
              </a:rPr>
              <a:t>RECTANGULAR</a:t>
            </a:r>
          </a:p>
        </p:txBody>
      </p:sp>
      <p:sp>
        <p:nvSpPr>
          <p:cNvPr id="10" name="Freeform 9"/>
          <p:cNvSpPr/>
          <p:nvPr/>
        </p:nvSpPr>
        <p:spPr>
          <a:xfrm>
            <a:off x="702259" y="2020824"/>
            <a:ext cx="2765145" cy="773582"/>
          </a:xfrm>
          <a:custGeom>
            <a:avLst/>
            <a:gdLst/>
            <a:ahLst/>
            <a:cxnLst/>
            <a:rect l="l" t="t" r="r" b="b"/>
            <a:pathLst>
              <a:path w="2765145" h="773582">
                <a:moveTo>
                  <a:pt x="0" y="0"/>
                </a:moveTo>
                <a:lnTo>
                  <a:pt x="2765145" y="0"/>
                </a:lnTo>
                <a:lnTo>
                  <a:pt x="2765145" y="773582"/>
                </a:lnTo>
                <a:lnTo>
                  <a:pt x="0" y="773582"/>
                </a:lnTo>
                <a:close/>
              </a:path>
            </a:pathLst>
          </a:custGeom>
          <a:solidFill>
            <a:srgbClr val="EDF4FF"/>
          </a:solidFill>
          <a:ln w="1524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2084831" y="1797344"/>
            <a:ext cx="0" cy="1134588"/>
          </a:xfrm>
          <a:prstGeom prst="line">
            <a:avLst/>
          </a:prstGeom>
          <a:ln w="11430">
            <a:solidFill>
              <a:srgbClr val="AEB6C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02259" y="1728581"/>
            <a:ext cx="2765145" cy="0"/>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02259" y="1677009"/>
            <a:ext cx="0" cy="103144"/>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467404" y="1677009"/>
            <a:ext cx="0" cy="103144"/>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777593" y="1573865"/>
            <a:ext cx="614476" cy="206288"/>
          </a:xfrm>
          <a:prstGeom prst="rect">
            <a:avLst/>
          </a:prstGeom>
          <a:noFill/>
        </p:spPr>
        <p:txBody>
          <a:bodyPr wrap="square" lIns="0" rIns="0" tIns="0" bIns="0" anchor="t">
            <a:spAutoFit/>
          </a:bodyPr>
          <a:lstStyle/>
          <a:p>
            <a:pPr algn="ctr">
              <a:lnSpc>
                <a:spcPct val="100000"/>
              </a:lnSpc>
            </a:pPr>
            <a:r>
              <a:rPr sz="760" b="1" i="0">
                <a:solidFill>
                  <a:srgbClr val="A23DB6"/>
                </a:solidFill>
                <a:latin typeface="Arial"/>
              </a:rPr>
              <a:t>span b</a:t>
            </a:r>
          </a:p>
        </p:txBody>
      </p:sp>
      <p:cxnSp>
        <p:nvCxnSpPr>
          <p:cNvPr id="16" name="Connector 15"/>
          <p:cNvCxnSpPr/>
          <p:nvPr/>
        </p:nvCxnSpPr>
        <p:spPr>
          <a:xfrm>
            <a:off x="2084831" y="1900488"/>
            <a:ext cx="0" cy="722011"/>
          </a:xfrm>
          <a:prstGeom prst="line">
            <a:avLst/>
          </a:prstGeom>
          <a:ln w="15240">
            <a:solidFill>
              <a:srgbClr val="2F8F5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146279" y="2106777"/>
            <a:ext cx="614476" cy="206288"/>
          </a:xfrm>
          <a:prstGeom prst="rect">
            <a:avLst/>
          </a:prstGeom>
          <a:noFill/>
        </p:spPr>
        <p:txBody>
          <a:bodyPr wrap="square" lIns="0" rIns="0" tIns="0" bIns="0" anchor="t">
            <a:spAutoFit/>
          </a:bodyPr>
          <a:lstStyle/>
          <a:p>
            <a:pPr algn="l">
              <a:lnSpc>
                <a:spcPct val="100000"/>
              </a:lnSpc>
            </a:pPr>
            <a:r>
              <a:rPr sz="740" b="1" i="0">
                <a:solidFill>
                  <a:srgbClr val="2F8F5B"/>
                </a:solidFill>
                <a:latin typeface="Arial"/>
              </a:rPr>
              <a:t>chord c</a:t>
            </a:r>
          </a:p>
        </p:txBody>
      </p:sp>
      <p:sp>
        <p:nvSpPr>
          <p:cNvPr id="18" name="TextBox 17"/>
          <p:cNvSpPr txBox="1"/>
          <p:nvPr/>
        </p:nvSpPr>
        <p:spPr>
          <a:xfrm>
            <a:off x="566928" y="3566160"/>
            <a:ext cx="3035808" cy="530352"/>
          </a:xfrm>
          <a:prstGeom prst="rect">
            <a:avLst/>
          </a:prstGeom>
          <a:noFill/>
        </p:spPr>
        <p:txBody>
          <a:bodyPr wrap="square" lIns="0" rIns="0" tIns="0" bIns="0" anchor="t">
            <a:spAutoFit/>
          </a:bodyPr>
          <a:lstStyle/>
          <a:p>
            <a:pPr algn="ctr">
              <a:lnSpc>
                <a:spcPct val="100000"/>
              </a:lnSpc>
            </a:pPr>
            <a:r>
              <a:rPr sz="869" b="0" i="0">
                <a:solidFill>
                  <a:srgbClr val="20263A"/>
                </a:solidFill>
                <a:latin typeface="Arial"/>
              </a:rPr>
              <a:t>Easy to build; friendly stall; excellent first design.</a:t>
            </a:r>
          </a:p>
        </p:txBody>
      </p:sp>
      <p:sp>
        <p:nvSpPr>
          <p:cNvPr id="19" name="Rounded Rectangle 18"/>
          <p:cNvSpPr/>
          <p:nvPr/>
        </p:nvSpPr>
        <p:spPr>
          <a:xfrm>
            <a:off x="3950208" y="1188720"/>
            <a:ext cx="3474720" cy="3218688"/>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96512" y="1307592"/>
            <a:ext cx="3182112" cy="201168"/>
          </a:xfrm>
          <a:prstGeom prst="rect">
            <a:avLst/>
          </a:prstGeom>
          <a:noFill/>
        </p:spPr>
        <p:txBody>
          <a:bodyPr wrap="square" lIns="0" rIns="0" tIns="0" bIns="0" anchor="t">
            <a:spAutoFit/>
          </a:bodyPr>
          <a:lstStyle/>
          <a:p>
            <a:pPr algn="ctr">
              <a:lnSpc>
                <a:spcPct val="100000"/>
              </a:lnSpc>
            </a:pPr>
            <a:r>
              <a:rPr sz="1000" b="1" i="0">
                <a:solidFill>
                  <a:srgbClr val="246BCE"/>
                </a:solidFill>
                <a:latin typeface="Arial"/>
              </a:rPr>
              <a:t>MILD TAPER</a:t>
            </a:r>
          </a:p>
        </p:txBody>
      </p:sp>
      <p:sp>
        <p:nvSpPr>
          <p:cNvPr id="21" name="Freeform 20"/>
          <p:cNvSpPr/>
          <p:nvPr/>
        </p:nvSpPr>
        <p:spPr>
          <a:xfrm>
            <a:off x="4304995" y="1900488"/>
            <a:ext cx="2765145" cy="893918"/>
          </a:xfrm>
          <a:custGeom>
            <a:avLst/>
            <a:gdLst/>
            <a:ahLst/>
            <a:cxnLst/>
            <a:rect l="l" t="t" r="r" b="b"/>
            <a:pathLst>
              <a:path w="2765145" h="893918">
                <a:moveTo>
                  <a:pt x="0" y="206289"/>
                </a:moveTo>
                <a:lnTo>
                  <a:pt x="1321125" y="0"/>
                </a:lnTo>
                <a:lnTo>
                  <a:pt x="1444020" y="0"/>
                </a:lnTo>
                <a:lnTo>
                  <a:pt x="2765145" y="206289"/>
                </a:lnTo>
                <a:lnTo>
                  <a:pt x="2642250" y="893918"/>
                </a:lnTo>
                <a:lnTo>
                  <a:pt x="1444020" y="722011"/>
                </a:lnTo>
                <a:lnTo>
                  <a:pt x="1321125" y="722011"/>
                </a:lnTo>
                <a:lnTo>
                  <a:pt x="122895" y="893918"/>
                </a:lnTo>
                <a:close/>
              </a:path>
            </a:pathLst>
          </a:custGeom>
          <a:solidFill>
            <a:srgbClr val="EDF4FF"/>
          </a:solidFill>
          <a:ln w="1524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5687568" y="1797344"/>
            <a:ext cx="0" cy="1134588"/>
          </a:xfrm>
          <a:prstGeom prst="line">
            <a:avLst/>
          </a:prstGeom>
          <a:ln w="11430">
            <a:solidFill>
              <a:srgbClr val="AEB6C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304995" y="1728581"/>
            <a:ext cx="2765145" cy="0"/>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304995" y="1677009"/>
            <a:ext cx="0" cy="103144"/>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070140" y="1677009"/>
            <a:ext cx="0" cy="103144"/>
          </a:xfrm>
          <a:prstGeom prst="line">
            <a:avLst/>
          </a:prstGeom>
          <a:ln w="12700">
            <a:solidFill>
              <a:srgbClr val="A23DB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380329" y="1573865"/>
            <a:ext cx="614476" cy="206288"/>
          </a:xfrm>
          <a:prstGeom prst="rect">
            <a:avLst/>
          </a:prstGeom>
          <a:noFill/>
        </p:spPr>
        <p:txBody>
          <a:bodyPr wrap="square" lIns="0" rIns="0" tIns="0" bIns="0" anchor="t">
            <a:spAutoFit/>
          </a:bodyPr>
          <a:lstStyle/>
          <a:p>
            <a:pPr algn="ctr">
              <a:lnSpc>
                <a:spcPct val="100000"/>
              </a:lnSpc>
            </a:pPr>
            <a:r>
              <a:rPr sz="760" b="1" i="0">
                <a:solidFill>
                  <a:srgbClr val="A23DB6"/>
                </a:solidFill>
                <a:latin typeface="Arial"/>
              </a:rPr>
              <a:t>span b</a:t>
            </a:r>
          </a:p>
        </p:txBody>
      </p:sp>
      <p:cxnSp>
        <p:nvCxnSpPr>
          <p:cNvPr id="27" name="Connector 26"/>
          <p:cNvCxnSpPr/>
          <p:nvPr/>
        </p:nvCxnSpPr>
        <p:spPr>
          <a:xfrm>
            <a:off x="5687568" y="1900488"/>
            <a:ext cx="0" cy="722011"/>
          </a:xfrm>
          <a:prstGeom prst="line">
            <a:avLst/>
          </a:prstGeom>
          <a:ln w="15240">
            <a:solidFill>
              <a:srgbClr val="2F8F5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749015" y="2106777"/>
            <a:ext cx="614476" cy="206288"/>
          </a:xfrm>
          <a:prstGeom prst="rect">
            <a:avLst/>
          </a:prstGeom>
          <a:noFill/>
        </p:spPr>
        <p:txBody>
          <a:bodyPr wrap="square" lIns="0" rIns="0" tIns="0" bIns="0" anchor="t">
            <a:spAutoFit/>
          </a:bodyPr>
          <a:lstStyle/>
          <a:p>
            <a:pPr algn="l">
              <a:lnSpc>
                <a:spcPct val="100000"/>
              </a:lnSpc>
            </a:pPr>
            <a:r>
              <a:rPr sz="740" b="1" i="0">
                <a:solidFill>
                  <a:srgbClr val="2F8F5B"/>
                </a:solidFill>
                <a:latin typeface="Arial"/>
              </a:rPr>
              <a:t>chord c</a:t>
            </a:r>
          </a:p>
        </p:txBody>
      </p:sp>
      <p:sp>
        <p:nvSpPr>
          <p:cNvPr id="29" name="TextBox 28"/>
          <p:cNvSpPr txBox="1"/>
          <p:nvPr/>
        </p:nvSpPr>
        <p:spPr>
          <a:xfrm>
            <a:off x="4169664" y="3566160"/>
            <a:ext cx="3035808" cy="530352"/>
          </a:xfrm>
          <a:prstGeom prst="rect">
            <a:avLst/>
          </a:prstGeom>
          <a:noFill/>
        </p:spPr>
        <p:txBody>
          <a:bodyPr wrap="square" lIns="0" rIns="0" tIns="0" bIns="0" anchor="t">
            <a:spAutoFit/>
          </a:bodyPr>
          <a:lstStyle/>
          <a:p>
            <a:pPr algn="ctr">
              <a:lnSpc>
                <a:spcPct val="100000"/>
              </a:lnSpc>
            </a:pPr>
            <a:r>
              <a:rPr sz="869" b="0" i="0">
                <a:solidFill>
                  <a:srgbClr val="20263A"/>
                </a:solidFill>
                <a:latin typeface="Arial"/>
              </a:rPr>
              <a:t>Less tip area and drag; keep taper modest for a trainer.</a:t>
            </a:r>
          </a:p>
        </p:txBody>
      </p:sp>
      <p:sp>
        <p:nvSpPr>
          <p:cNvPr id="30" name="Rounded Rectangle 29"/>
          <p:cNvSpPr/>
          <p:nvPr/>
        </p:nvSpPr>
        <p:spPr>
          <a:xfrm>
            <a:off x="347472" y="4736592"/>
            <a:ext cx="3474720" cy="3218688"/>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6" y="4855464"/>
            <a:ext cx="3182112" cy="201168"/>
          </a:xfrm>
          <a:prstGeom prst="rect">
            <a:avLst/>
          </a:prstGeom>
          <a:noFill/>
        </p:spPr>
        <p:txBody>
          <a:bodyPr wrap="square" lIns="0" rIns="0" tIns="0" bIns="0" anchor="t">
            <a:spAutoFit/>
          </a:bodyPr>
          <a:lstStyle/>
          <a:p>
            <a:pPr algn="ctr">
              <a:lnSpc>
                <a:spcPct val="100000"/>
              </a:lnSpc>
            </a:pPr>
            <a:r>
              <a:rPr sz="1000" b="1" i="0">
                <a:solidFill>
                  <a:srgbClr val="C83E3E"/>
                </a:solidFill>
                <a:latin typeface="Arial"/>
              </a:rPr>
              <a:t>STRONG TAPER</a:t>
            </a:r>
          </a:p>
        </p:txBody>
      </p:sp>
      <p:sp>
        <p:nvSpPr>
          <p:cNvPr id="33" name="TextBox 32"/>
          <p:cNvSpPr txBox="1"/>
          <p:nvPr/>
        </p:nvSpPr>
        <p:spPr>
          <a:xfrm>
            <a:off x="566928" y="7114031"/>
            <a:ext cx="3035808" cy="530352"/>
          </a:xfrm>
          <a:prstGeom prst="rect">
            <a:avLst/>
          </a:prstGeom>
          <a:noFill/>
        </p:spPr>
        <p:txBody>
          <a:bodyPr wrap="square" lIns="0" rIns="0" tIns="0" bIns="0" anchor="t">
            <a:spAutoFit/>
          </a:bodyPr>
          <a:lstStyle/>
          <a:p>
            <a:pPr algn="ctr">
              <a:lnSpc>
                <a:spcPct val="100000"/>
              </a:lnSpc>
            </a:pPr>
            <a:r>
              <a:rPr sz="869" b="0" i="0">
                <a:solidFill>
                  <a:srgbClr val="20263A"/>
                </a:solidFill>
                <a:latin typeface="Arial"/>
              </a:rPr>
              <a:t>Can tip-stall abruptly without washout or airfoil changes.</a:t>
            </a:r>
          </a:p>
        </p:txBody>
      </p:sp>
      <p:sp>
        <p:nvSpPr>
          <p:cNvPr id="34" name="Rounded Rectangle 33"/>
          <p:cNvSpPr/>
          <p:nvPr/>
        </p:nvSpPr>
        <p:spPr>
          <a:xfrm>
            <a:off x="3950208" y="4736592"/>
            <a:ext cx="3474720" cy="3218688"/>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96512" y="4855464"/>
            <a:ext cx="3182112" cy="201168"/>
          </a:xfrm>
          <a:prstGeom prst="rect">
            <a:avLst/>
          </a:prstGeom>
          <a:noFill/>
        </p:spPr>
        <p:txBody>
          <a:bodyPr wrap="square" lIns="0" rIns="0" tIns="0" bIns="0" anchor="t">
            <a:spAutoFit/>
          </a:bodyPr>
          <a:lstStyle/>
          <a:p>
            <a:pPr algn="ctr">
              <a:lnSpc>
                <a:spcPct val="100000"/>
              </a:lnSpc>
            </a:pPr>
            <a:r>
              <a:rPr sz="1000" b="1" i="0">
                <a:solidFill>
                  <a:srgbClr val="A23DB6"/>
                </a:solidFill>
                <a:latin typeface="Arial"/>
              </a:rPr>
              <a:t>SWEPT</a:t>
            </a:r>
          </a:p>
        </p:txBody>
      </p:sp>
      <p:sp>
        <p:nvSpPr>
          <p:cNvPr id="37" name="TextBox 36"/>
          <p:cNvSpPr txBox="1"/>
          <p:nvPr/>
        </p:nvSpPr>
        <p:spPr>
          <a:xfrm>
            <a:off x="4169664" y="7114031"/>
            <a:ext cx="3035808" cy="530352"/>
          </a:xfrm>
          <a:prstGeom prst="rect">
            <a:avLst/>
          </a:prstGeom>
          <a:noFill/>
        </p:spPr>
        <p:txBody>
          <a:bodyPr wrap="square" lIns="0" rIns="0" tIns="0" bIns="0" anchor="t">
            <a:spAutoFit/>
          </a:bodyPr>
          <a:lstStyle/>
          <a:p>
            <a:pPr algn="ctr">
              <a:lnSpc>
                <a:spcPct val="100000"/>
              </a:lnSpc>
            </a:pPr>
            <a:r>
              <a:rPr sz="869" b="0" i="0">
                <a:solidFill>
                  <a:srgbClr val="20263A"/>
                </a:solidFill>
                <a:latin typeface="Arial"/>
              </a:rPr>
              <a:t>Moves aerodynamic center and complicates CG/MAC reasoning.</a:t>
            </a:r>
          </a:p>
        </p:txBody>
      </p:sp>
      <p:sp>
        <p:nvSpPr>
          <p:cNvPr id="38" name="TextBox 37"/>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For a first scratch-built trainer, rectangular or mild taper is the lowest-risk planform choice.</a:t>
            </a:r>
          </a:p>
        </p:txBody>
      </p:sp>
      <p:sp>
        <p:nvSpPr>
          <p:cNvPr id="39" name="TextBox 38"/>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16</a:t>
            </a:r>
          </a:p>
        </p:txBody>
      </p:sp>
      <p:sp>
        <p:nvSpPr>
          <p:cNvPr id="32" name="Freeform 31"/>
          <p:cNvSpPr/>
          <p:nvPr/>
        </p:nvSpPr>
        <p:spPr>
          <a:xfrm>
            <a:off x="704088" y="5605272"/>
            <a:ext cx="2761488" cy="768096"/>
          </a:xfrm>
          <a:custGeom>
            <a:avLst/>
            <a:gdLst/>
            <a:ahLst/>
            <a:cxnLst/>
            <a:rect l="l" t="t" r="r" b="b"/>
            <a:pathLst>
              <a:path w="2761488" h="768096">
                <a:moveTo>
                  <a:pt x="0" y="274320"/>
                </a:moveTo>
                <a:lnTo>
                  <a:pt x="1380743" y="0"/>
                </a:lnTo>
                <a:lnTo>
                  <a:pt x="2761488" y="274320"/>
                </a:lnTo>
                <a:lnTo>
                  <a:pt x="2761488" y="493776"/>
                </a:lnTo>
                <a:lnTo>
                  <a:pt x="1380743" y="768096"/>
                </a:lnTo>
                <a:lnTo>
                  <a:pt x="0" y="493776"/>
                </a:lnTo>
                <a:close/>
              </a:path>
            </a:pathLst>
          </a:custGeom>
          <a:solidFill>
            <a:srgbClr val="FDEEEE"/>
          </a:solidFill>
          <a:ln w="19050">
            <a:solidFill>
              <a:srgbClr val="C8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2084831" y="5605272"/>
            <a:ext cx="0" cy="768096"/>
          </a:xfrm>
          <a:prstGeom prst="line">
            <a:avLst/>
          </a:prstGeom>
          <a:ln w="9525">
            <a:solidFill>
              <a:srgbClr val="C83E3E"/>
            </a:solidFill>
            <a:prstDash val="dash"/>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463040" y="6455664"/>
            <a:ext cx="1280160" cy="164592"/>
          </a:xfrm>
          <a:prstGeom prst="rect">
            <a:avLst/>
          </a:prstGeom>
          <a:noFill/>
        </p:spPr>
        <p:txBody>
          <a:bodyPr wrap="square" lIns="0" rIns="0" tIns="0" bIns="0">
            <a:spAutoFit/>
          </a:bodyPr>
          <a:lstStyle/>
          <a:p>
            <a:pPr algn="ctr"/>
            <a:r>
              <a:rPr sz="700" b="0" i="0">
                <a:solidFill>
                  <a:srgbClr val="5F687D"/>
                </a:solidFill>
                <a:latin typeface="Arial"/>
              </a:rPr>
              <a:t>large root chord</a:t>
            </a:r>
          </a:p>
        </p:txBody>
      </p:sp>
      <p:cxnSp>
        <p:nvCxnSpPr>
          <p:cNvPr id="42" name="Connector 41"/>
          <p:cNvCxnSpPr/>
          <p:nvPr/>
        </p:nvCxnSpPr>
        <p:spPr>
          <a:xfrm>
            <a:off x="3593592" y="5879592"/>
            <a:ext cx="0" cy="219456"/>
          </a:xfrm>
          <a:prstGeom prst="line">
            <a:avLst/>
          </a:prstGeom>
          <a:ln w="12700">
            <a:solidFill>
              <a:srgbClr val="5F687D"/>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788920" y="6272784"/>
            <a:ext cx="960120" cy="164592"/>
          </a:xfrm>
          <a:prstGeom prst="rect">
            <a:avLst/>
          </a:prstGeom>
          <a:noFill/>
        </p:spPr>
        <p:txBody>
          <a:bodyPr wrap="square" lIns="0" rIns="0" tIns="0" bIns="0">
            <a:spAutoFit/>
          </a:bodyPr>
          <a:lstStyle/>
          <a:p>
            <a:pPr algn="l"/>
            <a:r>
              <a:rPr sz="700" b="0" i="0">
                <a:solidFill>
                  <a:srgbClr val="5F687D"/>
                </a:solidFill>
                <a:latin typeface="Arial"/>
              </a:rPr>
              <a:t>small tip chord</a:t>
            </a:r>
          </a:p>
        </p:txBody>
      </p:sp>
      <p:sp>
        <p:nvSpPr>
          <p:cNvPr id="44" name="TextBox 43"/>
          <p:cNvSpPr txBox="1"/>
          <p:nvPr/>
        </p:nvSpPr>
        <p:spPr>
          <a:xfrm>
            <a:off x="566928" y="5175504"/>
            <a:ext cx="3017520" cy="310896"/>
          </a:xfrm>
          <a:prstGeom prst="rect">
            <a:avLst/>
          </a:prstGeom>
          <a:noFill/>
        </p:spPr>
        <p:txBody>
          <a:bodyPr wrap="square" lIns="0" rIns="0" tIns="0" bIns="0">
            <a:spAutoFit/>
          </a:bodyPr>
          <a:lstStyle/>
          <a:p>
            <a:pPr algn="ctr"/>
            <a:r>
              <a:rPr sz="750" b="0" i="1">
                <a:solidFill>
                  <a:srgbClr val="5F687D"/>
                </a:solidFill>
                <a:latin typeface="Arial"/>
              </a:rPr>
              <a:t>chord shrinks toward the tip — leading and trailing edges both angle in, no sweep</a:t>
            </a:r>
          </a:p>
        </p:txBody>
      </p:sp>
      <p:sp>
        <p:nvSpPr>
          <p:cNvPr id="36" name="Freeform 35"/>
          <p:cNvSpPr/>
          <p:nvPr/>
        </p:nvSpPr>
        <p:spPr>
          <a:xfrm>
            <a:off x="4306824" y="5596128"/>
            <a:ext cx="2761488" cy="749808"/>
          </a:xfrm>
          <a:custGeom>
            <a:avLst/>
            <a:gdLst/>
            <a:ahLst/>
            <a:cxnLst/>
            <a:rect l="l" t="t" r="r" b="b"/>
            <a:pathLst>
              <a:path w="2761488" h="749808">
                <a:moveTo>
                  <a:pt x="0" y="457200"/>
                </a:moveTo>
                <a:lnTo>
                  <a:pt x="1380744" y="0"/>
                </a:lnTo>
                <a:lnTo>
                  <a:pt x="2761488" y="457200"/>
                </a:lnTo>
                <a:lnTo>
                  <a:pt x="2761488" y="749808"/>
                </a:lnTo>
                <a:lnTo>
                  <a:pt x="1380744" y="292608"/>
                </a:lnTo>
                <a:lnTo>
                  <a:pt x="0" y="749808"/>
                </a:lnTo>
                <a:close/>
              </a:path>
            </a:pathLst>
          </a:custGeom>
          <a:solidFill>
            <a:srgbClr val="F5EDFA"/>
          </a:solidFill>
          <a:ln w="19050">
            <a:solidFill>
              <a:srgbClr val="A23D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5687568" y="5669280"/>
            <a:ext cx="1216152" cy="0"/>
          </a:xfrm>
          <a:prstGeom prst="line">
            <a:avLst/>
          </a:prstGeom>
          <a:ln w="12700">
            <a:solidFill>
              <a:srgbClr val="5F687D"/>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Arc 45"/>
          <p:cNvSpPr/>
          <p:nvPr/>
        </p:nvSpPr>
        <p:spPr>
          <a:xfrm>
            <a:off x="5001768" y="4983480"/>
            <a:ext cx="1371600" cy="1371600"/>
          </a:xfrm>
          <a:prstGeom prst="arc">
            <a:avLst>
              <a:gd name="adj1" fmla="val 0"/>
              <a:gd name="adj2" fmla="val 1020000"/>
            </a:avLst>
          </a:prstGeom>
          <a:noFill/>
          <a:ln w="15875">
            <a:solidFill>
              <a:srgbClr val="A23DB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99632" y="5394960"/>
            <a:ext cx="1188720" cy="164592"/>
          </a:xfrm>
          <a:prstGeom prst="rect">
            <a:avLst/>
          </a:prstGeom>
          <a:noFill/>
        </p:spPr>
        <p:txBody>
          <a:bodyPr wrap="square" lIns="0" rIns="0" tIns="0" bIns="0">
            <a:spAutoFit/>
          </a:bodyPr>
          <a:lstStyle/>
          <a:p>
            <a:pPr algn="l"/>
            <a:r>
              <a:rPr sz="750" b="1" i="0">
                <a:solidFill>
                  <a:srgbClr val="A23DB6"/>
                </a:solidFill>
                <a:latin typeface="Arial"/>
              </a:rPr>
              <a:t>sweep angle Λ</a:t>
            </a:r>
          </a:p>
        </p:txBody>
      </p:sp>
      <p:sp>
        <p:nvSpPr>
          <p:cNvPr id="48" name="TextBox 47"/>
          <p:cNvSpPr txBox="1"/>
          <p:nvPr/>
        </p:nvSpPr>
        <p:spPr>
          <a:xfrm>
            <a:off x="4169663" y="5175504"/>
            <a:ext cx="3017520" cy="310896"/>
          </a:xfrm>
          <a:prstGeom prst="rect">
            <a:avLst/>
          </a:prstGeom>
          <a:noFill/>
        </p:spPr>
        <p:txBody>
          <a:bodyPr wrap="square" lIns="0" rIns="0" tIns="0" bIns="0">
            <a:spAutoFit/>
          </a:bodyPr>
          <a:lstStyle/>
          <a:p>
            <a:pPr algn="ctr"/>
            <a:r>
              <a:rPr sz="750" b="0" i="1">
                <a:solidFill>
                  <a:srgbClr val="5F687D"/>
                </a:solidFill>
                <a:latin typeface="Arial"/>
              </a:rPr>
              <a:t>chord stays the same — the whole panel angles back from the centerline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38C8C"/>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Dihedral, washout, incidence, and decalage</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These angles change how the airplane returns to level, stalls, and trims.</a:t>
            </a:r>
          </a:p>
        </p:txBody>
      </p:sp>
      <p:sp>
        <p:nvSpPr>
          <p:cNvPr id="8" name="Rounded Rectangle 7"/>
          <p:cNvSpPr/>
          <p:nvPr/>
        </p:nvSpPr>
        <p:spPr>
          <a:xfrm>
            <a:off x="347472" y="1188720"/>
            <a:ext cx="7077456" cy="283464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47472" y="4297680"/>
            <a:ext cx="3474720" cy="157276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7472" y="4297680"/>
            <a:ext cx="50292" cy="1572768"/>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441655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INCIDENCE</a:t>
            </a:r>
          </a:p>
        </p:txBody>
      </p:sp>
      <p:sp>
        <p:nvSpPr>
          <p:cNvPr id="23" name="TextBox 22"/>
          <p:cNvSpPr txBox="1"/>
          <p:nvPr/>
        </p:nvSpPr>
        <p:spPr>
          <a:xfrm>
            <a:off x="493776" y="4690872"/>
            <a:ext cx="3200400" cy="1078992"/>
          </a:xfrm>
          <a:prstGeom prst="rect">
            <a:avLst/>
          </a:prstGeom>
          <a:noFill/>
        </p:spPr>
        <p:txBody>
          <a:bodyPr wrap="square" lIns="0" rIns="0" tIns="0" bIns="0" anchor="t">
            <a:spAutoFit/>
          </a:bodyPr>
          <a:lstStyle/>
          <a:p>
            <a:pPr algn="l">
              <a:lnSpc>
                <a:spcPct val="100000"/>
              </a:lnSpc>
            </a:pPr>
            <a:r>
              <a:rPr sz="910" b="0" i="0">
                <a:solidFill>
                  <a:srgbClr val="20263A"/>
                </a:solidFill>
                <a:latin typeface="Arial"/>
              </a:rPr>
              <a:t>The fixed angle of a wing or tail relative to a fuselage reference line. It is a construction setting, not the same as angle of attack in flight.</a:t>
            </a:r>
          </a:p>
        </p:txBody>
      </p:sp>
      <p:sp>
        <p:nvSpPr>
          <p:cNvPr id="24" name="Rounded Rectangle 23"/>
          <p:cNvSpPr/>
          <p:nvPr/>
        </p:nvSpPr>
        <p:spPr>
          <a:xfrm>
            <a:off x="3950208" y="4297680"/>
            <a:ext cx="3474720" cy="157276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950208" y="4297680"/>
            <a:ext cx="50292" cy="1572768"/>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96512" y="441655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DECALAGE</a:t>
            </a:r>
          </a:p>
        </p:txBody>
      </p:sp>
      <p:sp>
        <p:nvSpPr>
          <p:cNvPr id="27" name="TextBox 26"/>
          <p:cNvSpPr txBox="1"/>
          <p:nvPr/>
        </p:nvSpPr>
        <p:spPr>
          <a:xfrm>
            <a:off x="4096512" y="4690872"/>
            <a:ext cx="3200400" cy="1078992"/>
          </a:xfrm>
          <a:prstGeom prst="rect">
            <a:avLst/>
          </a:prstGeom>
          <a:noFill/>
        </p:spPr>
        <p:txBody>
          <a:bodyPr wrap="square" lIns="0" rIns="0" tIns="0" bIns="0" anchor="t">
            <a:spAutoFit/>
          </a:bodyPr>
          <a:lstStyle/>
          <a:p>
            <a:pPr algn="l">
              <a:lnSpc>
                <a:spcPct val="100000"/>
              </a:lnSpc>
            </a:pPr>
            <a:r>
              <a:rPr sz="910" b="0" i="0">
                <a:solidFill>
                  <a:srgbClr val="20263A"/>
                </a:solidFill>
                <a:latin typeface="Arial"/>
              </a:rPr>
              <a:t>The angular difference between the wing and horizontal tail reference lines. It influences the elevator position required for trim.</a:t>
            </a:r>
          </a:p>
        </p:txBody>
      </p:sp>
      <p:sp>
        <p:nvSpPr>
          <p:cNvPr id="28" name="Rounded Rectangle 27"/>
          <p:cNvSpPr/>
          <p:nvPr/>
        </p:nvSpPr>
        <p:spPr>
          <a:xfrm>
            <a:off x="347472" y="6144768"/>
            <a:ext cx="3474720" cy="142646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7472" y="6144768"/>
            <a:ext cx="50292" cy="1426464"/>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 y="626364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TRAINER START</a:t>
            </a:r>
          </a:p>
        </p:txBody>
      </p:sp>
      <p:sp>
        <p:nvSpPr>
          <p:cNvPr id="31" name="TextBox 30"/>
          <p:cNvSpPr txBox="1"/>
          <p:nvPr/>
        </p:nvSpPr>
        <p:spPr>
          <a:xfrm>
            <a:off x="493776" y="6537959"/>
            <a:ext cx="3200400" cy="932688"/>
          </a:xfrm>
          <a:prstGeom prst="rect">
            <a:avLst/>
          </a:prstGeom>
          <a:noFill/>
        </p:spPr>
        <p:txBody>
          <a:bodyPr wrap="square" lIns="18288" rIns="9144" tIns="9144" bIns="9144">
            <a:spAutoFit/>
          </a:bodyPr>
          <a:lstStyle/>
          <a:p>
            <a:pPr>
              <a:lnSpc>
                <a:spcPct val="100000"/>
              </a:lnSpc>
              <a:spcAft>
                <a:spcPts val="250"/>
              </a:spcAft>
            </a:pPr>
            <a:r>
              <a:rPr sz="869">
                <a:solidFill>
                  <a:srgbClr val="20263A"/>
                </a:solidFill>
                <a:latin typeface="Arial"/>
              </a:rPr>
              <a:t>• Rudder/elevator-only: noticeable dihedral.</a:t>
            </a:r>
          </a:p>
          <a:p>
            <a:pPr>
              <a:lnSpc>
                <a:spcPct val="100000"/>
              </a:lnSpc>
              <a:spcAft>
                <a:spcPts val="250"/>
              </a:spcAft>
            </a:pPr>
            <a:r>
              <a:rPr sz="869">
                <a:solidFill>
                  <a:srgbClr val="20263A"/>
                </a:solidFill>
                <a:latin typeface="Arial"/>
              </a:rPr>
              <a:t>• Aileron trainer: moderate dihedral.</a:t>
            </a:r>
          </a:p>
          <a:p>
            <a:pPr>
              <a:lnSpc>
                <a:spcPct val="100000"/>
              </a:lnSpc>
              <a:spcAft>
                <a:spcPts val="250"/>
              </a:spcAft>
            </a:pPr>
            <a:r>
              <a:rPr sz="869">
                <a:solidFill>
                  <a:srgbClr val="20263A"/>
                </a:solidFill>
                <a:latin typeface="Arial"/>
              </a:rPr>
              <a:t>• Washout: often about 1–2° at each tip.</a:t>
            </a:r>
          </a:p>
        </p:txBody>
      </p:sp>
      <p:sp>
        <p:nvSpPr>
          <p:cNvPr id="32" name="Rounded Rectangle 31"/>
          <p:cNvSpPr/>
          <p:nvPr/>
        </p:nvSpPr>
        <p:spPr>
          <a:xfrm>
            <a:off x="3950208" y="6144768"/>
            <a:ext cx="3474720" cy="142646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50208" y="6144768"/>
            <a:ext cx="50292" cy="1426464"/>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96512" y="626364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BUILD RISK</a:t>
            </a:r>
          </a:p>
        </p:txBody>
      </p:sp>
      <p:sp>
        <p:nvSpPr>
          <p:cNvPr id="35" name="TextBox 34"/>
          <p:cNvSpPr txBox="1"/>
          <p:nvPr/>
        </p:nvSpPr>
        <p:spPr>
          <a:xfrm>
            <a:off x="4096512" y="6537959"/>
            <a:ext cx="3200400" cy="932688"/>
          </a:xfrm>
          <a:prstGeom prst="rect">
            <a:avLst/>
          </a:prstGeom>
          <a:noFill/>
        </p:spPr>
        <p:txBody>
          <a:bodyPr wrap="square" lIns="18288" rIns="9144" tIns="9144" bIns="9144">
            <a:spAutoFit/>
          </a:bodyPr>
          <a:lstStyle/>
          <a:p>
            <a:pPr>
              <a:lnSpc>
                <a:spcPct val="100000"/>
              </a:lnSpc>
              <a:spcAft>
                <a:spcPts val="250"/>
              </a:spcAft>
            </a:pPr>
            <a:r>
              <a:rPr sz="869">
                <a:solidFill>
                  <a:srgbClr val="20263A"/>
                </a:solidFill>
                <a:latin typeface="Arial"/>
              </a:rPr>
              <a:t>• Both panels must match.</a:t>
            </a:r>
          </a:p>
          <a:p>
            <a:pPr>
              <a:lnSpc>
                <a:spcPct val="100000"/>
              </a:lnSpc>
              <a:spcAft>
                <a:spcPts val="250"/>
              </a:spcAft>
            </a:pPr>
            <a:r>
              <a:rPr sz="869">
                <a:solidFill>
                  <a:srgbClr val="20263A"/>
                </a:solidFill>
                <a:latin typeface="Arial"/>
              </a:rPr>
              <a:t>• Accidental twist is not washout.</a:t>
            </a:r>
          </a:p>
          <a:p>
            <a:pPr>
              <a:lnSpc>
                <a:spcPct val="100000"/>
              </a:lnSpc>
              <a:spcAft>
                <a:spcPts val="250"/>
              </a:spcAft>
            </a:pPr>
            <a:r>
              <a:rPr sz="869">
                <a:solidFill>
                  <a:srgbClr val="20263A"/>
                </a:solidFill>
                <a:latin typeface="Arial"/>
              </a:rPr>
              <a:t>• Covering can pull a straight wing out of shape.</a:t>
            </a:r>
          </a:p>
        </p:txBody>
      </p:sp>
      <p:sp>
        <p:nvSpPr>
          <p:cNvPr id="36" name="TextBox 35"/>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Starting angles depend on configuration. Measure both sides with the same datum and jig.</a:t>
            </a:r>
          </a:p>
        </p:txBody>
      </p:sp>
      <p:sp>
        <p:nvSpPr>
          <p:cNvPr id="37" name="TextBox 36"/>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17</a:t>
            </a:r>
          </a:p>
        </p:txBody>
      </p:sp>
      <p:sp>
        <p:nvSpPr>
          <p:cNvPr id="46" name="Rounded Rectangle 45"/>
          <p:cNvSpPr/>
          <p:nvPr/>
        </p:nvSpPr>
        <p:spPr>
          <a:xfrm>
            <a:off x="347472" y="7772400"/>
            <a:ext cx="7077456" cy="822960"/>
          </a:xfrm>
          <a:prstGeom prst="roundRect">
            <a:avLst>
              <a:gd name="adj" fmla="val 10000"/>
            </a:avLst>
          </a:prstGeom>
          <a:solidFill>
            <a:srgbClr val="FDF6E3"/>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6344" y="8037575"/>
            <a:ext cx="292608" cy="292608"/>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6344" y="8087867"/>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49" name="TextBox 48"/>
          <p:cNvSpPr txBox="1"/>
          <p:nvPr/>
        </p:nvSpPr>
        <p:spPr>
          <a:xfrm>
            <a:off x="859536" y="7854696"/>
            <a:ext cx="1005840" cy="137160"/>
          </a:xfrm>
          <a:prstGeom prst="rect">
            <a:avLst/>
          </a:prstGeom>
          <a:noFill/>
        </p:spPr>
        <p:txBody>
          <a:bodyPr wrap="square" lIns="0" rIns="0" tIns="0" bIns="0">
            <a:spAutoFit/>
          </a:bodyPr>
          <a:lstStyle/>
          <a:p>
            <a:pPr algn="l"/>
            <a:r>
              <a:rPr sz="800" b="1" i="0">
                <a:solidFill>
                  <a:srgbClr val="20263A"/>
                </a:solidFill>
                <a:latin typeface="Arial"/>
              </a:rPr>
              <a:t>YOUR TURN</a:t>
            </a:r>
          </a:p>
        </p:txBody>
      </p:sp>
      <p:sp>
        <p:nvSpPr>
          <p:cNvPr id="50" name="TextBox 49"/>
          <p:cNvSpPr txBox="1"/>
          <p:nvPr/>
        </p:nvSpPr>
        <p:spPr>
          <a:xfrm>
            <a:off x="859536" y="8010144"/>
            <a:ext cx="6391656" cy="512064"/>
          </a:xfrm>
          <a:prstGeom prst="rect">
            <a:avLst/>
          </a:prstGeom>
          <a:noFill/>
        </p:spPr>
        <p:txBody>
          <a:bodyPr wrap="square" lIns="0" rIns="0" tIns="0" bIns="0">
            <a:spAutoFit/>
          </a:bodyPr>
          <a:lstStyle/>
          <a:p>
            <a:pPr algn="l"/>
            <a:r>
              <a:rPr sz="850" b="0" i="0">
                <a:solidFill>
                  <a:srgbClr val="20263A"/>
                </a:solidFill>
                <a:latin typeface="Arial"/>
              </a:rPr>
              <a:t>You measure the left wingtip at +1.4° washout and the right tip at +0.6°. Is that washout, warp, or both? Which wing drops first near the stall — and what does the plane do next?</a:t>
            </a:r>
          </a:p>
        </p:txBody>
      </p:sp>
      <p:sp>
        <p:nvSpPr>
          <p:cNvPr id="51" name="TextBox 50"/>
          <p:cNvSpPr txBox="1"/>
          <p:nvPr/>
        </p:nvSpPr>
        <p:spPr>
          <a:xfrm>
            <a:off x="502920" y="1335024"/>
            <a:ext cx="3246120" cy="182880"/>
          </a:xfrm>
          <a:prstGeom prst="rect">
            <a:avLst/>
          </a:prstGeom>
          <a:noFill/>
        </p:spPr>
        <p:txBody>
          <a:bodyPr wrap="square" lIns="0" rIns="0" tIns="0" bIns="0">
            <a:spAutoFit/>
          </a:bodyPr>
          <a:lstStyle/>
          <a:p>
            <a:pPr algn="l"/>
            <a:r>
              <a:rPr sz="950" b="1" i="0">
                <a:solidFill>
                  <a:srgbClr val="138C8C"/>
                </a:solidFill>
                <a:latin typeface="Arial"/>
              </a:rPr>
              <a:t>DIHEDRAL — tips rise (front view)</a:t>
            </a:r>
          </a:p>
        </p:txBody>
      </p:sp>
      <p:cxnSp>
        <p:nvCxnSpPr>
          <p:cNvPr id="52" name="Connector 51"/>
          <p:cNvCxnSpPr/>
          <p:nvPr/>
        </p:nvCxnSpPr>
        <p:spPr>
          <a:xfrm>
            <a:off x="777240" y="2212848"/>
            <a:ext cx="2743200" cy="0"/>
          </a:xfrm>
          <a:prstGeom prst="line">
            <a:avLst/>
          </a:prstGeom>
          <a:ln w="12700">
            <a:solidFill>
              <a:srgbClr val="5F687D"/>
            </a:solidFill>
            <a:prstDash val="dash"/>
          </a:ln>
          <a:effectLst/>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822960" y="1879092"/>
            <a:ext cx="1225296" cy="320040"/>
          </a:xfrm>
          <a:custGeom>
            <a:avLst/>
            <a:gdLst/>
            <a:ahLst/>
            <a:cxnLst/>
            <a:rect l="l" t="t" r="r" b="b"/>
            <a:pathLst>
              <a:path w="1225296" h="320040">
                <a:moveTo>
                  <a:pt x="1225296" y="256032"/>
                </a:moveTo>
                <a:lnTo>
                  <a:pt x="0" y="0"/>
                </a:lnTo>
                <a:lnTo>
                  <a:pt x="0" y="64008"/>
                </a:lnTo>
                <a:lnTo>
                  <a:pt x="1225296" y="320040"/>
                </a:lnTo>
                <a:close/>
              </a:path>
            </a:pathLst>
          </a:custGeom>
          <a:solidFill>
            <a:srgbClr val="13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2249424" y="1879092"/>
            <a:ext cx="1225296" cy="320040"/>
          </a:xfrm>
          <a:custGeom>
            <a:avLst/>
            <a:gdLst/>
            <a:ahLst/>
            <a:cxnLst/>
            <a:rect l="l" t="t" r="r" b="b"/>
            <a:pathLst>
              <a:path w="1225296" h="320040">
                <a:moveTo>
                  <a:pt x="0" y="256032"/>
                </a:moveTo>
                <a:lnTo>
                  <a:pt x="1225296" y="0"/>
                </a:lnTo>
                <a:lnTo>
                  <a:pt x="1225296" y="64008"/>
                </a:lnTo>
                <a:lnTo>
                  <a:pt x="0" y="320040"/>
                </a:lnTo>
                <a:close/>
              </a:path>
            </a:pathLst>
          </a:custGeom>
          <a:solidFill>
            <a:srgbClr val="13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039112" y="2066543"/>
            <a:ext cx="219456" cy="219456"/>
          </a:xfrm>
          <a:prstGeom prst="ellipse">
            <a:avLst/>
          </a:prstGeom>
          <a:solidFill>
            <a:srgbClr val="F7F9FC"/>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rc 53"/>
          <p:cNvSpPr/>
          <p:nvPr/>
        </p:nvSpPr>
        <p:spPr>
          <a:xfrm>
            <a:off x="1472184" y="1426464"/>
            <a:ext cx="1554480" cy="1554480"/>
          </a:xfrm>
          <a:prstGeom prst="arc">
            <a:avLst>
              <a:gd name="adj1" fmla="val 20880000"/>
              <a:gd name="adj2" fmla="val 21600000"/>
            </a:avLst>
          </a:prstGeom>
          <a:noFill/>
          <a:ln w="1587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78608" y="1700784"/>
            <a:ext cx="914400" cy="146304"/>
          </a:xfrm>
          <a:prstGeom prst="rect">
            <a:avLst/>
          </a:prstGeom>
          <a:noFill/>
        </p:spPr>
        <p:txBody>
          <a:bodyPr wrap="square" lIns="0" rIns="0" tIns="0" bIns="0">
            <a:spAutoFit/>
          </a:bodyPr>
          <a:lstStyle/>
          <a:p>
            <a:pPr algn="l"/>
            <a:r>
              <a:rPr sz="700" b="1" i="0">
                <a:solidFill>
                  <a:srgbClr val="138C8C"/>
                </a:solidFill>
                <a:latin typeface="Arial"/>
              </a:rPr>
              <a:t>dihedral angle</a:t>
            </a:r>
          </a:p>
        </p:txBody>
      </p:sp>
      <p:sp>
        <p:nvSpPr>
          <p:cNvPr id="56" name="TextBox 55"/>
          <p:cNvSpPr txBox="1"/>
          <p:nvPr/>
        </p:nvSpPr>
        <p:spPr>
          <a:xfrm>
            <a:off x="502920" y="2340864"/>
            <a:ext cx="3246120" cy="310896"/>
          </a:xfrm>
          <a:prstGeom prst="rect">
            <a:avLst/>
          </a:prstGeom>
          <a:noFill/>
        </p:spPr>
        <p:txBody>
          <a:bodyPr wrap="square" lIns="0" rIns="0" tIns="0" bIns="0">
            <a:spAutoFit/>
          </a:bodyPr>
          <a:lstStyle/>
          <a:p>
            <a:pPr algn="l"/>
            <a:r>
              <a:rPr sz="750" b="0" i="0">
                <a:solidFill>
                  <a:srgbClr val="20263A"/>
                </a:solidFill>
                <a:latin typeface="Arial"/>
              </a:rPr>
              <a:t>Tips sit HIGHER than the root. In a sideslip, the low wing meets the air at a higher angle, lifts more, and rolls the plane level.</a:t>
            </a:r>
          </a:p>
        </p:txBody>
      </p:sp>
      <p:sp>
        <p:nvSpPr>
          <p:cNvPr id="57" name="TextBox 56"/>
          <p:cNvSpPr txBox="1"/>
          <p:nvPr/>
        </p:nvSpPr>
        <p:spPr>
          <a:xfrm>
            <a:off x="3931920" y="1335024"/>
            <a:ext cx="3246120" cy="182880"/>
          </a:xfrm>
          <a:prstGeom prst="rect">
            <a:avLst/>
          </a:prstGeom>
          <a:noFill/>
        </p:spPr>
        <p:txBody>
          <a:bodyPr wrap="square" lIns="0" rIns="0" tIns="0" bIns="0">
            <a:spAutoFit/>
          </a:bodyPr>
          <a:lstStyle/>
          <a:p>
            <a:pPr algn="l"/>
            <a:r>
              <a:rPr sz="950" b="1" i="0">
                <a:solidFill>
                  <a:srgbClr val="E0702B"/>
                </a:solidFill>
                <a:latin typeface="Arial"/>
              </a:rPr>
              <a:t>WASHOUT — tip twisted nose-down</a:t>
            </a:r>
          </a:p>
        </p:txBody>
      </p:sp>
      <p:cxnSp>
        <p:nvCxnSpPr>
          <p:cNvPr id="58" name="Connector 57"/>
          <p:cNvCxnSpPr/>
          <p:nvPr/>
        </p:nvCxnSpPr>
        <p:spPr>
          <a:xfrm>
            <a:off x="4160520" y="2212848"/>
            <a:ext cx="2971800" cy="0"/>
          </a:xfrm>
          <a:prstGeom prst="line">
            <a:avLst/>
          </a:prstGeom>
          <a:ln w="12700">
            <a:solidFill>
              <a:srgbClr val="5F687D"/>
            </a:solidFill>
            <a:prstDash val="dash"/>
          </a:ln>
          <a:effectLst/>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rot="420000">
            <a:off x="4224528" y="2009393"/>
            <a:ext cx="1188720" cy="198517"/>
          </a:xfrm>
          <a:custGeom>
            <a:avLst/>
            <a:gdLst/>
            <a:ahLst/>
            <a:cxnLst/>
            <a:rect l="l" t="t" r="r" b="b"/>
            <a:pathLst>
              <a:path w="1188720" h="198517">
                <a:moveTo>
                  <a:pt x="0" y="148591"/>
                </a:moveTo>
                <a:lnTo>
                  <a:pt x="17830" y="97476"/>
                </a:lnTo>
                <a:lnTo>
                  <a:pt x="47548" y="74890"/>
                </a:lnTo>
                <a:lnTo>
                  <a:pt x="95097" y="51115"/>
                </a:lnTo>
                <a:lnTo>
                  <a:pt x="178308" y="26152"/>
                </a:lnTo>
                <a:lnTo>
                  <a:pt x="297180" y="4755"/>
                </a:lnTo>
                <a:lnTo>
                  <a:pt x="356616" y="0"/>
                </a:lnTo>
                <a:lnTo>
                  <a:pt x="475488" y="4755"/>
                </a:lnTo>
                <a:lnTo>
                  <a:pt x="594360" y="17831"/>
                </a:lnTo>
                <a:lnTo>
                  <a:pt x="713232" y="38040"/>
                </a:lnTo>
                <a:lnTo>
                  <a:pt x="832104" y="63003"/>
                </a:lnTo>
                <a:lnTo>
                  <a:pt x="950976" y="90343"/>
                </a:lnTo>
                <a:lnTo>
                  <a:pt x="1069848" y="117684"/>
                </a:lnTo>
                <a:lnTo>
                  <a:pt x="1188720" y="146213"/>
                </a:lnTo>
                <a:lnTo>
                  <a:pt x="1188720" y="148591"/>
                </a:lnTo>
                <a:lnTo>
                  <a:pt x="1069848" y="152157"/>
                </a:lnTo>
                <a:lnTo>
                  <a:pt x="950976" y="156912"/>
                </a:lnTo>
                <a:lnTo>
                  <a:pt x="832104" y="162855"/>
                </a:lnTo>
                <a:lnTo>
                  <a:pt x="713232" y="169987"/>
                </a:lnTo>
                <a:lnTo>
                  <a:pt x="594360" y="177120"/>
                </a:lnTo>
                <a:lnTo>
                  <a:pt x="475488" y="184252"/>
                </a:lnTo>
                <a:lnTo>
                  <a:pt x="356616" y="191384"/>
                </a:lnTo>
                <a:lnTo>
                  <a:pt x="297180" y="193762"/>
                </a:lnTo>
                <a:lnTo>
                  <a:pt x="178308" y="198517"/>
                </a:lnTo>
                <a:lnTo>
                  <a:pt x="95097" y="197328"/>
                </a:lnTo>
                <a:lnTo>
                  <a:pt x="47548" y="191384"/>
                </a:lnTo>
                <a:lnTo>
                  <a:pt x="17830" y="181875"/>
                </a:lnTo>
                <a:close/>
              </a:path>
            </a:pathLst>
          </a:custGeom>
          <a:solidFill>
            <a:srgbClr val="EDF4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60000">
            <a:off x="6035040" y="2056256"/>
            <a:ext cx="960119" cy="160341"/>
          </a:xfrm>
          <a:custGeom>
            <a:avLst/>
            <a:gdLst/>
            <a:ahLst/>
            <a:cxnLst/>
            <a:rect l="l" t="t" r="r" b="b"/>
            <a:pathLst>
              <a:path w="960119" h="160341">
                <a:moveTo>
                  <a:pt x="0" y="120016"/>
                </a:moveTo>
                <a:lnTo>
                  <a:pt x="14401" y="78730"/>
                </a:lnTo>
                <a:lnTo>
                  <a:pt x="38404" y="60488"/>
                </a:lnTo>
                <a:lnTo>
                  <a:pt x="76809" y="41286"/>
                </a:lnTo>
                <a:lnTo>
                  <a:pt x="144017" y="21123"/>
                </a:lnTo>
                <a:lnTo>
                  <a:pt x="240030" y="3841"/>
                </a:lnTo>
                <a:lnTo>
                  <a:pt x="288036" y="0"/>
                </a:lnTo>
                <a:lnTo>
                  <a:pt x="384048" y="3841"/>
                </a:lnTo>
                <a:lnTo>
                  <a:pt x="480060" y="14402"/>
                </a:lnTo>
                <a:lnTo>
                  <a:pt x="576072" y="30724"/>
                </a:lnTo>
                <a:lnTo>
                  <a:pt x="672084" y="50887"/>
                </a:lnTo>
                <a:lnTo>
                  <a:pt x="768096" y="72970"/>
                </a:lnTo>
                <a:lnTo>
                  <a:pt x="864108" y="95052"/>
                </a:lnTo>
                <a:lnTo>
                  <a:pt x="960119" y="118095"/>
                </a:lnTo>
                <a:lnTo>
                  <a:pt x="960119" y="120016"/>
                </a:lnTo>
                <a:lnTo>
                  <a:pt x="864108" y="122896"/>
                </a:lnTo>
                <a:lnTo>
                  <a:pt x="768096" y="126736"/>
                </a:lnTo>
                <a:lnTo>
                  <a:pt x="672084" y="131537"/>
                </a:lnTo>
                <a:lnTo>
                  <a:pt x="576072" y="137298"/>
                </a:lnTo>
                <a:lnTo>
                  <a:pt x="480060" y="143058"/>
                </a:lnTo>
                <a:lnTo>
                  <a:pt x="384048" y="148819"/>
                </a:lnTo>
                <a:lnTo>
                  <a:pt x="288036" y="154580"/>
                </a:lnTo>
                <a:lnTo>
                  <a:pt x="240030" y="156500"/>
                </a:lnTo>
                <a:lnTo>
                  <a:pt x="144017" y="160341"/>
                </a:lnTo>
                <a:lnTo>
                  <a:pt x="76809" y="159380"/>
                </a:lnTo>
                <a:lnTo>
                  <a:pt x="38404" y="154580"/>
                </a:lnTo>
                <a:lnTo>
                  <a:pt x="14401" y="146899"/>
                </a:lnTo>
                <a:close/>
              </a:path>
            </a:pathLst>
          </a:custGeom>
          <a:solidFill>
            <a:srgbClr val="FFF3E9"/>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61104" y="1609344"/>
            <a:ext cx="1463040" cy="146304"/>
          </a:xfrm>
          <a:prstGeom prst="rect">
            <a:avLst/>
          </a:prstGeom>
          <a:noFill/>
        </p:spPr>
        <p:txBody>
          <a:bodyPr wrap="square" lIns="0" rIns="0" tIns="0" bIns="0">
            <a:spAutoFit/>
          </a:bodyPr>
          <a:lstStyle/>
          <a:p>
            <a:pPr algn="l"/>
            <a:r>
              <a:rPr sz="700" b="1" i="0">
                <a:solidFill>
                  <a:srgbClr val="246BCE"/>
                </a:solidFill>
                <a:latin typeface="Arial"/>
              </a:rPr>
              <a:t>root — higher angle</a:t>
            </a:r>
          </a:p>
        </p:txBody>
      </p:sp>
      <p:sp>
        <p:nvSpPr>
          <p:cNvPr id="60" name="TextBox 59"/>
          <p:cNvSpPr txBox="1"/>
          <p:nvPr/>
        </p:nvSpPr>
        <p:spPr>
          <a:xfrm>
            <a:off x="5870448" y="1719072"/>
            <a:ext cx="1371600" cy="146304"/>
          </a:xfrm>
          <a:prstGeom prst="rect">
            <a:avLst/>
          </a:prstGeom>
          <a:noFill/>
        </p:spPr>
        <p:txBody>
          <a:bodyPr wrap="square" lIns="0" rIns="0" tIns="0" bIns="0">
            <a:spAutoFit/>
          </a:bodyPr>
          <a:lstStyle/>
          <a:p>
            <a:pPr algn="l"/>
            <a:r>
              <a:rPr sz="700" b="1" i="0">
                <a:solidFill>
                  <a:srgbClr val="E0702B"/>
                </a:solidFill>
                <a:latin typeface="Arial"/>
              </a:rPr>
              <a:t>tip — lower angle</a:t>
            </a:r>
          </a:p>
        </p:txBody>
      </p:sp>
      <p:sp>
        <p:nvSpPr>
          <p:cNvPr id="61" name="TextBox 60"/>
          <p:cNvSpPr txBox="1"/>
          <p:nvPr/>
        </p:nvSpPr>
        <p:spPr>
          <a:xfrm>
            <a:off x="3931920" y="2340864"/>
            <a:ext cx="3246120" cy="310896"/>
          </a:xfrm>
          <a:prstGeom prst="rect">
            <a:avLst/>
          </a:prstGeom>
          <a:noFill/>
        </p:spPr>
        <p:txBody>
          <a:bodyPr wrap="square" lIns="0" rIns="0" tIns="0" bIns="0">
            <a:spAutoFit/>
          </a:bodyPr>
          <a:lstStyle/>
          <a:p>
            <a:pPr algn="l"/>
            <a:r>
              <a:rPr sz="750" b="0" i="0">
                <a:solidFill>
                  <a:srgbClr val="20263A"/>
                </a:solidFill>
                <a:latin typeface="Arial"/>
              </a:rPr>
              <a:t>The root reaches stall angle first while the tip — and its aileron — is still flying. A stall becomes a gentle nod, not a snap roll.</a:t>
            </a:r>
          </a:p>
        </p:txBody>
      </p:sp>
      <p:sp>
        <p:nvSpPr>
          <p:cNvPr id="62" name="TextBox 61"/>
          <p:cNvSpPr txBox="1"/>
          <p:nvPr/>
        </p:nvSpPr>
        <p:spPr>
          <a:xfrm>
            <a:off x="502920" y="2706624"/>
            <a:ext cx="3246120" cy="182880"/>
          </a:xfrm>
          <a:prstGeom prst="rect">
            <a:avLst/>
          </a:prstGeom>
          <a:noFill/>
        </p:spPr>
        <p:txBody>
          <a:bodyPr wrap="square" lIns="0" rIns="0" tIns="0" bIns="0">
            <a:spAutoFit/>
          </a:bodyPr>
          <a:lstStyle/>
          <a:p>
            <a:pPr algn="l"/>
            <a:r>
              <a:rPr sz="950" b="1" i="0">
                <a:solidFill>
                  <a:srgbClr val="246BCE"/>
                </a:solidFill>
                <a:latin typeface="Arial"/>
              </a:rPr>
              <a:t>INCIDENCE — how the wing is mounted</a:t>
            </a:r>
          </a:p>
        </p:txBody>
      </p:sp>
      <p:sp>
        <p:nvSpPr>
          <p:cNvPr id="63" name="Rounded Rectangle 62"/>
          <p:cNvSpPr/>
          <p:nvPr/>
        </p:nvSpPr>
        <p:spPr>
          <a:xfrm>
            <a:off x="822960" y="3218688"/>
            <a:ext cx="2651760" cy="292608"/>
          </a:xfrm>
          <a:prstGeom prst="roundRect">
            <a:avLst>
              <a:gd name="adj" fmla="val 50000"/>
            </a:avLst>
          </a:prstGeom>
          <a:solidFill>
            <a:srgbClr val="F7F9FC"/>
          </a:solidFill>
          <a:ln w="15875">
            <a:solidFill>
              <a:srgbClr val="5F68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640080" y="3364992"/>
            <a:ext cx="2971800" cy="0"/>
          </a:xfrm>
          <a:prstGeom prst="line">
            <a:avLst/>
          </a:prstGeom>
          <a:ln w="12700">
            <a:solidFill>
              <a:srgbClr val="5F687D"/>
            </a:solidFill>
            <a:prstDash val="dash"/>
          </a:ln>
          <a:effectLst/>
        </p:spPr>
        <p:style>
          <a:lnRef idx="2">
            <a:schemeClr val="accent1"/>
          </a:lnRef>
          <a:fillRef idx="0">
            <a:schemeClr val="accent1"/>
          </a:fillRef>
          <a:effectRef idx="1">
            <a:schemeClr val="accent1"/>
          </a:effectRef>
          <a:fontRef idx="minor">
            <a:schemeClr val="tx1"/>
          </a:fontRef>
        </p:style>
      </p:cxnSp>
      <p:sp>
        <p:nvSpPr>
          <p:cNvPr id="13" name="Freeform 12"/>
          <p:cNvSpPr/>
          <p:nvPr/>
        </p:nvSpPr>
        <p:spPr>
          <a:xfrm rot="360000">
            <a:off x="1417320" y="3036951"/>
            <a:ext cx="1234440" cy="206151"/>
          </a:xfrm>
          <a:custGeom>
            <a:avLst/>
            <a:gdLst/>
            <a:ahLst/>
            <a:cxnLst/>
            <a:rect l="l" t="t" r="r" b="b"/>
            <a:pathLst>
              <a:path w="1234440" h="206151">
                <a:moveTo>
                  <a:pt x="0" y="154305"/>
                </a:moveTo>
                <a:lnTo>
                  <a:pt x="18516" y="101224"/>
                </a:lnTo>
                <a:lnTo>
                  <a:pt x="49377" y="77769"/>
                </a:lnTo>
                <a:lnTo>
                  <a:pt x="98755" y="53080"/>
                </a:lnTo>
                <a:lnTo>
                  <a:pt x="185166" y="27157"/>
                </a:lnTo>
                <a:lnTo>
                  <a:pt x="308610" y="4937"/>
                </a:lnTo>
                <a:lnTo>
                  <a:pt x="370332" y="0"/>
                </a:lnTo>
                <a:lnTo>
                  <a:pt x="493775" y="4937"/>
                </a:lnTo>
                <a:lnTo>
                  <a:pt x="617220" y="18516"/>
                </a:lnTo>
                <a:lnTo>
                  <a:pt x="740664" y="39502"/>
                </a:lnTo>
                <a:lnTo>
                  <a:pt x="864108" y="65425"/>
                </a:lnTo>
                <a:lnTo>
                  <a:pt x="987552" y="93817"/>
                </a:lnTo>
                <a:lnTo>
                  <a:pt x="1110996" y="122209"/>
                </a:lnTo>
                <a:lnTo>
                  <a:pt x="1234440" y="151836"/>
                </a:lnTo>
                <a:lnTo>
                  <a:pt x="1234440" y="154305"/>
                </a:lnTo>
                <a:lnTo>
                  <a:pt x="1110996" y="158008"/>
                </a:lnTo>
                <a:lnTo>
                  <a:pt x="987552" y="162946"/>
                </a:lnTo>
                <a:lnTo>
                  <a:pt x="864108" y="169118"/>
                </a:lnTo>
                <a:lnTo>
                  <a:pt x="740664" y="176524"/>
                </a:lnTo>
                <a:lnTo>
                  <a:pt x="617220" y="183931"/>
                </a:lnTo>
                <a:lnTo>
                  <a:pt x="493775" y="191338"/>
                </a:lnTo>
                <a:lnTo>
                  <a:pt x="370332" y="198744"/>
                </a:lnTo>
                <a:lnTo>
                  <a:pt x="308610" y="201213"/>
                </a:lnTo>
                <a:lnTo>
                  <a:pt x="185166" y="206151"/>
                </a:lnTo>
                <a:lnTo>
                  <a:pt x="98755" y="204917"/>
                </a:lnTo>
                <a:lnTo>
                  <a:pt x="49377" y="198744"/>
                </a:lnTo>
                <a:lnTo>
                  <a:pt x="18516" y="188869"/>
                </a:lnTo>
                <a:close/>
              </a:path>
            </a:pathLst>
          </a:custGeom>
          <a:solidFill>
            <a:srgbClr val="EDF4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1463040" y="3127248"/>
            <a:ext cx="868680" cy="0"/>
          </a:xfrm>
          <a:prstGeom prst="line">
            <a:avLst/>
          </a:prstGeom>
          <a:ln w="9525">
            <a:solidFill>
              <a:srgbClr val="5F687D"/>
            </a:solidFill>
            <a:prstDash val="sysDot"/>
          </a:ln>
          <a:effectLst/>
        </p:spPr>
        <p:style>
          <a:lnRef idx="2">
            <a:schemeClr val="accent1"/>
          </a:lnRef>
          <a:fillRef idx="0">
            <a:schemeClr val="accent1"/>
          </a:fillRef>
          <a:effectRef idx="1">
            <a:schemeClr val="accent1"/>
          </a:effectRef>
          <a:fontRef idx="minor">
            <a:schemeClr val="tx1"/>
          </a:fontRef>
        </p:style>
      </p:cxnSp>
      <p:sp>
        <p:nvSpPr>
          <p:cNvPr id="66" name="Arc 65"/>
          <p:cNvSpPr/>
          <p:nvPr/>
        </p:nvSpPr>
        <p:spPr>
          <a:xfrm>
            <a:off x="731520" y="2395728"/>
            <a:ext cx="1463040" cy="1463040"/>
          </a:xfrm>
          <a:prstGeom prst="arc">
            <a:avLst>
              <a:gd name="adj1" fmla="val 0"/>
              <a:gd name="adj2" fmla="val 480000"/>
            </a:avLst>
          </a:prstGeom>
          <a:noFill/>
          <a:ln w="15875">
            <a:solidFill>
              <a:srgbClr val="246BCE"/>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12064" y="2999232"/>
            <a:ext cx="868680" cy="274320"/>
          </a:xfrm>
          <a:prstGeom prst="rect">
            <a:avLst/>
          </a:prstGeom>
          <a:noFill/>
        </p:spPr>
        <p:txBody>
          <a:bodyPr wrap="square" lIns="0" rIns="0" tIns="0" bIns="0">
            <a:spAutoFit/>
          </a:bodyPr>
          <a:lstStyle/>
          <a:p>
            <a:pPr algn="r"/>
            <a:r>
              <a:rPr sz="700" b="1" i="0">
                <a:solidFill>
                  <a:srgbClr val="246BCE"/>
                </a:solidFill>
                <a:latin typeface="Arial"/>
              </a:rPr>
              <a:t>incidence angle</a:t>
            </a:r>
          </a:p>
        </p:txBody>
      </p:sp>
      <p:sp>
        <p:nvSpPr>
          <p:cNvPr id="68" name="TextBox 67"/>
          <p:cNvSpPr txBox="1"/>
          <p:nvPr/>
        </p:nvSpPr>
        <p:spPr>
          <a:xfrm>
            <a:off x="502920" y="3657600"/>
            <a:ext cx="3246120" cy="329184"/>
          </a:xfrm>
          <a:prstGeom prst="rect">
            <a:avLst/>
          </a:prstGeom>
          <a:noFill/>
        </p:spPr>
        <p:txBody>
          <a:bodyPr wrap="square" lIns="0" rIns="0" tIns="0" bIns="0">
            <a:spAutoFit/>
          </a:bodyPr>
          <a:lstStyle/>
          <a:p>
            <a:pPr algn="l"/>
            <a:r>
              <a:rPr sz="750" b="0" i="0">
                <a:solidFill>
                  <a:srgbClr val="20263A"/>
                </a:solidFill>
                <a:latin typeface="Arial"/>
              </a:rPr>
              <a:t>A construction angle set in the jig: the wing chord sits a few degrees nose-up relative to the fuselage datum. It never changes in flight — angle of attack does.</a:t>
            </a:r>
          </a:p>
        </p:txBody>
      </p:sp>
      <p:sp>
        <p:nvSpPr>
          <p:cNvPr id="69" name="TextBox 68"/>
          <p:cNvSpPr txBox="1"/>
          <p:nvPr/>
        </p:nvSpPr>
        <p:spPr>
          <a:xfrm>
            <a:off x="3931920" y="2706624"/>
            <a:ext cx="3246120" cy="182880"/>
          </a:xfrm>
          <a:prstGeom prst="rect">
            <a:avLst/>
          </a:prstGeom>
          <a:noFill/>
        </p:spPr>
        <p:txBody>
          <a:bodyPr wrap="square" lIns="0" rIns="0" tIns="0" bIns="0">
            <a:spAutoFit/>
          </a:bodyPr>
          <a:lstStyle/>
          <a:p>
            <a:pPr algn="l"/>
            <a:r>
              <a:rPr sz="950" b="1" i="0">
                <a:solidFill>
                  <a:srgbClr val="A23DB6"/>
                </a:solidFill>
                <a:latin typeface="Arial"/>
              </a:rPr>
              <a:t>DECALAGE — wing minus tail incidence</a:t>
            </a:r>
          </a:p>
        </p:txBody>
      </p:sp>
      <p:cxnSp>
        <p:nvCxnSpPr>
          <p:cNvPr id="70" name="Connector 69"/>
          <p:cNvCxnSpPr/>
          <p:nvPr/>
        </p:nvCxnSpPr>
        <p:spPr>
          <a:xfrm>
            <a:off x="4160520" y="3401568"/>
            <a:ext cx="2971800" cy="0"/>
          </a:xfrm>
          <a:prstGeom prst="line">
            <a:avLst/>
          </a:prstGeom>
          <a:ln w="12700">
            <a:solidFill>
              <a:srgbClr val="5F687D"/>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343400" y="3127248"/>
            <a:ext cx="1188720" cy="164592"/>
          </a:xfrm>
          <a:prstGeom prst="line">
            <a:avLst/>
          </a:prstGeom>
          <a:ln w="31750">
            <a:solidFill>
              <a:srgbClr val="246BCE"/>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035040" y="3310128"/>
            <a:ext cx="914400" cy="73152"/>
          </a:xfrm>
          <a:prstGeom prst="line">
            <a:avLst/>
          </a:prstGeom>
          <a:ln w="31750">
            <a:solidFill>
              <a:srgbClr val="2F8F5B"/>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4343400" y="2980944"/>
            <a:ext cx="1463040" cy="146304"/>
          </a:xfrm>
          <a:prstGeom prst="rect">
            <a:avLst/>
          </a:prstGeom>
          <a:noFill/>
        </p:spPr>
        <p:txBody>
          <a:bodyPr wrap="square" lIns="0" rIns="0" tIns="0" bIns="0">
            <a:spAutoFit/>
          </a:bodyPr>
          <a:lstStyle/>
          <a:p>
            <a:pPr algn="l"/>
            <a:r>
              <a:rPr sz="700" b="1" i="0">
                <a:solidFill>
                  <a:srgbClr val="246BCE"/>
                </a:solidFill>
                <a:latin typeface="Arial"/>
              </a:rPr>
              <a:t>wing chord  +3°</a:t>
            </a:r>
          </a:p>
        </p:txBody>
      </p:sp>
      <p:sp>
        <p:nvSpPr>
          <p:cNvPr id="74" name="TextBox 73"/>
          <p:cNvSpPr txBox="1"/>
          <p:nvPr/>
        </p:nvSpPr>
        <p:spPr>
          <a:xfrm>
            <a:off x="5925312" y="3145536"/>
            <a:ext cx="1280160" cy="146304"/>
          </a:xfrm>
          <a:prstGeom prst="rect">
            <a:avLst/>
          </a:prstGeom>
          <a:noFill/>
        </p:spPr>
        <p:txBody>
          <a:bodyPr wrap="square" lIns="0" rIns="0" tIns="0" bIns="0">
            <a:spAutoFit/>
          </a:bodyPr>
          <a:lstStyle/>
          <a:p>
            <a:pPr algn="l"/>
            <a:r>
              <a:rPr sz="700" b="1" i="0">
                <a:solidFill>
                  <a:srgbClr val="2F8F5B"/>
                </a:solidFill>
                <a:latin typeface="Arial"/>
              </a:rPr>
              <a:t>tail chord  +1°</a:t>
            </a:r>
          </a:p>
        </p:txBody>
      </p:sp>
      <p:sp>
        <p:nvSpPr>
          <p:cNvPr id="75" name="TextBox 74"/>
          <p:cNvSpPr txBox="1"/>
          <p:nvPr/>
        </p:nvSpPr>
        <p:spPr>
          <a:xfrm>
            <a:off x="5212080" y="3474720"/>
            <a:ext cx="1554480" cy="155448"/>
          </a:xfrm>
          <a:prstGeom prst="rect">
            <a:avLst/>
          </a:prstGeom>
          <a:noFill/>
        </p:spPr>
        <p:txBody>
          <a:bodyPr wrap="square" lIns="0" rIns="0" tIns="0" bIns="0">
            <a:spAutoFit/>
          </a:bodyPr>
          <a:lstStyle/>
          <a:p>
            <a:pPr algn="l"/>
            <a:r>
              <a:rPr sz="800" b="1" i="0">
                <a:solidFill>
                  <a:srgbClr val="20263A"/>
                </a:solidFill>
                <a:latin typeface="Arial"/>
              </a:rPr>
              <a:t>decalage = 2°</a:t>
            </a:r>
          </a:p>
        </p:txBody>
      </p:sp>
      <p:sp>
        <p:nvSpPr>
          <p:cNvPr id="76" name="TextBox 75"/>
          <p:cNvSpPr txBox="1"/>
          <p:nvPr/>
        </p:nvSpPr>
        <p:spPr>
          <a:xfrm>
            <a:off x="3931920" y="3657600"/>
            <a:ext cx="3246120" cy="329184"/>
          </a:xfrm>
          <a:prstGeom prst="rect">
            <a:avLst/>
          </a:prstGeom>
          <a:noFill/>
        </p:spPr>
        <p:txBody>
          <a:bodyPr wrap="square" lIns="0" rIns="0" tIns="0" bIns="0">
            <a:spAutoFit/>
          </a:bodyPr>
          <a:lstStyle/>
          <a:p>
            <a:pPr algn="l"/>
            <a:r>
              <a:rPr sz="750" b="0" i="0">
                <a:solidFill>
                  <a:srgbClr val="20263A"/>
                </a:solidFill>
                <a:latin typeface="Arial"/>
              </a:rPr>
              <a:t>The difference between the two incidences. It sets how hard the tail must push to hold the wing at its working angle — i.e., the elevator trim.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38C8C"/>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Tail anatomy: stabilizers and control surfaces</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complete tail assembly is the empennage. Fixed surfaces stabilize; moving surfaces command.</a:t>
            </a:r>
          </a:p>
        </p:txBody>
      </p:sp>
      <p:sp>
        <p:nvSpPr>
          <p:cNvPr id="8" name="Rounded Rectangle 7"/>
          <p:cNvSpPr/>
          <p:nvPr/>
        </p:nvSpPr>
        <p:spPr>
          <a:xfrm>
            <a:off x="347472" y="1188720"/>
            <a:ext cx="7077456" cy="29260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3595420" y="3236061"/>
            <a:ext cx="2501799" cy="0"/>
          </a:xfrm>
          <a:prstGeom prst="line">
            <a:avLst/>
          </a:prstGeom>
          <a:ln w="2032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595420" y="3142792"/>
            <a:ext cx="0" cy="186538"/>
          </a:xfrm>
          <a:prstGeom prst="line">
            <a:avLst/>
          </a:prstGeom>
          <a:ln w="2032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97219" y="3142792"/>
            <a:ext cx="0" cy="186538"/>
          </a:xfrm>
          <a:prstGeom prst="line">
            <a:avLst/>
          </a:prstGeom>
          <a:ln w="20320">
            <a:solidFill>
              <a:srgbClr val="A23DB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595420" y="3282696"/>
            <a:ext cx="2501798" cy="326440"/>
          </a:xfrm>
          <a:prstGeom prst="rect">
            <a:avLst/>
          </a:prstGeom>
          <a:noFill/>
        </p:spPr>
        <p:txBody>
          <a:bodyPr wrap="square" lIns="0" rIns="0" tIns="0" bIns="0" anchor="t">
            <a:spAutoFit/>
          </a:bodyPr>
          <a:lstStyle/>
          <a:p>
            <a:pPr algn="ctr">
              <a:lnSpc>
                <a:spcPct val="100000"/>
              </a:lnSpc>
            </a:pPr>
            <a:r>
              <a:rPr sz="800" b="1" i="0">
                <a:solidFill>
                  <a:srgbClr val="A23DB6"/>
                </a:solidFill>
                <a:latin typeface="Arial"/>
              </a:rPr>
              <a:t>tail moment arm  l</a:t>
            </a:r>
          </a:p>
        </p:txBody>
      </p:sp>
      <p:sp>
        <p:nvSpPr>
          <p:cNvPr id="31" name="Rectangle 30"/>
          <p:cNvSpPr/>
          <p:nvPr/>
        </p:nvSpPr>
        <p:spPr>
          <a:xfrm>
            <a:off x="347472" y="4352544"/>
            <a:ext cx="2011680" cy="512064"/>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2336" y="4471416"/>
            <a:ext cx="1901952"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PART</a:t>
            </a:r>
          </a:p>
        </p:txBody>
      </p:sp>
      <p:sp>
        <p:nvSpPr>
          <p:cNvPr id="33" name="Rectangle 32"/>
          <p:cNvSpPr/>
          <p:nvPr/>
        </p:nvSpPr>
        <p:spPr>
          <a:xfrm>
            <a:off x="2359152" y="4352544"/>
            <a:ext cx="2286000" cy="512064"/>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14016" y="4471416"/>
            <a:ext cx="2176272"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WHY IT EXISTS</a:t>
            </a:r>
          </a:p>
        </p:txBody>
      </p:sp>
      <p:sp>
        <p:nvSpPr>
          <p:cNvPr id="35" name="Rectangle 34"/>
          <p:cNvSpPr/>
          <p:nvPr/>
        </p:nvSpPr>
        <p:spPr>
          <a:xfrm>
            <a:off x="4645152" y="4352544"/>
            <a:ext cx="2779776" cy="512064"/>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0016" y="4471416"/>
            <a:ext cx="2670048"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CONTROL / CONSEQUENCE</a:t>
            </a:r>
          </a:p>
        </p:txBody>
      </p:sp>
      <p:sp>
        <p:nvSpPr>
          <p:cNvPr id="37" name="Rectangle 36"/>
          <p:cNvSpPr/>
          <p:nvPr/>
        </p:nvSpPr>
        <p:spPr>
          <a:xfrm>
            <a:off x="347472" y="4864608"/>
            <a:ext cx="2011680" cy="73152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2336" y="4956048"/>
            <a:ext cx="1901952" cy="502920"/>
          </a:xfrm>
          <a:prstGeom prst="rect">
            <a:avLst/>
          </a:prstGeom>
          <a:noFill/>
        </p:spPr>
        <p:txBody>
          <a:bodyPr wrap="square" lIns="0" rIns="0" tIns="0" bIns="0" anchor="ctr">
            <a:spAutoFit/>
          </a:bodyPr>
          <a:lstStyle/>
          <a:p>
            <a:pPr algn="l">
              <a:lnSpc>
                <a:spcPct val="100000"/>
              </a:lnSpc>
            </a:pPr>
            <a:r>
              <a:rPr sz="880" b="1" i="0">
                <a:solidFill>
                  <a:srgbClr val="20263A"/>
                </a:solidFill>
                <a:latin typeface="Arial"/>
              </a:rPr>
              <a:t>Horizontal stabilizer</a:t>
            </a:r>
          </a:p>
        </p:txBody>
      </p:sp>
      <p:sp>
        <p:nvSpPr>
          <p:cNvPr id="39" name="Rectangle 38"/>
          <p:cNvSpPr/>
          <p:nvPr/>
        </p:nvSpPr>
        <p:spPr>
          <a:xfrm>
            <a:off x="2359152" y="4864608"/>
            <a:ext cx="2286000" cy="73152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414016" y="4956048"/>
            <a:ext cx="2176272" cy="502920"/>
          </a:xfrm>
          <a:prstGeom prst="rect">
            <a:avLst/>
          </a:prstGeom>
          <a:noFill/>
        </p:spPr>
        <p:txBody>
          <a:bodyPr wrap="square" lIns="0" rIns="0" tIns="0" bIns="0" anchor="ctr">
            <a:spAutoFit/>
          </a:bodyPr>
          <a:lstStyle/>
          <a:p>
            <a:pPr algn="l">
              <a:lnSpc>
                <a:spcPct val="100000"/>
              </a:lnSpc>
            </a:pPr>
            <a:r>
              <a:rPr sz="880" b="0" i="0">
                <a:solidFill>
                  <a:srgbClr val="20263A"/>
                </a:solidFill>
                <a:latin typeface="Arial"/>
              </a:rPr>
              <a:t>Pitch stability and damping</a:t>
            </a:r>
          </a:p>
        </p:txBody>
      </p:sp>
      <p:sp>
        <p:nvSpPr>
          <p:cNvPr id="41" name="Rectangle 40"/>
          <p:cNvSpPr/>
          <p:nvPr/>
        </p:nvSpPr>
        <p:spPr>
          <a:xfrm>
            <a:off x="4645152" y="4864608"/>
            <a:ext cx="2779776" cy="73152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00016" y="4956048"/>
            <a:ext cx="2670048" cy="502920"/>
          </a:xfrm>
          <a:prstGeom prst="rect">
            <a:avLst/>
          </a:prstGeom>
          <a:noFill/>
        </p:spPr>
        <p:txBody>
          <a:bodyPr wrap="square" lIns="0" rIns="0" tIns="0" bIns="0" anchor="ctr">
            <a:spAutoFit/>
          </a:bodyPr>
          <a:lstStyle/>
          <a:p>
            <a:pPr algn="l">
              <a:lnSpc>
                <a:spcPct val="100000"/>
              </a:lnSpc>
            </a:pPr>
            <a:r>
              <a:rPr sz="880" b="0" i="0">
                <a:solidFill>
                  <a:srgbClr val="20263A"/>
                </a:solidFill>
                <a:latin typeface="Arial"/>
              </a:rPr>
              <a:t>Elevator</a:t>
            </a:r>
          </a:p>
        </p:txBody>
      </p:sp>
      <p:sp>
        <p:nvSpPr>
          <p:cNvPr id="43" name="Rectangle 42"/>
          <p:cNvSpPr/>
          <p:nvPr/>
        </p:nvSpPr>
        <p:spPr>
          <a:xfrm>
            <a:off x="347472" y="5596128"/>
            <a:ext cx="2011680" cy="73152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2336" y="5687568"/>
            <a:ext cx="1901952" cy="502920"/>
          </a:xfrm>
          <a:prstGeom prst="rect">
            <a:avLst/>
          </a:prstGeom>
          <a:noFill/>
        </p:spPr>
        <p:txBody>
          <a:bodyPr wrap="square" lIns="0" rIns="0" tIns="0" bIns="0" anchor="ctr">
            <a:spAutoFit/>
          </a:bodyPr>
          <a:lstStyle/>
          <a:p>
            <a:pPr algn="l">
              <a:lnSpc>
                <a:spcPct val="100000"/>
              </a:lnSpc>
            </a:pPr>
            <a:r>
              <a:rPr sz="880" b="1" i="0">
                <a:solidFill>
                  <a:srgbClr val="20263A"/>
                </a:solidFill>
                <a:latin typeface="Arial"/>
              </a:rPr>
              <a:t>Vertical stabilizer / fin</a:t>
            </a:r>
          </a:p>
        </p:txBody>
      </p:sp>
      <p:sp>
        <p:nvSpPr>
          <p:cNvPr id="45" name="Rectangle 44"/>
          <p:cNvSpPr/>
          <p:nvPr/>
        </p:nvSpPr>
        <p:spPr>
          <a:xfrm>
            <a:off x="2359152" y="5596128"/>
            <a:ext cx="2286000" cy="73152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414016" y="5687568"/>
            <a:ext cx="2176272" cy="502920"/>
          </a:xfrm>
          <a:prstGeom prst="rect">
            <a:avLst/>
          </a:prstGeom>
          <a:noFill/>
        </p:spPr>
        <p:txBody>
          <a:bodyPr wrap="square" lIns="0" rIns="0" tIns="0" bIns="0" anchor="ctr">
            <a:spAutoFit/>
          </a:bodyPr>
          <a:lstStyle/>
          <a:p>
            <a:pPr algn="l">
              <a:lnSpc>
                <a:spcPct val="100000"/>
              </a:lnSpc>
            </a:pPr>
            <a:r>
              <a:rPr sz="880" b="0" i="0">
                <a:solidFill>
                  <a:srgbClr val="20263A"/>
                </a:solidFill>
                <a:latin typeface="Arial"/>
              </a:rPr>
              <a:t>Yaw stability and damping</a:t>
            </a:r>
          </a:p>
        </p:txBody>
      </p:sp>
      <p:sp>
        <p:nvSpPr>
          <p:cNvPr id="47" name="Rectangle 46"/>
          <p:cNvSpPr/>
          <p:nvPr/>
        </p:nvSpPr>
        <p:spPr>
          <a:xfrm>
            <a:off x="4645152" y="5596128"/>
            <a:ext cx="2779776" cy="731520"/>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00016" y="5687568"/>
            <a:ext cx="2670048" cy="502920"/>
          </a:xfrm>
          <a:prstGeom prst="rect">
            <a:avLst/>
          </a:prstGeom>
          <a:noFill/>
        </p:spPr>
        <p:txBody>
          <a:bodyPr wrap="square" lIns="0" rIns="0" tIns="0" bIns="0" anchor="ctr">
            <a:spAutoFit/>
          </a:bodyPr>
          <a:lstStyle/>
          <a:p>
            <a:pPr algn="l">
              <a:lnSpc>
                <a:spcPct val="100000"/>
              </a:lnSpc>
            </a:pPr>
            <a:r>
              <a:rPr sz="880" b="0" i="0">
                <a:solidFill>
                  <a:srgbClr val="20263A"/>
                </a:solidFill>
                <a:latin typeface="Arial"/>
              </a:rPr>
              <a:t>Rudder</a:t>
            </a:r>
          </a:p>
        </p:txBody>
      </p:sp>
      <p:sp>
        <p:nvSpPr>
          <p:cNvPr id="49" name="Rectangle 48"/>
          <p:cNvSpPr/>
          <p:nvPr/>
        </p:nvSpPr>
        <p:spPr>
          <a:xfrm>
            <a:off x="347472" y="6327648"/>
            <a:ext cx="2011680" cy="73152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02336" y="6419088"/>
            <a:ext cx="1901952" cy="502920"/>
          </a:xfrm>
          <a:prstGeom prst="rect">
            <a:avLst/>
          </a:prstGeom>
          <a:noFill/>
        </p:spPr>
        <p:txBody>
          <a:bodyPr wrap="square" lIns="0" rIns="0" tIns="0" bIns="0" anchor="ctr">
            <a:spAutoFit/>
          </a:bodyPr>
          <a:lstStyle/>
          <a:p>
            <a:pPr algn="l">
              <a:lnSpc>
                <a:spcPct val="100000"/>
              </a:lnSpc>
            </a:pPr>
            <a:r>
              <a:rPr sz="880" b="1" i="0">
                <a:solidFill>
                  <a:srgbClr val="20263A"/>
                </a:solidFill>
                <a:latin typeface="Arial"/>
              </a:rPr>
              <a:t>Tail moment arm</a:t>
            </a:r>
          </a:p>
        </p:txBody>
      </p:sp>
      <p:sp>
        <p:nvSpPr>
          <p:cNvPr id="51" name="Rectangle 50"/>
          <p:cNvSpPr/>
          <p:nvPr/>
        </p:nvSpPr>
        <p:spPr>
          <a:xfrm>
            <a:off x="2359152" y="6327648"/>
            <a:ext cx="2286000" cy="73152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414016" y="6419088"/>
            <a:ext cx="2176272" cy="502920"/>
          </a:xfrm>
          <a:prstGeom prst="rect">
            <a:avLst/>
          </a:prstGeom>
          <a:noFill/>
        </p:spPr>
        <p:txBody>
          <a:bodyPr wrap="square" lIns="0" rIns="0" tIns="0" bIns="0" anchor="ctr">
            <a:spAutoFit/>
          </a:bodyPr>
          <a:lstStyle/>
          <a:p>
            <a:pPr algn="l">
              <a:lnSpc>
                <a:spcPct val="100000"/>
              </a:lnSpc>
            </a:pPr>
            <a:r>
              <a:rPr sz="880" b="0" i="0">
                <a:solidFill>
                  <a:srgbClr val="20263A"/>
                </a:solidFill>
                <a:latin typeface="Arial"/>
              </a:rPr>
              <a:t>Leverage behind the CG</a:t>
            </a:r>
          </a:p>
        </p:txBody>
      </p:sp>
      <p:sp>
        <p:nvSpPr>
          <p:cNvPr id="53" name="Rectangle 52"/>
          <p:cNvSpPr/>
          <p:nvPr/>
        </p:nvSpPr>
        <p:spPr>
          <a:xfrm>
            <a:off x="4645152" y="6327648"/>
            <a:ext cx="2779776" cy="731520"/>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700016" y="6419088"/>
            <a:ext cx="2670048" cy="502920"/>
          </a:xfrm>
          <a:prstGeom prst="rect">
            <a:avLst/>
          </a:prstGeom>
          <a:noFill/>
        </p:spPr>
        <p:txBody>
          <a:bodyPr wrap="square" lIns="0" rIns="0" tIns="0" bIns="0" anchor="ctr">
            <a:spAutoFit/>
          </a:bodyPr>
          <a:lstStyle/>
          <a:p>
            <a:pPr algn="l">
              <a:lnSpc>
                <a:spcPct val="100000"/>
              </a:lnSpc>
            </a:pPr>
            <a:r>
              <a:rPr sz="880" b="0" i="0">
                <a:solidFill>
                  <a:srgbClr val="20263A"/>
                </a:solidFill>
                <a:latin typeface="Arial"/>
              </a:rPr>
              <a:t>Allows smaller tail for same volume</a:t>
            </a:r>
          </a:p>
        </p:txBody>
      </p:sp>
      <p:sp>
        <p:nvSpPr>
          <p:cNvPr id="55" name="TextBox 54"/>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A stabilizer’s effectiveness depends on area, shape, lever arm, airflow, and aircraft CG.</a:t>
            </a:r>
          </a:p>
        </p:txBody>
      </p:sp>
      <p:sp>
        <p:nvSpPr>
          <p:cNvPr id="56" name="TextBox 55"/>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18</a:t>
            </a:r>
          </a:p>
        </p:txBody>
      </p:sp>
      <p:sp>
        <p:nvSpPr>
          <p:cNvPr id="9" name="Freeform 8"/>
          <p:cNvSpPr/>
          <p:nvPr/>
        </p:nvSpPr>
        <p:spPr>
          <a:xfrm>
            <a:off x="832104" y="2496312"/>
            <a:ext cx="5989320" cy="347472"/>
          </a:xfrm>
          <a:custGeom>
            <a:avLst/>
            <a:gdLst/>
            <a:ahLst/>
            <a:cxnLst/>
            <a:rect l="l" t="t" r="r" b="b"/>
            <a:pathLst>
              <a:path w="5989320" h="347472">
                <a:moveTo>
                  <a:pt x="0" y="54864"/>
                </a:moveTo>
                <a:lnTo>
                  <a:pt x="5166360" y="27432"/>
                </a:lnTo>
                <a:lnTo>
                  <a:pt x="5989320" y="0"/>
                </a:lnTo>
                <a:lnTo>
                  <a:pt x="5989320" y="210312"/>
                </a:lnTo>
                <a:lnTo>
                  <a:pt x="502920" y="347472"/>
                </a:lnTo>
                <a:lnTo>
                  <a:pt x="0" y="292608"/>
                </a:lnTo>
                <a:close/>
              </a:path>
            </a:pathLst>
          </a:custGeom>
          <a:solidFill>
            <a:srgbClr val="F7F9FC"/>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704088" y="2578608"/>
            <a:ext cx="128016" cy="182880"/>
          </a:xfrm>
          <a:custGeom>
            <a:avLst/>
            <a:gdLst/>
            <a:ahLst/>
            <a:cxnLst/>
            <a:rect l="l" t="t" r="r" b="b"/>
            <a:pathLst>
              <a:path w="128016" h="182880">
                <a:moveTo>
                  <a:pt x="128016" y="0"/>
                </a:moveTo>
                <a:lnTo>
                  <a:pt x="0" y="91440"/>
                </a:lnTo>
                <a:lnTo>
                  <a:pt x="128016" y="182880"/>
                </a:lnTo>
                <a:close/>
              </a:path>
            </a:pathLst>
          </a:custGeom>
          <a:solidFill>
            <a:srgbClr val="D8DDE8"/>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676656" y="2322576"/>
            <a:ext cx="0" cy="694944"/>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2414016" y="2271141"/>
            <a:ext cx="2240280" cy="374126"/>
          </a:xfrm>
          <a:custGeom>
            <a:avLst/>
            <a:gdLst/>
            <a:ahLst/>
            <a:cxnLst/>
            <a:rect l="l" t="t" r="r" b="b"/>
            <a:pathLst>
              <a:path w="2240280" h="374126">
                <a:moveTo>
                  <a:pt x="0" y="280035"/>
                </a:moveTo>
                <a:lnTo>
                  <a:pt x="33604" y="183702"/>
                </a:lnTo>
                <a:lnTo>
                  <a:pt x="89611" y="141137"/>
                </a:lnTo>
                <a:lnTo>
                  <a:pt x="179222" y="96332"/>
                </a:lnTo>
                <a:lnTo>
                  <a:pt x="336042" y="49286"/>
                </a:lnTo>
                <a:lnTo>
                  <a:pt x="560070" y="8961"/>
                </a:lnTo>
                <a:lnTo>
                  <a:pt x="672084" y="0"/>
                </a:lnTo>
                <a:lnTo>
                  <a:pt x="896112" y="8961"/>
                </a:lnTo>
                <a:lnTo>
                  <a:pt x="1120140" y="33604"/>
                </a:lnTo>
                <a:lnTo>
                  <a:pt x="1344168" y="71688"/>
                </a:lnTo>
                <a:lnTo>
                  <a:pt x="1568196" y="118734"/>
                </a:lnTo>
                <a:lnTo>
                  <a:pt x="1792224" y="170261"/>
                </a:lnTo>
                <a:lnTo>
                  <a:pt x="2016252" y="221787"/>
                </a:lnTo>
                <a:lnTo>
                  <a:pt x="2240280" y="275554"/>
                </a:lnTo>
                <a:lnTo>
                  <a:pt x="2240280" y="280035"/>
                </a:lnTo>
                <a:lnTo>
                  <a:pt x="2016252" y="286755"/>
                </a:lnTo>
                <a:lnTo>
                  <a:pt x="1792224" y="295716"/>
                </a:lnTo>
                <a:lnTo>
                  <a:pt x="1568196" y="306918"/>
                </a:lnTo>
                <a:lnTo>
                  <a:pt x="1344168" y="320360"/>
                </a:lnTo>
                <a:lnTo>
                  <a:pt x="1120140" y="333801"/>
                </a:lnTo>
                <a:lnTo>
                  <a:pt x="896112" y="347243"/>
                </a:lnTo>
                <a:lnTo>
                  <a:pt x="672084" y="360685"/>
                </a:lnTo>
                <a:lnTo>
                  <a:pt x="560070" y="365165"/>
                </a:lnTo>
                <a:lnTo>
                  <a:pt x="336042" y="374126"/>
                </a:lnTo>
                <a:lnTo>
                  <a:pt x="179222" y="371886"/>
                </a:lnTo>
                <a:lnTo>
                  <a:pt x="89611" y="360685"/>
                </a:lnTo>
                <a:lnTo>
                  <a:pt x="33604" y="342762"/>
                </a:lnTo>
                <a:close/>
              </a:path>
            </a:pathLst>
          </a:custGeom>
          <a:solidFill>
            <a:srgbClr val="EDF4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5742432" y="2514600"/>
            <a:ext cx="713232" cy="109728"/>
          </a:xfrm>
          <a:custGeom>
            <a:avLst/>
            <a:gdLst/>
            <a:ahLst/>
            <a:cxnLst/>
            <a:rect l="l" t="t" r="r" b="b"/>
            <a:pathLst>
              <a:path w="713232" h="109728">
                <a:moveTo>
                  <a:pt x="0" y="9144"/>
                </a:moveTo>
                <a:lnTo>
                  <a:pt x="713232" y="0"/>
                </a:lnTo>
                <a:lnTo>
                  <a:pt x="713232" y="109728"/>
                </a:lnTo>
                <a:lnTo>
                  <a:pt x="0" y="100584"/>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55664" y="2505456"/>
            <a:ext cx="420624" cy="118872"/>
          </a:xfrm>
          <a:custGeom>
            <a:avLst/>
            <a:gdLst/>
            <a:ahLst/>
            <a:cxnLst/>
            <a:rect l="l" t="t" r="r" b="b"/>
            <a:pathLst>
              <a:path w="420624" h="118872">
                <a:moveTo>
                  <a:pt x="0" y="9144"/>
                </a:moveTo>
                <a:lnTo>
                  <a:pt x="420624" y="0"/>
                </a:lnTo>
                <a:lnTo>
                  <a:pt x="420624" y="109728"/>
                </a:lnTo>
                <a:lnTo>
                  <a:pt x="0" y="118872"/>
                </a:lnTo>
                <a:close/>
              </a:path>
            </a:pathLst>
          </a:custGeom>
          <a:solidFill>
            <a:srgbClr val="D4EEDD"/>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5888736" y="1746503"/>
            <a:ext cx="530352" cy="777241"/>
          </a:xfrm>
          <a:custGeom>
            <a:avLst/>
            <a:gdLst/>
            <a:ahLst/>
            <a:cxnLst/>
            <a:rect l="l" t="t" r="r" b="b"/>
            <a:pathLst>
              <a:path w="530352" h="777241">
                <a:moveTo>
                  <a:pt x="0" y="777241"/>
                </a:moveTo>
                <a:lnTo>
                  <a:pt x="402336" y="0"/>
                </a:lnTo>
                <a:lnTo>
                  <a:pt x="530352" y="0"/>
                </a:lnTo>
                <a:lnTo>
                  <a:pt x="530352" y="772669"/>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6419088" y="1746503"/>
            <a:ext cx="384048" cy="772669"/>
          </a:xfrm>
          <a:custGeom>
            <a:avLst/>
            <a:gdLst/>
            <a:ahLst/>
            <a:cxnLst/>
            <a:rect l="l" t="t" r="r" b="b"/>
            <a:pathLst>
              <a:path w="384048" h="772669">
                <a:moveTo>
                  <a:pt x="0" y="0"/>
                </a:moveTo>
                <a:lnTo>
                  <a:pt x="347472" y="54864"/>
                </a:lnTo>
                <a:lnTo>
                  <a:pt x="384048" y="768097"/>
                </a:lnTo>
                <a:lnTo>
                  <a:pt x="0" y="772669"/>
                </a:lnTo>
                <a:close/>
              </a:path>
            </a:pathLst>
          </a:custGeom>
          <a:solidFill>
            <a:srgbClr val="D4EEDD"/>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3099816" y="2816352"/>
            <a:ext cx="0" cy="164592"/>
          </a:xfrm>
          <a:prstGeom prst="line">
            <a:avLst/>
          </a:prstGeom>
          <a:ln w="1905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2980944" y="2962656"/>
            <a:ext cx="237744" cy="237744"/>
          </a:xfrm>
          <a:prstGeom prst="ellipse">
            <a:avLst/>
          </a:prstGeom>
          <a:solidFill>
            <a:srgbClr val="FFFFFF"/>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364224" y="2697479"/>
            <a:ext cx="128016" cy="128016"/>
          </a:xfrm>
          <a:prstGeom prst="ellipse">
            <a:avLst/>
          </a:prstGeom>
          <a:solidFill>
            <a:srgbClr val="FFFF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595420" y="2116836"/>
            <a:ext cx="0" cy="419709"/>
          </a:xfrm>
          <a:prstGeom prst="line">
            <a:avLst/>
          </a:prstGeom>
          <a:ln w="22860">
            <a:solidFill>
              <a:srgbClr val="C83E3E"/>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503249" y="2548204"/>
            <a:ext cx="184343" cy="184343"/>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7052" y="1883664"/>
            <a:ext cx="1316736" cy="326440"/>
          </a:xfrm>
          <a:prstGeom prst="rect">
            <a:avLst/>
          </a:prstGeom>
          <a:noFill/>
        </p:spPr>
        <p:txBody>
          <a:bodyPr wrap="square" lIns="0" rIns="0" tIns="0" bIns="0" anchor="t">
            <a:spAutoFit/>
          </a:bodyPr>
          <a:lstStyle/>
          <a:p>
            <a:pPr algn="ctr">
              <a:lnSpc>
                <a:spcPct val="100000"/>
              </a:lnSpc>
            </a:pPr>
            <a:r>
              <a:rPr sz="850" b="1" i="0">
                <a:solidFill>
                  <a:srgbClr val="C83E3E"/>
                </a:solidFill>
                <a:latin typeface="Arial"/>
              </a:rPr>
              <a:t>CG</a:t>
            </a:r>
          </a:p>
        </p:txBody>
      </p:sp>
      <p:sp>
        <p:nvSpPr>
          <p:cNvPr id="23" name="Rounded Rectangle 22"/>
          <p:cNvSpPr/>
          <p:nvPr/>
        </p:nvSpPr>
        <p:spPr>
          <a:xfrm>
            <a:off x="4709160" y="1444752"/>
            <a:ext cx="1280160" cy="256032"/>
          </a:xfrm>
          <a:prstGeom prst="roundRect">
            <a:avLst>
              <a:gd name="adj" fmla="val 8000"/>
            </a:avLst>
          </a:prstGeom>
          <a:solidFill>
            <a:srgbClr val="EC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64024" y="1495044"/>
            <a:ext cx="1170431" cy="146304"/>
          </a:xfrm>
          <a:prstGeom prst="rect">
            <a:avLst/>
          </a:prstGeom>
          <a:noFill/>
        </p:spPr>
        <p:txBody>
          <a:bodyPr wrap="square" lIns="0" rIns="0" tIns="0" bIns="0" anchor="ctr">
            <a:spAutoFit/>
          </a:bodyPr>
          <a:lstStyle/>
          <a:p>
            <a:pPr algn="ctr">
              <a:lnSpc>
                <a:spcPct val="100000"/>
              </a:lnSpc>
            </a:pPr>
            <a:r>
              <a:rPr sz="750" b="1" i="0">
                <a:solidFill>
                  <a:srgbClr val="2F8F5B"/>
                </a:solidFill>
                <a:latin typeface="Arial"/>
              </a:rPr>
              <a:t>VERTICAL STABILIZER</a:t>
            </a:r>
          </a:p>
        </p:txBody>
      </p:sp>
      <p:sp>
        <p:nvSpPr>
          <p:cNvPr id="25" name="Rounded Rectangle 24"/>
          <p:cNvSpPr/>
          <p:nvPr/>
        </p:nvSpPr>
        <p:spPr>
          <a:xfrm>
            <a:off x="5989320" y="1810512"/>
            <a:ext cx="841248" cy="256032"/>
          </a:xfrm>
          <a:prstGeom prst="roundRect">
            <a:avLst>
              <a:gd name="adj" fmla="val 8000"/>
            </a:avLst>
          </a:prstGeom>
          <a:solidFill>
            <a:srgbClr val="FD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44183" y="1860804"/>
            <a:ext cx="731520" cy="146304"/>
          </a:xfrm>
          <a:prstGeom prst="rect">
            <a:avLst/>
          </a:prstGeom>
          <a:noFill/>
        </p:spPr>
        <p:txBody>
          <a:bodyPr wrap="square" lIns="0" rIns="0" tIns="0" bIns="0" anchor="ctr">
            <a:spAutoFit/>
          </a:bodyPr>
          <a:lstStyle/>
          <a:p>
            <a:pPr algn="ctr">
              <a:lnSpc>
                <a:spcPct val="100000"/>
              </a:lnSpc>
            </a:pPr>
            <a:r>
              <a:rPr sz="750" b="1" i="0">
                <a:solidFill>
                  <a:srgbClr val="C83E3E"/>
                </a:solidFill>
                <a:latin typeface="Arial"/>
              </a:rPr>
              <a:t>RUDDER</a:t>
            </a:r>
          </a:p>
        </p:txBody>
      </p:sp>
      <p:sp>
        <p:nvSpPr>
          <p:cNvPr id="27" name="Rounded Rectangle 26"/>
          <p:cNvSpPr/>
          <p:nvPr/>
        </p:nvSpPr>
        <p:spPr>
          <a:xfrm>
            <a:off x="4800600" y="2880360"/>
            <a:ext cx="1444752" cy="256032"/>
          </a:xfrm>
          <a:prstGeom prst="roundRect">
            <a:avLst>
              <a:gd name="adj" fmla="val 8000"/>
            </a:avLst>
          </a:prstGeom>
          <a:solidFill>
            <a:srgbClr val="EA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55464" y="2930652"/>
            <a:ext cx="1335024" cy="146304"/>
          </a:xfrm>
          <a:prstGeom prst="rect">
            <a:avLst/>
          </a:prstGeom>
          <a:noFill/>
        </p:spPr>
        <p:txBody>
          <a:bodyPr wrap="square" lIns="0" rIns="0" tIns="0" bIns="0" anchor="ctr">
            <a:spAutoFit/>
          </a:bodyPr>
          <a:lstStyle/>
          <a:p>
            <a:pPr algn="ctr">
              <a:lnSpc>
                <a:spcPct val="100000"/>
              </a:lnSpc>
            </a:pPr>
            <a:r>
              <a:rPr sz="710" b="1" i="0">
                <a:solidFill>
                  <a:srgbClr val="138C8C"/>
                </a:solidFill>
                <a:latin typeface="Arial"/>
              </a:rPr>
              <a:t>HORIZONTAL STABILIZER</a:t>
            </a:r>
          </a:p>
        </p:txBody>
      </p:sp>
      <p:sp>
        <p:nvSpPr>
          <p:cNvPr id="29" name="Rounded Rectangle 28"/>
          <p:cNvSpPr/>
          <p:nvPr/>
        </p:nvSpPr>
        <p:spPr>
          <a:xfrm>
            <a:off x="6053328" y="3200400"/>
            <a:ext cx="841248" cy="256032"/>
          </a:xfrm>
          <a:prstGeom prst="roundRect">
            <a:avLst>
              <a:gd name="adj" fmla="val 8000"/>
            </a:avLst>
          </a:prstGeom>
          <a:solidFill>
            <a:srgbClr val="F6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08192" y="3250692"/>
            <a:ext cx="731520" cy="146304"/>
          </a:xfrm>
          <a:prstGeom prst="rect">
            <a:avLst/>
          </a:prstGeom>
          <a:noFill/>
        </p:spPr>
        <p:txBody>
          <a:bodyPr wrap="square" lIns="0" rIns="0" tIns="0" bIns="0" anchor="ctr">
            <a:spAutoFit/>
          </a:bodyPr>
          <a:lstStyle/>
          <a:p>
            <a:pPr algn="ctr">
              <a:lnSpc>
                <a:spcPct val="100000"/>
              </a:lnSpc>
            </a:pPr>
            <a:r>
              <a:rPr sz="750" b="1" i="0">
                <a:solidFill>
                  <a:srgbClr val="A23DB6"/>
                </a:solidFill>
                <a:latin typeface="Arial"/>
              </a:rPr>
              <a:t>ELEVATOR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38C8C"/>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700" b="1" i="0">
                <a:solidFill>
                  <a:srgbClr val="FFFFFF"/>
                </a:solidFill>
                <a:latin typeface="Arial"/>
              </a:rPr>
              <a:t>Horizontal-tail volume: area × leverage for pitch stability</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A small tail far behind the CG can be as effective as a larger tail mounted close.</a:t>
            </a:r>
          </a:p>
        </p:txBody>
      </p:sp>
      <p:sp>
        <p:nvSpPr>
          <p:cNvPr id="8" name="Rounded Rectangle 7"/>
          <p:cNvSpPr/>
          <p:nvPr/>
        </p:nvSpPr>
        <p:spPr>
          <a:xfrm>
            <a:off x="347472" y="1188720"/>
            <a:ext cx="7077456" cy="278892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3624535" y="2847295"/>
            <a:ext cx="2485814" cy="0"/>
          </a:xfrm>
          <a:prstGeom prst="line">
            <a:avLst/>
          </a:prstGeom>
          <a:ln w="2032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24535" y="2773119"/>
            <a:ext cx="0" cy="148352"/>
          </a:xfrm>
          <a:prstGeom prst="line">
            <a:avLst/>
          </a:prstGeom>
          <a:ln w="2032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110349" y="2773119"/>
            <a:ext cx="0" cy="148352"/>
          </a:xfrm>
          <a:prstGeom prst="line">
            <a:avLst/>
          </a:prstGeom>
          <a:ln w="20320">
            <a:solidFill>
              <a:srgbClr val="A23DB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624535" y="2884383"/>
            <a:ext cx="2485814" cy="259616"/>
          </a:xfrm>
          <a:prstGeom prst="rect">
            <a:avLst/>
          </a:prstGeom>
          <a:noFill/>
        </p:spPr>
        <p:txBody>
          <a:bodyPr wrap="square" lIns="0" rIns="0" tIns="0" bIns="0" anchor="t">
            <a:spAutoFit/>
          </a:bodyPr>
          <a:lstStyle/>
          <a:p>
            <a:pPr algn="ctr">
              <a:lnSpc>
                <a:spcPct val="100000"/>
              </a:lnSpc>
            </a:pPr>
            <a:r>
              <a:rPr sz="800" b="1" i="0">
                <a:solidFill>
                  <a:srgbClr val="A23DB6"/>
                </a:solidFill>
                <a:latin typeface="Arial"/>
              </a:rPr>
              <a:t>tail moment arm  l</a:t>
            </a:r>
          </a:p>
        </p:txBody>
      </p:sp>
      <p:sp>
        <p:nvSpPr>
          <p:cNvPr id="25" name="TextBox 24"/>
          <p:cNvSpPr txBox="1"/>
          <p:nvPr/>
        </p:nvSpPr>
        <p:spPr>
          <a:xfrm>
            <a:off x="882396" y="3397910"/>
            <a:ext cx="6007608" cy="380390"/>
          </a:xfrm>
          <a:prstGeom prst="rect">
            <a:avLst/>
          </a:prstGeom>
          <a:noFill/>
        </p:spPr>
        <p:txBody>
          <a:bodyPr wrap="square" lIns="0" rIns="0" tIns="0" bIns="0" anchor="t">
            <a:spAutoFit/>
          </a:bodyPr>
          <a:lstStyle/>
          <a:p>
            <a:pPr algn="ctr">
              <a:lnSpc>
                <a:spcPct val="100000"/>
              </a:lnSpc>
            </a:pPr>
            <a:r>
              <a:rPr sz="860" b="1" i="0">
                <a:solidFill>
                  <a:srgbClr val="138C8C"/>
                </a:solidFill>
                <a:latin typeface="Arial"/>
              </a:rPr>
              <a:t>Pitch leverage = horizontal-tail area × distance behind CG</a:t>
            </a:r>
          </a:p>
        </p:txBody>
      </p:sp>
      <p:sp>
        <p:nvSpPr>
          <p:cNvPr id="26" name="Rounded Rectangle 25"/>
          <p:cNvSpPr/>
          <p:nvPr/>
        </p:nvSpPr>
        <p:spPr>
          <a:xfrm>
            <a:off x="347472" y="4224528"/>
            <a:ext cx="3474720" cy="1874519"/>
          </a:xfrm>
          <a:prstGeom prst="roundRect">
            <a:avLst>
              <a:gd name="adj" fmla="val 8000"/>
            </a:avLst>
          </a:prstGeom>
          <a:solidFill>
            <a:srgbClr val="EAF7F6"/>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7472" y="4224528"/>
            <a:ext cx="54864" cy="1874519"/>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334256"/>
            <a:ext cx="3209544" cy="164592"/>
          </a:xfrm>
          <a:prstGeom prst="rect">
            <a:avLst/>
          </a:prstGeom>
          <a:noFill/>
        </p:spPr>
        <p:txBody>
          <a:bodyPr wrap="square" lIns="0" rIns="0" tIns="0" bIns="0" anchor="t">
            <a:spAutoFit/>
          </a:bodyPr>
          <a:lstStyle/>
          <a:p>
            <a:pPr algn="l">
              <a:lnSpc>
                <a:spcPct val="100000"/>
              </a:lnSpc>
            </a:pPr>
            <a:r>
              <a:rPr sz="840" b="1" i="0">
                <a:solidFill>
                  <a:srgbClr val="138C8C"/>
                </a:solidFill>
                <a:latin typeface="Arial"/>
              </a:rPr>
              <a:t>HORIZONTAL TAIL VOLUME</a:t>
            </a:r>
          </a:p>
        </p:txBody>
      </p:sp>
      <p:sp>
        <p:nvSpPr>
          <p:cNvPr id="29" name="TextBox 28"/>
          <p:cNvSpPr txBox="1"/>
          <p:nvPr/>
        </p:nvSpPr>
        <p:spPr>
          <a:xfrm>
            <a:off x="502920" y="4590288"/>
            <a:ext cx="3209544" cy="365760"/>
          </a:xfrm>
          <a:prstGeom prst="rect">
            <a:avLst/>
          </a:prstGeom>
          <a:noFill/>
        </p:spPr>
        <p:txBody>
          <a:bodyPr wrap="square" lIns="0" rIns="0" tIns="0" bIns="0" anchor="ctr">
            <a:spAutoFit/>
          </a:bodyPr>
          <a:lstStyle/>
          <a:p>
            <a:pPr algn="ctr">
              <a:lnSpc>
                <a:spcPct val="100000"/>
              </a:lnSpc>
            </a:pPr>
            <a:r>
              <a:rPr sz="1800" b="1" i="0">
                <a:solidFill>
                  <a:srgbClr val="20263A"/>
                </a:solidFill>
                <a:latin typeface="Arial"/>
              </a:rPr>
              <a:t>Vₕ = Sₕ lₕ / (S c̄)</a:t>
            </a:r>
          </a:p>
        </p:txBody>
      </p:sp>
      <p:sp>
        <p:nvSpPr>
          <p:cNvPr id="30" name="TextBox 29"/>
          <p:cNvSpPr txBox="1"/>
          <p:nvPr/>
        </p:nvSpPr>
        <p:spPr>
          <a:xfrm>
            <a:off x="502920" y="5065776"/>
            <a:ext cx="3209544" cy="932687"/>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Sₕ = horizontal-tail area, lₕ = CG-to-tail arm, S = wing area, c̄ = mean aerodynamic chord.</a:t>
            </a:r>
          </a:p>
        </p:txBody>
      </p:sp>
      <p:sp>
        <p:nvSpPr>
          <p:cNvPr id="31" name="Rounded Rectangle 30"/>
          <p:cNvSpPr/>
          <p:nvPr/>
        </p:nvSpPr>
        <p:spPr>
          <a:xfrm>
            <a:off x="3950208" y="4224528"/>
            <a:ext cx="3474720" cy="1874519"/>
          </a:xfrm>
          <a:prstGeom prst="roundRect">
            <a:avLst>
              <a:gd name="adj" fmla="val 8000"/>
            </a:avLst>
          </a:prstGeom>
          <a:solidFill>
            <a:srgbClr val="EDF4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50208" y="4224528"/>
            <a:ext cx="54864" cy="1874519"/>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05656" y="4334256"/>
            <a:ext cx="3209544" cy="164592"/>
          </a:xfrm>
          <a:prstGeom prst="rect">
            <a:avLst/>
          </a:prstGeom>
          <a:noFill/>
        </p:spPr>
        <p:txBody>
          <a:bodyPr wrap="square" lIns="0" rIns="0" tIns="0" bIns="0" anchor="t">
            <a:spAutoFit/>
          </a:bodyPr>
          <a:lstStyle/>
          <a:p>
            <a:pPr algn="l">
              <a:lnSpc>
                <a:spcPct val="100000"/>
              </a:lnSpc>
            </a:pPr>
            <a:r>
              <a:rPr sz="840" b="1" i="0">
                <a:solidFill>
                  <a:srgbClr val="246BCE"/>
                </a:solidFill>
                <a:latin typeface="Arial"/>
              </a:rPr>
              <a:t>SOLVE FOR TAIL AREA</a:t>
            </a:r>
          </a:p>
        </p:txBody>
      </p:sp>
      <p:sp>
        <p:nvSpPr>
          <p:cNvPr id="34" name="TextBox 33"/>
          <p:cNvSpPr txBox="1"/>
          <p:nvPr/>
        </p:nvSpPr>
        <p:spPr>
          <a:xfrm>
            <a:off x="4105656" y="4590288"/>
            <a:ext cx="3209544" cy="365760"/>
          </a:xfrm>
          <a:prstGeom prst="rect">
            <a:avLst/>
          </a:prstGeom>
          <a:noFill/>
        </p:spPr>
        <p:txBody>
          <a:bodyPr wrap="square" lIns="0" rIns="0" tIns="0" bIns="0" anchor="ctr">
            <a:spAutoFit/>
          </a:bodyPr>
          <a:lstStyle/>
          <a:p>
            <a:pPr algn="ctr">
              <a:lnSpc>
                <a:spcPct val="100000"/>
              </a:lnSpc>
            </a:pPr>
            <a:r>
              <a:rPr sz="1800" b="1" i="0">
                <a:solidFill>
                  <a:srgbClr val="20263A"/>
                </a:solidFill>
                <a:latin typeface="Arial"/>
              </a:rPr>
              <a:t>Sₕ = Vₕ S c̄ / lₕ</a:t>
            </a:r>
          </a:p>
        </p:txBody>
      </p:sp>
      <p:sp>
        <p:nvSpPr>
          <p:cNvPr id="35" name="TextBox 34"/>
          <p:cNvSpPr txBox="1"/>
          <p:nvPr/>
        </p:nvSpPr>
        <p:spPr>
          <a:xfrm>
            <a:off x="4105656" y="5065776"/>
            <a:ext cx="3209544" cy="932687"/>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Choose Vₕ, then calculate area. A longer fuselage reduces required tail area.</a:t>
            </a:r>
          </a:p>
        </p:txBody>
      </p:sp>
      <p:sp>
        <p:nvSpPr>
          <p:cNvPr id="36" name="Rounded Rectangle 35"/>
          <p:cNvSpPr/>
          <p:nvPr/>
        </p:nvSpPr>
        <p:spPr>
          <a:xfrm>
            <a:off x="347472" y="6355080"/>
            <a:ext cx="2249424" cy="10972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446520"/>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BROAD RANGE</a:t>
            </a:r>
          </a:p>
        </p:txBody>
      </p:sp>
      <p:sp>
        <p:nvSpPr>
          <p:cNvPr id="38" name="TextBox 37"/>
          <p:cNvSpPr txBox="1"/>
          <p:nvPr/>
        </p:nvSpPr>
        <p:spPr>
          <a:xfrm>
            <a:off x="457200" y="6638544"/>
            <a:ext cx="2029967" cy="320040"/>
          </a:xfrm>
          <a:prstGeom prst="rect">
            <a:avLst/>
          </a:prstGeom>
          <a:noFill/>
        </p:spPr>
        <p:txBody>
          <a:bodyPr wrap="square" lIns="0" rIns="0" tIns="0" bIns="0" anchor="t">
            <a:spAutoFit/>
          </a:bodyPr>
          <a:lstStyle/>
          <a:p>
            <a:pPr algn="l">
              <a:lnSpc>
                <a:spcPct val="100000"/>
              </a:lnSpc>
            </a:pPr>
            <a:r>
              <a:rPr sz="2000" b="1" i="0">
                <a:solidFill>
                  <a:srgbClr val="246BCE"/>
                </a:solidFill>
                <a:latin typeface="Arial"/>
              </a:rPr>
              <a:t>0.30–0.60</a:t>
            </a:r>
          </a:p>
        </p:txBody>
      </p:sp>
      <p:sp>
        <p:nvSpPr>
          <p:cNvPr id="39" name="TextBox 38"/>
          <p:cNvSpPr txBox="1"/>
          <p:nvPr/>
        </p:nvSpPr>
        <p:spPr>
          <a:xfrm>
            <a:off x="457200" y="716889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conventional aircraft</a:t>
            </a:r>
          </a:p>
        </p:txBody>
      </p:sp>
      <p:sp>
        <p:nvSpPr>
          <p:cNvPr id="40" name="Rounded Rectangle 39"/>
          <p:cNvSpPr/>
          <p:nvPr/>
        </p:nvSpPr>
        <p:spPr>
          <a:xfrm>
            <a:off x="2761488" y="6355080"/>
            <a:ext cx="2249424" cy="10972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71216" y="6446520"/>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TRAINER START</a:t>
            </a:r>
          </a:p>
        </p:txBody>
      </p:sp>
      <p:sp>
        <p:nvSpPr>
          <p:cNvPr id="42" name="TextBox 41"/>
          <p:cNvSpPr txBox="1"/>
          <p:nvPr/>
        </p:nvSpPr>
        <p:spPr>
          <a:xfrm>
            <a:off x="2871216" y="6638544"/>
            <a:ext cx="2029967" cy="320040"/>
          </a:xfrm>
          <a:prstGeom prst="rect">
            <a:avLst/>
          </a:prstGeom>
          <a:noFill/>
        </p:spPr>
        <p:txBody>
          <a:bodyPr wrap="square" lIns="0" rIns="0" tIns="0" bIns="0" anchor="t">
            <a:spAutoFit/>
          </a:bodyPr>
          <a:lstStyle/>
          <a:p>
            <a:pPr algn="l">
              <a:lnSpc>
                <a:spcPct val="100000"/>
              </a:lnSpc>
            </a:pPr>
            <a:r>
              <a:rPr sz="2000" b="1" i="0">
                <a:solidFill>
                  <a:srgbClr val="2F8F5B"/>
                </a:solidFill>
                <a:latin typeface="Arial"/>
              </a:rPr>
              <a:t>0.50–0.60</a:t>
            </a:r>
          </a:p>
        </p:txBody>
      </p:sp>
      <p:sp>
        <p:nvSpPr>
          <p:cNvPr id="43" name="TextBox 42"/>
          <p:cNvSpPr txBox="1"/>
          <p:nvPr/>
        </p:nvSpPr>
        <p:spPr>
          <a:xfrm>
            <a:off x="2871216" y="716889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forgiving first pass</a:t>
            </a:r>
          </a:p>
        </p:txBody>
      </p:sp>
      <p:sp>
        <p:nvSpPr>
          <p:cNvPr id="44" name="Rounded Rectangle 43"/>
          <p:cNvSpPr/>
          <p:nvPr/>
        </p:nvSpPr>
        <p:spPr>
          <a:xfrm>
            <a:off x="5175504" y="6355080"/>
            <a:ext cx="2249424" cy="10972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85232" y="6446520"/>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EXAMPLE</a:t>
            </a:r>
          </a:p>
        </p:txBody>
      </p:sp>
      <p:sp>
        <p:nvSpPr>
          <p:cNvPr id="46" name="TextBox 45"/>
          <p:cNvSpPr txBox="1"/>
          <p:nvPr/>
        </p:nvSpPr>
        <p:spPr>
          <a:xfrm>
            <a:off x="5285232" y="6638544"/>
            <a:ext cx="2029967" cy="320040"/>
          </a:xfrm>
          <a:prstGeom prst="rect">
            <a:avLst/>
          </a:prstGeom>
          <a:noFill/>
        </p:spPr>
        <p:txBody>
          <a:bodyPr wrap="square" lIns="0" rIns="0" tIns="0" bIns="0" anchor="t">
            <a:spAutoFit/>
          </a:bodyPr>
          <a:lstStyle/>
          <a:p>
            <a:pPr algn="l">
              <a:lnSpc>
                <a:spcPct val="100000"/>
              </a:lnSpc>
            </a:pPr>
            <a:r>
              <a:rPr sz="2000" b="1" i="0">
                <a:solidFill>
                  <a:srgbClr val="138C8C"/>
                </a:solidFill>
                <a:latin typeface="Arial"/>
              </a:rPr>
              <a:t>640 cm²</a:t>
            </a:r>
          </a:p>
        </p:txBody>
      </p:sp>
      <p:sp>
        <p:nvSpPr>
          <p:cNvPr id="47" name="TextBox 46"/>
          <p:cNvSpPr txBox="1"/>
          <p:nvPr/>
        </p:nvSpPr>
        <p:spPr>
          <a:xfrm>
            <a:off x="5285232" y="716889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1.5 kg trainer below</a:t>
            </a:r>
          </a:p>
        </p:txBody>
      </p:sp>
      <p:sp>
        <p:nvSpPr>
          <p:cNvPr id="48" name="Rounded Rectangle 47"/>
          <p:cNvSpPr/>
          <p:nvPr/>
        </p:nvSpPr>
        <p:spPr>
          <a:xfrm>
            <a:off x="347472" y="7699248"/>
            <a:ext cx="7077456" cy="676656"/>
          </a:xfrm>
          <a:prstGeom prst="roundRect">
            <a:avLst>
              <a:gd name="adj" fmla="val 8000"/>
            </a:avLst>
          </a:prstGeom>
          <a:solidFill>
            <a:srgbClr val="EAF7F6"/>
          </a:solidFill>
          <a:ln w="10160">
            <a:solidFill>
              <a:srgbClr val="13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57200" y="7891272"/>
            <a:ext cx="292608" cy="292608"/>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7946136"/>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51" name="TextBox 50"/>
          <p:cNvSpPr txBox="1"/>
          <p:nvPr/>
        </p:nvSpPr>
        <p:spPr>
          <a:xfrm>
            <a:off x="832104" y="7790688"/>
            <a:ext cx="6464808" cy="512064"/>
          </a:xfrm>
          <a:prstGeom prst="rect">
            <a:avLst/>
          </a:prstGeom>
          <a:noFill/>
        </p:spPr>
        <p:txBody>
          <a:bodyPr wrap="square" lIns="0" rIns="0" tIns="0" bIns="0" anchor="ctr">
            <a:spAutoFit/>
          </a:bodyPr>
          <a:lstStyle/>
          <a:p>
            <a:pPr algn="l">
              <a:lnSpc>
                <a:spcPct val="100000"/>
              </a:lnSpc>
            </a:pPr>
            <a:r>
              <a:rPr sz="900" b="0" i="0">
                <a:solidFill>
                  <a:srgbClr val="20263A"/>
                </a:solidFill>
                <a:latin typeface="Arial"/>
              </a:rPr>
              <a:t>Compare the result with successful aircraft of similar configuration. Volume coefficients are screening tools, not proof of stability.</a:t>
            </a:r>
          </a:p>
        </p:txBody>
      </p:sp>
      <p:sp>
        <p:nvSpPr>
          <p:cNvPr id="52" name="TextBox 51"/>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Reference basis: MIT Unified Engineering preliminary aircraft design rules.</a:t>
            </a:r>
          </a:p>
        </p:txBody>
      </p:sp>
      <p:sp>
        <p:nvSpPr>
          <p:cNvPr id="53" name="TextBox 52"/>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19</a:t>
            </a:r>
          </a:p>
        </p:txBody>
      </p:sp>
      <p:sp>
        <p:nvSpPr>
          <p:cNvPr id="9" name="Freeform 8"/>
          <p:cNvSpPr/>
          <p:nvPr/>
        </p:nvSpPr>
        <p:spPr>
          <a:xfrm>
            <a:off x="877824" y="2221992"/>
            <a:ext cx="5952744" cy="347472"/>
          </a:xfrm>
          <a:custGeom>
            <a:avLst/>
            <a:gdLst/>
            <a:ahLst/>
            <a:cxnLst/>
            <a:rect l="l" t="t" r="r" b="b"/>
            <a:pathLst>
              <a:path w="5952744" h="347472">
                <a:moveTo>
                  <a:pt x="0" y="54864"/>
                </a:moveTo>
                <a:lnTo>
                  <a:pt x="5129783" y="27432"/>
                </a:lnTo>
                <a:lnTo>
                  <a:pt x="5952744" y="0"/>
                </a:lnTo>
                <a:lnTo>
                  <a:pt x="5952744" y="210312"/>
                </a:lnTo>
                <a:lnTo>
                  <a:pt x="502920" y="347472"/>
                </a:lnTo>
                <a:lnTo>
                  <a:pt x="0" y="292608"/>
                </a:lnTo>
                <a:close/>
              </a:path>
            </a:pathLst>
          </a:custGeom>
          <a:solidFill>
            <a:srgbClr val="F7F9FC"/>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749808" y="2304288"/>
            <a:ext cx="128016" cy="182880"/>
          </a:xfrm>
          <a:custGeom>
            <a:avLst/>
            <a:gdLst/>
            <a:ahLst/>
            <a:cxnLst/>
            <a:rect l="l" t="t" r="r" b="b"/>
            <a:pathLst>
              <a:path w="128016" h="182880">
                <a:moveTo>
                  <a:pt x="128016" y="0"/>
                </a:moveTo>
                <a:lnTo>
                  <a:pt x="0" y="91440"/>
                </a:lnTo>
                <a:lnTo>
                  <a:pt x="128016" y="182880"/>
                </a:lnTo>
                <a:close/>
              </a:path>
            </a:pathLst>
          </a:custGeom>
          <a:solidFill>
            <a:srgbClr val="D8DDE8"/>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722375" y="2048256"/>
            <a:ext cx="0" cy="694944"/>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2459736" y="1996821"/>
            <a:ext cx="2240280" cy="374126"/>
          </a:xfrm>
          <a:custGeom>
            <a:avLst/>
            <a:gdLst/>
            <a:ahLst/>
            <a:cxnLst/>
            <a:rect l="l" t="t" r="r" b="b"/>
            <a:pathLst>
              <a:path w="2240280" h="374126">
                <a:moveTo>
                  <a:pt x="0" y="280035"/>
                </a:moveTo>
                <a:lnTo>
                  <a:pt x="33604" y="183702"/>
                </a:lnTo>
                <a:lnTo>
                  <a:pt x="89611" y="141137"/>
                </a:lnTo>
                <a:lnTo>
                  <a:pt x="179222" y="96332"/>
                </a:lnTo>
                <a:lnTo>
                  <a:pt x="336042" y="49286"/>
                </a:lnTo>
                <a:lnTo>
                  <a:pt x="560070" y="8961"/>
                </a:lnTo>
                <a:lnTo>
                  <a:pt x="672084" y="0"/>
                </a:lnTo>
                <a:lnTo>
                  <a:pt x="896112" y="8961"/>
                </a:lnTo>
                <a:lnTo>
                  <a:pt x="1120140" y="33604"/>
                </a:lnTo>
                <a:lnTo>
                  <a:pt x="1344168" y="71688"/>
                </a:lnTo>
                <a:lnTo>
                  <a:pt x="1568196" y="118734"/>
                </a:lnTo>
                <a:lnTo>
                  <a:pt x="1792224" y="170261"/>
                </a:lnTo>
                <a:lnTo>
                  <a:pt x="2016252" y="221787"/>
                </a:lnTo>
                <a:lnTo>
                  <a:pt x="2240280" y="275554"/>
                </a:lnTo>
                <a:lnTo>
                  <a:pt x="2240280" y="280035"/>
                </a:lnTo>
                <a:lnTo>
                  <a:pt x="2016252" y="286755"/>
                </a:lnTo>
                <a:lnTo>
                  <a:pt x="1792224" y="295716"/>
                </a:lnTo>
                <a:lnTo>
                  <a:pt x="1568196" y="306918"/>
                </a:lnTo>
                <a:lnTo>
                  <a:pt x="1344168" y="320360"/>
                </a:lnTo>
                <a:lnTo>
                  <a:pt x="1120140" y="333801"/>
                </a:lnTo>
                <a:lnTo>
                  <a:pt x="896112" y="347243"/>
                </a:lnTo>
                <a:lnTo>
                  <a:pt x="672084" y="360685"/>
                </a:lnTo>
                <a:lnTo>
                  <a:pt x="560070" y="365165"/>
                </a:lnTo>
                <a:lnTo>
                  <a:pt x="336042" y="374126"/>
                </a:lnTo>
                <a:lnTo>
                  <a:pt x="179222" y="371886"/>
                </a:lnTo>
                <a:lnTo>
                  <a:pt x="89611" y="360685"/>
                </a:lnTo>
                <a:lnTo>
                  <a:pt x="33604" y="342762"/>
                </a:lnTo>
                <a:close/>
              </a:path>
            </a:pathLst>
          </a:custGeom>
          <a:solidFill>
            <a:srgbClr val="EDF4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5751576" y="2240280"/>
            <a:ext cx="713231" cy="109728"/>
          </a:xfrm>
          <a:custGeom>
            <a:avLst/>
            <a:gdLst/>
            <a:ahLst/>
            <a:cxnLst/>
            <a:rect l="l" t="t" r="r" b="b"/>
            <a:pathLst>
              <a:path w="713231" h="109728">
                <a:moveTo>
                  <a:pt x="0" y="9144"/>
                </a:moveTo>
                <a:lnTo>
                  <a:pt x="713231" y="0"/>
                </a:lnTo>
                <a:lnTo>
                  <a:pt x="713231" y="109728"/>
                </a:lnTo>
                <a:lnTo>
                  <a:pt x="0" y="100584"/>
                </a:lnTo>
                <a:close/>
              </a:path>
            </a:pathLst>
          </a:custGeom>
          <a:solidFill>
            <a:srgbClr val="EAF7F6"/>
          </a:solidFill>
          <a:ln w="2857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64807" y="2231136"/>
            <a:ext cx="420624" cy="118872"/>
          </a:xfrm>
          <a:custGeom>
            <a:avLst/>
            <a:gdLst/>
            <a:ahLst/>
            <a:cxnLst/>
            <a:rect l="l" t="t" r="r" b="b"/>
            <a:pathLst>
              <a:path w="420624" h="118872">
                <a:moveTo>
                  <a:pt x="0" y="9144"/>
                </a:moveTo>
                <a:lnTo>
                  <a:pt x="420624" y="0"/>
                </a:lnTo>
                <a:lnTo>
                  <a:pt x="420624" y="109728"/>
                </a:lnTo>
                <a:lnTo>
                  <a:pt x="0" y="118872"/>
                </a:lnTo>
                <a:close/>
              </a:path>
            </a:pathLst>
          </a:custGeom>
          <a:solidFill>
            <a:srgbClr val="D2EEEA"/>
          </a:solidFill>
          <a:ln w="2857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5897879" y="1810512"/>
            <a:ext cx="530352" cy="438912"/>
          </a:xfrm>
          <a:custGeom>
            <a:avLst/>
            <a:gdLst/>
            <a:ahLst/>
            <a:cxnLst/>
            <a:rect l="l" t="t" r="r" b="b"/>
            <a:pathLst>
              <a:path w="530352" h="438912">
                <a:moveTo>
                  <a:pt x="0" y="438912"/>
                </a:moveTo>
                <a:lnTo>
                  <a:pt x="402337" y="0"/>
                </a:lnTo>
                <a:lnTo>
                  <a:pt x="530352" y="0"/>
                </a:lnTo>
                <a:lnTo>
                  <a:pt x="530352" y="434340"/>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6428231" y="1810512"/>
            <a:ext cx="384049" cy="434340"/>
          </a:xfrm>
          <a:custGeom>
            <a:avLst/>
            <a:gdLst/>
            <a:ahLst/>
            <a:cxnLst/>
            <a:rect l="l" t="t" r="r" b="b"/>
            <a:pathLst>
              <a:path w="384049" h="434340">
                <a:moveTo>
                  <a:pt x="0" y="0"/>
                </a:moveTo>
                <a:lnTo>
                  <a:pt x="347473" y="54864"/>
                </a:lnTo>
                <a:lnTo>
                  <a:pt x="384049" y="429768"/>
                </a:lnTo>
                <a:lnTo>
                  <a:pt x="0" y="434340"/>
                </a:lnTo>
                <a:close/>
              </a:path>
            </a:pathLst>
          </a:custGeom>
          <a:solidFill>
            <a:srgbClr val="D4EEDD"/>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3145536" y="2542032"/>
            <a:ext cx="0" cy="164592"/>
          </a:xfrm>
          <a:prstGeom prst="line">
            <a:avLst/>
          </a:prstGeom>
          <a:ln w="1905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3026664" y="2688336"/>
            <a:ext cx="237744" cy="237744"/>
          </a:xfrm>
          <a:prstGeom prst="ellipse">
            <a:avLst/>
          </a:prstGeom>
          <a:solidFill>
            <a:srgbClr val="FFFFFF"/>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373368" y="2423160"/>
            <a:ext cx="128016" cy="128016"/>
          </a:xfrm>
          <a:prstGeom prst="ellipse">
            <a:avLst/>
          </a:prstGeom>
          <a:solidFill>
            <a:srgbClr val="FFFF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624535" y="1957181"/>
            <a:ext cx="0" cy="333793"/>
          </a:xfrm>
          <a:prstGeom prst="line">
            <a:avLst/>
          </a:prstGeom>
          <a:ln w="22860">
            <a:solidFill>
              <a:srgbClr val="C83E3E"/>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532952" y="2300246"/>
            <a:ext cx="183165" cy="183165"/>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70373" y="1771741"/>
            <a:ext cx="1308323" cy="259616"/>
          </a:xfrm>
          <a:prstGeom prst="rect">
            <a:avLst/>
          </a:prstGeom>
          <a:noFill/>
        </p:spPr>
        <p:txBody>
          <a:bodyPr wrap="square" lIns="0" rIns="0" tIns="0" bIns="0" anchor="t">
            <a:spAutoFit/>
          </a:bodyPr>
          <a:lstStyle/>
          <a:p>
            <a:pPr algn="ctr">
              <a:lnSpc>
                <a:spcPct val="100000"/>
              </a:lnSpc>
            </a:pPr>
            <a:r>
              <a:rPr sz="850" b="1" i="0">
                <a:solidFill>
                  <a:srgbClr val="C83E3E"/>
                </a:solidFill>
                <a:latin typeface="Arial"/>
              </a:rPr>
              <a:t>CG</a:t>
            </a:r>
          </a:p>
        </p:txBody>
      </p:sp>
      <p:sp>
        <p:nvSpPr>
          <p:cNvPr id="23" name="Rounded Rectangle 22"/>
          <p:cNvSpPr/>
          <p:nvPr/>
        </p:nvSpPr>
        <p:spPr>
          <a:xfrm>
            <a:off x="4887468" y="1591056"/>
            <a:ext cx="1869033" cy="256032"/>
          </a:xfrm>
          <a:prstGeom prst="roundRect">
            <a:avLst>
              <a:gd name="adj" fmla="val 8000"/>
            </a:avLst>
          </a:prstGeom>
          <a:solidFill>
            <a:srgbClr val="EA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42331" y="1641348"/>
            <a:ext cx="1759305" cy="146304"/>
          </a:xfrm>
          <a:prstGeom prst="rect">
            <a:avLst/>
          </a:prstGeom>
          <a:noFill/>
        </p:spPr>
        <p:txBody>
          <a:bodyPr wrap="square" lIns="0" rIns="0" tIns="0" bIns="0" anchor="ctr">
            <a:spAutoFit/>
          </a:bodyPr>
          <a:lstStyle/>
          <a:p>
            <a:pPr algn="ctr">
              <a:lnSpc>
                <a:spcPct val="100000"/>
              </a:lnSpc>
            </a:pPr>
            <a:r>
              <a:rPr sz="830" b="1" i="0">
                <a:solidFill>
                  <a:srgbClr val="138C8C"/>
                </a:solidFill>
                <a:latin typeface="Arial"/>
              </a:rPr>
              <a:t>SH: TAIL + ELEVATOR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F8F5B"/>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Vertical-tail volume: area × leverage for yaw stability</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fin resists unwanted yaw and damps side-to-side motion; the rudder commands yaw.</a:t>
            </a:r>
          </a:p>
        </p:txBody>
      </p:sp>
      <p:sp>
        <p:nvSpPr>
          <p:cNvPr id="8" name="Rounded Rectangle 7"/>
          <p:cNvSpPr/>
          <p:nvPr/>
        </p:nvSpPr>
        <p:spPr>
          <a:xfrm>
            <a:off x="347472" y="1188720"/>
            <a:ext cx="7077456" cy="278892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3624535" y="2847295"/>
            <a:ext cx="2485814" cy="0"/>
          </a:xfrm>
          <a:prstGeom prst="line">
            <a:avLst/>
          </a:prstGeom>
          <a:ln w="2032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24535" y="2773119"/>
            <a:ext cx="0" cy="148352"/>
          </a:xfrm>
          <a:prstGeom prst="line">
            <a:avLst/>
          </a:prstGeom>
          <a:ln w="20320">
            <a:solidFill>
              <a:srgbClr val="A23DB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110349" y="2773119"/>
            <a:ext cx="0" cy="148352"/>
          </a:xfrm>
          <a:prstGeom prst="line">
            <a:avLst/>
          </a:prstGeom>
          <a:ln w="20320">
            <a:solidFill>
              <a:srgbClr val="A23DB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624535" y="2884383"/>
            <a:ext cx="2485814" cy="259616"/>
          </a:xfrm>
          <a:prstGeom prst="rect">
            <a:avLst/>
          </a:prstGeom>
          <a:noFill/>
        </p:spPr>
        <p:txBody>
          <a:bodyPr wrap="square" lIns="0" rIns="0" tIns="0" bIns="0" anchor="t">
            <a:spAutoFit/>
          </a:bodyPr>
          <a:lstStyle/>
          <a:p>
            <a:pPr algn="ctr">
              <a:lnSpc>
                <a:spcPct val="100000"/>
              </a:lnSpc>
            </a:pPr>
            <a:r>
              <a:rPr sz="800" b="1" i="0">
                <a:solidFill>
                  <a:srgbClr val="A23DB6"/>
                </a:solidFill>
                <a:latin typeface="Arial"/>
              </a:rPr>
              <a:t>tail moment arm  l</a:t>
            </a:r>
          </a:p>
        </p:txBody>
      </p:sp>
      <p:sp>
        <p:nvSpPr>
          <p:cNvPr id="25" name="TextBox 24"/>
          <p:cNvSpPr txBox="1"/>
          <p:nvPr/>
        </p:nvSpPr>
        <p:spPr>
          <a:xfrm>
            <a:off x="882396" y="3397910"/>
            <a:ext cx="6007608" cy="380390"/>
          </a:xfrm>
          <a:prstGeom prst="rect">
            <a:avLst/>
          </a:prstGeom>
          <a:noFill/>
        </p:spPr>
        <p:txBody>
          <a:bodyPr wrap="square" lIns="0" rIns="0" tIns="0" bIns="0" anchor="t">
            <a:spAutoFit/>
          </a:bodyPr>
          <a:lstStyle/>
          <a:p>
            <a:pPr algn="ctr">
              <a:lnSpc>
                <a:spcPct val="100000"/>
              </a:lnSpc>
            </a:pPr>
            <a:r>
              <a:rPr sz="860" b="1" i="0">
                <a:solidFill>
                  <a:srgbClr val="2F8F5B"/>
                </a:solidFill>
                <a:latin typeface="Arial"/>
              </a:rPr>
              <a:t>Yaw leverage = vertical-tail area × distance behind CG</a:t>
            </a:r>
          </a:p>
        </p:txBody>
      </p:sp>
      <p:sp>
        <p:nvSpPr>
          <p:cNvPr id="26" name="Rounded Rectangle 25"/>
          <p:cNvSpPr/>
          <p:nvPr/>
        </p:nvSpPr>
        <p:spPr>
          <a:xfrm>
            <a:off x="347472" y="4224528"/>
            <a:ext cx="3474720" cy="1874519"/>
          </a:xfrm>
          <a:prstGeom prst="roundRect">
            <a:avLst>
              <a:gd name="adj" fmla="val 8000"/>
            </a:avLst>
          </a:prstGeom>
          <a:solidFill>
            <a:srgbClr val="ECF7F0"/>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7472" y="4224528"/>
            <a:ext cx="54864" cy="1874519"/>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334256"/>
            <a:ext cx="3209544" cy="164592"/>
          </a:xfrm>
          <a:prstGeom prst="rect">
            <a:avLst/>
          </a:prstGeom>
          <a:noFill/>
        </p:spPr>
        <p:txBody>
          <a:bodyPr wrap="square" lIns="0" rIns="0" tIns="0" bIns="0" anchor="t">
            <a:spAutoFit/>
          </a:bodyPr>
          <a:lstStyle/>
          <a:p>
            <a:pPr algn="l">
              <a:lnSpc>
                <a:spcPct val="100000"/>
              </a:lnSpc>
            </a:pPr>
            <a:r>
              <a:rPr sz="840" b="1" i="0">
                <a:solidFill>
                  <a:srgbClr val="2F8F5B"/>
                </a:solidFill>
                <a:latin typeface="Arial"/>
              </a:rPr>
              <a:t>VERTICAL TAIL VOLUME</a:t>
            </a:r>
          </a:p>
        </p:txBody>
      </p:sp>
      <p:sp>
        <p:nvSpPr>
          <p:cNvPr id="29" name="TextBox 28"/>
          <p:cNvSpPr txBox="1"/>
          <p:nvPr/>
        </p:nvSpPr>
        <p:spPr>
          <a:xfrm>
            <a:off x="502920" y="4590288"/>
            <a:ext cx="3209544" cy="365760"/>
          </a:xfrm>
          <a:prstGeom prst="rect">
            <a:avLst/>
          </a:prstGeom>
          <a:noFill/>
        </p:spPr>
        <p:txBody>
          <a:bodyPr wrap="square" lIns="0" rIns="0" tIns="0" bIns="0" anchor="ctr">
            <a:spAutoFit/>
          </a:bodyPr>
          <a:lstStyle/>
          <a:p>
            <a:pPr algn="ctr">
              <a:lnSpc>
                <a:spcPct val="100000"/>
              </a:lnSpc>
            </a:pPr>
            <a:r>
              <a:rPr sz="1800" b="1" i="0">
                <a:solidFill>
                  <a:srgbClr val="20263A"/>
                </a:solidFill>
                <a:latin typeface="Arial"/>
              </a:rPr>
              <a:t>Vᵥ = Sᵥ lᵥ / (S b)</a:t>
            </a:r>
          </a:p>
        </p:txBody>
      </p:sp>
      <p:sp>
        <p:nvSpPr>
          <p:cNvPr id="30" name="TextBox 29"/>
          <p:cNvSpPr txBox="1"/>
          <p:nvPr/>
        </p:nvSpPr>
        <p:spPr>
          <a:xfrm>
            <a:off x="502920" y="5065776"/>
            <a:ext cx="3209544" cy="932687"/>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Sᵥ = fin-plus-rudder area, lᵥ = CG-to-fin arm, S = wing area, b = wing span.</a:t>
            </a:r>
          </a:p>
        </p:txBody>
      </p:sp>
      <p:sp>
        <p:nvSpPr>
          <p:cNvPr id="31" name="Rounded Rectangle 30"/>
          <p:cNvSpPr/>
          <p:nvPr/>
        </p:nvSpPr>
        <p:spPr>
          <a:xfrm>
            <a:off x="3950208" y="4224528"/>
            <a:ext cx="3474720" cy="1874519"/>
          </a:xfrm>
          <a:prstGeom prst="roundRect">
            <a:avLst>
              <a:gd name="adj" fmla="val 8000"/>
            </a:avLst>
          </a:prstGeom>
          <a:solidFill>
            <a:srgbClr val="EDF4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50208" y="4224528"/>
            <a:ext cx="54864" cy="1874519"/>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05656" y="4334256"/>
            <a:ext cx="3209544" cy="164592"/>
          </a:xfrm>
          <a:prstGeom prst="rect">
            <a:avLst/>
          </a:prstGeom>
          <a:noFill/>
        </p:spPr>
        <p:txBody>
          <a:bodyPr wrap="square" lIns="0" rIns="0" tIns="0" bIns="0" anchor="t">
            <a:spAutoFit/>
          </a:bodyPr>
          <a:lstStyle/>
          <a:p>
            <a:pPr algn="l">
              <a:lnSpc>
                <a:spcPct val="100000"/>
              </a:lnSpc>
            </a:pPr>
            <a:r>
              <a:rPr sz="840" b="1" i="0">
                <a:solidFill>
                  <a:srgbClr val="246BCE"/>
                </a:solidFill>
                <a:latin typeface="Arial"/>
              </a:rPr>
              <a:t>SOLVE FOR FIN AREA</a:t>
            </a:r>
          </a:p>
        </p:txBody>
      </p:sp>
      <p:sp>
        <p:nvSpPr>
          <p:cNvPr id="34" name="TextBox 33"/>
          <p:cNvSpPr txBox="1"/>
          <p:nvPr/>
        </p:nvSpPr>
        <p:spPr>
          <a:xfrm>
            <a:off x="4105656" y="4590288"/>
            <a:ext cx="3209544" cy="365760"/>
          </a:xfrm>
          <a:prstGeom prst="rect">
            <a:avLst/>
          </a:prstGeom>
          <a:noFill/>
        </p:spPr>
        <p:txBody>
          <a:bodyPr wrap="square" lIns="0" rIns="0" tIns="0" bIns="0" anchor="ctr">
            <a:spAutoFit/>
          </a:bodyPr>
          <a:lstStyle/>
          <a:p>
            <a:pPr algn="ctr">
              <a:lnSpc>
                <a:spcPct val="100000"/>
              </a:lnSpc>
            </a:pPr>
            <a:r>
              <a:rPr sz="1800" b="1" i="0">
                <a:solidFill>
                  <a:srgbClr val="20263A"/>
                </a:solidFill>
                <a:latin typeface="Arial"/>
              </a:rPr>
              <a:t>Sᵥ = Vᵥ S b / lᵥ</a:t>
            </a:r>
          </a:p>
        </p:txBody>
      </p:sp>
      <p:sp>
        <p:nvSpPr>
          <p:cNvPr id="35" name="TextBox 34"/>
          <p:cNvSpPr txBox="1"/>
          <p:nvPr/>
        </p:nvSpPr>
        <p:spPr>
          <a:xfrm>
            <a:off x="4105656" y="5065776"/>
            <a:ext cx="3209544" cy="932687"/>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More side area ahead of the CG—large canopy, floats, nose—may require more fin behind the CG.</a:t>
            </a:r>
          </a:p>
        </p:txBody>
      </p:sp>
      <p:sp>
        <p:nvSpPr>
          <p:cNvPr id="36" name="Rounded Rectangle 35"/>
          <p:cNvSpPr/>
          <p:nvPr/>
        </p:nvSpPr>
        <p:spPr>
          <a:xfrm>
            <a:off x="347472" y="6355080"/>
            <a:ext cx="2249424" cy="10972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446520"/>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BROAD RANGE</a:t>
            </a:r>
          </a:p>
        </p:txBody>
      </p:sp>
      <p:sp>
        <p:nvSpPr>
          <p:cNvPr id="38" name="TextBox 37"/>
          <p:cNvSpPr txBox="1"/>
          <p:nvPr/>
        </p:nvSpPr>
        <p:spPr>
          <a:xfrm>
            <a:off x="457200" y="6638544"/>
            <a:ext cx="2029967" cy="320040"/>
          </a:xfrm>
          <a:prstGeom prst="rect">
            <a:avLst/>
          </a:prstGeom>
          <a:noFill/>
        </p:spPr>
        <p:txBody>
          <a:bodyPr wrap="square" lIns="0" rIns="0" tIns="0" bIns="0" anchor="t">
            <a:spAutoFit/>
          </a:bodyPr>
          <a:lstStyle/>
          <a:p>
            <a:pPr algn="l">
              <a:lnSpc>
                <a:spcPct val="100000"/>
              </a:lnSpc>
            </a:pPr>
            <a:r>
              <a:rPr sz="2000" b="1" i="0">
                <a:solidFill>
                  <a:srgbClr val="246BCE"/>
                </a:solidFill>
                <a:latin typeface="Arial"/>
              </a:rPr>
              <a:t>0.02–0.05</a:t>
            </a:r>
          </a:p>
        </p:txBody>
      </p:sp>
      <p:sp>
        <p:nvSpPr>
          <p:cNvPr id="39" name="TextBox 38"/>
          <p:cNvSpPr txBox="1"/>
          <p:nvPr/>
        </p:nvSpPr>
        <p:spPr>
          <a:xfrm>
            <a:off x="457200" y="716889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conventional aircraft</a:t>
            </a:r>
          </a:p>
        </p:txBody>
      </p:sp>
      <p:sp>
        <p:nvSpPr>
          <p:cNvPr id="40" name="Rounded Rectangle 39"/>
          <p:cNvSpPr/>
          <p:nvPr/>
        </p:nvSpPr>
        <p:spPr>
          <a:xfrm>
            <a:off x="2761488" y="6355080"/>
            <a:ext cx="2249424" cy="10972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71216" y="6446520"/>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TRAINER START</a:t>
            </a:r>
          </a:p>
        </p:txBody>
      </p:sp>
      <p:sp>
        <p:nvSpPr>
          <p:cNvPr id="42" name="TextBox 41"/>
          <p:cNvSpPr txBox="1"/>
          <p:nvPr/>
        </p:nvSpPr>
        <p:spPr>
          <a:xfrm>
            <a:off x="2871216" y="6638544"/>
            <a:ext cx="2029967" cy="320040"/>
          </a:xfrm>
          <a:prstGeom prst="rect">
            <a:avLst/>
          </a:prstGeom>
          <a:noFill/>
        </p:spPr>
        <p:txBody>
          <a:bodyPr wrap="square" lIns="0" rIns="0" tIns="0" bIns="0" anchor="t">
            <a:spAutoFit/>
          </a:bodyPr>
          <a:lstStyle/>
          <a:p>
            <a:pPr algn="l">
              <a:lnSpc>
                <a:spcPct val="100000"/>
              </a:lnSpc>
            </a:pPr>
            <a:r>
              <a:rPr sz="2000" b="1" i="0">
                <a:solidFill>
                  <a:srgbClr val="2F8F5B"/>
                </a:solidFill>
                <a:latin typeface="Arial"/>
              </a:rPr>
              <a:t>0.035–0.05</a:t>
            </a:r>
          </a:p>
        </p:txBody>
      </p:sp>
      <p:sp>
        <p:nvSpPr>
          <p:cNvPr id="43" name="TextBox 42"/>
          <p:cNvSpPr txBox="1"/>
          <p:nvPr/>
        </p:nvSpPr>
        <p:spPr>
          <a:xfrm>
            <a:off x="2871216" y="716889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good yaw damping</a:t>
            </a:r>
          </a:p>
        </p:txBody>
      </p:sp>
      <p:sp>
        <p:nvSpPr>
          <p:cNvPr id="44" name="Rounded Rectangle 43"/>
          <p:cNvSpPr/>
          <p:nvPr/>
        </p:nvSpPr>
        <p:spPr>
          <a:xfrm>
            <a:off x="5175504" y="6355080"/>
            <a:ext cx="2249424" cy="10972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85232" y="6446520"/>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EXAMPLE</a:t>
            </a:r>
          </a:p>
        </p:txBody>
      </p:sp>
      <p:sp>
        <p:nvSpPr>
          <p:cNvPr id="46" name="TextBox 45"/>
          <p:cNvSpPr txBox="1"/>
          <p:nvPr/>
        </p:nvSpPr>
        <p:spPr>
          <a:xfrm>
            <a:off x="5285232" y="6638544"/>
            <a:ext cx="2029967" cy="320040"/>
          </a:xfrm>
          <a:prstGeom prst="rect">
            <a:avLst/>
          </a:prstGeom>
          <a:noFill/>
        </p:spPr>
        <p:txBody>
          <a:bodyPr wrap="square" lIns="0" rIns="0" tIns="0" bIns="0" anchor="t">
            <a:spAutoFit/>
          </a:bodyPr>
          <a:lstStyle/>
          <a:p>
            <a:pPr algn="l">
              <a:lnSpc>
                <a:spcPct val="100000"/>
              </a:lnSpc>
            </a:pPr>
            <a:r>
              <a:rPr sz="2000" b="1" i="0">
                <a:solidFill>
                  <a:srgbClr val="138C8C"/>
                </a:solidFill>
                <a:latin typeface="Arial"/>
              </a:rPr>
              <a:t>300 cm²</a:t>
            </a:r>
          </a:p>
        </p:txBody>
      </p:sp>
      <p:sp>
        <p:nvSpPr>
          <p:cNvPr id="47" name="TextBox 46"/>
          <p:cNvSpPr txBox="1"/>
          <p:nvPr/>
        </p:nvSpPr>
        <p:spPr>
          <a:xfrm>
            <a:off x="5285232" y="716889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1.5 kg trainer below</a:t>
            </a:r>
          </a:p>
        </p:txBody>
      </p:sp>
      <p:sp>
        <p:nvSpPr>
          <p:cNvPr id="48" name="Rounded Rectangle 47"/>
          <p:cNvSpPr/>
          <p:nvPr/>
        </p:nvSpPr>
        <p:spPr>
          <a:xfrm>
            <a:off x="347472" y="7699248"/>
            <a:ext cx="7077456" cy="676656"/>
          </a:xfrm>
          <a:prstGeom prst="roundRect">
            <a:avLst>
              <a:gd name="adj" fmla="val 8000"/>
            </a:avLst>
          </a:prstGeom>
          <a:solidFill>
            <a:srgbClr val="ECF7F0"/>
          </a:solidFill>
          <a:ln w="10160">
            <a:solidFill>
              <a:srgbClr val="2F8F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57200" y="7891272"/>
            <a:ext cx="292608" cy="292608"/>
          </a:xfrm>
          <a:prstGeom prst="ellipse">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7946136"/>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51" name="TextBox 50"/>
          <p:cNvSpPr txBox="1"/>
          <p:nvPr/>
        </p:nvSpPr>
        <p:spPr>
          <a:xfrm>
            <a:off x="832104" y="7790688"/>
            <a:ext cx="6464808" cy="512064"/>
          </a:xfrm>
          <a:prstGeom prst="rect">
            <a:avLst/>
          </a:prstGeom>
          <a:noFill/>
        </p:spPr>
        <p:txBody>
          <a:bodyPr wrap="square" lIns="0" rIns="0" tIns="0" bIns="0" anchor="ctr">
            <a:spAutoFit/>
          </a:bodyPr>
          <a:lstStyle/>
          <a:p>
            <a:pPr algn="l">
              <a:lnSpc>
                <a:spcPct val="100000"/>
              </a:lnSpc>
            </a:pPr>
            <a:r>
              <a:rPr sz="890" b="0" i="0">
                <a:solidFill>
                  <a:srgbClr val="20263A"/>
                </a:solidFill>
                <a:latin typeface="Arial"/>
              </a:rPr>
              <a:t>An undersized fin can produce weak directional stability and Dutch-roll-like wandering. A very large fin can make crosswind handling and structure harder.</a:t>
            </a:r>
          </a:p>
        </p:txBody>
      </p:sp>
      <p:sp>
        <p:nvSpPr>
          <p:cNvPr id="52" name="TextBox 51"/>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Reference basis: MIT Unified Engineering preliminary aircraft design rules.</a:t>
            </a:r>
          </a:p>
        </p:txBody>
      </p:sp>
      <p:sp>
        <p:nvSpPr>
          <p:cNvPr id="53" name="TextBox 52"/>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20</a:t>
            </a:r>
          </a:p>
        </p:txBody>
      </p:sp>
      <p:sp>
        <p:nvSpPr>
          <p:cNvPr id="9" name="Freeform 8"/>
          <p:cNvSpPr/>
          <p:nvPr/>
        </p:nvSpPr>
        <p:spPr>
          <a:xfrm>
            <a:off x="877824" y="2221992"/>
            <a:ext cx="5952744" cy="347472"/>
          </a:xfrm>
          <a:custGeom>
            <a:avLst/>
            <a:gdLst/>
            <a:ahLst/>
            <a:cxnLst/>
            <a:rect l="l" t="t" r="r" b="b"/>
            <a:pathLst>
              <a:path w="5952744" h="347472">
                <a:moveTo>
                  <a:pt x="0" y="54864"/>
                </a:moveTo>
                <a:lnTo>
                  <a:pt x="5129783" y="27432"/>
                </a:lnTo>
                <a:lnTo>
                  <a:pt x="5952744" y="0"/>
                </a:lnTo>
                <a:lnTo>
                  <a:pt x="5952744" y="210312"/>
                </a:lnTo>
                <a:lnTo>
                  <a:pt x="502920" y="347472"/>
                </a:lnTo>
                <a:lnTo>
                  <a:pt x="0" y="292608"/>
                </a:lnTo>
                <a:close/>
              </a:path>
            </a:pathLst>
          </a:custGeom>
          <a:solidFill>
            <a:srgbClr val="F7F9FC"/>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749808" y="2304288"/>
            <a:ext cx="128016" cy="182880"/>
          </a:xfrm>
          <a:custGeom>
            <a:avLst/>
            <a:gdLst/>
            <a:ahLst/>
            <a:cxnLst/>
            <a:rect l="l" t="t" r="r" b="b"/>
            <a:pathLst>
              <a:path w="128016" h="182880">
                <a:moveTo>
                  <a:pt x="128016" y="0"/>
                </a:moveTo>
                <a:lnTo>
                  <a:pt x="0" y="91440"/>
                </a:lnTo>
                <a:lnTo>
                  <a:pt x="128016" y="182880"/>
                </a:lnTo>
                <a:close/>
              </a:path>
            </a:pathLst>
          </a:custGeom>
          <a:solidFill>
            <a:srgbClr val="D8DDE8"/>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722375" y="2048256"/>
            <a:ext cx="0" cy="694944"/>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2459736" y="1996821"/>
            <a:ext cx="2240280" cy="374126"/>
          </a:xfrm>
          <a:custGeom>
            <a:avLst/>
            <a:gdLst/>
            <a:ahLst/>
            <a:cxnLst/>
            <a:rect l="l" t="t" r="r" b="b"/>
            <a:pathLst>
              <a:path w="2240280" h="374126">
                <a:moveTo>
                  <a:pt x="0" y="280035"/>
                </a:moveTo>
                <a:lnTo>
                  <a:pt x="33604" y="183702"/>
                </a:lnTo>
                <a:lnTo>
                  <a:pt x="89611" y="141137"/>
                </a:lnTo>
                <a:lnTo>
                  <a:pt x="179222" y="96332"/>
                </a:lnTo>
                <a:lnTo>
                  <a:pt x="336042" y="49286"/>
                </a:lnTo>
                <a:lnTo>
                  <a:pt x="560070" y="8961"/>
                </a:lnTo>
                <a:lnTo>
                  <a:pt x="672084" y="0"/>
                </a:lnTo>
                <a:lnTo>
                  <a:pt x="896112" y="8961"/>
                </a:lnTo>
                <a:lnTo>
                  <a:pt x="1120140" y="33604"/>
                </a:lnTo>
                <a:lnTo>
                  <a:pt x="1344168" y="71688"/>
                </a:lnTo>
                <a:lnTo>
                  <a:pt x="1568196" y="118734"/>
                </a:lnTo>
                <a:lnTo>
                  <a:pt x="1792224" y="170261"/>
                </a:lnTo>
                <a:lnTo>
                  <a:pt x="2016252" y="221787"/>
                </a:lnTo>
                <a:lnTo>
                  <a:pt x="2240280" y="275554"/>
                </a:lnTo>
                <a:lnTo>
                  <a:pt x="2240280" y="280035"/>
                </a:lnTo>
                <a:lnTo>
                  <a:pt x="2016252" y="286755"/>
                </a:lnTo>
                <a:lnTo>
                  <a:pt x="1792224" y="295716"/>
                </a:lnTo>
                <a:lnTo>
                  <a:pt x="1568196" y="306918"/>
                </a:lnTo>
                <a:lnTo>
                  <a:pt x="1344168" y="320360"/>
                </a:lnTo>
                <a:lnTo>
                  <a:pt x="1120140" y="333801"/>
                </a:lnTo>
                <a:lnTo>
                  <a:pt x="896112" y="347243"/>
                </a:lnTo>
                <a:lnTo>
                  <a:pt x="672084" y="360685"/>
                </a:lnTo>
                <a:lnTo>
                  <a:pt x="560070" y="365165"/>
                </a:lnTo>
                <a:lnTo>
                  <a:pt x="336042" y="374126"/>
                </a:lnTo>
                <a:lnTo>
                  <a:pt x="179222" y="371886"/>
                </a:lnTo>
                <a:lnTo>
                  <a:pt x="89611" y="360685"/>
                </a:lnTo>
                <a:lnTo>
                  <a:pt x="33604" y="342762"/>
                </a:lnTo>
                <a:close/>
              </a:path>
            </a:pathLst>
          </a:custGeom>
          <a:solidFill>
            <a:srgbClr val="EDF4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5751576" y="2240280"/>
            <a:ext cx="713231" cy="109728"/>
          </a:xfrm>
          <a:custGeom>
            <a:avLst/>
            <a:gdLst/>
            <a:ahLst/>
            <a:cxnLst/>
            <a:rect l="l" t="t" r="r" b="b"/>
            <a:pathLst>
              <a:path w="713231" h="109728">
                <a:moveTo>
                  <a:pt x="0" y="9144"/>
                </a:moveTo>
                <a:lnTo>
                  <a:pt x="713231" y="0"/>
                </a:lnTo>
                <a:lnTo>
                  <a:pt x="713231" y="109728"/>
                </a:lnTo>
                <a:lnTo>
                  <a:pt x="0" y="100584"/>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64807" y="2231136"/>
            <a:ext cx="420624" cy="118872"/>
          </a:xfrm>
          <a:custGeom>
            <a:avLst/>
            <a:gdLst/>
            <a:ahLst/>
            <a:cxnLst/>
            <a:rect l="l" t="t" r="r" b="b"/>
            <a:pathLst>
              <a:path w="420624" h="118872">
                <a:moveTo>
                  <a:pt x="0" y="9144"/>
                </a:moveTo>
                <a:lnTo>
                  <a:pt x="420624" y="0"/>
                </a:lnTo>
                <a:lnTo>
                  <a:pt x="420624" y="109728"/>
                </a:lnTo>
                <a:lnTo>
                  <a:pt x="0" y="118872"/>
                </a:lnTo>
                <a:close/>
              </a:path>
            </a:pathLst>
          </a:custGeom>
          <a:solidFill>
            <a:srgbClr val="D4EEDD"/>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5897879" y="1810512"/>
            <a:ext cx="530352" cy="438912"/>
          </a:xfrm>
          <a:custGeom>
            <a:avLst/>
            <a:gdLst/>
            <a:ahLst/>
            <a:cxnLst/>
            <a:rect l="l" t="t" r="r" b="b"/>
            <a:pathLst>
              <a:path w="530352" h="438912">
                <a:moveTo>
                  <a:pt x="0" y="438912"/>
                </a:moveTo>
                <a:lnTo>
                  <a:pt x="402337" y="0"/>
                </a:lnTo>
                <a:lnTo>
                  <a:pt x="530352" y="0"/>
                </a:lnTo>
                <a:lnTo>
                  <a:pt x="530352" y="434340"/>
                </a:lnTo>
                <a:close/>
              </a:path>
            </a:pathLst>
          </a:custGeom>
          <a:solidFill>
            <a:srgbClr val="EAF7F6"/>
          </a:solidFill>
          <a:ln w="2857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6428231" y="1810512"/>
            <a:ext cx="384049" cy="434340"/>
          </a:xfrm>
          <a:custGeom>
            <a:avLst/>
            <a:gdLst/>
            <a:ahLst/>
            <a:cxnLst/>
            <a:rect l="l" t="t" r="r" b="b"/>
            <a:pathLst>
              <a:path w="384049" h="434340">
                <a:moveTo>
                  <a:pt x="0" y="0"/>
                </a:moveTo>
                <a:lnTo>
                  <a:pt x="347473" y="54864"/>
                </a:lnTo>
                <a:lnTo>
                  <a:pt x="384049" y="429768"/>
                </a:lnTo>
                <a:lnTo>
                  <a:pt x="0" y="434340"/>
                </a:lnTo>
                <a:close/>
              </a:path>
            </a:pathLst>
          </a:custGeom>
          <a:solidFill>
            <a:srgbClr val="D2EEEA"/>
          </a:solidFill>
          <a:ln w="2857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3145536" y="2542032"/>
            <a:ext cx="0" cy="164592"/>
          </a:xfrm>
          <a:prstGeom prst="line">
            <a:avLst/>
          </a:prstGeom>
          <a:ln w="1905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3026664" y="2688336"/>
            <a:ext cx="237744" cy="237744"/>
          </a:xfrm>
          <a:prstGeom prst="ellipse">
            <a:avLst/>
          </a:prstGeom>
          <a:solidFill>
            <a:srgbClr val="FFFFFF"/>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373368" y="2423160"/>
            <a:ext cx="128016" cy="128016"/>
          </a:xfrm>
          <a:prstGeom prst="ellipse">
            <a:avLst/>
          </a:prstGeom>
          <a:solidFill>
            <a:srgbClr val="FFFF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624535" y="1957181"/>
            <a:ext cx="0" cy="333793"/>
          </a:xfrm>
          <a:prstGeom prst="line">
            <a:avLst/>
          </a:prstGeom>
          <a:ln w="22860">
            <a:solidFill>
              <a:srgbClr val="C83E3E"/>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532952" y="2300246"/>
            <a:ext cx="183165" cy="183165"/>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70373" y="1771741"/>
            <a:ext cx="1308323" cy="259616"/>
          </a:xfrm>
          <a:prstGeom prst="rect">
            <a:avLst/>
          </a:prstGeom>
          <a:noFill/>
        </p:spPr>
        <p:txBody>
          <a:bodyPr wrap="square" lIns="0" rIns="0" tIns="0" bIns="0" anchor="t">
            <a:spAutoFit/>
          </a:bodyPr>
          <a:lstStyle/>
          <a:p>
            <a:pPr algn="ctr">
              <a:lnSpc>
                <a:spcPct val="100000"/>
              </a:lnSpc>
            </a:pPr>
            <a:r>
              <a:rPr sz="850" b="1" i="0">
                <a:solidFill>
                  <a:srgbClr val="C83E3E"/>
                </a:solidFill>
                <a:latin typeface="Arial"/>
              </a:rPr>
              <a:t>CG</a:t>
            </a:r>
          </a:p>
        </p:txBody>
      </p:sp>
      <p:sp>
        <p:nvSpPr>
          <p:cNvPr id="23" name="Rounded Rectangle 22"/>
          <p:cNvSpPr/>
          <p:nvPr/>
        </p:nvSpPr>
        <p:spPr>
          <a:xfrm>
            <a:off x="4887468" y="1591056"/>
            <a:ext cx="1869033" cy="256032"/>
          </a:xfrm>
          <a:prstGeom prst="roundRect">
            <a:avLst>
              <a:gd name="adj" fmla="val 8000"/>
            </a:avLst>
          </a:prstGeom>
          <a:solidFill>
            <a:srgbClr val="EC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42331" y="1641348"/>
            <a:ext cx="1759305" cy="146304"/>
          </a:xfrm>
          <a:prstGeom prst="rect">
            <a:avLst/>
          </a:prstGeom>
          <a:noFill/>
        </p:spPr>
        <p:txBody>
          <a:bodyPr wrap="square" lIns="0" rIns="0" tIns="0" bIns="0" anchor="ctr">
            <a:spAutoFit/>
          </a:bodyPr>
          <a:lstStyle/>
          <a:p>
            <a:pPr algn="ctr">
              <a:lnSpc>
                <a:spcPct val="100000"/>
              </a:lnSpc>
            </a:pPr>
            <a:r>
              <a:rPr sz="830" b="1" i="0">
                <a:solidFill>
                  <a:srgbClr val="2F8F5B"/>
                </a:solidFill>
                <a:latin typeface="Arial"/>
              </a:rPr>
              <a:t>SV: FIN + RUDDER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C83E3E"/>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Center of gravity, neutral point, and static margin</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CG position can turn a well-built airplane from calm to uncontrollable.</a:t>
            </a:r>
          </a:p>
        </p:txBody>
      </p:sp>
      <p:sp>
        <p:nvSpPr>
          <p:cNvPr id="8" name="Rounded Rectangle 7"/>
          <p:cNvSpPr/>
          <p:nvPr/>
        </p:nvSpPr>
        <p:spPr>
          <a:xfrm>
            <a:off x="347472" y="1188720"/>
            <a:ext cx="7077456" cy="2852928"/>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47472" y="4297680"/>
            <a:ext cx="3474720" cy="1755648"/>
          </a:xfrm>
          <a:prstGeom prst="roundRect">
            <a:avLst>
              <a:gd name="adj" fmla="val 8000"/>
            </a:avLst>
          </a:prstGeom>
          <a:solidFill>
            <a:srgbClr val="FDEEEE"/>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7472" y="4297680"/>
            <a:ext cx="54864" cy="1755648"/>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4407408"/>
            <a:ext cx="3209544" cy="164592"/>
          </a:xfrm>
          <a:prstGeom prst="rect">
            <a:avLst/>
          </a:prstGeom>
          <a:noFill/>
        </p:spPr>
        <p:txBody>
          <a:bodyPr wrap="square" lIns="0" rIns="0" tIns="0" bIns="0" anchor="t">
            <a:spAutoFit/>
          </a:bodyPr>
          <a:lstStyle/>
          <a:p>
            <a:pPr algn="l">
              <a:lnSpc>
                <a:spcPct val="100000"/>
              </a:lnSpc>
            </a:pPr>
            <a:r>
              <a:rPr sz="840" b="1" i="0">
                <a:solidFill>
                  <a:srgbClr val="C83E3E"/>
                </a:solidFill>
                <a:latin typeface="Arial"/>
              </a:rPr>
              <a:t>STATIC MARGIN</a:t>
            </a:r>
          </a:p>
        </p:txBody>
      </p:sp>
      <p:sp>
        <p:nvSpPr>
          <p:cNvPr id="28" name="TextBox 27"/>
          <p:cNvSpPr txBox="1"/>
          <p:nvPr/>
        </p:nvSpPr>
        <p:spPr>
          <a:xfrm>
            <a:off x="502920" y="4663440"/>
            <a:ext cx="3209544" cy="365760"/>
          </a:xfrm>
          <a:prstGeom prst="rect">
            <a:avLst/>
          </a:prstGeom>
          <a:noFill/>
        </p:spPr>
        <p:txBody>
          <a:bodyPr wrap="square" lIns="0" rIns="0" tIns="0" bIns="0" anchor="ctr">
            <a:spAutoFit/>
          </a:bodyPr>
          <a:lstStyle/>
          <a:p>
            <a:pPr algn="ctr">
              <a:lnSpc>
                <a:spcPct val="100000"/>
              </a:lnSpc>
            </a:pPr>
            <a:r>
              <a:rPr sz="1800" b="1" i="0">
                <a:solidFill>
                  <a:srgbClr val="20263A"/>
                </a:solidFill>
                <a:latin typeface="Arial"/>
              </a:rPr>
              <a:t>SM = (</a:t>
            </a:r>
            <a:r>
              <a:rPr sz="1800" b="1" i="0">
                <a:solidFill>
                  <a:srgbClr val="20263A"/>
                </a:solidFill>
                <a:latin typeface="Arial"/>
              </a:rPr>
              <a:t>x</a:t>
            </a:r>
            <a:r>
              <a:rPr sz="1800" b="1" i="0" baseline="-25000">
                <a:solidFill>
                  <a:srgbClr val="20263A"/>
                </a:solidFill>
                <a:latin typeface="Arial"/>
              </a:rPr>
              <a:t>NP</a:t>
            </a:r>
            <a:r>
              <a:rPr sz="1800" b="1" i="0">
                <a:solidFill>
                  <a:srgbClr val="20263A"/>
                </a:solidFill>
                <a:latin typeface="Arial"/>
              </a:rPr>
              <a:t> − </a:t>
            </a:r>
            <a:r>
              <a:rPr sz="1800" b="1" i="0">
                <a:solidFill>
                  <a:srgbClr val="20263A"/>
                </a:solidFill>
                <a:latin typeface="Arial"/>
              </a:rPr>
              <a:t>x</a:t>
            </a:r>
            <a:r>
              <a:rPr sz="1800" b="1" i="0" baseline="-25000">
                <a:solidFill>
                  <a:srgbClr val="20263A"/>
                </a:solidFill>
                <a:latin typeface="Arial"/>
              </a:rPr>
              <a:t>CG</a:t>
            </a:r>
            <a:r>
              <a:rPr sz="1800" b="1" i="0">
                <a:solidFill>
                  <a:srgbClr val="20263A"/>
                </a:solidFill>
                <a:latin typeface="Arial"/>
              </a:rPr>
              <a:t>) / c̄</a:t>
            </a:r>
          </a:p>
        </p:txBody>
      </p:sp>
      <p:sp>
        <p:nvSpPr>
          <p:cNvPr id="29" name="TextBox 28"/>
          <p:cNvSpPr txBox="1"/>
          <p:nvPr/>
        </p:nvSpPr>
        <p:spPr>
          <a:xfrm>
            <a:off x="502920" y="5138928"/>
            <a:ext cx="3209544" cy="813815"/>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Positive static margin means the CG is ahead of the neutral point.</a:t>
            </a:r>
          </a:p>
        </p:txBody>
      </p:sp>
      <p:sp>
        <p:nvSpPr>
          <p:cNvPr id="30" name="Rounded Rectangle 29"/>
          <p:cNvSpPr/>
          <p:nvPr/>
        </p:nvSpPr>
        <p:spPr>
          <a:xfrm>
            <a:off x="3950208" y="4297680"/>
            <a:ext cx="3474720" cy="1755648"/>
          </a:xfrm>
          <a:prstGeom prst="roundRect">
            <a:avLst>
              <a:gd name="adj" fmla="val 8000"/>
            </a:avLst>
          </a:prstGeom>
          <a:solidFill>
            <a:srgbClr val="ECF7F0"/>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59936" y="4389120"/>
            <a:ext cx="3255263"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MAIDEN TARGET</a:t>
            </a:r>
          </a:p>
        </p:txBody>
      </p:sp>
      <p:sp>
        <p:nvSpPr>
          <p:cNvPr id="32" name="TextBox 31"/>
          <p:cNvSpPr txBox="1"/>
          <p:nvPr/>
        </p:nvSpPr>
        <p:spPr>
          <a:xfrm>
            <a:off x="4059936" y="4581144"/>
            <a:ext cx="3255263" cy="320040"/>
          </a:xfrm>
          <a:prstGeom prst="rect">
            <a:avLst/>
          </a:prstGeom>
          <a:noFill/>
        </p:spPr>
        <p:txBody>
          <a:bodyPr wrap="square" lIns="0" rIns="0" tIns="0" bIns="0" anchor="t">
            <a:spAutoFit/>
          </a:bodyPr>
          <a:lstStyle/>
          <a:p>
            <a:pPr algn="l">
              <a:lnSpc>
                <a:spcPct val="100000"/>
              </a:lnSpc>
            </a:pPr>
            <a:r>
              <a:rPr sz="2000" b="1" i="0">
                <a:solidFill>
                  <a:srgbClr val="2F8F5B"/>
                </a:solidFill>
                <a:latin typeface="Arial"/>
              </a:rPr>
              <a:t>≈ 10–15%</a:t>
            </a:r>
          </a:p>
        </p:txBody>
      </p:sp>
      <p:sp>
        <p:nvSpPr>
          <p:cNvPr id="33" name="TextBox 32"/>
          <p:cNvSpPr txBox="1"/>
          <p:nvPr/>
        </p:nvSpPr>
        <p:spPr>
          <a:xfrm>
            <a:off x="4059936" y="5769864"/>
            <a:ext cx="3255263"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conservative conventional design</a:t>
            </a:r>
          </a:p>
        </p:txBody>
      </p:sp>
      <p:sp>
        <p:nvSpPr>
          <p:cNvPr id="34" name="Rounded Rectangle 33"/>
          <p:cNvSpPr/>
          <p:nvPr/>
        </p:nvSpPr>
        <p:spPr>
          <a:xfrm>
            <a:off x="347472" y="6327648"/>
            <a:ext cx="3474720" cy="137160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47472" y="6327648"/>
            <a:ext cx="50292" cy="1371600"/>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3776" y="644652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CG TOO FAR FORWARD</a:t>
            </a:r>
          </a:p>
        </p:txBody>
      </p:sp>
      <p:sp>
        <p:nvSpPr>
          <p:cNvPr id="37" name="TextBox 36"/>
          <p:cNvSpPr txBox="1"/>
          <p:nvPr/>
        </p:nvSpPr>
        <p:spPr>
          <a:xfrm>
            <a:off x="493776" y="6720840"/>
            <a:ext cx="3200400" cy="877824"/>
          </a:xfrm>
          <a:prstGeom prst="rect">
            <a:avLst/>
          </a:prstGeom>
          <a:noFill/>
        </p:spPr>
        <p:txBody>
          <a:bodyPr wrap="square" lIns="18288" rIns="9144" tIns="9144" bIns="9144">
            <a:spAutoFit/>
          </a:bodyPr>
          <a:lstStyle/>
          <a:p>
            <a:pPr>
              <a:lnSpc>
                <a:spcPct val="100000"/>
              </a:lnSpc>
              <a:spcAft>
                <a:spcPts val="250"/>
              </a:spcAft>
            </a:pPr>
            <a:r>
              <a:rPr sz="880">
                <a:solidFill>
                  <a:srgbClr val="20263A"/>
                </a:solidFill>
                <a:latin typeface="Arial"/>
              </a:rPr>
              <a:t>• Very stable but nose-heavy.</a:t>
            </a:r>
          </a:p>
          <a:p>
            <a:pPr>
              <a:lnSpc>
                <a:spcPct val="100000"/>
              </a:lnSpc>
              <a:spcAft>
                <a:spcPts val="250"/>
              </a:spcAft>
            </a:pPr>
            <a:r>
              <a:rPr sz="880">
                <a:solidFill>
                  <a:srgbClr val="20263A"/>
                </a:solidFill>
                <a:latin typeface="Arial"/>
              </a:rPr>
              <a:t>• Needs more elevator; weak flare.</a:t>
            </a:r>
          </a:p>
          <a:p>
            <a:pPr>
              <a:lnSpc>
                <a:spcPct val="100000"/>
              </a:lnSpc>
              <a:spcAft>
                <a:spcPts val="250"/>
              </a:spcAft>
            </a:pPr>
            <a:r>
              <a:rPr sz="880">
                <a:solidFill>
                  <a:srgbClr val="20263A"/>
                </a:solidFill>
                <a:latin typeface="Arial"/>
              </a:rPr>
              <a:t>• Higher trim drag and landing speed.</a:t>
            </a:r>
          </a:p>
        </p:txBody>
      </p:sp>
      <p:sp>
        <p:nvSpPr>
          <p:cNvPr id="38" name="Rounded Rectangle 37"/>
          <p:cNvSpPr/>
          <p:nvPr/>
        </p:nvSpPr>
        <p:spPr>
          <a:xfrm>
            <a:off x="3950208" y="6327648"/>
            <a:ext cx="3474720" cy="137160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950208" y="6327648"/>
            <a:ext cx="50292" cy="1371600"/>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96512" y="644652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CG TOO FAR AFT</a:t>
            </a:r>
          </a:p>
        </p:txBody>
      </p:sp>
      <p:sp>
        <p:nvSpPr>
          <p:cNvPr id="41" name="TextBox 40"/>
          <p:cNvSpPr txBox="1"/>
          <p:nvPr/>
        </p:nvSpPr>
        <p:spPr>
          <a:xfrm>
            <a:off x="4096512" y="6720840"/>
            <a:ext cx="3200400" cy="877824"/>
          </a:xfrm>
          <a:prstGeom prst="rect">
            <a:avLst/>
          </a:prstGeom>
          <a:noFill/>
        </p:spPr>
        <p:txBody>
          <a:bodyPr wrap="square" lIns="18288" rIns="9144" tIns="9144" bIns="9144">
            <a:spAutoFit/>
          </a:bodyPr>
          <a:lstStyle/>
          <a:p>
            <a:pPr>
              <a:lnSpc>
                <a:spcPct val="100000"/>
              </a:lnSpc>
              <a:spcAft>
                <a:spcPts val="250"/>
              </a:spcAft>
            </a:pPr>
            <a:r>
              <a:rPr sz="880">
                <a:solidFill>
                  <a:srgbClr val="20263A"/>
                </a:solidFill>
                <a:latin typeface="Arial"/>
              </a:rPr>
              <a:t>• Pitch-sensitive and hard to trim.</a:t>
            </a:r>
          </a:p>
          <a:p>
            <a:pPr>
              <a:lnSpc>
                <a:spcPct val="100000"/>
              </a:lnSpc>
              <a:spcAft>
                <a:spcPts val="250"/>
              </a:spcAft>
            </a:pPr>
            <a:r>
              <a:rPr sz="880">
                <a:solidFill>
                  <a:srgbClr val="20263A"/>
                </a:solidFill>
                <a:latin typeface="Arial"/>
              </a:rPr>
              <a:t>• May oscillate or pitch up.</a:t>
            </a:r>
          </a:p>
          <a:p>
            <a:pPr>
              <a:lnSpc>
                <a:spcPct val="100000"/>
              </a:lnSpc>
              <a:spcAft>
                <a:spcPts val="250"/>
              </a:spcAft>
            </a:pPr>
            <a:r>
              <a:rPr sz="880">
                <a:solidFill>
                  <a:srgbClr val="20263A"/>
                </a:solidFill>
                <a:latin typeface="Arial"/>
              </a:rPr>
              <a:t>• Can become unrecoverably unstable.</a:t>
            </a:r>
          </a:p>
        </p:txBody>
      </p:sp>
      <p:sp>
        <p:nvSpPr>
          <p:cNvPr id="42" name="TextBox 41"/>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Reference basis: MIT Unified Engineering. “25% chord” is only a rough shortcut for some unswept conventional wings.</a:t>
            </a:r>
          </a:p>
        </p:txBody>
      </p:sp>
      <p:sp>
        <p:nvSpPr>
          <p:cNvPr id="43" name="TextBox 42"/>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21</a:t>
            </a:r>
          </a:p>
        </p:txBody>
      </p:sp>
      <p:cxnSp>
        <p:nvCxnSpPr>
          <p:cNvPr id="44" name="Connector 43"/>
          <p:cNvCxnSpPr/>
          <p:nvPr/>
        </p:nvCxnSpPr>
        <p:spPr>
          <a:xfrm>
            <a:off x="2496312" y="3017520"/>
            <a:ext cx="2148840" cy="0"/>
          </a:xfrm>
          <a:prstGeom prst="line">
            <a:avLst/>
          </a:prstGeom>
          <a:ln w="15875">
            <a:solidFill>
              <a:srgbClr val="20263A"/>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496312" y="2962656"/>
            <a:ext cx="0" cy="109728"/>
          </a:xfrm>
          <a:prstGeom prst="line">
            <a:avLst/>
          </a:prstGeom>
          <a:ln w="15875">
            <a:solidFill>
              <a:srgbClr val="20263A"/>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645152" y="2962656"/>
            <a:ext cx="0" cy="109728"/>
          </a:xfrm>
          <a:prstGeom prst="line">
            <a:avLst/>
          </a:prstGeom>
          <a:ln w="15875">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160520" y="3090672"/>
            <a:ext cx="1188720" cy="164592"/>
          </a:xfrm>
          <a:prstGeom prst="rect">
            <a:avLst/>
          </a:prstGeom>
          <a:noFill/>
        </p:spPr>
        <p:txBody>
          <a:bodyPr wrap="square" lIns="0" rIns="0" tIns="0" bIns="0">
            <a:spAutoFit/>
          </a:bodyPr>
          <a:lstStyle/>
          <a:p>
            <a:pPr algn="l"/>
            <a:r>
              <a:rPr sz="750" b="0" i="1">
                <a:solidFill>
                  <a:srgbClr val="20263A"/>
                </a:solidFill>
                <a:latin typeface="Arial"/>
              </a:rPr>
              <a:t>mean chord c̄</a:t>
            </a:r>
          </a:p>
        </p:txBody>
      </p:sp>
      <p:cxnSp>
        <p:nvCxnSpPr>
          <p:cNvPr id="48" name="Connector 47"/>
          <p:cNvCxnSpPr/>
          <p:nvPr/>
        </p:nvCxnSpPr>
        <p:spPr>
          <a:xfrm>
            <a:off x="3033522" y="2962656"/>
            <a:ext cx="0" cy="109728"/>
          </a:xfrm>
          <a:prstGeom prst="line">
            <a:avLst/>
          </a:prstGeom>
          <a:ln w="12700">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713482" y="3108960"/>
            <a:ext cx="640080" cy="146304"/>
          </a:xfrm>
          <a:prstGeom prst="rect">
            <a:avLst/>
          </a:prstGeom>
          <a:noFill/>
        </p:spPr>
        <p:txBody>
          <a:bodyPr wrap="square" lIns="0" rIns="0" tIns="0" bIns="0">
            <a:spAutoFit/>
          </a:bodyPr>
          <a:lstStyle/>
          <a:p>
            <a:pPr algn="ctr"/>
            <a:r>
              <a:rPr sz="700" b="0" i="0">
                <a:solidFill>
                  <a:srgbClr val="5F687D"/>
                </a:solidFill>
                <a:latin typeface="Arial"/>
              </a:rPr>
              <a:t>25% c̄</a:t>
            </a:r>
          </a:p>
        </p:txBody>
      </p:sp>
      <p:sp>
        <p:nvSpPr>
          <p:cNvPr id="50" name="TextBox 49"/>
          <p:cNvSpPr txBox="1"/>
          <p:nvPr/>
        </p:nvSpPr>
        <p:spPr>
          <a:xfrm>
            <a:off x="2724912" y="2359152"/>
            <a:ext cx="329184" cy="164592"/>
          </a:xfrm>
          <a:prstGeom prst="rect">
            <a:avLst/>
          </a:prstGeom>
          <a:noFill/>
        </p:spPr>
        <p:txBody>
          <a:bodyPr wrap="square" lIns="0" rIns="0" tIns="0" bIns="0">
            <a:spAutoFit/>
          </a:bodyPr>
          <a:lstStyle/>
          <a:p>
            <a:pPr algn="r"/>
            <a:r>
              <a:rPr sz="900" b="1" i="0">
                <a:solidFill>
                  <a:srgbClr val="C83E3E"/>
                </a:solidFill>
                <a:latin typeface="Arial"/>
              </a:rPr>
              <a:t>CG</a:t>
            </a:r>
          </a:p>
        </p:txBody>
      </p:sp>
      <p:cxnSp>
        <p:nvCxnSpPr>
          <p:cNvPr id="51" name="Connector 50"/>
          <p:cNvCxnSpPr/>
          <p:nvPr/>
        </p:nvCxnSpPr>
        <p:spPr>
          <a:xfrm>
            <a:off x="3300984" y="2633472"/>
            <a:ext cx="0" cy="384048"/>
          </a:xfrm>
          <a:prstGeom prst="line">
            <a:avLst/>
          </a:prstGeom>
          <a:ln w="12700">
            <a:solidFill>
              <a:srgbClr val="C83E3E"/>
            </a:solidFill>
            <a:prstDash val="dash"/>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3511296" y="2350008"/>
            <a:ext cx="201168" cy="201168"/>
          </a:xfrm>
          <a:prstGeom prst="ellipse">
            <a:avLst/>
          </a:prstGeom>
          <a:solidFill>
            <a:srgbClr val="A23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85615" y="2359152"/>
            <a:ext cx="329184" cy="164592"/>
          </a:xfrm>
          <a:prstGeom prst="rect">
            <a:avLst/>
          </a:prstGeom>
          <a:noFill/>
        </p:spPr>
        <p:txBody>
          <a:bodyPr wrap="square" lIns="0" rIns="0" tIns="0" bIns="0">
            <a:spAutoFit/>
          </a:bodyPr>
          <a:lstStyle/>
          <a:p>
            <a:pPr algn="l"/>
            <a:r>
              <a:rPr sz="900" b="1" i="0">
                <a:solidFill>
                  <a:srgbClr val="A23DB6"/>
                </a:solidFill>
                <a:latin typeface="Arial"/>
              </a:rPr>
              <a:t>NP</a:t>
            </a:r>
          </a:p>
        </p:txBody>
      </p:sp>
      <p:cxnSp>
        <p:nvCxnSpPr>
          <p:cNvPr id="54" name="Connector 53"/>
          <p:cNvCxnSpPr/>
          <p:nvPr/>
        </p:nvCxnSpPr>
        <p:spPr>
          <a:xfrm>
            <a:off x="3611880" y="2633472"/>
            <a:ext cx="0" cy="384048"/>
          </a:xfrm>
          <a:prstGeom prst="line">
            <a:avLst/>
          </a:prstGeom>
          <a:ln w="12700">
            <a:solidFill>
              <a:srgbClr val="A23DB6"/>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300984" y="2834640"/>
            <a:ext cx="310896" cy="0"/>
          </a:xfrm>
          <a:prstGeom prst="line">
            <a:avLst/>
          </a:prstGeom>
          <a:ln w="19050">
            <a:solidFill>
              <a:srgbClr val="2F8F5B"/>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721608" y="2761488"/>
            <a:ext cx="2103120" cy="164592"/>
          </a:xfrm>
          <a:prstGeom prst="rect">
            <a:avLst/>
          </a:prstGeom>
          <a:noFill/>
        </p:spPr>
        <p:txBody>
          <a:bodyPr wrap="square" lIns="0" rIns="0" tIns="0" bIns="0">
            <a:spAutoFit/>
          </a:bodyPr>
          <a:lstStyle/>
          <a:p>
            <a:pPr algn="l"/>
            <a:r>
              <a:rPr sz="800" b="1" i="0">
                <a:solidFill>
                  <a:srgbClr val="2F8F5B"/>
                </a:solidFill>
                <a:latin typeface="Arial"/>
              </a:rPr>
              <a:t>static margin = SM × c̄</a:t>
            </a:r>
          </a:p>
        </p:txBody>
      </p:sp>
      <p:sp>
        <p:nvSpPr>
          <p:cNvPr id="57" name="TextBox 56"/>
          <p:cNvSpPr txBox="1"/>
          <p:nvPr/>
        </p:nvSpPr>
        <p:spPr>
          <a:xfrm>
            <a:off x="978408" y="3675887"/>
            <a:ext cx="5852160" cy="146304"/>
          </a:xfrm>
          <a:prstGeom prst="rect">
            <a:avLst/>
          </a:prstGeom>
          <a:noFill/>
        </p:spPr>
        <p:txBody>
          <a:bodyPr wrap="square" lIns="0" rIns="0" tIns="0" bIns="0">
            <a:spAutoFit/>
          </a:bodyPr>
          <a:lstStyle/>
          <a:p>
            <a:pPr algn="l"/>
            <a:r>
              <a:rPr sz="700" b="0" i="1">
                <a:solidFill>
                  <a:srgbClr val="5F687D"/>
                </a:solidFill>
                <a:latin typeface="Arial"/>
              </a:rPr>
              <a:t>CG ahead of NP = stable. Spacing exaggerated for clarity; 25% c̄ is a common quick-start CG for unswept trainers.</a:t>
            </a:r>
          </a:p>
        </p:txBody>
      </p:sp>
      <p:sp>
        <p:nvSpPr>
          <p:cNvPr id="58" name="Rounded Rectangle 57"/>
          <p:cNvSpPr/>
          <p:nvPr/>
        </p:nvSpPr>
        <p:spPr>
          <a:xfrm>
            <a:off x="347472" y="7863840"/>
            <a:ext cx="7077456" cy="777240"/>
          </a:xfrm>
          <a:prstGeom prst="roundRect">
            <a:avLst>
              <a:gd name="adj" fmla="val 10000"/>
            </a:avLst>
          </a:prstGeom>
          <a:solidFill>
            <a:srgbClr val="FDF6E3"/>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66344" y="8106156"/>
            <a:ext cx="292608" cy="292608"/>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66344" y="8156448"/>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61" name="TextBox 60"/>
          <p:cNvSpPr txBox="1"/>
          <p:nvPr/>
        </p:nvSpPr>
        <p:spPr>
          <a:xfrm>
            <a:off x="859536" y="7946136"/>
            <a:ext cx="1005840" cy="137160"/>
          </a:xfrm>
          <a:prstGeom prst="rect">
            <a:avLst/>
          </a:prstGeom>
          <a:noFill/>
        </p:spPr>
        <p:txBody>
          <a:bodyPr wrap="square" lIns="0" rIns="0" tIns="0" bIns="0">
            <a:spAutoFit/>
          </a:bodyPr>
          <a:lstStyle/>
          <a:p>
            <a:pPr algn="l"/>
            <a:r>
              <a:rPr sz="800" b="1" i="0">
                <a:solidFill>
                  <a:srgbClr val="20263A"/>
                </a:solidFill>
                <a:latin typeface="Arial"/>
              </a:rPr>
              <a:t>YOUR TURN</a:t>
            </a:r>
          </a:p>
        </p:txBody>
      </p:sp>
      <p:sp>
        <p:nvSpPr>
          <p:cNvPr id="62" name="TextBox 61"/>
          <p:cNvSpPr txBox="1"/>
          <p:nvPr/>
        </p:nvSpPr>
        <p:spPr>
          <a:xfrm>
            <a:off x="859536" y="8101583"/>
            <a:ext cx="6391656" cy="466344"/>
          </a:xfrm>
          <a:prstGeom prst="rect">
            <a:avLst/>
          </a:prstGeom>
          <a:noFill/>
        </p:spPr>
        <p:txBody>
          <a:bodyPr wrap="square" lIns="0" rIns="0" tIns="0" bIns="0">
            <a:spAutoFit/>
          </a:bodyPr>
          <a:lstStyle/>
          <a:p>
            <a:pPr algn="l"/>
            <a:r>
              <a:rPr sz="850" b="0" i="0">
                <a:solidFill>
                  <a:srgbClr val="20263A"/>
                </a:solidFill>
                <a:latin typeface="Arial"/>
              </a:rPr>
              <a:t>c̄ = 226 mm and you balance the model 12 mm ahead of the neutral point. What is the static margin, and is it enough for a maiden? (12 / 226 ≈ 5% — too little; move the CG forward.)</a:t>
            </a:r>
          </a:p>
        </p:txBody>
      </p:sp>
      <p:sp>
        <p:nvSpPr>
          <p:cNvPr id="9" name="Freeform 8"/>
          <p:cNvSpPr/>
          <p:nvPr/>
        </p:nvSpPr>
        <p:spPr>
          <a:xfrm>
            <a:off x="978408" y="2203704"/>
            <a:ext cx="5751576" cy="347472"/>
          </a:xfrm>
          <a:custGeom>
            <a:avLst/>
            <a:gdLst/>
            <a:ahLst/>
            <a:cxnLst/>
            <a:rect l="l" t="t" r="r" b="b"/>
            <a:pathLst>
              <a:path w="5751576" h="347472">
                <a:moveTo>
                  <a:pt x="0" y="54864"/>
                </a:moveTo>
                <a:lnTo>
                  <a:pt x="4928616" y="27432"/>
                </a:lnTo>
                <a:lnTo>
                  <a:pt x="5751576" y="0"/>
                </a:lnTo>
                <a:lnTo>
                  <a:pt x="5751576" y="210312"/>
                </a:lnTo>
                <a:lnTo>
                  <a:pt x="502920" y="347472"/>
                </a:lnTo>
                <a:lnTo>
                  <a:pt x="0" y="292608"/>
                </a:lnTo>
                <a:close/>
              </a:path>
            </a:pathLst>
          </a:custGeom>
          <a:solidFill>
            <a:srgbClr val="F7F9FC"/>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850392" y="2286000"/>
            <a:ext cx="128016" cy="182880"/>
          </a:xfrm>
          <a:custGeom>
            <a:avLst/>
            <a:gdLst/>
            <a:ahLst/>
            <a:cxnLst/>
            <a:rect l="l" t="t" r="r" b="b"/>
            <a:pathLst>
              <a:path w="128016" h="182880">
                <a:moveTo>
                  <a:pt x="128016" y="0"/>
                </a:moveTo>
                <a:lnTo>
                  <a:pt x="0" y="91440"/>
                </a:lnTo>
                <a:lnTo>
                  <a:pt x="128016" y="182880"/>
                </a:lnTo>
                <a:close/>
              </a:path>
            </a:pathLst>
          </a:custGeom>
          <a:solidFill>
            <a:srgbClr val="D8DDE8"/>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822960" y="2029968"/>
            <a:ext cx="0" cy="694944"/>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2496312" y="1989963"/>
            <a:ext cx="2148840" cy="358856"/>
          </a:xfrm>
          <a:custGeom>
            <a:avLst/>
            <a:gdLst/>
            <a:ahLst/>
            <a:cxnLst/>
            <a:rect l="l" t="t" r="r" b="b"/>
            <a:pathLst>
              <a:path w="2148840" h="358856">
                <a:moveTo>
                  <a:pt x="0" y="268605"/>
                </a:moveTo>
                <a:lnTo>
                  <a:pt x="32232" y="176204"/>
                </a:lnTo>
                <a:lnTo>
                  <a:pt x="85953" y="135376"/>
                </a:lnTo>
                <a:lnTo>
                  <a:pt x="171907" y="92400"/>
                </a:lnTo>
                <a:lnTo>
                  <a:pt x="322326" y="47274"/>
                </a:lnTo>
                <a:lnTo>
                  <a:pt x="537210" y="8595"/>
                </a:lnTo>
                <a:lnTo>
                  <a:pt x="644652" y="0"/>
                </a:lnTo>
                <a:lnTo>
                  <a:pt x="859536" y="8595"/>
                </a:lnTo>
                <a:lnTo>
                  <a:pt x="1074420" y="32232"/>
                </a:lnTo>
                <a:lnTo>
                  <a:pt x="1289303" y="68762"/>
                </a:lnTo>
                <a:lnTo>
                  <a:pt x="1504188" y="113888"/>
                </a:lnTo>
                <a:lnTo>
                  <a:pt x="1719072" y="163311"/>
                </a:lnTo>
                <a:lnTo>
                  <a:pt x="1933956" y="212735"/>
                </a:lnTo>
                <a:lnTo>
                  <a:pt x="2148840" y="264307"/>
                </a:lnTo>
                <a:lnTo>
                  <a:pt x="2148840" y="268605"/>
                </a:lnTo>
                <a:lnTo>
                  <a:pt x="1933956" y="275051"/>
                </a:lnTo>
                <a:lnTo>
                  <a:pt x="1719072" y="283646"/>
                </a:lnTo>
                <a:lnTo>
                  <a:pt x="1504188" y="294391"/>
                </a:lnTo>
                <a:lnTo>
                  <a:pt x="1289303" y="307284"/>
                </a:lnTo>
                <a:lnTo>
                  <a:pt x="1074420" y="320177"/>
                </a:lnTo>
                <a:lnTo>
                  <a:pt x="859536" y="333070"/>
                </a:lnTo>
                <a:lnTo>
                  <a:pt x="644652" y="345963"/>
                </a:lnTo>
                <a:lnTo>
                  <a:pt x="537210" y="350260"/>
                </a:lnTo>
                <a:lnTo>
                  <a:pt x="322326" y="358856"/>
                </a:lnTo>
                <a:lnTo>
                  <a:pt x="171907" y="356707"/>
                </a:lnTo>
                <a:lnTo>
                  <a:pt x="85953" y="345963"/>
                </a:lnTo>
                <a:lnTo>
                  <a:pt x="32232" y="328772"/>
                </a:lnTo>
                <a:close/>
              </a:path>
            </a:pathLst>
          </a:custGeom>
          <a:solidFill>
            <a:srgbClr val="EDF4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5650992" y="2221992"/>
            <a:ext cx="713232" cy="109728"/>
          </a:xfrm>
          <a:custGeom>
            <a:avLst/>
            <a:gdLst/>
            <a:ahLst/>
            <a:cxnLst/>
            <a:rect l="l" t="t" r="r" b="b"/>
            <a:pathLst>
              <a:path w="713232" h="109728">
                <a:moveTo>
                  <a:pt x="0" y="9144"/>
                </a:moveTo>
                <a:lnTo>
                  <a:pt x="713232" y="0"/>
                </a:lnTo>
                <a:lnTo>
                  <a:pt x="713232" y="109728"/>
                </a:lnTo>
                <a:lnTo>
                  <a:pt x="0" y="100584"/>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364224" y="2212848"/>
            <a:ext cx="420624" cy="118872"/>
          </a:xfrm>
          <a:custGeom>
            <a:avLst/>
            <a:gdLst/>
            <a:ahLst/>
            <a:cxnLst/>
            <a:rect l="l" t="t" r="r" b="b"/>
            <a:pathLst>
              <a:path w="420624" h="118872">
                <a:moveTo>
                  <a:pt x="0" y="9144"/>
                </a:moveTo>
                <a:lnTo>
                  <a:pt x="420624" y="0"/>
                </a:lnTo>
                <a:lnTo>
                  <a:pt x="420624" y="109728"/>
                </a:lnTo>
                <a:lnTo>
                  <a:pt x="0" y="118872"/>
                </a:lnTo>
                <a:close/>
              </a:path>
            </a:pathLst>
          </a:custGeom>
          <a:solidFill>
            <a:srgbClr val="D4EEDD"/>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797296" y="1682495"/>
            <a:ext cx="530352" cy="548641"/>
          </a:xfrm>
          <a:custGeom>
            <a:avLst/>
            <a:gdLst/>
            <a:ahLst/>
            <a:cxnLst/>
            <a:rect l="l" t="t" r="r" b="b"/>
            <a:pathLst>
              <a:path w="530352" h="548641">
                <a:moveTo>
                  <a:pt x="0" y="548641"/>
                </a:moveTo>
                <a:lnTo>
                  <a:pt x="402336" y="0"/>
                </a:lnTo>
                <a:lnTo>
                  <a:pt x="530352" y="0"/>
                </a:lnTo>
                <a:lnTo>
                  <a:pt x="530352" y="544069"/>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6327648" y="1682495"/>
            <a:ext cx="384048" cy="544069"/>
          </a:xfrm>
          <a:custGeom>
            <a:avLst/>
            <a:gdLst/>
            <a:ahLst/>
            <a:cxnLst/>
            <a:rect l="l" t="t" r="r" b="b"/>
            <a:pathLst>
              <a:path w="384048" h="544069">
                <a:moveTo>
                  <a:pt x="0" y="0"/>
                </a:moveTo>
                <a:lnTo>
                  <a:pt x="347472" y="54865"/>
                </a:lnTo>
                <a:lnTo>
                  <a:pt x="384048" y="539497"/>
                </a:lnTo>
                <a:lnTo>
                  <a:pt x="0" y="544069"/>
                </a:lnTo>
                <a:close/>
              </a:path>
            </a:pathLst>
          </a:custGeom>
          <a:solidFill>
            <a:srgbClr val="D4EEDD"/>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2834640" y="2523744"/>
            <a:ext cx="0" cy="164592"/>
          </a:xfrm>
          <a:prstGeom prst="line">
            <a:avLst/>
          </a:prstGeom>
          <a:ln w="1905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2715768" y="2670048"/>
            <a:ext cx="237744" cy="237744"/>
          </a:xfrm>
          <a:prstGeom prst="ellipse">
            <a:avLst/>
          </a:prstGeom>
          <a:solidFill>
            <a:srgbClr val="FFFFFF"/>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272784" y="2404872"/>
            <a:ext cx="128016" cy="128016"/>
          </a:xfrm>
          <a:prstGeom prst="ellipse">
            <a:avLst/>
          </a:prstGeom>
          <a:solidFill>
            <a:srgbClr val="FFFF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127760" y="2275392"/>
            <a:ext cx="347618" cy="347618"/>
          </a:xfrm>
          <a:prstGeom prst="ellipse">
            <a:avLst/>
          </a:prstGeom>
          <a:solidFill>
            <a:srgbClr val="FFFFFF"/>
          </a:solidFill>
          <a:ln w="10160">
            <a:solidFill>
              <a:srgbClr val="2026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38C8C"/>
                </a:solidFill>
                <a:latin typeface="Arial"/>
              </a:rPr>
              <a:t>DESIGN THE SYSTEM</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Stability and control authority are different</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A stable aircraft returns toward trimmed flight; an authoritative control can move it strongly. You need both in the right amounts.</a:t>
            </a:r>
          </a:p>
        </p:txBody>
      </p:sp>
      <p:sp>
        <p:nvSpPr>
          <p:cNvPr id="8" name="Rounded Rectangle 7"/>
          <p:cNvSpPr/>
          <p:nvPr/>
        </p:nvSpPr>
        <p:spPr>
          <a:xfrm>
            <a:off x="347472" y="1225296"/>
            <a:ext cx="3474720" cy="331012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225296"/>
            <a:ext cx="50292" cy="3310128"/>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34416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STATIC STABILITY</a:t>
            </a:r>
          </a:p>
        </p:txBody>
      </p:sp>
      <p:sp>
        <p:nvSpPr>
          <p:cNvPr id="11" name="TextBox 10"/>
          <p:cNvSpPr txBox="1"/>
          <p:nvPr/>
        </p:nvSpPr>
        <p:spPr>
          <a:xfrm>
            <a:off x="493776" y="1618488"/>
            <a:ext cx="3200400" cy="2816352"/>
          </a:xfrm>
          <a:prstGeom prst="rect">
            <a:avLst/>
          </a:prstGeom>
          <a:noFill/>
        </p:spPr>
        <p:txBody>
          <a:bodyPr wrap="square" lIns="18288" rIns="9144" tIns="9144" bIns="9144">
            <a:spAutoFit/>
          </a:bodyPr>
          <a:lstStyle/>
          <a:p>
            <a:pPr>
              <a:lnSpc>
                <a:spcPct val="100000"/>
              </a:lnSpc>
              <a:spcAft>
                <a:spcPts val="250"/>
              </a:spcAft>
            </a:pPr>
            <a:r>
              <a:rPr sz="965">
                <a:solidFill>
                  <a:srgbClr val="20263A"/>
                </a:solidFill>
                <a:latin typeface="Arial"/>
              </a:rPr>
              <a:t>• Initial tendency after a disturbance.</a:t>
            </a:r>
          </a:p>
          <a:p>
            <a:pPr>
              <a:lnSpc>
                <a:spcPct val="100000"/>
              </a:lnSpc>
              <a:spcAft>
                <a:spcPts val="250"/>
              </a:spcAft>
            </a:pPr>
            <a:r>
              <a:rPr sz="965">
                <a:solidFill>
                  <a:srgbClr val="20263A"/>
                </a:solidFill>
                <a:latin typeface="Arial"/>
              </a:rPr>
              <a:t>• Positive pitch stability means a nose-up disturbance creates a restoring tendency.</a:t>
            </a:r>
          </a:p>
        </p:txBody>
      </p:sp>
      <p:sp>
        <p:nvSpPr>
          <p:cNvPr id="12" name="Rounded Rectangle 11"/>
          <p:cNvSpPr/>
          <p:nvPr/>
        </p:nvSpPr>
        <p:spPr>
          <a:xfrm>
            <a:off x="3950208" y="1225296"/>
            <a:ext cx="3474720" cy="331012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0208" y="1225296"/>
            <a:ext cx="50292" cy="3310128"/>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6512" y="134416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DAMPING</a:t>
            </a:r>
          </a:p>
        </p:txBody>
      </p:sp>
      <p:sp>
        <p:nvSpPr>
          <p:cNvPr id="15" name="TextBox 14"/>
          <p:cNvSpPr txBox="1"/>
          <p:nvPr/>
        </p:nvSpPr>
        <p:spPr>
          <a:xfrm>
            <a:off x="4096512" y="1618488"/>
            <a:ext cx="3200400" cy="2816352"/>
          </a:xfrm>
          <a:prstGeom prst="rect">
            <a:avLst/>
          </a:prstGeom>
          <a:noFill/>
        </p:spPr>
        <p:txBody>
          <a:bodyPr wrap="square" lIns="18288" rIns="9144" tIns="9144" bIns="9144">
            <a:spAutoFit/>
          </a:bodyPr>
          <a:lstStyle/>
          <a:p>
            <a:pPr>
              <a:lnSpc>
                <a:spcPct val="100000"/>
              </a:lnSpc>
              <a:spcAft>
                <a:spcPts val="250"/>
              </a:spcAft>
            </a:pPr>
            <a:r>
              <a:rPr sz="965">
                <a:solidFill>
                  <a:srgbClr val="20263A"/>
                </a:solidFill>
                <a:latin typeface="Arial"/>
              </a:rPr>
              <a:t>• How quickly oscillations die out.</a:t>
            </a:r>
          </a:p>
          <a:p>
            <a:pPr>
              <a:lnSpc>
                <a:spcPct val="100000"/>
              </a:lnSpc>
              <a:spcAft>
                <a:spcPts val="250"/>
              </a:spcAft>
            </a:pPr>
            <a:r>
              <a:rPr sz="965">
                <a:solidFill>
                  <a:srgbClr val="20263A"/>
                </a:solidFill>
                <a:latin typeface="Arial"/>
              </a:rPr>
              <a:t>• Tails, fuselage, wing, and speed all contribute.</a:t>
            </a:r>
          </a:p>
        </p:txBody>
      </p:sp>
      <p:sp>
        <p:nvSpPr>
          <p:cNvPr id="16" name="Rounded Rectangle 15"/>
          <p:cNvSpPr/>
          <p:nvPr/>
        </p:nvSpPr>
        <p:spPr>
          <a:xfrm>
            <a:off x="347472" y="4873752"/>
            <a:ext cx="3474720" cy="331012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4873752"/>
            <a:ext cx="50292" cy="3310128"/>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499262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CONTROL AUTHORITY</a:t>
            </a:r>
          </a:p>
        </p:txBody>
      </p:sp>
      <p:sp>
        <p:nvSpPr>
          <p:cNvPr id="19" name="TextBox 18"/>
          <p:cNvSpPr txBox="1"/>
          <p:nvPr/>
        </p:nvSpPr>
        <p:spPr>
          <a:xfrm>
            <a:off x="493776" y="5266944"/>
            <a:ext cx="3200400" cy="2816352"/>
          </a:xfrm>
          <a:prstGeom prst="rect">
            <a:avLst/>
          </a:prstGeom>
          <a:noFill/>
        </p:spPr>
        <p:txBody>
          <a:bodyPr wrap="square" lIns="18288" rIns="9144" tIns="9144" bIns="9144">
            <a:spAutoFit/>
          </a:bodyPr>
          <a:lstStyle/>
          <a:p>
            <a:pPr>
              <a:lnSpc>
                <a:spcPct val="100000"/>
              </a:lnSpc>
              <a:spcAft>
                <a:spcPts val="250"/>
              </a:spcAft>
            </a:pPr>
            <a:r>
              <a:rPr sz="965">
                <a:solidFill>
                  <a:srgbClr val="20263A"/>
                </a:solidFill>
                <a:latin typeface="Arial"/>
              </a:rPr>
              <a:t>• Ability to create roll, pitch, or yaw moment.</a:t>
            </a:r>
          </a:p>
          <a:p>
            <a:pPr>
              <a:lnSpc>
                <a:spcPct val="100000"/>
              </a:lnSpc>
              <a:spcAft>
                <a:spcPts val="250"/>
              </a:spcAft>
            </a:pPr>
            <a:r>
              <a:rPr sz="965">
                <a:solidFill>
                  <a:srgbClr val="20263A"/>
                </a:solidFill>
                <a:latin typeface="Arial"/>
              </a:rPr>
              <a:t>• Depends on surface size, lever arm, deflection, dynamic pressure, and stiffness.</a:t>
            </a:r>
          </a:p>
        </p:txBody>
      </p:sp>
      <p:sp>
        <p:nvSpPr>
          <p:cNvPr id="20" name="Rounded Rectangle 19"/>
          <p:cNvSpPr/>
          <p:nvPr/>
        </p:nvSpPr>
        <p:spPr>
          <a:xfrm>
            <a:off x="3950208" y="4873752"/>
            <a:ext cx="3474720" cy="331012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50208" y="4873752"/>
            <a:ext cx="50292" cy="3310128"/>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96512" y="499262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TRIM</a:t>
            </a:r>
          </a:p>
        </p:txBody>
      </p:sp>
      <p:sp>
        <p:nvSpPr>
          <p:cNvPr id="23" name="TextBox 22"/>
          <p:cNvSpPr txBox="1"/>
          <p:nvPr/>
        </p:nvSpPr>
        <p:spPr>
          <a:xfrm>
            <a:off x="4096512" y="5266944"/>
            <a:ext cx="3200400" cy="2816352"/>
          </a:xfrm>
          <a:prstGeom prst="rect">
            <a:avLst/>
          </a:prstGeom>
          <a:noFill/>
        </p:spPr>
        <p:txBody>
          <a:bodyPr wrap="square" lIns="18288" rIns="9144" tIns="9144" bIns="9144">
            <a:spAutoFit/>
          </a:bodyPr>
          <a:lstStyle/>
          <a:p>
            <a:pPr>
              <a:lnSpc>
                <a:spcPct val="100000"/>
              </a:lnSpc>
              <a:spcAft>
                <a:spcPts val="250"/>
              </a:spcAft>
            </a:pPr>
            <a:r>
              <a:rPr sz="965">
                <a:solidFill>
                  <a:srgbClr val="20263A"/>
                </a:solidFill>
                <a:latin typeface="Arial"/>
              </a:rPr>
              <a:t>• A steady control position where moments balance.</a:t>
            </a:r>
          </a:p>
          <a:p>
            <a:pPr>
              <a:lnSpc>
                <a:spcPct val="100000"/>
              </a:lnSpc>
              <a:spcAft>
                <a:spcPts val="250"/>
              </a:spcAft>
            </a:pPr>
            <a:r>
              <a:rPr sz="965">
                <a:solidFill>
                  <a:srgbClr val="20263A"/>
                </a:solidFill>
                <a:latin typeface="Arial"/>
              </a:rPr>
              <a:t>• A plane can be stable yet badly trimmed—or controllable yet unstable.</a:t>
            </a:r>
          </a:p>
        </p:txBody>
      </p:sp>
      <p:sp>
        <p:nvSpPr>
          <p:cNvPr id="24" name="TextBox 23"/>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Design check: verify both natural stability and enough control for takeoff, flare, recovery, and crosswind correction.</a:t>
            </a:r>
          </a:p>
        </p:txBody>
      </p:sp>
      <p:sp>
        <p:nvSpPr>
          <p:cNvPr id="25" name="TextBox 24"/>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E0702B"/>
                </a:solidFill>
                <a:latin typeface="Arial"/>
              </a:rPr>
              <a:t>WORKED TRAINER</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Step 1: build a realistic mass budget</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example is a 1.5 kg electric trainer designed for calm-to-moderate field flying.</a:t>
            </a:r>
          </a:p>
        </p:txBody>
      </p:sp>
      <p:sp>
        <p:nvSpPr>
          <p:cNvPr id="8" name="Rectangle 7"/>
          <p:cNvSpPr/>
          <p:nvPr/>
        </p:nvSpPr>
        <p:spPr>
          <a:xfrm>
            <a:off x="347472" y="1234440"/>
            <a:ext cx="2148840" cy="484632"/>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353312"/>
            <a:ext cx="2039112" cy="164592"/>
          </a:xfrm>
          <a:prstGeom prst="rect">
            <a:avLst/>
          </a:prstGeom>
          <a:noFill/>
        </p:spPr>
        <p:txBody>
          <a:bodyPr wrap="square" lIns="0" rIns="0" tIns="0" bIns="0" anchor="t">
            <a:spAutoFit/>
          </a:bodyPr>
          <a:lstStyle/>
          <a:p>
            <a:pPr algn="l">
              <a:lnSpc>
                <a:spcPct val="100000"/>
              </a:lnSpc>
            </a:pPr>
            <a:r>
              <a:rPr sz="840" b="1" i="0">
                <a:solidFill>
                  <a:srgbClr val="FFFFFF"/>
                </a:solidFill>
                <a:latin typeface="Arial"/>
              </a:rPr>
              <a:t>ITEM</a:t>
            </a:r>
          </a:p>
        </p:txBody>
      </p:sp>
      <p:sp>
        <p:nvSpPr>
          <p:cNvPr id="10" name="Rectangle 9"/>
          <p:cNvSpPr/>
          <p:nvPr/>
        </p:nvSpPr>
        <p:spPr>
          <a:xfrm>
            <a:off x="2496312" y="1234440"/>
            <a:ext cx="1143000" cy="484632"/>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51176" y="1353312"/>
            <a:ext cx="1033271" cy="164592"/>
          </a:xfrm>
          <a:prstGeom prst="rect">
            <a:avLst/>
          </a:prstGeom>
          <a:noFill/>
        </p:spPr>
        <p:txBody>
          <a:bodyPr wrap="square" lIns="0" rIns="0" tIns="0" bIns="0" anchor="t">
            <a:spAutoFit/>
          </a:bodyPr>
          <a:lstStyle/>
          <a:p>
            <a:pPr algn="l">
              <a:lnSpc>
                <a:spcPct val="100000"/>
              </a:lnSpc>
            </a:pPr>
            <a:r>
              <a:rPr sz="840" b="1" i="0">
                <a:solidFill>
                  <a:srgbClr val="FFFFFF"/>
                </a:solidFill>
                <a:latin typeface="Arial"/>
              </a:rPr>
              <a:t>BUDGET</a:t>
            </a:r>
          </a:p>
        </p:txBody>
      </p:sp>
      <p:sp>
        <p:nvSpPr>
          <p:cNvPr id="12" name="Rectangle 11"/>
          <p:cNvSpPr/>
          <p:nvPr/>
        </p:nvSpPr>
        <p:spPr>
          <a:xfrm>
            <a:off x="3639312" y="1234440"/>
            <a:ext cx="3785615" cy="484632"/>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4176" y="1353312"/>
            <a:ext cx="3675887" cy="164592"/>
          </a:xfrm>
          <a:prstGeom prst="rect">
            <a:avLst/>
          </a:prstGeom>
          <a:noFill/>
        </p:spPr>
        <p:txBody>
          <a:bodyPr wrap="square" lIns="0" rIns="0" tIns="0" bIns="0" anchor="t">
            <a:spAutoFit/>
          </a:bodyPr>
          <a:lstStyle/>
          <a:p>
            <a:pPr algn="l">
              <a:lnSpc>
                <a:spcPct val="100000"/>
              </a:lnSpc>
            </a:pPr>
            <a:r>
              <a:rPr sz="840" b="1" i="0">
                <a:solidFill>
                  <a:srgbClr val="FFFFFF"/>
                </a:solidFill>
                <a:latin typeface="Arial"/>
              </a:rPr>
              <a:t>NOTE</a:t>
            </a:r>
          </a:p>
        </p:txBody>
      </p:sp>
      <p:sp>
        <p:nvSpPr>
          <p:cNvPr id="14" name="Rectangle 13"/>
          <p:cNvSpPr/>
          <p:nvPr/>
        </p:nvSpPr>
        <p:spPr>
          <a:xfrm>
            <a:off x="347472" y="1719072"/>
            <a:ext cx="2148840"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810512"/>
            <a:ext cx="2039112" cy="329184"/>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Airframe structure</a:t>
            </a:r>
          </a:p>
        </p:txBody>
      </p:sp>
      <p:sp>
        <p:nvSpPr>
          <p:cNvPr id="16" name="Rectangle 15"/>
          <p:cNvSpPr/>
          <p:nvPr/>
        </p:nvSpPr>
        <p:spPr>
          <a:xfrm>
            <a:off x="2496312" y="1719072"/>
            <a:ext cx="1143000"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51176" y="1810512"/>
            <a:ext cx="1033271"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480 g</a:t>
            </a:r>
          </a:p>
        </p:txBody>
      </p:sp>
      <p:sp>
        <p:nvSpPr>
          <p:cNvPr id="18" name="Rectangle 17"/>
          <p:cNvSpPr/>
          <p:nvPr/>
        </p:nvSpPr>
        <p:spPr>
          <a:xfrm>
            <a:off x="3639312" y="1719072"/>
            <a:ext cx="3785615"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94176" y="1810512"/>
            <a:ext cx="3675887"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Wing, fuselage, tail, landing gear</a:t>
            </a:r>
          </a:p>
        </p:txBody>
      </p:sp>
      <p:sp>
        <p:nvSpPr>
          <p:cNvPr id="20" name="Rectangle 19"/>
          <p:cNvSpPr/>
          <p:nvPr/>
        </p:nvSpPr>
        <p:spPr>
          <a:xfrm>
            <a:off x="347472" y="2286000"/>
            <a:ext cx="2148840"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2377440"/>
            <a:ext cx="2039112" cy="329184"/>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Motor + prop + mount</a:t>
            </a:r>
          </a:p>
        </p:txBody>
      </p:sp>
      <p:sp>
        <p:nvSpPr>
          <p:cNvPr id="22" name="Rectangle 21"/>
          <p:cNvSpPr/>
          <p:nvPr/>
        </p:nvSpPr>
        <p:spPr>
          <a:xfrm>
            <a:off x="2496312" y="2286000"/>
            <a:ext cx="1143000"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51176" y="2377440"/>
            <a:ext cx="1033271"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180 g</a:t>
            </a:r>
          </a:p>
        </p:txBody>
      </p:sp>
      <p:sp>
        <p:nvSpPr>
          <p:cNvPr id="24" name="Rectangle 23"/>
          <p:cNvSpPr/>
          <p:nvPr/>
        </p:nvSpPr>
        <p:spPr>
          <a:xfrm>
            <a:off x="3639312" y="2286000"/>
            <a:ext cx="3785615"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94176" y="2377440"/>
            <a:ext cx="3675887"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Approx. 220 W class</a:t>
            </a:r>
          </a:p>
        </p:txBody>
      </p:sp>
      <p:sp>
        <p:nvSpPr>
          <p:cNvPr id="26" name="Rectangle 25"/>
          <p:cNvSpPr/>
          <p:nvPr/>
        </p:nvSpPr>
        <p:spPr>
          <a:xfrm>
            <a:off x="347472" y="2852928"/>
            <a:ext cx="2148840"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 y="2944368"/>
            <a:ext cx="2039112" cy="329184"/>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ESC + wiring</a:t>
            </a:r>
          </a:p>
        </p:txBody>
      </p:sp>
      <p:sp>
        <p:nvSpPr>
          <p:cNvPr id="28" name="Rectangle 27"/>
          <p:cNvSpPr/>
          <p:nvPr/>
        </p:nvSpPr>
        <p:spPr>
          <a:xfrm>
            <a:off x="2496312" y="2852928"/>
            <a:ext cx="1143000"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51176" y="2944368"/>
            <a:ext cx="1033271"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55 g</a:t>
            </a:r>
          </a:p>
        </p:txBody>
      </p:sp>
      <p:sp>
        <p:nvSpPr>
          <p:cNvPr id="30" name="Rectangle 29"/>
          <p:cNvSpPr/>
          <p:nvPr/>
        </p:nvSpPr>
        <p:spPr>
          <a:xfrm>
            <a:off x="3639312" y="2852928"/>
            <a:ext cx="3785615"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94176" y="2944368"/>
            <a:ext cx="3675887"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With cooling margin</a:t>
            </a:r>
          </a:p>
        </p:txBody>
      </p:sp>
      <p:sp>
        <p:nvSpPr>
          <p:cNvPr id="32" name="Rectangle 31"/>
          <p:cNvSpPr/>
          <p:nvPr/>
        </p:nvSpPr>
        <p:spPr>
          <a:xfrm>
            <a:off x="347472" y="3419856"/>
            <a:ext cx="2148840"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2336" y="3511296"/>
            <a:ext cx="2039112" cy="329184"/>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Battery</a:t>
            </a:r>
          </a:p>
        </p:txBody>
      </p:sp>
      <p:sp>
        <p:nvSpPr>
          <p:cNvPr id="34" name="Rectangle 33"/>
          <p:cNvSpPr/>
          <p:nvPr/>
        </p:nvSpPr>
        <p:spPr>
          <a:xfrm>
            <a:off x="2496312" y="3419856"/>
            <a:ext cx="1143000"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51176" y="3511296"/>
            <a:ext cx="1033271"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185 g</a:t>
            </a:r>
          </a:p>
        </p:txBody>
      </p:sp>
      <p:sp>
        <p:nvSpPr>
          <p:cNvPr id="36" name="Rectangle 35"/>
          <p:cNvSpPr/>
          <p:nvPr/>
        </p:nvSpPr>
        <p:spPr>
          <a:xfrm>
            <a:off x="3639312" y="3419856"/>
            <a:ext cx="3785615"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94176" y="3511296"/>
            <a:ext cx="3675887"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3S 2200 mAh example</a:t>
            </a:r>
          </a:p>
        </p:txBody>
      </p:sp>
      <p:sp>
        <p:nvSpPr>
          <p:cNvPr id="38" name="Rectangle 37"/>
          <p:cNvSpPr/>
          <p:nvPr/>
        </p:nvSpPr>
        <p:spPr>
          <a:xfrm>
            <a:off x="347472" y="3986784"/>
            <a:ext cx="2148840"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2336" y="4078224"/>
            <a:ext cx="2039112" cy="329184"/>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Receiver + 4 servos</a:t>
            </a:r>
          </a:p>
        </p:txBody>
      </p:sp>
      <p:sp>
        <p:nvSpPr>
          <p:cNvPr id="40" name="Rectangle 39"/>
          <p:cNvSpPr/>
          <p:nvPr/>
        </p:nvSpPr>
        <p:spPr>
          <a:xfrm>
            <a:off x="2496312" y="3986784"/>
            <a:ext cx="1143000"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51176" y="4078224"/>
            <a:ext cx="1033271"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115 g</a:t>
            </a:r>
          </a:p>
        </p:txBody>
      </p:sp>
      <p:sp>
        <p:nvSpPr>
          <p:cNvPr id="42" name="Rectangle 41"/>
          <p:cNvSpPr/>
          <p:nvPr/>
        </p:nvSpPr>
        <p:spPr>
          <a:xfrm>
            <a:off x="3639312" y="3986784"/>
            <a:ext cx="3785615"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94176" y="4078224"/>
            <a:ext cx="3675887"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Includes leads and hardware</a:t>
            </a:r>
          </a:p>
        </p:txBody>
      </p:sp>
      <p:sp>
        <p:nvSpPr>
          <p:cNvPr id="44" name="Rectangle 43"/>
          <p:cNvSpPr/>
          <p:nvPr/>
        </p:nvSpPr>
        <p:spPr>
          <a:xfrm>
            <a:off x="347472" y="4553712"/>
            <a:ext cx="2148840"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 y="4645152"/>
            <a:ext cx="2039112" cy="329184"/>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Covering / finish</a:t>
            </a:r>
          </a:p>
        </p:txBody>
      </p:sp>
      <p:sp>
        <p:nvSpPr>
          <p:cNvPr id="46" name="Rectangle 45"/>
          <p:cNvSpPr/>
          <p:nvPr/>
        </p:nvSpPr>
        <p:spPr>
          <a:xfrm>
            <a:off x="2496312" y="4553712"/>
            <a:ext cx="1143000"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51176" y="4645152"/>
            <a:ext cx="1033271"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85 g</a:t>
            </a:r>
          </a:p>
        </p:txBody>
      </p:sp>
      <p:sp>
        <p:nvSpPr>
          <p:cNvPr id="48" name="Rectangle 47"/>
          <p:cNvSpPr/>
          <p:nvPr/>
        </p:nvSpPr>
        <p:spPr>
          <a:xfrm>
            <a:off x="3639312" y="4553712"/>
            <a:ext cx="3785615"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94176" y="4645152"/>
            <a:ext cx="3675887"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Often underestimated</a:t>
            </a:r>
          </a:p>
        </p:txBody>
      </p:sp>
      <p:sp>
        <p:nvSpPr>
          <p:cNvPr id="50" name="Rectangle 49"/>
          <p:cNvSpPr/>
          <p:nvPr/>
        </p:nvSpPr>
        <p:spPr>
          <a:xfrm>
            <a:off x="347472" y="5120640"/>
            <a:ext cx="2148840"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02336" y="5212080"/>
            <a:ext cx="2039112" cy="329184"/>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Fasteners / glue / misc.</a:t>
            </a:r>
          </a:p>
        </p:txBody>
      </p:sp>
      <p:sp>
        <p:nvSpPr>
          <p:cNvPr id="52" name="Rectangle 51"/>
          <p:cNvSpPr/>
          <p:nvPr/>
        </p:nvSpPr>
        <p:spPr>
          <a:xfrm>
            <a:off x="2496312" y="5120640"/>
            <a:ext cx="1143000"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51176" y="5212080"/>
            <a:ext cx="1033271"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100 g</a:t>
            </a:r>
          </a:p>
        </p:txBody>
      </p:sp>
      <p:sp>
        <p:nvSpPr>
          <p:cNvPr id="54" name="Rectangle 53"/>
          <p:cNvSpPr/>
          <p:nvPr/>
        </p:nvSpPr>
        <p:spPr>
          <a:xfrm>
            <a:off x="3639312" y="5120640"/>
            <a:ext cx="3785615" cy="566928"/>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94176" y="5212080"/>
            <a:ext cx="3675887"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Hinges, horns, wheels, connectors</a:t>
            </a:r>
          </a:p>
        </p:txBody>
      </p:sp>
      <p:sp>
        <p:nvSpPr>
          <p:cNvPr id="56" name="Rectangle 55"/>
          <p:cNvSpPr/>
          <p:nvPr/>
        </p:nvSpPr>
        <p:spPr>
          <a:xfrm>
            <a:off x="347472" y="5687568"/>
            <a:ext cx="2148840"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2336" y="5779008"/>
            <a:ext cx="2039112" cy="329184"/>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Design reserve</a:t>
            </a:r>
          </a:p>
        </p:txBody>
      </p:sp>
      <p:sp>
        <p:nvSpPr>
          <p:cNvPr id="58" name="Rectangle 57"/>
          <p:cNvSpPr/>
          <p:nvPr/>
        </p:nvSpPr>
        <p:spPr>
          <a:xfrm>
            <a:off x="2496312" y="5687568"/>
            <a:ext cx="1143000"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51176" y="5779008"/>
            <a:ext cx="1033271"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300 g</a:t>
            </a:r>
          </a:p>
        </p:txBody>
      </p:sp>
      <p:sp>
        <p:nvSpPr>
          <p:cNvPr id="60" name="Rectangle 59"/>
          <p:cNvSpPr/>
          <p:nvPr/>
        </p:nvSpPr>
        <p:spPr>
          <a:xfrm>
            <a:off x="3639312" y="5687568"/>
            <a:ext cx="3785615" cy="566928"/>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94176" y="5779008"/>
            <a:ext cx="3675887" cy="329184"/>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20% early-design reserve</a:t>
            </a:r>
          </a:p>
        </p:txBody>
      </p:sp>
      <p:sp>
        <p:nvSpPr>
          <p:cNvPr id="62" name="Rectangle 61"/>
          <p:cNvSpPr/>
          <p:nvPr/>
        </p:nvSpPr>
        <p:spPr>
          <a:xfrm>
            <a:off x="347472" y="6254496"/>
            <a:ext cx="2148840" cy="566928"/>
          </a:xfrm>
          <a:prstGeom prst="rect">
            <a:avLst/>
          </a:prstGeom>
          <a:solidFill>
            <a:srgbClr val="FFF3E9"/>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02336" y="6345936"/>
            <a:ext cx="2039112" cy="329184"/>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TARGET ALL-UP MASS</a:t>
            </a:r>
          </a:p>
        </p:txBody>
      </p:sp>
      <p:sp>
        <p:nvSpPr>
          <p:cNvPr id="64" name="Rectangle 63"/>
          <p:cNvSpPr/>
          <p:nvPr/>
        </p:nvSpPr>
        <p:spPr>
          <a:xfrm>
            <a:off x="2496312" y="6254496"/>
            <a:ext cx="1143000" cy="566928"/>
          </a:xfrm>
          <a:prstGeom prst="rect">
            <a:avLst/>
          </a:prstGeom>
          <a:solidFill>
            <a:srgbClr val="FFF3E9"/>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551176" y="6345936"/>
            <a:ext cx="1033271" cy="329184"/>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1500 g</a:t>
            </a:r>
          </a:p>
        </p:txBody>
      </p:sp>
      <p:sp>
        <p:nvSpPr>
          <p:cNvPr id="66" name="Rectangle 65"/>
          <p:cNvSpPr/>
          <p:nvPr/>
        </p:nvSpPr>
        <p:spPr>
          <a:xfrm>
            <a:off x="3639312" y="6254496"/>
            <a:ext cx="3785615" cy="566928"/>
          </a:xfrm>
          <a:prstGeom prst="rect">
            <a:avLst/>
          </a:prstGeom>
          <a:solidFill>
            <a:srgbClr val="FFF3E9"/>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694176" y="6345936"/>
            <a:ext cx="3675887" cy="329184"/>
          </a:xfrm>
          <a:prstGeom prst="rect">
            <a:avLst/>
          </a:prstGeom>
          <a:noFill/>
        </p:spPr>
        <p:txBody>
          <a:bodyPr wrap="square" lIns="0" rIns="0" tIns="0" bIns="0" anchor="ctr">
            <a:spAutoFit/>
          </a:bodyPr>
          <a:lstStyle/>
          <a:p>
            <a:pPr algn="l">
              <a:lnSpc>
                <a:spcPct val="100000"/>
              </a:lnSpc>
            </a:pPr>
            <a:r>
              <a:rPr sz="869" b="1" i="0">
                <a:solidFill>
                  <a:srgbClr val="20263A"/>
                </a:solidFill>
                <a:latin typeface="Arial"/>
              </a:rPr>
              <a:t>The number used for sizing</a:t>
            </a:r>
          </a:p>
        </p:txBody>
      </p:sp>
      <p:sp>
        <p:nvSpPr>
          <p:cNvPr id="68" name="Rounded Rectangle 67"/>
          <p:cNvSpPr/>
          <p:nvPr/>
        </p:nvSpPr>
        <p:spPr>
          <a:xfrm>
            <a:off x="347472" y="7498079"/>
            <a:ext cx="7077456" cy="896112"/>
          </a:xfrm>
          <a:prstGeom prst="roundRect">
            <a:avLst>
              <a:gd name="adj" fmla="val 8000"/>
            </a:avLst>
          </a:prstGeom>
          <a:solidFill>
            <a:srgbClr val="FFF3E9"/>
          </a:solidFill>
          <a:ln w="10160">
            <a:solidFill>
              <a:srgbClr val="E070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57200" y="7799831"/>
            <a:ext cx="292608" cy="292608"/>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57200" y="7854696"/>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71" name="TextBox 70"/>
          <p:cNvSpPr txBox="1"/>
          <p:nvPr/>
        </p:nvSpPr>
        <p:spPr>
          <a:xfrm>
            <a:off x="832104" y="7589519"/>
            <a:ext cx="6464808" cy="731520"/>
          </a:xfrm>
          <a:prstGeom prst="rect">
            <a:avLst/>
          </a:prstGeom>
          <a:noFill/>
        </p:spPr>
        <p:txBody>
          <a:bodyPr wrap="square" lIns="0" rIns="0" tIns="0" bIns="0" anchor="ctr">
            <a:spAutoFit/>
          </a:bodyPr>
          <a:lstStyle/>
          <a:p>
            <a:pPr algn="l">
              <a:lnSpc>
                <a:spcPct val="100000"/>
              </a:lnSpc>
            </a:pPr>
            <a:r>
              <a:rPr sz="940" b="0" i="0">
                <a:solidFill>
                  <a:srgbClr val="20263A"/>
                </a:solidFill>
                <a:latin typeface="Arial"/>
              </a:rPr>
              <a:t>At each design review, replace estimates with measured masses. If the total grows, recalculate wing loading, stall speed, power, and CG.</a:t>
            </a:r>
          </a:p>
        </p:txBody>
      </p:sp>
      <p:sp>
        <p:nvSpPr>
          <p:cNvPr id="72" name="TextBox 71"/>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46BCE"/>
                </a:solidFill>
                <a:latin typeface="Arial"/>
              </a:rPr>
              <a:t>WORKED TRAINER</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Step 2: size the wing</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Target: forgiving 1.5 kg trainer with approximately 45 g/dm² wing loading and AR 6.5.</a:t>
            </a:r>
          </a:p>
        </p:txBody>
      </p:sp>
      <p:sp>
        <p:nvSpPr>
          <p:cNvPr id="8" name="Rounded Rectangle 7"/>
          <p:cNvSpPr/>
          <p:nvPr/>
        </p:nvSpPr>
        <p:spPr>
          <a:xfrm>
            <a:off x="347472" y="1207008"/>
            <a:ext cx="2286000" cy="98755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98448"/>
            <a:ext cx="2066543"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MASS</a:t>
            </a:r>
          </a:p>
        </p:txBody>
      </p:sp>
      <p:sp>
        <p:nvSpPr>
          <p:cNvPr id="10" name="TextBox 9"/>
          <p:cNvSpPr txBox="1"/>
          <p:nvPr/>
        </p:nvSpPr>
        <p:spPr>
          <a:xfrm>
            <a:off x="457200" y="1490472"/>
            <a:ext cx="2066543" cy="320040"/>
          </a:xfrm>
          <a:prstGeom prst="rect">
            <a:avLst/>
          </a:prstGeom>
          <a:noFill/>
        </p:spPr>
        <p:txBody>
          <a:bodyPr wrap="square" lIns="0" rIns="0" tIns="0" bIns="0" anchor="t">
            <a:spAutoFit/>
          </a:bodyPr>
          <a:lstStyle/>
          <a:p>
            <a:pPr algn="l">
              <a:lnSpc>
                <a:spcPct val="100000"/>
              </a:lnSpc>
            </a:pPr>
            <a:r>
              <a:rPr sz="2000" b="1" i="0">
                <a:solidFill>
                  <a:srgbClr val="C83E3E"/>
                </a:solidFill>
                <a:latin typeface="Arial"/>
              </a:rPr>
              <a:t>1500 g</a:t>
            </a:r>
          </a:p>
        </p:txBody>
      </p:sp>
      <p:sp>
        <p:nvSpPr>
          <p:cNvPr id="11" name="TextBox 10"/>
          <p:cNvSpPr txBox="1"/>
          <p:nvPr/>
        </p:nvSpPr>
        <p:spPr>
          <a:xfrm>
            <a:off x="457200" y="1911096"/>
            <a:ext cx="2066543"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all-up</a:t>
            </a:r>
          </a:p>
        </p:txBody>
      </p:sp>
      <p:sp>
        <p:nvSpPr>
          <p:cNvPr id="12" name="Rounded Rectangle 11"/>
          <p:cNvSpPr/>
          <p:nvPr/>
        </p:nvSpPr>
        <p:spPr>
          <a:xfrm>
            <a:off x="2743200" y="1207008"/>
            <a:ext cx="2286000" cy="98755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1298448"/>
            <a:ext cx="2066543"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TARGET LOADING</a:t>
            </a:r>
          </a:p>
        </p:txBody>
      </p:sp>
      <p:sp>
        <p:nvSpPr>
          <p:cNvPr id="14" name="TextBox 13"/>
          <p:cNvSpPr txBox="1"/>
          <p:nvPr/>
        </p:nvSpPr>
        <p:spPr>
          <a:xfrm>
            <a:off x="2852928" y="1490472"/>
            <a:ext cx="2066543" cy="320040"/>
          </a:xfrm>
          <a:prstGeom prst="rect">
            <a:avLst/>
          </a:prstGeom>
          <a:noFill/>
        </p:spPr>
        <p:txBody>
          <a:bodyPr wrap="square" lIns="0" rIns="0" tIns="0" bIns="0" anchor="t">
            <a:spAutoFit/>
          </a:bodyPr>
          <a:lstStyle/>
          <a:p>
            <a:pPr algn="l">
              <a:lnSpc>
                <a:spcPct val="100000"/>
              </a:lnSpc>
            </a:pPr>
            <a:r>
              <a:rPr sz="2000" b="1" i="0">
                <a:solidFill>
                  <a:srgbClr val="246BCE"/>
                </a:solidFill>
                <a:latin typeface="Arial"/>
              </a:rPr>
              <a:t>45 g/dm²</a:t>
            </a:r>
          </a:p>
        </p:txBody>
      </p:sp>
      <p:sp>
        <p:nvSpPr>
          <p:cNvPr id="15" name="TextBox 14"/>
          <p:cNvSpPr txBox="1"/>
          <p:nvPr/>
        </p:nvSpPr>
        <p:spPr>
          <a:xfrm>
            <a:off x="2852928" y="1911096"/>
            <a:ext cx="2066543"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trainer target</a:t>
            </a:r>
          </a:p>
        </p:txBody>
      </p:sp>
      <p:sp>
        <p:nvSpPr>
          <p:cNvPr id="16" name="Rounded Rectangle 15"/>
          <p:cNvSpPr/>
          <p:nvPr/>
        </p:nvSpPr>
        <p:spPr>
          <a:xfrm>
            <a:off x="5138928" y="1207008"/>
            <a:ext cx="2286000" cy="98755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48656" y="1298448"/>
            <a:ext cx="2066543"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ASPECT RATIO</a:t>
            </a:r>
          </a:p>
        </p:txBody>
      </p:sp>
      <p:sp>
        <p:nvSpPr>
          <p:cNvPr id="18" name="TextBox 17"/>
          <p:cNvSpPr txBox="1"/>
          <p:nvPr/>
        </p:nvSpPr>
        <p:spPr>
          <a:xfrm>
            <a:off x="5248656" y="1490472"/>
            <a:ext cx="2066543" cy="320040"/>
          </a:xfrm>
          <a:prstGeom prst="rect">
            <a:avLst/>
          </a:prstGeom>
          <a:noFill/>
        </p:spPr>
        <p:txBody>
          <a:bodyPr wrap="square" lIns="0" rIns="0" tIns="0" bIns="0" anchor="t">
            <a:spAutoFit/>
          </a:bodyPr>
          <a:lstStyle/>
          <a:p>
            <a:pPr algn="l">
              <a:lnSpc>
                <a:spcPct val="100000"/>
              </a:lnSpc>
            </a:pPr>
            <a:r>
              <a:rPr sz="2000" b="1" i="0">
                <a:solidFill>
                  <a:srgbClr val="138C8C"/>
                </a:solidFill>
                <a:latin typeface="Arial"/>
              </a:rPr>
              <a:t>6.5</a:t>
            </a:r>
          </a:p>
        </p:txBody>
      </p:sp>
      <p:sp>
        <p:nvSpPr>
          <p:cNvPr id="19" name="TextBox 18"/>
          <p:cNvSpPr txBox="1"/>
          <p:nvPr/>
        </p:nvSpPr>
        <p:spPr>
          <a:xfrm>
            <a:off x="5248656" y="1911096"/>
            <a:ext cx="2066543"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moderate</a:t>
            </a:r>
          </a:p>
        </p:txBody>
      </p:sp>
      <p:sp>
        <p:nvSpPr>
          <p:cNvPr id="20" name="Rounded Rectangle 19"/>
          <p:cNvSpPr/>
          <p:nvPr/>
        </p:nvSpPr>
        <p:spPr>
          <a:xfrm>
            <a:off x="347472" y="2468880"/>
            <a:ext cx="2249424" cy="213969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7472" y="2468880"/>
            <a:ext cx="54864" cy="2139696"/>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578608"/>
            <a:ext cx="1984248" cy="164592"/>
          </a:xfrm>
          <a:prstGeom prst="rect">
            <a:avLst/>
          </a:prstGeom>
          <a:noFill/>
        </p:spPr>
        <p:txBody>
          <a:bodyPr wrap="square" lIns="0" rIns="0" tIns="0" bIns="0" anchor="t">
            <a:spAutoFit/>
          </a:bodyPr>
          <a:lstStyle/>
          <a:p>
            <a:pPr algn="l">
              <a:lnSpc>
                <a:spcPct val="100000"/>
              </a:lnSpc>
            </a:pPr>
            <a:r>
              <a:rPr sz="840" b="1" i="0">
                <a:solidFill>
                  <a:srgbClr val="246BCE"/>
                </a:solidFill>
                <a:latin typeface="Arial"/>
              </a:rPr>
              <a:t>AREA</a:t>
            </a:r>
          </a:p>
        </p:txBody>
      </p:sp>
      <p:sp>
        <p:nvSpPr>
          <p:cNvPr id="23" name="TextBox 22"/>
          <p:cNvSpPr txBox="1"/>
          <p:nvPr/>
        </p:nvSpPr>
        <p:spPr>
          <a:xfrm>
            <a:off x="502920" y="2834640"/>
            <a:ext cx="1984248" cy="365760"/>
          </a:xfrm>
          <a:prstGeom prst="rect">
            <a:avLst/>
          </a:prstGeom>
          <a:noFill/>
        </p:spPr>
        <p:txBody>
          <a:bodyPr wrap="square" lIns="0" rIns="0" tIns="0" bIns="0" anchor="ctr">
            <a:spAutoFit/>
          </a:bodyPr>
          <a:lstStyle/>
          <a:p>
            <a:pPr algn="ctr">
              <a:lnSpc>
                <a:spcPct val="100000"/>
              </a:lnSpc>
            </a:pPr>
            <a:r>
              <a:rPr sz="1700" b="1" i="0">
                <a:solidFill>
                  <a:srgbClr val="20263A"/>
                </a:solidFill>
                <a:latin typeface="Arial"/>
              </a:rPr>
              <a:t>S = 1500 / 45 = 33.3 dm²</a:t>
            </a:r>
          </a:p>
        </p:txBody>
      </p:sp>
      <p:sp>
        <p:nvSpPr>
          <p:cNvPr id="24" name="TextBox 23"/>
          <p:cNvSpPr txBox="1"/>
          <p:nvPr/>
        </p:nvSpPr>
        <p:spPr>
          <a:xfrm>
            <a:off x="502920" y="3310128"/>
            <a:ext cx="1984248" cy="1197863"/>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33.3 dm² = 0.333 m².</a:t>
            </a:r>
          </a:p>
        </p:txBody>
      </p:sp>
      <p:sp>
        <p:nvSpPr>
          <p:cNvPr id="25" name="Rounded Rectangle 24"/>
          <p:cNvSpPr/>
          <p:nvPr/>
        </p:nvSpPr>
        <p:spPr>
          <a:xfrm>
            <a:off x="2761488" y="2468880"/>
            <a:ext cx="2249424" cy="213969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61488" y="2468880"/>
            <a:ext cx="54864" cy="2139696"/>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16936" y="2578608"/>
            <a:ext cx="1984248" cy="164592"/>
          </a:xfrm>
          <a:prstGeom prst="rect">
            <a:avLst/>
          </a:prstGeom>
          <a:noFill/>
        </p:spPr>
        <p:txBody>
          <a:bodyPr wrap="square" lIns="0" rIns="0" tIns="0" bIns="0" anchor="t">
            <a:spAutoFit/>
          </a:bodyPr>
          <a:lstStyle/>
          <a:p>
            <a:pPr algn="l">
              <a:lnSpc>
                <a:spcPct val="100000"/>
              </a:lnSpc>
            </a:pPr>
            <a:r>
              <a:rPr sz="840" b="1" i="0">
                <a:solidFill>
                  <a:srgbClr val="138C8C"/>
                </a:solidFill>
                <a:latin typeface="Arial"/>
              </a:rPr>
              <a:t>SPAN</a:t>
            </a:r>
          </a:p>
        </p:txBody>
      </p:sp>
      <p:sp>
        <p:nvSpPr>
          <p:cNvPr id="28" name="TextBox 27"/>
          <p:cNvSpPr txBox="1"/>
          <p:nvPr/>
        </p:nvSpPr>
        <p:spPr>
          <a:xfrm>
            <a:off x="2916936" y="2834640"/>
            <a:ext cx="1984248" cy="365760"/>
          </a:xfrm>
          <a:prstGeom prst="rect">
            <a:avLst/>
          </a:prstGeom>
          <a:noFill/>
        </p:spPr>
        <p:txBody>
          <a:bodyPr wrap="square" lIns="0" rIns="0" tIns="0" bIns="0" anchor="ctr">
            <a:spAutoFit/>
          </a:bodyPr>
          <a:lstStyle/>
          <a:p>
            <a:pPr algn="ctr">
              <a:lnSpc>
                <a:spcPct val="100000"/>
              </a:lnSpc>
            </a:pPr>
            <a:r>
              <a:rPr sz="1700" b="1" i="0">
                <a:solidFill>
                  <a:srgbClr val="20263A"/>
                </a:solidFill>
                <a:latin typeface="Arial"/>
              </a:rPr>
              <a:t>b = √(6.5 × 0.333) = 1.47 m</a:t>
            </a:r>
          </a:p>
        </p:txBody>
      </p:sp>
      <p:sp>
        <p:nvSpPr>
          <p:cNvPr id="29" name="TextBox 28"/>
          <p:cNvSpPr txBox="1"/>
          <p:nvPr/>
        </p:nvSpPr>
        <p:spPr>
          <a:xfrm>
            <a:off x="2916936" y="3310128"/>
            <a:ext cx="1984248" cy="1197863"/>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Choose about 1470 mm.</a:t>
            </a:r>
          </a:p>
        </p:txBody>
      </p:sp>
      <p:sp>
        <p:nvSpPr>
          <p:cNvPr id="30" name="Rounded Rectangle 29"/>
          <p:cNvSpPr/>
          <p:nvPr/>
        </p:nvSpPr>
        <p:spPr>
          <a:xfrm>
            <a:off x="5175504" y="2468880"/>
            <a:ext cx="2249424" cy="213969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75504" y="2468880"/>
            <a:ext cx="54864" cy="2139696"/>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30952" y="2578608"/>
            <a:ext cx="1984248" cy="164592"/>
          </a:xfrm>
          <a:prstGeom prst="rect">
            <a:avLst/>
          </a:prstGeom>
          <a:noFill/>
        </p:spPr>
        <p:txBody>
          <a:bodyPr wrap="square" lIns="0" rIns="0" tIns="0" bIns="0" anchor="t">
            <a:spAutoFit/>
          </a:bodyPr>
          <a:lstStyle/>
          <a:p>
            <a:pPr algn="l">
              <a:lnSpc>
                <a:spcPct val="100000"/>
              </a:lnSpc>
            </a:pPr>
            <a:r>
              <a:rPr sz="840" b="1" i="0">
                <a:solidFill>
                  <a:srgbClr val="2F8F5B"/>
                </a:solidFill>
                <a:latin typeface="Arial"/>
              </a:rPr>
              <a:t>AVG. CHORD</a:t>
            </a:r>
          </a:p>
        </p:txBody>
      </p:sp>
      <p:sp>
        <p:nvSpPr>
          <p:cNvPr id="33" name="TextBox 32"/>
          <p:cNvSpPr txBox="1"/>
          <p:nvPr/>
        </p:nvSpPr>
        <p:spPr>
          <a:xfrm>
            <a:off x="5330952" y="2834640"/>
            <a:ext cx="1984248" cy="365760"/>
          </a:xfrm>
          <a:prstGeom prst="rect">
            <a:avLst/>
          </a:prstGeom>
          <a:noFill/>
        </p:spPr>
        <p:txBody>
          <a:bodyPr wrap="square" lIns="0" rIns="0" tIns="0" bIns="0" anchor="ctr">
            <a:spAutoFit/>
          </a:bodyPr>
          <a:lstStyle/>
          <a:p>
            <a:pPr algn="ctr">
              <a:lnSpc>
                <a:spcPct val="100000"/>
              </a:lnSpc>
            </a:pPr>
            <a:r>
              <a:rPr sz="1700" b="1" i="0">
                <a:solidFill>
                  <a:srgbClr val="20263A"/>
                </a:solidFill>
                <a:latin typeface="Arial"/>
              </a:rPr>
              <a:t>c = 0.333 / 1.47 = 0.226 m</a:t>
            </a:r>
          </a:p>
        </p:txBody>
      </p:sp>
      <p:sp>
        <p:nvSpPr>
          <p:cNvPr id="34" name="TextBox 33"/>
          <p:cNvSpPr txBox="1"/>
          <p:nvPr/>
        </p:nvSpPr>
        <p:spPr>
          <a:xfrm>
            <a:off x="5330952" y="3310128"/>
            <a:ext cx="1984248" cy="1197863"/>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A rectangular wing uses about 226 mm chord.</a:t>
            </a:r>
          </a:p>
        </p:txBody>
      </p:sp>
      <p:sp>
        <p:nvSpPr>
          <p:cNvPr id="35" name="Rounded Rectangle 34"/>
          <p:cNvSpPr/>
          <p:nvPr/>
        </p:nvSpPr>
        <p:spPr>
          <a:xfrm>
            <a:off x="347472" y="4846320"/>
            <a:ext cx="7077456" cy="340156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47472" y="4846320"/>
            <a:ext cx="50292" cy="3401568"/>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3776" y="4965192"/>
            <a:ext cx="6821424"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BUILD DECISION</a:t>
            </a:r>
          </a:p>
        </p:txBody>
      </p:sp>
      <p:sp>
        <p:nvSpPr>
          <p:cNvPr id="38" name="TextBox 37"/>
          <p:cNvSpPr txBox="1"/>
          <p:nvPr/>
        </p:nvSpPr>
        <p:spPr>
          <a:xfrm>
            <a:off x="493776" y="5239512"/>
            <a:ext cx="6803136" cy="2907792"/>
          </a:xfrm>
          <a:prstGeom prst="rect">
            <a:avLst/>
          </a:prstGeom>
          <a:noFill/>
        </p:spPr>
        <p:txBody>
          <a:bodyPr wrap="square" lIns="18288" rIns="9144" tIns="9144" bIns="9144">
            <a:spAutoFit/>
          </a:bodyPr>
          <a:lstStyle/>
          <a:p>
            <a:pPr>
              <a:lnSpc>
                <a:spcPct val="100000"/>
              </a:lnSpc>
              <a:spcAft>
                <a:spcPts val="250"/>
              </a:spcAft>
            </a:pPr>
            <a:r>
              <a:rPr sz="1000">
                <a:solidFill>
                  <a:srgbClr val="20263A"/>
                </a:solidFill>
                <a:latin typeface="Arial"/>
              </a:rPr>
              <a:t>• Use a rectangular or mildly tapered planform for predictable construction and stall behavior.</a:t>
            </a:r>
          </a:p>
          <a:p>
            <a:pPr>
              <a:lnSpc>
                <a:spcPct val="100000"/>
              </a:lnSpc>
              <a:spcAft>
                <a:spcPts val="250"/>
              </a:spcAft>
            </a:pPr>
            <a:r>
              <a:rPr sz="1000">
                <a:solidFill>
                  <a:srgbClr val="20263A"/>
                </a:solidFill>
                <a:latin typeface="Arial"/>
              </a:rPr>
              <a:t>• Estimated Cₗmax = 1.1 gives Vₛ ≈ 8.1 m/s (29 km/h); a calm-air approach near 1.3 Vₛ is about 10.5 m/s.</a:t>
            </a:r>
          </a:p>
          <a:p>
            <a:pPr>
              <a:lnSpc>
                <a:spcPct val="100000"/>
              </a:lnSpc>
              <a:spcAft>
                <a:spcPts val="250"/>
              </a:spcAft>
            </a:pPr>
            <a:r>
              <a:rPr sz="1000">
                <a:solidFill>
                  <a:srgbClr val="20263A"/>
                </a:solidFill>
                <a:latin typeface="Arial"/>
              </a:rPr>
              <a:t>• Keep the surface smooth and the leading edge accurate; low-Reynolds-number performance is sensitive to roughness and shape errors.</a:t>
            </a:r>
          </a:p>
        </p:txBody>
      </p:sp>
      <p:sp>
        <p:nvSpPr>
          <p:cNvPr id="39" name="TextBox 38"/>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Lift and stall estimate based on the NASA Glenn lift equation; Cₗmax remains an assumption to validate.</a:t>
            </a:r>
          </a:p>
        </p:txBody>
      </p:sp>
      <p:sp>
        <p:nvSpPr>
          <p:cNvPr id="40" name="TextBox 39"/>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24</a:t>
            </a:r>
          </a:p>
        </p:txBody>
      </p:sp>
      <p:sp>
        <p:nvSpPr>
          <p:cNvPr id="41" name="Rounded Rectangle 40"/>
          <p:cNvSpPr/>
          <p:nvPr/>
        </p:nvSpPr>
        <p:spPr>
          <a:xfrm>
            <a:off x="502920" y="6949440"/>
            <a:ext cx="6766560" cy="960120"/>
          </a:xfrm>
          <a:prstGeom prst="roundRect">
            <a:avLst>
              <a:gd name="adj" fmla="val 10000"/>
            </a:avLst>
          </a:prstGeom>
          <a:solidFill>
            <a:srgbClr val="FDF6E3"/>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21792" y="7283196"/>
            <a:ext cx="292608" cy="292608"/>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1792" y="7333488"/>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44" name="TextBox 43"/>
          <p:cNvSpPr txBox="1"/>
          <p:nvPr/>
        </p:nvSpPr>
        <p:spPr>
          <a:xfrm>
            <a:off x="1014984" y="7031736"/>
            <a:ext cx="1005840" cy="137160"/>
          </a:xfrm>
          <a:prstGeom prst="rect">
            <a:avLst/>
          </a:prstGeom>
          <a:noFill/>
        </p:spPr>
        <p:txBody>
          <a:bodyPr wrap="square" lIns="0" rIns="0" tIns="0" bIns="0">
            <a:spAutoFit/>
          </a:bodyPr>
          <a:lstStyle/>
          <a:p>
            <a:pPr algn="l"/>
            <a:r>
              <a:rPr sz="800" b="1" i="0">
                <a:solidFill>
                  <a:srgbClr val="20263A"/>
                </a:solidFill>
                <a:latin typeface="Arial"/>
              </a:rPr>
              <a:t>YOUR TURN</a:t>
            </a:r>
          </a:p>
        </p:txBody>
      </p:sp>
      <p:sp>
        <p:nvSpPr>
          <p:cNvPr id="45" name="TextBox 44"/>
          <p:cNvSpPr txBox="1"/>
          <p:nvPr/>
        </p:nvSpPr>
        <p:spPr>
          <a:xfrm>
            <a:off x="1014984" y="7187183"/>
            <a:ext cx="6080760" cy="649224"/>
          </a:xfrm>
          <a:prstGeom prst="rect">
            <a:avLst/>
          </a:prstGeom>
          <a:noFill/>
        </p:spPr>
        <p:txBody>
          <a:bodyPr wrap="square" lIns="0" rIns="0" tIns="0" bIns="0">
            <a:spAutoFit/>
          </a:bodyPr>
          <a:lstStyle/>
          <a:p>
            <a:pPr algn="l"/>
            <a:r>
              <a:rPr sz="850" b="0" i="0">
                <a:solidFill>
                  <a:srgbClr val="20263A"/>
                </a:solidFill>
                <a:latin typeface="Arial"/>
              </a:rPr>
              <a:t>Rerun this whole page for a 2 kg sport model: 60 g/dm², AR 7, Cₗmax 1.0. Find S, b, c, and Vₛ. (Answers: S = 33.3 dm², b ≈ 1.53 m, c ≈ 218 mm, Vₛ ≈ 9.8 m/s — same wing area as the trainer, yet it stalls 1.7 m/s faster. Why?)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38C8C"/>
                </a:solidFill>
                <a:latin typeface="Arial"/>
              </a:rPr>
              <a:t>WORKED TRAINER</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Step 3: size the tail and controls</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Use a 650 mm tail arm, Vₕ = 0.55, Vᵥ = 0.04, and the wing dimensions from the previous page.</a:t>
            </a:r>
          </a:p>
        </p:txBody>
      </p:sp>
      <p:sp>
        <p:nvSpPr>
          <p:cNvPr id="8" name="Rounded Rectangle 7"/>
          <p:cNvSpPr/>
          <p:nvPr/>
        </p:nvSpPr>
        <p:spPr>
          <a:xfrm>
            <a:off x="347472" y="1207008"/>
            <a:ext cx="1687068" cy="98755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98448"/>
            <a:ext cx="1467612"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WING AREA</a:t>
            </a:r>
          </a:p>
        </p:txBody>
      </p:sp>
      <p:sp>
        <p:nvSpPr>
          <p:cNvPr id="10" name="TextBox 9"/>
          <p:cNvSpPr txBox="1"/>
          <p:nvPr/>
        </p:nvSpPr>
        <p:spPr>
          <a:xfrm>
            <a:off x="457200" y="1490472"/>
            <a:ext cx="1467612" cy="320040"/>
          </a:xfrm>
          <a:prstGeom prst="rect">
            <a:avLst/>
          </a:prstGeom>
          <a:noFill/>
        </p:spPr>
        <p:txBody>
          <a:bodyPr wrap="square" lIns="0" rIns="0" tIns="0" bIns="0" anchor="t">
            <a:spAutoFit/>
          </a:bodyPr>
          <a:lstStyle/>
          <a:p>
            <a:pPr algn="l">
              <a:lnSpc>
                <a:spcPct val="100000"/>
              </a:lnSpc>
            </a:pPr>
            <a:r>
              <a:rPr sz="2000" b="1" i="0">
                <a:solidFill>
                  <a:srgbClr val="246BCE"/>
                </a:solidFill>
                <a:latin typeface="Arial"/>
              </a:rPr>
              <a:t>0.333 m²</a:t>
            </a:r>
          </a:p>
        </p:txBody>
      </p:sp>
      <p:sp>
        <p:nvSpPr>
          <p:cNvPr id="11" name="TextBox 10"/>
          <p:cNvSpPr txBox="1"/>
          <p:nvPr/>
        </p:nvSpPr>
        <p:spPr>
          <a:xfrm>
            <a:off x="457200" y="1911096"/>
            <a:ext cx="1467612"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S</a:t>
            </a:r>
          </a:p>
        </p:txBody>
      </p:sp>
      <p:sp>
        <p:nvSpPr>
          <p:cNvPr id="12" name="Rounded Rectangle 11"/>
          <p:cNvSpPr/>
          <p:nvPr/>
        </p:nvSpPr>
        <p:spPr>
          <a:xfrm>
            <a:off x="2144268" y="1207008"/>
            <a:ext cx="1687068" cy="98755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53996" y="1298448"/>
            <a:ext cx="1467612"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WING SPAN</a:t>
            </a:r>
          </a:p>
        </p:txBody>
      </p:sp>
      <p:sp>
        <p:nvSpPr>
          <p:cNvPr id="14" name="TextBox 13"/>
          <p:cNvSpPr txBox="1"/>
          <p:nvPr/>
        </p:nvSpPr>
        <p:spPr>
          <a:xfrm>
            <a:off x="2253996" y="1490472"/>
            <a:ext cx="1467612" cy="320040"/>
          </a:xfrm>
          <a:prstGeom prst="rect">
            <a:avLst/>
          </a:prstGeom>
          <a:noFill/>
        </p:spPr>
        <p:txBody>
          <a:bodyPr wrap="square" lIns="0" rIns="0" tIns="0" bIns="0" anchor="t">
            <a:spAutoFit/>
          </a:bodyPr>
          <a:lstStyle/>
          <a:p>
            <a:pPr algn="l">
              <a:lnSpc>
                <a:spcPct val="100000"/>
              </a:lnSpc>
            </a:pPr>
            <a:r>
              <a:rPr sz="2000" b="1" i="0">
                <a:solidFill>
                  <a:srgbClr val="A23DB6"/>
                </a:solidFill>
                <a:latin typeface="Arial"/>
              </a:rPr>
              <a:t>1.47 m</a:t>
            </a:r>
          </a:p>
        </p:txBody>
      </p:sp>
      <p:sp>
        <p:nvSpPr>
          <p:cNvPr id="15" name="TextBox 14"/>
          <p:cNvSpPr txBox="1"/>
          <p:nvPr/>
        </p:nvSpPr>
        <p:spPr>
          <a:xfrm>
            <a:off x="2253996" y="1911096"/>
            <a:ext cx="1467612"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b</a:t>
            </a:r>
          </a:p>
        </p:txBody>
      </p:sp>
      <p:sp>
        <p:nvSpPr>
          <p:cNvPr id="16" name="Rounded Rectangle 15"/>
          <p:cNvSpPr/>
          <p:nvPr/>
        </p:nvSpPr>
        <p:spPr>
          <a:xfrm>
            <a:off x="3941063" y="1207008"/>
            <a:ext cx="1687068" cy="98755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50791" y="1298448"/>
            <a:ext cx="1467612"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MEAN CHORD</a:t>
            </a:r>
          </a:p>
        </p:txBody>
      </p:sp>
      <p:sp>
        <p:nvSpPr>
          <p:cNvPr id="18" name="TextBox 17"/>
          <p:cNvSpPr txBox="1"/>
          <p:nvPr/>
        </p:nvSpPr>
        <p:spPr>
          <a:xfrm>
            <a:off x="4050791" y="1490472"/>
            <a:ext cx="1467612" cy="320040"/>
          </a:xfrm>
          <a:prstGeom prst="rect">
            <a:avLst/>
          </a:prstGeom>
          <a:noFill/>
        </p:spPr>
        <p:txBody>
          <a:bodyPr wrap="square" lIns="0" rIns="0" tIns="0" bIns="0" anchor="t">
            <a:spAutoFit/>
          </a:bodyPr>
          <a:lstStyle/>
          <a:p>
            <a:pPr algn="l">
              <a:lnSpc>
                <a:spcPct val="100000"/>
              </a:lnSpc>
            </a:pPr>
            <a:r>
              <a:rPr sz="2000" b="1" i="0">
                <a:solidFill>
                  <a:srgbClr val="2F8F5B"/>
                </a:solidFill>
                <a:latin typeface="Arial"/>
              </a:rPr>
              <a:t>0.226 m</a:t>
            </a:r>
          </a:p>
        </p:txBody>
      </p:sp>
      <p:sp>
        <p:nvSpPr>
          <p:cNvPr id="19" name="TextBox 18"/>
          <p:cNvSpPr txBox="1"/>
          <p:nvPr/>
        </p:nvSpPr>
        <p:spPr>
          <a:xfrm>
            <a:off x="4050791" y="1911096"/>
            <a:ext cx="1467612"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c̄</a:t>
            </a:r>
          </a:p>
        </p:txBody>
      </p:sp>
      <p:sp>
        <p:nvSpPr>
          <p:cNvPr id="20" name="Rounded Rectangle 19"/>
          <p:cNvSpPr/>
          <p:nvPr/>
        </p:nvSpPr>
        <p:spPr>
          <a:xfrm>
            <a:off x="5737859" y="1207008"/>
            <a:ext cx="1687068" cy="98755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47588" y="1298448"/>
            <a:ext cx="1467612"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TAIL ARM</a:t>
            </a:r>
          </a:p>
        </p:txBody>
      </p:sp>
      <p:sp>
        <p:nvSpPr>
          <p:cNvPr id="22" name="TextBox 21"/>
          <p:cNvSpPr txBox="1"/>
          <p:nvPr/>
        </p:nvSpPr>
        <p:spPr>
          <a:xfrm>
            <a:off x="5847588" y="1490472"/>
            <a:ext cx="1467612" cy="320040"/>
          </a:xfrm>
          <a:prstGeom prst="rect">
            <a:avLst/>
          </a:prstGeom>
          <a:noFill/>
        </p:spPr>
        <p:txBody>
          <a:bodyPr wrap="square" lIns="0" rIns="0" tIns="0" bIns="0" anchor="t">
            <a:spAutoFit/>
          </a:bodyPr>
          <a:lstStyle/>
          <a:p>
            <a:pPr algn="l">
              <a:lnSpc>
                <a:spcPct val="100000"/>
              </a:lnSpc>
            </a:pPr>
            <a:r>
              <a:rPr sz="2000" b="1" i="0">
                <a:solidFill>
                  <a:srgbClr val="138C8C"/>
                </a:solidFill>
                <a:latin typeface="Arial"/>
              </a:rPr>
              <a:t>0.65 m</a:t>
            </a:r>
          </a:p>
        </p:txBody>
      </p:sp>
      <p:sp>
        <p:nvSpPr>
          <p:cNvPr id="23" name="TextBox 22"/>
          <p:cNvSpPr txBox="1"/>
          <p:nvPr/>
        </p:nvSpPr>
        <p:spPr>
          <a:xfrm>
            <a:off x="5847588" y="1911096"/>
            <a:ext cx="1467612"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l</a:t>
            </a:r>
          </a:p>
        </p:txBody>
      </p:sp>
      <p:sp>
        <p:nvSpPr>
          <p:cNvPr id="24" name="Rounded Rectangle 23"/>
          <p:cNvSpPr/>
          <p:nvPr/>
        </p:nvSpPr>
        <p:spPr>
          <a:xfrm>
            <a:off x="347472" y="2468880"/>
            <a:ext cx="3456432" cy="213969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7472" y="2468880"/>
            <a:ext cx="54864" cy="2139696"/>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2578608"/>
            <a:ext cx="3191256" cy="164592"/>
          </a:xfrm>
          <a:prstGeom prst="rect">
            <a:avLst/>
          </a:prstGeom>
          <a:noFill/>
        </p:spPr>
        <p:txBody>
          <a:bodyPr wrap="square" lIns="0" rIns="0" tIns="0" bIns="0" anchor="t">
            <a:spAutoFit/>
          </a:bodyPr>
          <a:lstStyle/>
          <a:p>
            <a:pPr algn="l">
              <a:lnSpc>
                <a:spcPct val="100000"/>
              </a:lnSpc>
            </a:pPr>
            <a:r>
              <a:rPr sz="840" b="1" i="0">
                <a:solidFill>
                  <a:srgbClr val="138C8C"/>
                </a:solidFill>
                <a:latin typeface="Arial"/>
              </a:rPr>
              <a:t>H-TAIL</a:t>
            </a:r>
          </a:p>
        </p:txBody>
      </p:sp>
      <p:sp>
        <p:nvSpPr>
          <p:cNvPr id="27" name="TextBox 26"/>
          <p:cNvSpPr txBox="1"/>
          <p:nvPr/>
        </p:nvSpPr>
        <p:spPr>
          <a:xfrm>
            <a:off x="502920" y="2834640"/>
            <a:ext cx="3191256" cy="365760"/>
          </a:xfrm>
          <a:prstGeom prst="rect">
            <a:avLst/>
          </a:prstGeom>
          <a:noFill/>
        </p:spPr>
        <p:txBody>
          <a:bodyPr wrap="square" lIns="0" rIns="0" tIns="0" bIns="0" anchor="ctr">
            <a:spAutoFit/>
          </a:bodyPr>
          <a:lstStyle/>
          <a:p>
            <a:pPr algn="ctr">
              <a:lnSpc>
                <a:spcPct val="100000"/>
              </a:lnSpc>
            </a:pPr>
            <a:r>
              <a:rPr sz="1700" b="1" i="0">
                <a:solidFill>
                  <a:srgbClr val="20263A"/>
                </a:solidFill>
                <a:latin typeface="Arial"/>
              </a:rPr>
              <a:t>Sₕ ≈ 0.064 m²</a:t>
            </a:r>
          </a:p>
        </p:txBody>
      </p:sp>
      <p:sp>
        <p:nvSpPr>
          <p:cNvPr id="28" name="TextBox 27"/>
          <p:cNvSpPr txBox="1"/>
          <p:nvPr/>
        </p:nvSpPr>
        <p:spPr>
          <a:xfrm>
            <a:off x="502920" y="3310128"/>
            <a:ext cx="3191256" cy="1197863"/>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About 640 cm²; for example, 470 × 135 mm average.</a:t>
            </a:r>
          </a:p>
        </p:txBody>
      </p:sp>
      <p:sp>
        <p:nvSpPr>
          <p:cNvPr id="29" name="Rounded Rectangle 28"/>
          <p:cNvSpPr/>
          <p:nvPr/>
        </p:nvSpPr>
        <p:spPr>
          <a:xfrm>
            <a:off x="3968496" y="2468880"/>
            <a:ext cx="3456432" cy="213969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968496" y="2468880"/>
            <a:ext cx="54864" cy="2139696"/>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23944" y="2578608"/>
            <a:ext cx="3191256" cy="164592"/>
          </a:xfrm>
          <a:prstGeom prst="rect">
            <a:avLst/>
          </a:prstGeom>
          <a:noFill/>
        </p:spPr>
        <p:txBody>
          <a:bodyPr wrap="square" lIns="0" rIns="0" tIns="0" bIns="0" anchor="t">
            <a:spAutoFit/>
          </a:bodyPr>
          <a:lstStyle/>
          <a:p>
            <a:pPr algn="l">
              <a:lnSpc>
                <a:spcPct val="100000"/>
              </a:lnSpc>
            </a:pPr>
            <a:r>
              <a:rPr sz="840" b="1" i="0">
                <a:solidFill>
                  <a:srgbClr val="2F8F5B"/>
                </a:solidFill>
                <a:latin typeface="Arial"/>
              </a:rPr>
              <a:t>V-TAIL</a:t>
            </a:r>
          </a:p>
        </p:txBody>
      </p:sp>
      <p:sp>
        <p:nvSpPr>
          <p:cNvPr id="32" name="TextBox 31"/>
          <p:cNvSpPr txBox="1"/>
          <p:nvPr/>
        </p:nvSpPr>
        <p:spPr>
          <a:xfrm>
            <a:off x="4123944" y="2834640"/>
            <a:ext cx="3191256" cy="365760"/>
          </a:xfrm>
          <a:prstGeom prst="rect">
            <a:avLst/>
          </a:prstGeom>
          <a:noFill/>
        </p:spPr>
        <p:txBody>
          <a:bodyPr wrap="square" lIns="0" rIns="0" tIns="0" bIns="0" anchor="ctr">
            <a:spAutoFit/>
          </a:bodyPr>
          <a:lstStyle/>
          <a:p>
            <a:pPr algn="ctr">
              <a:lnSpc>
                <a:spcPct val="100000"/>
              </a:lnSpc>
            </a:pPr>
            <a:r>
              <a:rPr sz="1700" b="1" i="0">
                <a:solidFill>
                  <a:srgbClr val="20263A"/>
                </a:solidFill>
                <a:latin typeface="Arial"/>
              </a:rPr>
              <a:t>Sᵥ ≈ 0.030 m²</a:t>
            </a:r>
          </a:p>
        </p:txBody>
      </p:sp>
      <p:sp>
        <p:nvSpPr>
          <p:cNvPr id="33" name="TextBox 32"/>
          <p:cNvSpPr txBox="1"/>
          <p:nvPr/>
        </p:nvSpPr>
        <p:spPr>
          <a:xfrm>
            <a:off x="4123944" y="3310128"/>
            <a:ext cx="3191256" cy="1197863"/>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About 300 cm²; for example, 240 mm high × 125 mm average chord.</a:t>
            </a:r>
          </a:p>
        </p:txBody>
      </p:sp>
      <p:sp>
        <p:nvSpPr>
          <p:cNvPr id="34" name="Rounded Rectangle 33"/>
          <p:cNvSpPr/>
          <p:nvPr/>
        </p:nvSpPr>
        <p:spPr>
          <a:xfrm>
            <a:off x="347472" y="4846320"/>
            <a:ext cx="7077456" cy="340156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47472" y="4846320"/>
            <a:ext cx="50292" cy="3401568"/>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3776" y="4965192"/>
            <a:ext cx="6821424"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BUILD DECISION</a:t>
            </a:r>
          </a:p>
        </p:txBody>
      </p:sp>
      <p:sp>
        <p:nvSpPr>
          <p:cNvPr id="37" name="TextBox 36"/>
          <p:cNvSpPr txBox="1"/>
          <p:nvPr/>
        </p:nvSpPr>
        <p:spPr>
          <a:xfrm>
            <a:off x="493776" y="5239512"/>
            <a:ext cx="6803136" cy="2907792"/>
          </a:xfrm>
          <a:prstGeom prst="rect">
            <a:avLst/>
          </a:prstGeom>
          <a:noFill/>
        </p:spPr>
        <p:txBody>
          <a:bodyPr wrap="square" lIns="18288" rIns="9144" tIns="9144" bIns="9144">
            <a:spAutoFit/>
          </a:bodyPr>
          <a:lstStyle/>
          <a:p>
            <a:pPr>
              <a:lnSpc>
                <a:spcPct val="100000"/>
              </a:lnSpc>
              <a:spcAft>
                <a:spcPts val="250"/>
              </a:spcAft>
            </a:pPr>
            <a:r>
              <a:rPr sz="1000">
                <a:solidFill>
                  <a:srgbClr val="20263A"/>
                </a:solidFill>
                <a:latin typeface="Arial"/>
              </a:rPr>
              <a:t>• Elevator: about 30% of horizontal-tail chord—roughly 40 mm—and most of the tail span.</a:t>
            </a:r>
          </a:p>
          <a:p>
            <a:pPr>
              <a:lnSpc>
                <a:spcPct val="100000"/>
              </a:lnSpc>
              <a:spcAft>
                <a:spcPts val="250"/>
              </a:spcAft>
            </a:pPr>
            <a:r>
              <a:rPr sz="1000">
                <a:solidFill>
                  <a:srgbClr val="20263A"/>
                </a:solidFill>
                <a:latin typeface="Arial"/>
              </a:rPr>
              <a:t>• Rudder: about 35–40% of fin chord and most of the fin height.</a:t>
            </a:r>
          </a:p>
          <a:p>
            <a:pPr>
              <a:lnSpc>
                <a:spcPct val="100000"/>
              </a:lnSpc>
              <a:spcAft>
                <a:spcPts val="250"/>
              </a:spcAft>
            </a:pPr>
            <a:r>
              <a:rPr sz="1000">
                <a:solidFill>
                  <a:srgbClr val="20263A"/>
                </a:solidFill>
                <a:latin typeface="Arial"/>
              </a:rPr>
              <a:t>• Ailerons: about 45 mm chord, roughly 330–370 mm span each, with 1.5:1 to 2:1 up/down differential.</a:t>
            </a:r>
          </a:p>
          <a:p>
            <a:pPr>
              <a:lnSpc>
                <a:spcPct val="100000"/>
              </a:lnSpc>
              <a:spcAft>
                <a:spcPts val="250"/>
              </a:spcAft>
            </a:pPr>
            <a:r>
              <a:rPr sz="1000">
                <a:solidFill>
                  <a:srgbClr val="20263A"/>
                </a:solidFill>
                <a:latin typeface="Arial"/>
              </a:rPr>
              <a:t>• Begin with conservative CG and modest throws; move aft or increase travel only after evidence from safe flights.</a:t>
            </a:r>
          </a:p>
        </p:txBody>
      </p:sp>
      <p:sp>
        <p:nvSpPr>
          <p:cNvPr id="38" name="TextBox 37"/>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Tail-volume starting ranges: MIT Unified Engineering preliminary design rules.</a:t>
            </a:r>
          </a:p>
        </p:txBody>
      </p:sp>
      <p:sp>
        <p:nvSpPr>
          <p:cNvPr id="39" name="TextBox 38"/>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A23DB6"/>
                </a:solidFill>
                <a:latin typeface="Arial"/>
              </a:rPr>
              <a:t>WORKED TRAINER</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Step 4: power system and maiden configuration</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objective is a confident climb—not unlimited vertical performance.</a:t>
            </a:r>
          </a:p>
        </p:txBody>
      </p:sp>
      <p:sp>
        <p:nvSpPr>
          <p:cNvPr id="8" name="Rounded Rectangle 7"/>
          <p:cNvSpPr/>
          <p:nvPr/>
        </p:nvSpPr>
        <p:spPr>
          <a:xfrm>
            <a:off x="347472" y="1207008"/>
            <a:ext cx="2286000" cy="98755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98448"/>
            <a:ext cx="2066543"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POWER TARGET</a:t>
            </a:r>
          </a:p>
        </p:txBody>
      </p:sp>
      <p:sp>
        <p:nvSpPr>
          <p:cNvPr id="10" name="TextBox 9"/>
          <p:cNvSpPr txBox="1"/>
          <p:nvPr/>
        </p:nvSpPr>
        <p:spPr>
          <a:xfrm>
            <a:off x="457200" y="1490472"/>
            <a:ext cx="2066543" cy="320040"/>
          </a:xfrm>
          <a:prstGeom prst="rect">
            <a:avLst/>
          </a:prstGeom>
          <a:noFill/>
        </p:spPr>
        <p:txBody>
          <a:bodyPr wrap="square" lIns="0" rIns="0" tIns="0" bIns="0" anchor="t">
            <a:spAutoFit/>
          </a:bodyPr>
          <a:lstStyle/>
          <a:p>
            <a:pPr algn="l">
              <a:lnSpc>
                <a:spcPct val="100000"/>
              </a:lnSpc>
            </a:pPr>
            <a:r>
              <a:rPr sz="2000" b="1" i="0">
                <a:solidFill>
                  <a:srgbClr val="A23DB6"/>
                </a:solidFill>
                <a:latin typeface="Arial"/>
              </a:rPr>
              <a:t>130–160 W/kg</a:t>
            </a:r>
          </a:p>
        </p:txBody>
      </p:sp>
      <p:sp>
        <p:nvSpPr>
          <p:cNvPr id="11" name="TextBox 10"/>
          <p:cNvSpPr txBox="1"/>
          <p:nvPr/>
        </p:nvSpPr>
        <p:spPr>
          <a:xfrm>
            <a:off x="457200" y="1911096"/>
            <a:ext cx="2066543"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trainer range</a:t>
            </a:r>
          </a:p>
        </p:txBody>
      </p:sp>
      <p:sp>
        <p:nvSpPr>
          <p:cNvPr id="12" name="Rounded Rectangle 11"/>
          <p:cNvSpPr/>
          <p:nvPr/>
        </p:nvSpPr>
        <p:spPr>
          <a:xfrm>
            <a:off x="2743200" y="1207008"/>
            <a:ext cx="2286000" cy="98755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1298448"/>
            <a:ext cx="2066543"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REQUIRED INPUT</a:t>
            </a:r>
          </a:p>
        </p:txBody>
      </p:sp>
      <p:sp>
        <p:nvSpPr>
          <p:cNvPr id="14" name="TextBox 13"/>
          <p:cNvSpPr txBox="1"/>
          <p:nvPr/>
        </p:nvSpPr>
        <p:spPr>
          <a:xfrm>
            <a:off x="2852928" y="1490472"/>
            <a:ext cx="2066543" cy="320040"/>
          </a:xfrm>
          <a:prstGeom prst="rect">
            <a:avLst/>
          </a:prstGeom>
          <a:noFill/>
        </p:spPr>
        <p:txBody>
          <a:bodyPr wrap="square" lIns="0" rIns="0" tIns="0" bIns="0" anchor="t">
            <a:spAutoFit/>
          </a:bodyPr>
          <a:lstStyle/>
          <a:p>
            <a:pPr algn="l">
              <a:lnSpc>
                <a:spcPct val="100000"/>
              </a:lnSpc>
            </a:pPr>
            <a:r>
              <a:rPr sz="2000" b="1" i="0">
                <a:solidFill>
                  <a:srgbClr val="E0702B"/>
                </a:solidFill>
                <a:latin typeface="Arial"/>
              </a:rPr>
              <a:t>195–240 W</a:t>
            </a:r>
          </a:p>
        </p:txBody>
      </p:sp>
      <p:sp>
        <p:nvSpPr>
          <p:cNvPr id="15" name="TextBox 14"/>
          <p:cNvSpPr txBox="1"/>
          <p:nvPr/>
        </p:nvSpPr>
        <p:spPr>
          <a:xfrm>
            <a:off x="2852928" y="1911096"/>
            <a:ext cx="2066543"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for 1.5 kg</a:t>
            </a:r>
          </a:p>
        </p:txBody>
      </p:sp>
      <p:sp>
        <p:nvSpPr>
          <p:cNvPr id="16" name="Rounded Rectangle 15"/>
          <p:cNvSpPr/>
          <p:nvPr/>
        </p:nvSpPr>
        <p:spPr>
          <a:xfrm>
            <a:off x="5138928" y="1207008"/>
            <a:ext cx="2286000" cy="98755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48656" y="1298448"/>
            <a:ext cx="2066543"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BATTERY EXAMPLE</a:t>
            </a:r>
          </a:p>
        </p:txBody>
      </p:sp>
      <p:sp>
        <p:nvSpPr>
          <p:cNvPr id="18" name="TextBox 17"/>
          <p:cNvSpPr txBox="1"/>
          <p:nvPr/>
        </p:nvSpPr>
        <p:spPr>
          <a:xfrm>
            <a:off x="5248656" y="1490472"/>
            <a:ext cx="2066543" cy="320040"/>
          </a:xfrm>
          <a:prstGeom prst="rect">
            <a:avLst/>
          </a:prstGeom>
          <a:noFill/>
        </p:spPr>
        <p:txBody>
          <a:bodyPr wrap="square" lIns="0" rIns="0" tIns="0" bIns="0" anchor="t">
            <a:spAutoFit/>
          </a:bodyPr>
          <a:lstStyle/>
          <a:p>
            <a:pPr algn="l">
              <a:lnSpc>
                <a:spcPct val="100000"/>
              </a:lnSpc>
            </a:pPr>
            <a:r>
              <a:rPr sz="2000" b="1" i="0">
                <a:solidFill>
                  <a:srgbClr val="246BCE"/>
                </a:solidFill>
                <a:latin typeface="Arial"/>
              </a:rPr>
              <a:t>3S 2200 mAh</a:t>
            </a:r>
          </a:p>
        </p:txBody>
      </p:sp>
      <p:sp>
        <p:nvSpPr>
          <p:cNvPr id="19" name="TextBox 18"/>
          <p:cNvSpPr txBox="1"/>
          <p:nvPr/>
        </p:nvSpPr>
        <p:spPr>
          <a:xfrm>
            <a:off x="5248656" y="1911096"/>
            <a:ext cx="2066543"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use correct C rating</a:t>
            </a:r>
          </a:p>
        </p:txBody>
      </p:sp>
      <p:sp>
        <p:nvSpPr>
          <p:cNvPr id="20" name="Rounded Rectangle 19"/>
          <p:cNvSpPr/>
          <p:nvPr/>
        </p:nvSpPr>
        <p:spPr>
          <a:xfrm>
            <a:off x="347472" y="2468880"/>
            <a:ext cx="3456432" cy="213969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7472" y="2468880"/>
            <a:ext cx="54864" cy="2139696"/>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578608"/>
            <a:ext cx="3191256" cy="164592"/>
          </a:xfrm>
          <a:prstGeom prst="rect">
            <a:avLst/>
          </a:prstGeom>
          <a:noFill/>
        </p:spPr>
        <p:txBody>
          <a:bodyPr wrap="square" lIns="0" rIns="0" tIns="0" bIns="0" anchor="t">
            <a:spAutoFit/>
          </a:bodyPr>
          <a:lstStyle/>
          <a:p>
            <a:pPr algn="l">
              <a:lnSpc>
                <a:spcPct val="100000"/>
              </a:lnSpc>
            </a:pPr>
            <a:r>
              <a:rPr sz="840" b="1" i="0">
                <a:solidFill>
                  <a:srgbClr val="A23DB6"/>
                </a:solidFill>
                <a:latin typeface="Arial"/>
              </a:rPr>
              <a:t>POWER</a:t>
            </a:r>
          </a:p>
        </p:txBody>
      </p:sp>
      <p:sp>
        <p:nvSpPr>
          <p:cNvPr id="23" name="TextBox 22"/>
          <p:cNvSpPr txBox="1"/>
          <p:nvPr/>
        </p:nvSpPr>
        <p:spPr>
          <a:xfrm>
            <a:off x="502920" y="2834640"/>
            <a:ext cx="3191256" cy="365760"/>
          </a:xfrm>
          <a:prstGeom prst="rect">
            <a:avLst/>
          </a:prstGeom>
          <a:noFill/>
        </p:spPr>
        <p:txBody>
          <a:bodyPr wrap="square" lIns="0" rIns="0" tIns="0" bIns="0" anchor="ctr">
            <a:spAutoFit/>
          </a:bodyPr>
          <a:lstStyle/>
          <a:p>
            <a:pPr algn="ctr">
              <a:lnSpc>
                <a:spcPct val="100000"/>
              </a:lnSpc>
            </a:pPr>
            <a:r>
              <a:rPr sz="1700" b="1" i="0">
                <a:solidFill>
                  <a:srgbClr val="20263A"/>
                </a:solidFill>
                <a:latin typeface="Arial"/>
              </a:rPr>
              <a:t>1.5 kg × 150 W/kg ≈ 225 W</a:t>
            </a:r>
          </a:p>
        </p:txBody>
      </p:sp>
      <p:sp>
        <p:nvSpPr>
          <p:cNvPr id="24" name="TextBox 23"/>
          <p:cNvSpPr txBox="1"/>
          <p:nvPr/>
        </p:nvSpPr>
        <p:spPr>
          <a:xfrm>
            <a:off x="502920" y="3310128"/>
            <a:ext cx="3191256" cy="1197863"/>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Choose motor, propeller, and ESC as a tested combination.</a:t>
            </a:r>
          </a:p>
        </p:txBody>
      </p:sp>
      <p:sp>
        <p:nvSpPr>
          <p:cNvPr id="25" name="Rounded Rectangle 24"/>
          <p:cNvSpPr/>
          <p:nvPr/>
        </p:nvSpPr>
        <p:spPr>
          <a:xfrm>
            <a:off x="3968496" y="2468880"/>
            <a:ext cx="3456432" cy="213969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968496" y="2468880"/>
            <a:ext cx="54864" cy="2139696"/>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23944" y="2578608"/>
            <a:ext cx="3191256" cy="164592"/>
          </a:xfrm>
          <a:prstGeom prst="rect">
            <a:avLst/>
          </a:prstGeom>
          <a:noFill/>
        </p:spPr>
        <p:txBody>
          <a:bodyPr wrap="square" lIns="0" rIns="0" tIns="0" bIns="0" anchor="t">
            <a:spAutoFit/>
          </a:bodyPr>
          <a:lstStyle/>
          <a:p>
            <a:pPr algn="l">
              <a:lnSpc>
                <a:spcPct val="100000"/>
              </a:lnSpc>
            </a:pPr>
            <a:r>
              <a:rPr sz="840" b="1" i="0">
                <a:solidFill>
                  <a:srgbClr val="138C8C"/>
                </a:solidFill>
                <a:latin typeface="Arial"/>
              </a:rPr>
              <a:t>ROUGH ENDURANCE</a:t>
            </a:r>
          </a:p>
        </p:txBody>
      </p:sp>
      <p:sp>
        <p:nvSpPr>
          <p:cNvPr id="28" name="TextBox 27"/>
          <p:cNvSpPr txBox="1"/>
          <p:nvPr/>
        </p:nvSpPr>
        <p:spPr>
          <a:xfrm>
            <a:off x="4123944" y="2834640"/>
            <a:ext cx="3191256" cy="365760"/>
          </a:xfrm>
          <a:prstGeom prst="rect">
            <a:avLst/>
          </a:prstGeom>
          <a:noFill/>
        </p:spPr>
        <p:txBody>
          <a:bodyPr wrap="square" lIns="0" rIns="0" tIns="0" bIns="0" anchor="ctr">
            <a:spAutoFit/>
          </a:bodyPr>
          <a:lstStyle/>
          <a:p>
            <a:pPr algn="ctr">
              <a:lnSpc>
                <a:spcPct val="100000"/>
              </a:lnSpc>
            </a:pPr>
            <a:r>
              <a:rPr sz="1700" b="1" i="0">
                <a:solidFill>
                  <a:srgbClr val="20263A"/>
                </a:solidFill>
                <a:latin typeface="Arial"/>
              </a:rPr>
              <a:t>0.8 × 2.2 Ah / 12 A × 60 ≈ 8.8 min</a:t>
            </a:r>
          </a:p>
        </p:txBody>
      </p:sp>
      <p:sp>
        <p:nvSpPr>
          <p:cNvPr id="29" name="TextBox 28"/>
          <p:cNvSpPr txBox="1"/>
          <p:nvPr/>
        </p:nvSpPr>
        <p:spPr>
          <a:xfrm>
            <a:off x="4123944" y="3310128"/>
            <a:ext cx="3191256" cy="1197863"/>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Actual current changes continuously; use a timer and telemetry if available.</a:t>
            </a:r>
          </a:p>
        </p:txBody>
      </p:sp>
      <p:sp>
        <p:nvSpPr>
          <p:cNvPr id="30" name="Rounded Rectangle 29"/>
          <p:cNvSpPr/>
          <p:nvPr/>
        </p:nvSpPr>
        <p:spPr>
          <a:xfrm>
            <a:off x="347472" y="4846320"/>
            <a:ext cx="7077456" cy="340156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47472" y="4846320"/>
            <a:ext cx="50292" cy="3401568"/>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3776" y="4965192"/>
            <a:ext cx="6821424"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BUILD DECISION</a:t>
            </a:r>
          </a:p>
        </p:txBody>
      </p:sp>
      <p:sp>
        <p:nvSpPr>
          <p:cNvPr id="33" name="TextBox 32"/>
          <p:cNvSpPr txBox="1"/>
          <p:nvPr/>
        </p:nvSpPr>
        <p:spPr>
          <a:xfrm>
            <a:off x="493776" y="5239512"/>
            <a:ext cx="6803136" cy="2907792"/>
          </a:xfrm>
          <a:prstGeom prst="rect">
            <a:avLst/>
          </a:prstGeom>
          <a:noFill/>
        </p:spPr>
        <p:txBody>
          <a:bodyPr wrap="square" lIns="18288" rIns="9144" tIns="9144" bIns="9144">
            <a:spAutoFit/>
          </a:bodyPr>
          <a:lstStyle/>
          <a:p>
            <a:pPr>
              <a:lnSpc>
                <a:spcPct val="100000"/>
              </a:lnSpc>
              <a:spcAft>
                <a:spcPts val="250"/>
              </a:spcAft>
            </a:pPr>
            <a:r>
              <a:rPr sz="1000">
                <a:solidFill>
                  <a:srgbClr val="20263A"/>
                </a:solidFill>
                <a:latin typeface="Arial"/>
              </a:rPr>
              <a:t>• ESC: at least about 30 A for a measured 20–25 A setup, with adequate cooling and BEC capacity.</a:t>
            </a:r>
          </a:p>
          <a:p>
            <a:pPr>
              <a:lnSpc>
                <a:spcPct val="100000"/>
              </a:lnSpc>
              <a:spcAft>
                <a:spcPts val="250"/>
              </a:spcAft>
            </a:pPr>
            <a:r>
              <a:rPr sz="1000">
                <a:solidFill>
                  <a:srgbClr val="20263A"/>
                </a:solidFill>
                <a:latin typeface="Arial"/>
              </a:rPr>
              <a:t>• Maiden CG: conservative 10–15% static margin; confirm the physical balance with the flight battery installed.</a:t>
            </a:r>
          </a:p>
          <a:p>
            <a:pPr>
              <a:lnSpc>
                <a:spcPct val="100000"/>
              </a:lnSpc>
              <a:spcAft>
                <a:spcPts val="250"/>
              </a:spcAft>
            </a:pPr>
            <a:r>
              <a:rPr sz="1000">
                <a:solidFill>
                  <a:srgbClr val="20263A"/>
                </a:solidFill>
                <a:latin typeface="Arial"/>
              </a:rPr>
              <a:t>• Low rates: aileron/elevator 10–15°, rudder 20–25°. Confirm correct directions from behind the airplane.</a:t>
            </a:r>
          </a:p>
          <a:p>
            <a:pPr>
              <a:lnSpc>
                <a:spcPct val="100000"/>
              </a:lnSpc>
              <a:spcAft>
                <a:spcPts val="250"/>
              </a:spcAft>
            </a:pPr>
            <a:r>
              <a:rPr sz="1000">
                <a:solidFill>
                  <a:srgbClr val="20263A"/>
                </a:solidFill>
                <a:latin typeface="Arial"/>
              </a:rPr>
              <a:t>• Have an experienced pilot perform or assist with the first flight; climb to height before trimming or testing stall behavior.</a:t>
            </a:r>
          </a:p>
        </p:txBody>
      </p:sp>
      <p:sp>
        <p:nvSpPr>
          <p:cNvPr id="34" name="TextBox 33"/>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Power-to-weight values are broad hobby starting points. Measure actual current and power with a wattmeter.</a:t>
            </a:r>
          </a:p>
        </p:txBody>
      </p:sp>
      <p:sp>
        <p:nvSpPr>
          <p:cNvPr id="35" name="TextBox 34"/>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5486400" cy="164592"/>
          </a:xfrm>
          <a:prstGeom prst="rect">
            <a:avLst/>
          </a:prstGeom>
          <a:noFill/>
        </p:spPr>
        <p:txBody>
          <a:bodyPr wrap="square" lIns="0" rIns="0" tIns="0" bIns="0">
            <a:spAutoFit/>
          </a:bodyPr>
          <a:lstStyle/>
          <a:p>
            <a:pPr algn="l"/>
            <a:r>
              <a:rPr sz="900" b="1" i="0">
                <a:solidFill>
                  <a:srgbClr val="9DB8E8"/>
                </a:solidFill>
                <a:latin typeface="Arial"/>
              </a:rPr>
              <a:t>WORKED TRAINER</a:t>
            </a:r>
          </a:p>
        </p:txBody>
      </p:sp>
      <p:sp>
        <p:nvSpPr>
          <p:cNvPr id="6" name="TextBox 5"/>
          <p:cNvSpPr txBox="1"/>
          <p:nvPr/>
        </p:nvSpPr>
        <p:spPr>
          <a:xfrm>
            <a:off x="347472" y="246888"/>
            <a:ext cx="7086600" cy="365760"/>
          </a:xfrm>
          <a:prstGeom prst="rect">
            <a:avLst/>
          </a:prstGeom>
          <a:noFill/>
        </p:spPr>
        <p:txBody>
          <a:bodyPr wrap="square" lIns="0" rIns="0" tIns="0" bIns="0">
            <a:spAutoFit/>
          </a:bodyPr>
          <a:lstStyle/>
          <a:p>
            <a:pPr algn="l"/>
            <a:r>
              <a:rPr sz="1900" b="1" i="0">
                <a:solidFill>
                  <a:srgbClr val="FFFFFF"/>
                </a:solidFill>
                <a:latin typeface="Arial"/>
              </a:rPr>
              <a:t>Step 5: the finished trainer — dimensioned three-view</a:t>
            </a:r>
          </a:p>
        </p:txBody>
      </p:sp>
      <p:sp>
        <p:nvSpPr>
          <p:cNvPr id="7" name="TextBox 6"/>
          <p:cNvSpPr txBox="1"/>
          <p:nvPr/>
        </p:nvSpPr>
        <p:spPr>
          <a:xfrm>
            <a:off x="347472" y="621792"/>
            <a:ext cx="7040880" cy="182880"/>
          </a:xfrm>
          <a:prstGeom prst="rect">
            <a:avLst/>
          </a:prstGeom>
          <a:noFill/>
        </p:spPr>
        <p:txBody>
          <a:bodyPr wrap="square" lIns="0" rIns="0" tIns="0" bIns="0">
            <a:spAutoFit/>
          </a:bodyPr>
          <a:lstStyle/>
          <a:p>
            <a:pPr algn="l"/>
            <a:r>
              <a:rPr sz="950" b="0" i="0">
                <a:solidFill>
                  <a:srgbClr val="D8DDE8"/>
                </a:solidFill>
                <a:latin typeface="Arial"/>
              </a:rPr>
              <a:t>The numbers from steps 1–4 turned into geometry you can build from. All dimensions in millimetres.</a:t>
            </a:r>
          </a:p>
        </p:txBody>
      </p:sp>
      <p:sp>
        <p:nvSpPr>
          <p:cNvPr id="8" name="Rounded Rectangle 7"/>
          <p:cNvSpPr/>
          <p:nvPr/>
        </p:nvSpPr>
        <p:spPr>
          <a:xfrm>
            <a:off x="347472" y="1188720"/>
            <a:ext cx="7077456" cy="470916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16736"/>
            <a:ext cx="3657600" cy="164592"/>
          </a:xfrm>
          <a:prstGeom prst="rect">
            <a:avLst/>
          </a:prstGeom>
          <a:noFill/>
        </p:spPr>
        <p:txBody>
          <a:bodyPr wrap="square" lIns="0" rIns="0" tIns="0" bIns="0">
            <a:spAutoFit/>
          </a:bodyPr>
          <a:lstStyle/>
          <a:p>
            <a:pPr algn="l"/>
            <a:r>
              <a:rPr sz="800" b="1" i="0">
                <a:solidFill>
                  <a:srgbClr val="5F687D"/>
                </a:solidFill>
                <a:latin typeface="Arial"/>
              </a:rPr>
              <a:t>TOP VIEW — scale 1 : 300</a:t>
            </a:r>
          </a:p>
        </p:txBody>
      </p:sp>
      <p:sp>
        <p:nvSpPr>
          <p:cNvPr id="10" name="Freeform 9"/>
          <p:cNvSpPr/>
          <p:nvPr/>
        </p:nvSpPr>
        <p:spPr>
          <a:xfrm>
            <a:off x="3803904" y="1810512"/>
            <a:ext cx="164592" cy="3505926"/>
          </a:xfrm>
          <a:custGeom>
            <a:avLst/>
            <a:gdLst/>
            <a:ahLst/>
            <a:cxnLst/>
            <a:rect l="l" t="t" r="r" b="b"/>
            <a:pathLst>
              <a:path w="164592" h="3505926">
                <a:moveTo>
                  <a:pt x="9144" y="82295"/>
                </a:moveTo>
                <a:lnTo>
                  <a:pt x="82296" y="0"/>
                </a:lnTo>
                <a:lnTo>
                  <a:pt x="155448" y="82295"/>
                </a:lnTo>
                <a:lnTo>
                  <a:pt x="164592" y="3505926"/>
                </a:lnTo>
                <a:lnTo>
                  <a:pt x="0" y="3505926"/>
                </a:lnTo>
                <a:close/>
              </a:path>
            </a:pathLst>
          </a:custGeom>
          <a:solidFill>
            <a:srgbClr val="F7F9FC"/>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3474720" y="1810512"/>
            <a:ext cx="822960" cy="0"/>
          </a:xfrm>
          <a:prstGeom prst="line">
            <a:avLst/>
          </a:prstGeom>
          <a:ln w="1587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70832" y="1737360"/>
            <a:ext cx="1097280" cy="146304"/>
          </a:xfrm>
          <a:prstGeom prst="rect">
            <a:avLst/>
          </a:prstGeom>
          <a:noFill/>
        </p:spPr>
        <p:txBody>
          <a:bodyPr wrap="square" lIns="0" rIns="0" tIns="0" bIns="0">
            <a:spAutoFit/>
          </a:bodyPr>
          <a:lstStyle/>
          <a:p>
            <a:pPr algn="l"/>
            <a:r>
              <a:rPr sz="700" b="0" i="1">
                <a:solidFill>
                  <a:srgbClr val="5F687D"/>
                </a:solidFill>
                <a:latin typeface="Arial"/>
              </a:rPr>
              <a:t>propeller disc</a:t>
            </a:r>
          </a:p>
        </p:txBody>
      </p:sp>
      <p:sp>
        <p:nvSpPr>
          <p:cNvPr id="13" name="Rectangle 12"/>
          <p:cNvSpPr/>
          <p:nvPr/>
        </p:nvSpPr>
        <p:spPr>
          <a:xfrm>
            <a:off x="1645942" y="2420105"/>
            <a:ext cx="4480515" cy="688841"/>
          </a:xfrm>
          <a:prstGeom prst="rect">
            <a:avLst/>
          </a:prstGeom>
          <a:solidFill>
            <a:srgbClr val="EDF4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645942" y="2971788"/>
            <a:ext cx="1008116" cy="137159"/>
          </a:xfrm>
          <a:custGeom>
            <a:avLst/>
            <a:gdLst/>
            <a:ahLst/>
            <a:cxnLst/>
            <a:rect l="l" t="t" r="r" b="b"/>
            <a:pathLst>
              <a:path w="1008116" h="137159">
                <a:moveTo>
                  <a:pt x="0" y="0"/>
                </a:moveTo>
                <a:lnTo>
                  <a:pt x="1008116" y="0"/>
                </a:lnTo>
                <a:lnTo>
                  <a:pt x="1008116" y="137159"/>
                </a:lnTo>
                <a:lnTo>
                  <a:pt x="0" y="137159"/>
                </a:lnTo>
                <a:close/>
              </a:path>
            </a:pathLst>
          </a:custGeom>
          <a:solidFill>
            <a:srgbClr val="DDE4F4"/>
          </a:solidFill>
          <a:ln w="1270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118341" y="2971788"/>
            <a:ext cx="1008116" cy="137159"/>
          </a:xfrm>
          <a:custGeom>
            <a:avLst/>
            <a:gdLst/>
            <a:ahLst/>
            <a:cxnLst/>
            <a:rect l="l" t="t" r="r" b="b"/>
            <a:pathLst>
              <a:path w="1008116" h="137159">
                <a:moveTo>
                  <a:pt x="0" y="0"/>
                </a:moveTo>
                <a:lnTo>
                  <a:pt x="1008116" y="0"/>
                </a:lnTo>
                <a:lnTo>
                  <a:pt x="1008116" y="137159"/>
                </a:lnTo>
                <a:lnTo>
                  <a:pt x="0" y="137159"/>
                </a:lnTo>
                <a:close/>
              </a:path>
            </a:pathLst>
          </a:custGeom>
          <a:solidFill>
            <a:srgbClr val="DDE4F4"/>
          </a:solidFill>
          <a:ln w="1270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897" y="3154667"/>
            <a:ext cx="1097280" cy="128016"/>
          </a:xfrm>
          <a:prstGeom prst="rect">
            <a:avLst/>
          </a:prstGeom>
          <a:noFill/>
        </p:spPr>
        <p:txBody>
          <a:bodyPr wrap="square" lIns="0" rIns="0" tIns="0" bIns="0">
            <a:spAutoFit/>
          </a:bodyPr>
          <a:lstStyle/>
          <a:p>
            <a:pPr algn="l"/>
            <a:r>
              <a:rPr sz="650" b="0" i="0">
                <a:solidFill>
                  <a:srgbClr val="5F687D"/>
                </a:solidFill>
                <a:latin typeface="Arial"/>
              </a:rPr>
              <a:t>aileron 45 × ~350</a:t>
            </a:r>
          </a:p>
        </p:txBody>
      </p:sp>
      <p:sp>
        <p:nvSpPr>
          <p:cNvPr id="17" name="Rectangle 16"/>
          <p:cNvSpPr/>
          <p:nvPr/>
        </p:nvSpPr>
        <p:spPr>
          <a:xfrm>
            <a:off x="3169927" y="4904963"/>
            <a:ext cx="1432545" cy="411475"/>
          </a:xfrm>
          <a:prstGeom prst="rect">
            <a:avLst/>
          </a:pr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69927" y="5194520"/>
            <a:ext cx="1432545" cy="121918"/>
          </a:xfrm>
          <a:prstGeom prst="rect">
            <a:avLst/>
          </a:prstGeom>
          <a:solidFill>
            <a:srgbClr val="D4EEDD"/>
          </a:solidFill>
          <a:ln w="952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12200" y="4923251"/>
            <a:ext cx="1371600" cy="256032"/>
          </a:xfrm>
          <a:prstGeom prst="rect">
            <a:avLst/>
          </a:prstGeom>
          <a:noFill/>
        </p:spPr>
        <p:txBody>
          <a:bodyPr wrap="square" lIns="0" rIns="0" tIns="0" bIns="0">
            <a:spAutoFit/>
          </a:bodyPr>
          <a:lstStyle/>
          <a:p>
            <a:pPr algn="l"/>
            <a:r>
              <a:rPr sz="650" b="0" i="0">
                <a:solidFill>
                  <a:srgbClr val="5F687D"/>
                </a:solidFill>
                <a:latin typeface="Arial"/>
              </a:rPr>
              <a:t>elevator 40 mm deep, full span</a:t>
            </a:r>
          </a:p>
        </p:txBody>
      </p:sp>
      <p:sp>
        <p:nvSpPr>
          <p:cNvPr id="20" name="Oval 19"/>
          <p:cNvSpPr/>
          <p:nvPr/>
        </p:nvSpPr>
        <p:spPr>
          <a:xfrm>
            <a:off x="3831336" y="2537452"/>
            <a:ext cx="109728" cy="109728"/>
          </a:xfrm>
          <a:prstGeom prst="ellipse">
            <a:avLst/>
          </a:prstGeom>
          <a:solidFill>
            <a:srgbClr val="C8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14215" y="2510020"/>
            <a:ext cx="1920240" cy="146304"/>
          </a:xfrm>
          <a:prstGeom prst="rect">
            <a:avLst/>
          </a:prstGeom>
          <a:noFill/>
        </p:spPr>
        <p:txBody>
          <a:bodyPr wrap="square" lIns="0" rIns="0" tIns="0" bIns="0">
            <a:spAutoFit/>
          </a:bodyPr>
          <a:lstStyle/>
          <a:p>
            <a:pPr algn="l"/>
            <a:r>
              <a:rPr sz="700" b="1" i="0">
                <a:solidFill>
                  <a:srgbClr val="C83E3E"/>
                </a:solidFill>
                <a:latin typeface="Arial"/>
              </a:rPr>
              <a:t>CG — 25% chord = 56 mm aft of LE</a:t>
            </a:r>
          </a:p>
        </p:txBody>
      </p:sp>
      <p:cxnSp>
        <p:nvCxnSpPr>
          <p:cNvPr id="22" name="Connector 21"/>
          <p:cNvCxnSpPr/>
          <p:nvPr/>
        </p:nvCxnSpPr>
        <p:spPr>
          <a:xfrm>
            <a:off x="1645942" y="2237225"/>
            <a:ext cx="4480515" cy="0"/>
          </a:xfrm>
          <a:prstGeom prst="line">
            <a:avLst/>
          </a:prstGeom>
          <a:ln w="12700">
            <a:solidFill>
              <a:srgbClr val="246BCE"/>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46120" y="2063489"/>
            <a:ext cx="1280160" cy="137160"/>
          </a:xfrm>
          <a:prstGeom prst="rect">
            <a:avLst/>
          </a:prstGeom>
          <a:noFill/>
        </p:spPr>
        <p:txBody>
          <a:bodyPr wrap="square" lIns="0" rIns="0" tIns="0" bIns="0">
            <a:spAutoFit/>
          </a:bodyPr>
          <a:lstStyle/>
          <a:p>
            <a:pPr algn="ctr"/>
            <a:r>
              <a:rPr sz="800" b="1" i="0">
                <a:solidFill>
                  <a:srgbClr val="246BCE"/>
                </a:solidFill>
                <a:latin typeface="Arial"/>
              </a:rPr>
              <a:t>span 1470</a:t>
            </a:r>
          </a:p>
        </p:txBody>
      </p:sp>
      <p:cxnSp>
        <p:nvCxnSpPr>
          <p:cNvPr id="24" name="Connector 23"/>
          <p:cNvCxnSpPr/>
          <p:nvPr/>
        </p:nvCxnSpPr>
        <p:spPr>
          <a:xfrm>
            <a:off x="6364201" y="2420105"/>
            <a:ext cx="0" cy="688842"/>
          </a:xfrm>
          <a:prstGeom prst="line">
            <a:avLst/>
          </a:prstGeom>
          <a:ln w="12700">
            <a:solidFill>
              <a:srgbClr val="246BCE"/>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126457" y="2420105"/>
            <a:ext cx="301752" cy="0"/>
          </a:xfrm>
          <a:prstGeom prst="line">
            <a:avLst/>
          </a:prstGeom>
          <a:ln w="6350">
            <a:solidFill>
              <a:srgbClr val="5F687D"/>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126457" y="3108947"/>
            <a:ext cx="301752" cy="0"/>
          </a:xfrm>
          <a:prstGeom prst="line">
            <a:avLst/>
          </a:prstGeom>
          <a:ln w="6350">
            <a:solidFill>
              <a:srgbClr val="5F687D"/>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28209" y="2691374"/>
            <a:ext cx="914400" cy="137160"/>
          </a:xfrm>
          <a:prstGeom prst="rect">
            <a:avLst/>
          </a:prstGeom>
          <a:noFill/>
        </p:spPr>
        <p:txBody>
          <a:bodyPr wrap="square" lIns="0" rIns="0" tIns="0" bIns="0">
            <a:spAutoFit/>
          </a:bodyPr>
          <a:lstStyle/>
          <a:p>
            <a:pPr algn="l"/>
            <a:r>
              <a:rPr sz="800" b="1" i="0">
                <a:solidFill>
                  <a:srgbClr val="246BCE"/>
                </a:solidFill>
                <a:latin typeface="Arial"/>
              </a:rPr>
              <a:t>chord 226</a:t>
            </a:r>
          </a:p>
        </p:txBody>
      </p:sp>
      <p:cxnSp>
        <p:nvCxnSpPr>
          <p:cNvPr id="28" name="Connector 27"/>
          <p:cNvCxnSpPr/>
          <p:nvPr/>
        </p:nvCxnSpPr>
        <p:spPr>
          <a:xfrm>
            <a:off x="1353334" y="2592316"/>
            <a:ext cx="0" cy="2415516"/>
          </a:xfrm>
          <a:prstGeom prst="line">
            <a:avLst/>
          </a:prstGeom>
          <a:ln w="12700">
            <a:solidFill>
              <a:srgbClr val="2F8F5B"/>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289326" y="2592316"/>
            <a:ext cx="2542010" cy="0"/>
          </a:xfrm>
          <a:prstGeom prst="line">
            <a:avLst/>
          </a:prstGeom>
          <a:ln w="6350">
            <a:solidFill>
              <a:srgbClr val="5F687D"/>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89326" y="5007832"/>
            <a:ext cx="1880601" cy="0"/>
          </a:xfrm>
          <a:prstGeom prst="line">
            <a:avLst/>
          </a:prstGeom>
          <a:ln w="6350">
            <a:solidFill>
              <a:srgbClr val="5F687D"/>
            </a:solidFill>
            <a:prstDash val="dash"/>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21814" y="3726922"/>
            <a:ext cx="676656" cy="274320"/>
          </a:xfrm>
          <a:prstGeom prst="rect">
            <a:avLst/>
          </a:prstGeom>
          <a:noFill/>
        </p:spPr>
        <p:txBody>
          <a:bodyPr wrap="square" lIns="0" rIns="0" tIns="0" bIns="0">
            <a:spAutoFit/>
          </a:bodyPr>
          <a:lstStyle/>
          <a:p>
            <a:pPr algn="r"/>
            <a:r>
              <a:rPr sz="800" b="1" i="0">
                <a:solidFill>
                  <a:srgbClr val="2F8F5B"/>
                </a:solidFill>
                <a:latin typeface="Arial"/>
              </a:rPr>
              <a:t>tail arm 650</a:t>
            </a:r>
          </a:p>
        </p:txBody>
      </p:sp>
      <p:cxnSp>
        <p:nvCxnSpPr>
          <p:cNvPr id="32" name="Connector 31"/>
          <p:cNvCxnSpPr/>
          <p:nvPr/>
        </p:nvCxnSpPr>
        <p:spPr>
          <a:xfrm>
            <a:off x="3169927" y="5444454"/>
            <a:ext cx="1432545" cy="0"/>
          </a:xfrm>
          <a:prstGeom prst="line">
            <a:avLst/>
          </a:prstGeom>
          <a:ln w="12700">
            <a:solidFill>
              <a:srgbClr val="2F8F5B"/>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246120" y="5476458"/>
            <a:ext cx="1280160" cy="137160"/>
          </a:xfrm>
          <a:prstGeom prst="rect">
            <a:avLst/>
          </a:prstGeom>
          <a:noFill/>
        </p:spPr>
        <p:txBody>
          <a:bodyPr wrap="square" lIns="0" rIns="0" tIns="0" bIns="0">
            <a:spAutoFit/>
          </a:bodyPr>
          <a:lstStyle/>
          <a:p>
            <a:pPr algn="ctr"/>
            <a:r>
              <a:rPr sz="800" b="1" i="0">
                <a:solidFill>
                  <a:srgbClr val="2F8F5B"/>
                </a:solidFill>
                <a:latin typeface="Arial"/>
              </a:rPr>
              <a:t>tail span 470</a:t>
            </a:r>
          </a:p>
        </p:txBody>
      </p:sp>
      <p:sp>
        <p:nvSpPr>
          <p:cNvPr id="34" name="Rounded Rectangle 33"/>
          <p:cNvSpPr/>
          <p:nvPr/>
        </p:nvSpPr>
        <p:spPr>
          <a:xfrm>
            <a:off x="347472" y="6053328"/>
            <a:ext cx="3474720" cy="192024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6163056"/>
            <a:ext cx="3108960" cy="146304"/>
          </a:xfrm>
          <a:prstGeom prst="rect">
            <a:avLst/>
          </a:prstGeom>
          <a:noFill/>
        </p:spPr>
        <p:txBody>
          <a:bodyPr wrap="square" lIns="0" rIns="0" tIns="0" bIns="0">
            <a:spAutoFit/>
          </a:bodyPr>
          <a:lstStyle/>
          <a:p>
            <a:pPr algn="l"/>
            <a:r>
              <a:rPr sz="800" b="1" i="0">
                <a:solidFill>
                  <a:srgbClr val="5F687D"/>
                </a:solidFill>
                <a:latin typeface="Arial"/>
              </a:rPr>
              <a:t>SIDE VIEW — fin 240 tall, 125 chord</a:t>
            </a:r>
          </a:p>
        </p:txBody>
      </p:sp>
      <p:sp>
        <p:nvSpPr>
          <p:cNvPr id="36" name="Freeform 35"/>
          <p:cNvSpPr/>
          <p:nvPr/>
        </p:nvSpPr>
        <p:spPr>
          <a:xfrm>
            <a:off x="640080" y="7232904"/>
            <a:ext cx="2926080" cy="256032"/>
          </a:xfrm>
          <a:custGeom>
            <a:avLst/>
            <a:gdLst/>
            <a:ahLst/>
            <a:cxnLst/>
            <a:rect l="l" t="t" r="r" b="b"/>
            <a:pathLst>
              <a:path w="2926080" h="256032">
                <a:moveTo>
                  <a:pt x="0" y="73152"/>
                </a:moveTo>
                <a:lnTo>
                  <a:pt x="2926080" y="0"/>
                </a:lnTo>
                <a:lnTo>
                  <a:pt x="2926080" y="182880"/>
                </a:lnTo>
                <a:lnTo>
                  <a:pt x="228600" y="256032"/>
                </a:lnTo>
                <a:close/>
              </a:path>
            </a:pathLst>
          </a:custGeom>
          <a:solidFill>
            <a:srgbClr val="F7F9FC"/>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1225295" y="7087624"/>
            <a:ext cx="1454847" cy="242959"/>
          </a:xfrm>
          <a:custGeom>
            <a:avLst/>
            <a:gdLst/>
            <a:ahLst/>
            <a:cxnLst/>
            <a:rect l="l" t="t" r="r" b="b"/>
            <a:pathLst>
              <a:path w="1454847" h="242959">
                <a:moveTo>
                  <a:pt x="0" y="181856"/>
                </a:moveTo>
                <a:lnTo>
                  <a:pt x="21823" y="119297"/>
                </a:lnTo>
                <a:lnTo>
                  <a:pt x="58194" y="91655"/>
                </a:lnTo>
                <a:lnTo>
                  <a:pt x="116388" y="62558"/>
                </a:lnTo>
                <a:lnTo>
                  <a:pt x="218228" y="32006"/>
                </a:lnTo>
                <a:lnTo>
                  <a:pt x="363712" y="5819"/>
                </a:lnTo>
                <a:lnTo>
                  <a:pt x="436455" y="0"/>
                </a:lnTo>
                <a:lnTo>
                  <a:pt x="581939" y="5819"/>
                </a:lnTo>
                <a:lnTo>
                  <a:pt x="727424" y="21822"/>
                </a:lnTo>
                <a:lnTo>
                  <a:pt x="872909" y="46555"/>
                </a:lnTo>
                <a:lnTo>
                  <a:pt x="1018393" y="77107"/>
                </a:lnTo>
                <a:lnTo>
                  <a:pt x="1163878" y="110568"/>
                </a:lnTo>
                <a:lnTo>
                  <a:pt x="1309363" y="144029"/>
                </a:lnTo>
                <a:lnTo>
                  <a:pt x="1454847" y="178946"/>
                </a:lnTo>
                <a:lnTo>
                  <a:pt x="1454847" y="181856"/>
                </a:lnTo>
                <a:lnTo>
                  <a:pt x="1309363" y="186220"/>
                </a:lnTo>
                <a:lnTo>
                  <a:pt x="1163878" y="192039"/>
                </a:lnTo>
                <a:lnTo>
                  <a:pt x="1018393" y="199314"/>
                </a:lnTo>
                <a:lnTo>
                  <a:pt x="872909" y="208043"/>
                </a:lnTo>
                <a:lnTo>
                  <a:pt x="727424" y="216772"/>
                </a:lnTo>
                <a:lnTo>
                  <a:pt x="581939" y="225501"/>
                </a:lnTo>
                <a:lnTo>
                  <a:pt x="436455" y="234230"/>
                </a:lnTo>
                <a:lnTo>
                  <a:pt x="363712" y="237140"/>
                </a:lnTo>
                <a:lnTo>
                  <a:pt x="218228" y="242959"/>
                </a:lnTo>
                <a:lnTo>
                  <a:pt x="116388" y="241504"/>
                </a:lnTo>
                <a:lnTo>
                  <a:pt x="58194" y="234230"/>
                </a:lnTo>
                <a:lnTo>
                  <a:pt x="21823" y="222591"/>
                </a:lnTo>
                <a:close/>
              </a:path>
            </a:pathLst>
          </a:custGeom>
          <a:solidFill>
            <a:srgbClr val="EDF4FF"/>
          </a:solidFill>
          <a:ln w="1270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3200400" y="6539788"/>
            <a:ext cx="365760" cy="702260"/>
          </a:xfrm>
          <a:custGeom>
            <a:avLst/>
            <a:gdLst/>
            <a:ahLst/>
            <a:cxnLst/>
            <a:rect l="l" t="t" r="r" b="b"/>
            <a:pathLst>
              <a:path w="365760" h="702260">
                <a:moveTo>
                  <a:pt x="0" y="702260"/>
                </a:moveTo>
                <a:lnTo>
                  <a:pt x="175564" y="0"/>
                </a:lnTo>
                <a:lnTo>
                  <a:pt x="365760" y="0"/>
                </a:lnTo>
                <a:lnTo>
                  <a:pt x="365760" y="702260"/>
                </a:lnTo>
                <a:close/>
              </a:path>
            </a:pathLst>
          </a:custGeom>
          <a:solidFill>
            <a:srgbClr val="ECF7F0"/>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335024" y="7507224"/>
            <a:ext cx="182880" cy="182880"/>
          </a:xfrm>
          <a:prstGeom prst="ellipse">
            <a:avLst/>
          </a:prstGeom>
          <a:solidFill>
            <a:srgbClr val="FFFF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3712464" y="6539788"/>
            <a:ext cx="0" cy="702260"/>
          </a:xfrm>
          <a:prstGeom prst="line">
            <a:avLst/>
          </a:prstGeom>
          <a:ln w="12700">
            <a:solidFill>
              <a:srgbClr val="2F8F5B"/>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3776472" y="6858000"/>
            <a:ext cx="457200" cy="128016"/>
          </a:xfrm>
          <a:prstGeom prst="rect">
            <a:avLst/>
          </a:prstGeom>
          <a:noFill/>
        </p:spPr>
        <p:txBody>
          <a:bodyPr wrap="square" lIns="0" rIns="0" tIns="0" bIns="0">
            <a:spAutoFit/>
          </a:bodyPr>
          <a:lstStyle/>
          <a:p>
            <a:pPr algn="l"/>
            <a:r>
              <a:rPr sz="750" b="1" i="0">
                <a:solidFill>
                  <a:srgbClr val="2F8F5B"/>
                </a:solidFill>
                <a:latin typeface="Arial"/>
              </a:rPr>
              <a:t>240</a:t>
            </a:r>
          </a:p>
        </p:txBody>
      </p:sp>
      <p:sp>
        <p:nvSpPr>
          <p:cNvPr id="42" name="Rounded Rectangle 41"/>
          <p:cNvSpPr/>
          <p:nvPr/>
        </p:nvSpPr>
        <p:spPr>
          <a:xfrm>
            <a:off x="3950208" y="6053328"/>
            <a:ext cx="3474720" cy="192024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05656" y="6163056"/>
            <a:ext cx="3108960" cy="146304"/>
          </a:xfrm>
          <a:prstGeom prst="rect">
            <a:avLst/>
          </a:prstGeom>
          <a:noFill/>
        </p:spPr>
        <p:txBody>
          <a:bodyPr wrap="square" lIns="0" rIns="0" tIns="0" bIns="0">
            <a:spAutoFit/>
          </a:bodyPr>
          <a:lstStyle/>
          <a:p>
            <a:pPr algn="l"/>
            <a:r>
              <a:rPr sz="800" b="1" i="0">
                <a:solidFill>
                  <a:srgbClr val="5F687D"/>
                </a:solidFill>
                <a:latin typeface="Arial"/>
              </a:rPr>
              <a:t>FRONT VIEW — dihedral ≈ 3° per panel</a:t>
            </a:r>
          </a:p>
        </p:txBody>
      </p:sp>
      <p:sp>
        <p:nvSpPr>
          <p:cNvPr id="45" name="Oval 44"/>
          <p:cNvSpPr/>
          <p:nvPr/>
        </p:nvSpPr>
        <p:spPr>
          <a:xfrm>
            <a:off x="5586983" y="7287768"/>
            <a:ext cx="201168" cy="201168"/>
          </a:xfrm>
          <a:prstGeom prst="ellipse">
            <a:avLst/>
          </a:prstGeom>
          <a:solidFill>
            <a:srgbClr val="F7F9FC"/>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5669280" y="6812280"/>
            <a:ext cx="82296" cy="457200"/>
          </a:xfrm>
          <a:custGeom>
            <a:avLst/>
            <a:gdLst/>
            <a:ahLst/>
            <a:cxnLst/>
            <a:rect l="l" t="t" r="r" b="b"/>
            <a:pathLst>
              <a:path w="82296" h="457200">
                <a:moveTo>
                  <a:pt x="0" y="457200"/>
                </a:moveTo>
                <a:lnTo>
                  <a:pt x="0" y="0"/>
                </a:lnTo>
                <a:lnTo>
                  <a:pt x="82296" y="457200"/>
                </a:lnTo>
                <a:close/>
              </a:path>
            </a:pathLst>
          </a:custGeom>
          <a:solidFill>
            <a:srgbClr val="ECF7F0"/>
          </a:solidFill>
          <a:ln w="1270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4498848" y="7845552"/>
            <a:ext cx="1078992" cy="0"/>
          </a:xfrm>
          <a:prstGeom prst="line">
            <a:avLst/>
          </a:prstGeom>
          <a:ln w="12700">
            <a:solidFill>
              <a:srgbClr val="20263A"/>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797296" y="7845552"/>
            <a:ext cx="1078992" cy="0"/>
          </a:xfrm>
          <a:prstGeom prst="line">
            <a:avLst/>
          </a:prstGeom>
          <a:ln w="1270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190488" y="7562088"/>
            <a:ext cx="1463040" cy="256032"/>
          </a:xfrm>
          <a:prstGeom prst="rect">
            <a:avLst/>
          </a:prstGeom>
          <a:noFill/>
        </p:spPr>
        <p:txBody>
          <a:bodyPr wrap="square" lIns="0" rIns="0" tIns="0" bIns="0">
            <a:spAutoFit/>
          </a:bodyPr>
          <a:lstStyle/>
          <a:p>
            <a:pPr algn="l"/>
            <a:r>
              <a:rPr sz="650" b="0" i="0">
                <a:solidFill>
                  <a:srgbClr val="5F687D"/>
                </a:solidFill>
                <a:latin typeface="Arial"/>
              </a:rPr>
              <a:t>tips ride ≈ 40 mm above the roots</a:t>
            </a:r>
          </a:p>
        </p:txBody>
      </p:sp>
      <p:sp>
        <p:nvSpPr>
          <p:cNvPr id="51" name="Rounded Rectangle 50"/>
          <p:cNvSpPr/>
          <p:nvPr/>
        </p:nvSpPr>
        <p:spPr>
          <a:xfrm>
            <a:off x="347472" y="8156448"/>
            <a:ext cx="7077456" cy="566928"/>
          </a:xfrm>
          <a:prstGeom prst="roundRect">
            <a:avLst>
              <a:gd name="adj" fmla="val 10000"/>
            </a:avLst>
          </a:prstGeom>
          <a:solidFill>
            <a:srgbClr val="FDF6E3"/>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66344" y="8293608"/>
            <a:ext cx="292608" cy="292608"/>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66344" y="8343900"/>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54" name="TextBox 53"/>
          <p:cNvSpPr txBox="1"/>
          <p:nvPr/>
        </p:nvSpPr>
        <p:spPr>
          <a:xfrm>
            <a:off x="859536" y="8247888"/>
            <a:ext cx="914400" cy="146304"/>
          </a:xfrm>
          <a:prstGeom prst="rect">
            <a:avLst/>
          </a:prstGeom>
          <a:noFill/>
        </p:spPr>
        <p:txBody>
          <a:bodyPr wrap="square" lIns="0" rIns="0" tIns="0" bIns="0">
            <a:spAutoFit/>
          </a:bodyPr>
          <a:lstStyle/>
          <a:p>
            <a:pPr algn="l"/>
            <a:r>
              <a:rPr sz="800" b="1" i="0">
                <a:solidFill>
                  <a:srgbClr val="20263A"/>
                </a:solidFill>
                <a:latin typeface="Arial"/>
              </a:rPr>
              <a:t>YOUR TURN</a:t>
            </a:r>
          </a:p>
        </p:txBody>
      </p:sp>
      <p:sp>
        <p:nvSpPr>
          <p:cNvPr id="55" name="TextBox 54"/>
          <p:cNvSpPr txBox="1"/>
          <p:nvPr/>
        </p:nvSpPr>
        <p:spPr>
          <a:xfrm>
            <a:off x="859536" y="8403336"/>
            <a:ext cx="6391656" cy="237744"/>
          </a:xfrm>
          <a:prstGeom prst="rect">
            <a:avLst/>
          </a:prstGeom>
          <a:noFill/>
        </p:spPr>
        <p:txBody>
          <a:bodyPr wrap="square" lIns="0" rIns="0" tIns="0" bIns="0">
            <a:spAutoFit/>
          </a:bodyPr>
          <a:lstStyle/>
          <a:p>
            <a:pPr algn="l"/>
            <a:r>
              <a:rPr sz="850" b="0" i="0">
                <a:solidFill>
                  <a:srgbClr val="20263A"/>
                </a:solidFill>
                <a:latin typeface="Arial"/>
              </a:rPr>
              <a:t>Redraw this three-view at 1:5 on paper, adding the rudder outline (35–40% of fin chord). Does the finished aircraft fit your building board and your car?</a:t>
            </a:r>
          </a:p>
        </p:txBody>
      </p:sp>
      <p:sp>
        <p:nvSpPr>
          <p:cNvPr id="56" name="TextBox 55"/>
          <p:cNvSpPr txBox="1"/>
          <p:nvPr/>
        </p:nvSpPr>
        <p:spPr>
          <a:xfrm>
            <a:off x="347472" y="8860536"/>
            <a:ext cx="6510528" cy="137160"/>
          </a:xfrm>
          <a:prstGeom prst="rect">
            <a:avLst/>
          </a:prstGeom>
          <a:noFill/>
        </p:spPr>
        <p:txBody>
          <a:bodyPr wrap="square" lIns="0" rIns="0" tIns="0" bIns="0">
            <a:spAutoFit/>
          </a:bodyPr>
          <a:lstStyle/>
          <a:p>
            <a:pPr algn="l"/>
            <a:r>
              <a:rPr sz="650" b="0" i="0">
                <a:solidFill>
                  <a:srgbClr val="5F687D"/>
                </a:solidFill>
                <a:latin typeface="Arial"/>
              </a:rPr>
              <a:t>Geometry from steps 1–4: 1500 g, 33.3 dm², AR 6.5, Vₕ = 0.55, Vᵥ = 0.04, tail arm 650 mm. Scales differ per view.</a:t>
            </a:r>
          </a:p>
        </p:txBody>
      </p:sp>
      <p:sp>
        <p:nvSpPr>
          <p:cNvPr id="57" name="TextBox 56"/>
          <p:cNvSpPr txBox="1"/>
          <p:nvPr/>
        </p:nvSpPr>
        <p:spPr>
          <a:xfrm>
            <a:off x="7168896" y="8860536"/>
            <a:ext cx="320040" cy="146304"/>
          </a:xfrm>
          <a:prstGeom prst="rect">
            <a:avLst/>
          </a:prstGeom>
          <a:noFill/>
        </p:spPr>
        <p:txBody>
          <a:bodyPr wrap="square" lIns="0" rIns="0" tIns="0" bIns="0">
            <a:spAutoFit/>
          </a:bodyPr>
          <a:lstStyle/>
          <a:p>
            <a:pPr algn="r"/>
            <a:r>
              <a:rPr sz="700" b="0" i="0">
                <a:solidFill>
                  <a:srgbClr val="5F687D"/>
                </a:solidFill>
                <a:latin typeface="Arial"/>
              </a:rPr>
              <a:t>27</a:t>
            </a:r>
          </a:p>
        </p:txBody>
      </p:sp>
      <p:sp>
        <p:nvSpPr>
          <p:cNvPr id="44" name="Freeform 43"/>
          <p:cNvSpPr/>
          <p:nvPr/>
        </p:nvSpPr>
        <p:spPr>
          <a:xfrm>
            <a:off x="4206240" y="7141464"/>
            <a:ext cx="2962656" cy="182880"/>
          </a:xfrm>
          <a:custGeom>
            <a:avLst/>
            <a:gdLst/>
            <a:ahLst/>
            <a:cxnLst/>
            <a:rect l="l" t="t" r="r" b="b"/>
            <a:pathLst>
              <a:path w="2962656" h="182880">
                <a:moveTo>
                  <a:pt x="0" y="0"/>
                </a:moveTo>
                <a:lnTo>
                  <a:pt x="1481328" y="128016"/>
                </a:lnTo>
                <a:lnTo>
                  <a:pt x="2962656" y="0"/>
                </a:lnTo>
                <a:lnTo>
                  <a:pt x="2962656" y="54864"/>
                </a:lnTo>
                <a:lnTo>
                  <a:pt x="1481328" y="182880"/>
                </a:lnTo>
                <a:lnTo>
                  <a:pt x="0" y="54864"/>
                </a:lnTo>
                <a:close/>
              </a:path>
            </a:pathLst>
          </a:custGeom>
          <a:solidFill>
            <a:srgbClr val="EDF4FF"/>
          </a:solidFill>
          <a:ln w="15875">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4206240" y="7223760"/>
            <a:ext cx="0" cy="621792"/>
          </a:xfrm>
          <a:prstGeom prst="line">
            <a:avLst/>
          </a:prstGeom>
          <a:ln w="6350">
            <a:solidFill>
              <a:srgbClr val="5F687D"/>
            </a:solidFill>
            <a:prstDash val="dash"/>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262872"/>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94360"/>
            <a:ext cx="6217920" cy="228600"/>
          </a:xfrm>
          <a:prstGeom prst="rect">
            <a:avLst/>
          </a:prstGeom>
          <a:noFill/>
        </p:spPr>
        <p:txBody>
          <a:bodyPr wrap="square" lIns="0" rIns="0" tIns="0" bIns="0" anchor="t">
            <a:spAutoFit/>
          </a:bodyPr>
          <a:lstStyle/>
          <a:p>
            <a:pPr algn="l">
              <a:lnSpc>
                <a:spcPct val="100000"/>
              </a:lnSpc>
            </a:pPr>
            <a:r>
              <a:rPr sz="900" b="1" i="0">
                <a:solidFill>
                  <a:srgbClr val="246BCE"/>
                </a:solidFill>
                <a:latin typeface="Arial"/>
              </a:rPr>
              <a:t>R/C DESIGN &amp; BUILD MANUAL</a:t>
            </a:r>
          </a:p>
        </p:txBody>
      </p:sp>
      <p:sp>
        <p:nvSpPr>
          <p:cNvPr id="5" name="TextBox 4"/>
          <p:cNvSpPr txBox="1"/>
          <p:nvPr/>
        </p:nvSpPr>
        <p:spPr>
          <a:xfrm>
            <a:off x="502920" y="1298448"/>
            <a:ext cx="1280160" cy="1097280"/>
          </a:xfrm>
          <a:prstGeom prst="rect">
            <a:avLst/>
          </a:prstGeom>
          <a:noFill/>
        </p:spPr>
        <p:txBody>
          <a:bodyPr wrap="square" lIns="0" rIns="0" tIns="0" bIns="0" anchor="t">
            <a:spAutoFit/>
          </a:bodyPr>
          <a:lstStyle/>
          <a:p>
            <a:pPr algn="l">
              <a:lnSpc>
                <a:spcPct val="100000"/>
              </a:lnSpc>
            </a:pPr>
            <a:r>
              <a:rPr sz="6800" b="1" i="0">
                <a:solidFill>
                  <a:srgbClr val="246BCE"/>
                </a:solidFill>
                <a:latin typeface="Arial"/>
              </a:rPr>
              <a:t>02</a:t>
            </a:r>
          </a:p>
        </p:txBody>
      </p:sp>
      <p:sp>
        <p:nvSpPr>
          <p:cNvPr id="6" name="TextBox 5"/>
          <p:cNvSpPr txBox="1"/>
          <p:nvPr/>
        </p:nvSpPr>
        <p:spPr>
          <a:xfrm>
            <a:off x="502920" y="2743200"/>
            <a:ext cx="6583680" cy="1188720"/>
          </a:xfrm>
          <a:prstGeom prst="rect">
            <a:avLst/>
          </a:prstGeom>
          <a:noFill/>
        </p:spPr>
        <p:txBody>
          <a:bodyPr wrap="square" lIns="0" rIns="0" tIns="0" bIns="0" anchor="t">
            <a:spAutoFit/>
          </a:bodyPr>
          <a:lstStyle/>
          <a:p>
            <a:pPr algn="l">
              <a:lnSpc>
                <a:spcPct val="100000"/>
              </a:lnSpc>
            </a:pPr>
            <a:r>
              <a:rPr sz="3300" b="1" i="0">
                <a:solidFill>
                  <a:srgbClr val="FFFFFF"/>
                </a:solidFill>
                <a:latin typeface="Arial"/>
              </a:rPr>
              <a:t>Understand airfoils</a:t>
            </a:r>
          </a:p>
        </p:txBody>
      </p:sp>
      <p:sp>
        <p:nvSpPr>
          <p:cNvPr id="7" name="TextBox 6"/>
          <p:cNvSpPr txBox="1"/>
          <p:nvPr/>
        </p:nvSpPr>
        <p:spPr>
          <a:xfrm>
            <a:off x="502920" y="4069080"/>
            <a:ext cx="6309360" cy="960120"/>
          </a:xfrm>
          <a:prstGeom prst="rect">
            <a:avLst/>
          </a:prstGeom>
          <a:noFill/>
        </p:spPr>
        <p:txBody>
          <a:bodyPr wrap="square" lIns="0" rIns="0" tIns="0" bIns="0" anchor="t">
            <a:spAutoFit/>
          </a:bodyPr>
          <a:lstStyle/>
          <a:p>
            <a:pPr algn="l">
              <a:lnSpc>
                <a:spcPct val="100000"/>
              </a:lnSpc>
            </a:pPr>
            <a:r>
              <a:rPr sz="1600" b="0" i="0">
                <a:solidFill>
                  <a:srgbClr val="CFD8EC"/>
                </a:solidFill>
                <a:latin typeface="Arial"/>
              </a:rPr>
              <a:t>The wing section shapes the pressure field, lift range, drag, stall behavior, construction method, and usable speed range.</a:t>
            </a:r>
          </a:p>
        </p:txBody>
      </p:sp>
      <p:sp>
        <p:nvSpPr>
          <p:cNvPr id="11" name="TextBox 10"/>
          <p:cNvSpPr txBox="1"/>
          <p:nvPr/>
        </p:nvSpPr>
        <p:spPr>
          <a:xfrm>
            <a:off x="502920" y="8430768"/>
            <a:ext cx="6400800" cy="256032"/>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Think → calculate → build straight → test carefully → improve one change at a time.</a:t>
            </a:r>
          </a:p>
        </p:txBody>
      </p:sp>
      <p:sp>
        <p:nvSpPr>
          <p:cNvPr id="12" name="TextBox 11"/>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28</a:t>
            </a:r>
          </a:p>
        </p:txBody>
      </p:sp>
      <p:sp>
        <p:nvSpPr>
          <p:cNvPr id="8" name="Freeform 7"/>
          <p:cNvSpPr/>
          <p:nvPr/>
        </p:nvSpPr>
        <p:spPr>
          <a:xfrm>
            <a:off x="3794760" y="5760720"/>
            <a:ext cx="182879" cy="2212848"/>
          </a:xfrm>
          <a:custGeom>
            <a:avLst/>
            <a:gdLst/>
            <a:ahLst/>
            <a:cxnLst/>
            <a:rect l="l" t="t" r="r" b="b"/>
            <a:pathLst>
              <a:path w="182879" h="2212848">
                <a:moveTo>
                  <a:pt x="27431" y="109728"/>
                </a:moveTo>
                <a:lnTo>
                  <a:pt x="91440" y="0"/>
                </a:lnTo>
                <a:lnTo>
                  <a:pt x="155448" y="109728"/>
                </a:lnTo>
                <a:lnTo>
                  <a:pt x="182879" y="2212848"/>
                </a:lnTo>
                <a:lnTo>
                  <a:pt x="0" y="2212848"/>
                </a:lnTo>
                <a:close/>
              </a:path>
            </a:pathLst>
          </a:custGeom>
          <a:solidFill>
            <a:srgbClr val="F7F9FC"/>
          </a:solidFill>
          <a:ln w="2222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3383280" y="5760720"/>
            <a:ext cx="1005840" cy="0"/>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965960" y="6382512"/>
            <a:ext cx="3840480" cy="694944"/>
          </a:xfrm>
          <a:prstGeom prst="rect">
            <a:avLst/>
          </a:prstGeom>
          <a:solidFill>
            <a:srgbClr val="EDF4FF"/>
          </a:solidFill>
          <a:ln w="22225">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965960" y="6945416"/>
            <a:ext cx="883310" cy="132040"/>
          </a:xfrm>
          <a:custGeom>
            <a:avLst/>
            <a:gdLst/>
            <a:ahLst/>
            <a:cxnLst/>
            <a:rect l="l" t="t" r="r" b="b"/>
            <a:pathLst>
              <a:path w="883310" h="132040">
                <a:moveTo>
                  <a:pt x="0" y="0"/>
                </a:moveTo>
                <a:lnTo>
                  <a:pt x="883310" y="0"/>
                </a:lnTo>
                <a:lnTo>
                  <a:pt x="883310" y="132040"/>
                </a:lnTo>
                <a:lnTo>
                  <a:pt x="0" y="132040"/>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923129" y="6945416"/>
            <a:ext cx="883311" cy="132040"/>
          </a:xfrm>
          <a:custGeom>
            <a:avLst/>
            <a:gdLst/>
            <a:ahLst/>
            <a:cxnLst/>
            <a:rect l="l" t="t" r="r" b="b"/>
            <a:pathLst>
              <a:path w="883311" h="132040">
                <a:moveTo>
                  <a:pt x="0" y="0"/>
                </a:moveTo>
                <a:lnTo>
                  <a:pt x="883311" y="0"/>
                </a:lnTo>
                <a:lnTo>
                  <a:pt x="883311" y="132040"/>
                </a:lnTo>
                <a:lnTo>
                  <a:pt x="0" y="132040"/>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77540" y="7626096"/>
            <a:ext cx="1417320" cy="347472"/>
          </a:xfrm>
          <a:prstGeom prst="rect">
            <a:avLst/>
          </a:prstGeom>
          <a:solidFill>
            <a:srgbClr val="ECF7F0"/>
          </a:solidFill>
          <a:ln w="2222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77540" y="7862376"/>
            <a:ext cx="1417320" cy="111191"/>
          </a:xfrm>
          <a:prstGeom prst="rect">
            <a:avLst/>
          </a:prstGeom>
          <a:solidFill>
            <a:srgbClr val="D4EEDD"/>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845052" y="7214616"/>
            <a:ext cx="82296" cy="440192"/>
          </a:xfrm>
          <a:custGeom>
            <a:avLst/>
            <a:gdLst/>
            <a:ahLst/>
            <a:cxnLst/>
            <a:rect l="l" t="t" r="r" b="b"/>
            <a:pathLst>
              <a:path w="82296" h="440192">
                <a:moveTo>
                  <a:pt x="22860" y="0"/>
                </a:moveTo>
                <a:lnTo>
                  <a:pt x="59435" y="0"/>
                </a:lnTo>
                <a:lnTo>
                  <a:pt x="82296" y="440192"/>
                </a:lnTo>
                <a:lnTo>
                  <a:pt x="0" y="440192"/>
                </a:lnTo>
                <a:close/>
              </a:path>
            </a:pathLst>
          </a:custGeom>
          <a:solidFill>
            <a:srgbClr val="ECF7F0"/>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831336" y="7654808"/>
            <a:ext cx="109727" cy="337048"/>
          </a:xfrm>
          <a:custGeom>
            <a:avLst/>
            <a:gdLst/>
            <a:ahLst/>
            <a:cxnLst/>
            <a:rect l="l" t="t" r="r" b="b"/>
            <a:pathLst>
              <a:path w="109727" h="337048">
                <a:moveTo>
                  <a:pt x="13716" y="0"/>
                </a:moveTo>
                <a:lnTo>
                  <a:pt x="96012" y="0"/>
                </a:lnTo>
                <a:lnTo>
                  <a:pt x="109727" y="337048"/>
                </a:lnTo>
                <a:lnTo>
                  <a:pt x="0" y="337048"/>
                </a:lnTo>
                <a:close/>
              </a:path>
            </a:pathLst>
          </a:custGeom>
          <a:solidFill>
            <a:srgbClr val="B7E0C6"/>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Box 2"/>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29</a:t>
            </a:r>
          </a:p>
        </p:txBody>
      </p:sp>
      <p:sp>
        <p:nvSpPr>
          <p:cNvPr id="4" name="Rectangle 3"/>
          <p:cNvSpPr/>
          <p:nvPr/>
        </p:nvSpPr>
        <p:spPr>
          <a:xfrm>
            <a:off x="0" y="0"/>
            <a:ext cx="7772400" cy="9262872"/>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7772400" cy="896112"/>
          </a:xfrm>
          <a:prstGeom prst="rect">
            <a:avLst/>
          </a:prstGeom>
          <a:solidFill>
            <a:srgbClr val="111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96112"/>
            <a:ext cx="7772400" cy="54864"/>
          </a:xfrm>
          <a:prstGeom prst="rect">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91440"/>
            <a:ext cx="4572000" cy="164592"/>
          </a:xfrm>
          <a:prstGeom prst="rect">
            <a:avLst/>
          </a:prstGeom>
          <a:noFill/>
        </p:spPr>
        <p:txBody>
          <a:bodyPr wrap="square" lIns="0" rIns="0" tIns="0" bIns="0">
            <a:spAutoFit/>
          </a:bodyPr>
          <a:lstStyle/>
          <a:p>
            <a:pPr algn="l"/>
            <a:r>
              <a:rPr sz="900" b="1" i="0">
                <a:solidFill>
                  <a:srgbClr val="CADCFC"/>
                </a:solidFill>
                <a:latin typeface="Arial"/>
              </a:rPr>
              <a:t>UNDERSTAND AIRFOILS</a:t>
            </a:r>
          </a:p>
        </p:txBody>
      </p:sp>
      <p:sp>
        <p:nvSpPr>
          <p:cNvPr id="8" name="TextBox 7"/>
          <p:cNvSpPr txBox="1"/>
          <p:nvPr/>
        </p:nvSpPr>
        <p:spPr>
          <a:xfrm>
            <a:off x="347472" y="246888"/>
            <a:ext cx="7086600" cy="365760"/>
          </a:xfrm>
          <a:prstGeom prst="rect">
            <a:avLst/>
          </a:prstGeom>
          <a:noFill/>
        </p:spPr>
        <p:txBody>
          <a:bodyPr wrap="square" lIns="0" rIns="0" tIns="0" bIns="0">
            <a:spAutoFit/>
          </a:bodyPr>
          <a:lstStyle/>
          <a:p>
            <a:pPr algn="l"/>
            <a:r>
              <a:rPr sz="1900" b="1" i="0">
                <a:solidFill>
                  <a:srgbClr val="FFFFFF"/>
                </a:solidFill>
                <a:latin typeface="Arial"/>
              </a:rPr>
              <a:t>How designers choose an airfoil</a:t>
            </a:r>
          </a:p>
        </p:txBody>
      </p:sp>
      <p:sp>
        <p:nvSpPr>
          <p:cNvPr id="9" name="TextBox 8"/>
          <p:cNvSpPr txBox="1"/>
          <p:nvPr/>
        </p:nvSpPr>
        <p:spPr>
          <a:xfrm>
            <a:off x="347472" y="621792"/>
            <a:ext cx="7040880" cy="182880"/>
          </a:xfrm>
          <a:prstGeom prst="rect">
            <a:avLst/>
          </a:prstGeom>
          <a:noFill/>
        </p:spPr>
        <p:txBody>
          <a:bodyPr wrap="square" lIns="0" rIns="0" tIns="0" bIns="0">
            <a:spAutoFit/>
          </a:bodyPr>
          <a:lstStyle/>
          <a:p>
            <a:pPr algn="l"/>
            <a:r>
              <a:rPr sz="950" b="0" i="0">
                <a:solidFill>
                  <a:srgbClr val="D8DDE8"/>
                </a:solidFill>
                <a:latin typeface="Arial"/>
              </a:rPr>
              <a:t>Nobody asks “which airfoil is best?” — they ask which airfoil fits the mission, the mass, and the Reynolds number.</a:t>
            </a:r>
          </a:p>
        </p:txBody>
      </p:sp>
      <p:sp>
        <p:nvSpPr>
          <p:cNvPr id="10" name="Rounded Rectangle 9"/>
          <p:cNvSpPr/>
          <p:nvPr/>
        </p:nvSpPr>
        <p:spPr>
          <a:xfrm>
            <a:off x="347472" y="1188720"/>
            <a:ext cx="3474720" cy="416052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7472" y="1188720"/>
            <a:ext cx="54864" cy="4160520"/>
          </a:xfrm>
          <a:prstGeom prst="rect">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353312"/>
            <a:ext cx="3108960" cy="219456"/>
          </a:xfrm>
          <a:prstGeom prst="rect">
            <a:avLst/>
          </a:prstGeom>
          <a:noFill/>
        </p:spPr>
        <p:txBody>
          <a:bodyPr wrap="square" lIns="0" rIns="0" tIns="0" bIns="0">
            <a:spAutoFit/>
          </a:bodyPr>
          <a:lstStyle/>
          <a:p>
            <a:pPr algn="l"/>
            <a:r>
              <a:rPr sz="1000" b="1" i="0">
                <a:solidFill>
                  <a:srgbClr val="20263A"/>
                </a:solidFill>
                <a:latin typeface="Arial"/>
              </a:rPr>
              <a:t>THE QUESTIONS DESIGNERS ASK</a:t>
            </a:r>
          </a:p>
        </p:txBody>
      </p:sp>
      <p:sp>
        <p:nvSpPr>
          <p:cNvPr id="13" name="Oval 12"/>
          <p:cNvSpPr/>
          <p:nvPr/>
        </p:nvSpPr>
        <p:spPr>
          <a:xfrm>
            <a:off x="566928" y="1700784"/>
            <a:ext cx="237744" cy="237744"/>
          </a:xfrm>
          <a:prstGeom prst="ellipse">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1741932"/>
            <a:ext cx="237744" cy="155448"/>
          </a:xfrm>
          <a:prstGeom prst="rect">
            <a:avLst/>
          </a:prstGeom>
          <a:noFill/>
        </p:spPr>
        <p:txBody>
          <a:bodyPr wrap="square" lIns="0" rIns="0" tIns="0" bIns="0">
            <a:spAutoFit/>
          </a:bodyPr>
          <a:lstStyle/>
          <a:p>
            <a:pPr algn="ctr"/>
            <a:r>
              <a:rPr sz="900" b="1" i="0">
                <a:solidFill>
                  <a:srgbClr val="FFFFFF"/>
                </a:solidFill>
                <a:latin typeface="Arial"/>
              </a:rPr>
              <a:t>1</a:t>
            </a:r>
          </a:p>
        </p:txBody>
      </p:sp>
      <p:sp>
        <p:nvSpPr>
          <p:cNvPr id="15" name="TextBox 14"/>
          <p:cNvSpPr txBox="1"/>
          <p:nvPr/>
        </p:nvSpPr>
        <p:spPr>
          <a:xfrm>
            <a:off x="914400" y="1691640"/>
            <a:ext cx="2788920" cy="164592"/>
          </a:xfrm>
          <a:prstGeom prst="rect">
            <a:avLst/>
          </a:prstGeom>
          <a:noFill/>
        </p:spPr>
        <p:txBody>
          <a:bodyPr wrap="square" lIns="0" rIns="0" tIns="0" bIns="0">
            <a:spAutoFit/>
          </a:bodyPr>
          <a:lstStyle/>
          <a:p>
            <a:pPr algn="l"/>
            <a:r>
              <a:rPr sz="900" b="1" i="0">
                <a:solidFill>
                  <a:srgbClr val="20263A"/>
                </a:solidFill>
                <a:latin typeface="Arial"/>
              </a:rPr>
              <a:t>How heavy is the airplane?</a:t>
            </a:r>
          </a:p>
        </p:txBody>
      </p:sp>
      <p:sp>
        <p:nvSpPr>
          <p:cNvPr id="16" name="TextBox 15"/>
          <p:cNvSpPr txBox="1"/>
          <p:nvPr/>
        </p:nvSpPr>
        <p:spPr>
          <a:xfrm>
            <a:off x="914400" y="1856232"/>
            <a:ext cx="2788920" cy="274320"/>
          </a:xfrm>
          <a:prstGeom prst="rect">
            <a:avLst/>
          </a:prstGeom>
          <a:noFill/>
        </p:spPr>
        <p:txBody>
          <a:bodyPr wrap="square" lIns="0" rIns="0" tIns="0" bIns="0">
            <a:spAutoFit/>
          </a:bodyPr>
          <a:lstStyle/>
          <a:p>
            <a:pPr algn="l"/>
            <a:r>
              <a:rPr sz="800" b="0" i="0">
                <a:solidFill>
                  <a:srgbClr val="5F687D"/>
                </a:solidFill>
                <a:latin typeface="Arial"/>
              </a:rPr>
              <a:t>Sets the lift the wing must make.</a:t>
            </a:r>
          </a:p>
        </p:txBody>
      </p:sp>
      <p:sp>
        <p:nvSpPr>
          <p:cNvPr id="17" name="Oval 16"/>
          <p:cNvSpPr/>
          <p:nvPr/>
        </p:nvSpPr>
        <p:spPr>
          <a:xfrm>
            <a:off x="566928" y="2290572"/>
            <a:ext cx="237744" cy="237744"/>
          </a:xfrm>
          <a:prstGeom prst="ellipse">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331720"/>
            <a:ext cx="237744" cy="155448"/>
          </a:xfrm>
          <a:prstGeom prst="rect">
            <a:avLst/>
          </a:prstGeom>
          <a:noFill/>
        </p:spPr>
        <p:txBody>
          <a:bodyPr wrap="square" lIns="0" rIns="0" tIns="0" bIns="0">
            <a:spAutoFit/>
          </a:bodyPr>
          <a:lstStyle/>
          <a:p>
            <a:pPr algn="ctr"/>
            <a:r>
              <a:rPr sz="900" b="1" i="0">
                <a:solidFill>
                  <a:srgbClr val="FFFFFF"/>
                </a:solidFill>
                <a:latin typeface="Arial"/>
              </a:rPr>
              <a:t>2</a:t>
            </a:r>
          </a:p>
        </p:txBody>
      </p:sp>
      <p:sp>
        <p:nvSpPr>
          <p:cNvPr id="19" name="TextBox 18"/>
          <p:cNvSpPr txBox="1"/>
          <p:nvPr/>
        </p:nvSpPr>
        <p:spPr>
          <a:xfrm>
            <a:off x="914400" y="2281428"/>
            <a:ext cx="2788920" cy="164592"/>
          </a:xfrm>
          <a:prstGeom prst="rect">
            <a:avLst/>
          </a:prstGeom>
          <a:noFill/>
        </p:spPr>
        <p:txBody>
          <a:bodyPr wrap="square" lIns="0" rIns="0" tIns="0" bIns="0">
            <a:spAutoFit/>
          </a:bodyPr>
          <a:lstStyle/>
          <a:p>
            <a:pPr algn="l"/>
            <a:r>
              <a:rPr sz="900" b="1" i="0">
                <a:solidFill>
                  <a:srgbClr val="20263A"/>
                </a:solidFill>
                <a:latin typeface="Arial"/>
              </a:rPr>
              <a:t>How fast should it cruise?</a:t>
            </a:r>
          </a:p>
        </p:txBody>
      </p:sp>
      <p:sp>
        <p:nvSpPr>
          <p:cNvPr id="20" name="TextBox 19"/>
          <p:cNvSpPr txBox="1"/>
          <p:nvPr/>
        </p:nvSpPr>
        <p:spPr>
          <a:xfrm>
            <a:off x="914400" y="2446020"/>
            <a:ext cx="2788920" cy="274320"/>
          </a:xfrm>
          <a:prstGeom prst="rect">
            <a:avLst/>
          </a:prstGeom>
          <a:noFill/>
        </p:spPr>
        <p:txBody>
          <a:bodyPr wrap="square" lIns="0" rIns="0" tIns="0" bIns="0">
            <a:spAutoFit/>
          </a:bodyPr>
          <a:lstStyle/>
          <a:p>
            <a:pPr algn="l"/>
            <a:r>
              <a:rPr sz="800" b="0" i="0">
                <a:solidFill>
                  <a:srgbClr val="5F687D"/>
                </a:solidFill>
                <a:latin typeface="Arial"/>
              </a:rPr>
              <a:t>Sets the working Cₗ and drag priorities.</a:t>
            </a:r>
          </a:p>
        </p:txBody>
      </p:sp>
      <p:sp>
        <p:nvSpPr>
          <p:cNvPr id="21" name="Oval 20"/>
          <p:cNvSpPr/>
          <p:nvPr/>
        </p:nvSpPr>
        <p:spPr>
          <a:xfrm>
            <a:off x="566928" y="2880360"/>
            <a:ext cx="237744" cy="237744"/>
          </a:xfrm>
          <a:prstGeom prst="ellipse">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921508"/>
            <a:ext cx="237744" cy="155448"/>
          </a:xfrm>
          <a:prstGeom prst="rect">
            <a:avLst/>
          </a:prstGeom>
          <a:noFill/>
        </p:spPr>
        <p:txBody>
          <a:bodyPr wrap="square" lIns="0" rIns="0" tIns="0" bIns="0">
            <a:spAutoFit/>
          </a:bodyPr>
          <a:lstStyle/>
          <a:p>
            <a:pPr algn="ctr"/>
            <a:r>
              <a:rPr sz="900" b="1" i="0">
                <a:solidFill>
                  <a:srgbClr val="FFFFFF"/>
                </a:solidFill>
                <a:latin typeface="Arial"/>
              </a:rPr>
              <a:t>3</a:t>
            </a:r>
          </a:p>
        </p:txBody>
      </p:sp>
      <p:sp>
        <p:nvSpPr>
          <p:cNvPr id="23" name="TextBox 22"/>
          <p:cNvSpPr txBox="1"/>
          <p:nvPr/>
        </p:nvSpPr>
        <p:spPr>
          <a:xfrm>
            <a:off x="914400" y="2871216"/>
            <a:ext cx="2788920" cy="164592"/>
          </a:xfrm>
          <a:prstGeom prst="rect">
            <a:avLst/>
          </a:prstGeom>
          <a:noFill/>
        </p:spPr>
        <p:txBody>
          <a:bodyPr wrap="square" lIns="0" rIns="0" tIns="0" bIns="0">
            <a:spAutoFit/>
          </a:bodyPr>
          <a:lstStyle/>
          <a:p>
            <a:pPr algn="l"/>
            <a:r>
              <a:rPr sz="900" b="1" i="0">
                <a:solidFill>
                  <a:srgbClr val="20263A"/>
                </a:solidFill>
                <a:latin typeface="Arial"/>
              </a:rPr>
              <a:t>How slowly must it land?</a:t>
            </a:r>
          </a:p>
        </p:txBody>
      </p:sp>
      <p:sp>
        <p:nvSpPr>
          <p:cNvPr id="24" name="TextBox 23"/>
          <p:cNvSpPr txBox="1"/>
          <p:nvPr/>
        </p:nvSpPr>
        <p:spPr>
          <a:xfrm>
            <a:off x="914400" y="3035808"/>
            <a:ext cx="2788920" cy="274320"/>
          </a:xfrm>
          <a:prstGeom prst="rect">
            <a:avLst/>
          </a:prstGeom>
          <a:noFill/>
        </p:spPr>
        <p:txBody>
          <a:bodyPr wrap="square" lIns="0" rIns="0" tIns="0" bIns="0">
            <a:spAutoFit/>
          </a:bodyPr>
          <a:lstStyle/>
          <a:p>
            <a:pPr algn="l"/>
            <a:r>
              <a:rPr sz="800" b="0" i="0">
                <a:solidFill>
                  <a:srgbClr val="5F687D"/>
                </a:solidFill>
                <a:latin typeface="Arial"/>
              </a:rPr>
              <a:t>Sets the Cₗmax you need.</a:t>
            </a:r>
          </a:p>
        </p:txBody>
      </p:sp>
      <p:sp>
        <p:nvSpPr>
          <p:cNvPr id="25" name="Oval 24"/>
          <p:cNvSpPr/>
          <p:nvPr/>
        </p:nvSpPr>
        <p:spPr>
          <a:xfrm>
            <a:off x="566928" y="3470148"/>
            <a:ext cx="237744" cy="237744"/>
          </a:xfrm>
          <a:prstGeom prst="ellipse">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511296"/>
            <a:ext cx="237744" cy="155448"/>
          </a:xfrm>
          <a:prstGeom prst="rect">
            <a:avLst/>
          </a:prstGeom>
          <a:noFill/>
        </p:spPr>
        <p:txBody>
          <a:bodyPr wrap="square" lIns="0" rIns="0" tIns="0" bIns="0">
            <a:spAutoFit/>
          </a:bodyPr>
          <a:lstStyle/>
          <a:p>
            <a:pPr algn="ctr"/>
            <a:r>
              <a:rPr sz="900" b="1" i="0">
                <a:solidFill>
                  <a:srgbClr val="FFFFFF"/>
                </a:solidFill>
                <a:latin typeface="Arial"/>
              </a:rPr>
              <a:t>4</a:t>
            </a:r>
          </a:p>
        </p:txBody>
      </p:sp>
      <p:sp>
        <p:nvSpPr>
          <p:cNvPr id="27" name="TextBox 26"/>
          <p:cNvSpPr txBox="1"/>
          <p:nvPr/>
        </p:nvSpPr>
        <p:spPr>
          <a:xfrm>
            <a:off x="914400" y="3461004"/>
            <a:ext cx="2788920" cy="164592"/>
          </a:xfrm>
          <a:prstGeom prst="rect">
            <a:avLst/>
          </a:prstGeom>
          <a:noFill/>
        </p:spPr>
        <p:txBody>
          <a:bodyPr wrap="square" lIns="0" rIns="0" tIns="0" bIns="0">
            <a:spAutoFit/>
          </a:bodyPr>
          <a:lstStyle/>
          <a:p>
            <a:pPr algn="l"/>
            <a:r>
              <a:rPr sz="900" b="1" i="0">
                <a:solidFill>
                  <a:srgbClr val="20263A"/>
                </a:solidFill>
                <a:latin typeface="Arial"/>
              </a:rPr>
              <a:t>Will it fly inverted or do aerobatics?</a:t>
            </a:r>
          </a:p>
        </p:txBody>
      </p:sp>
      <p:sp>
        <p:nvSpPr>
          <p:cNvPr id="28" name="TextBox 27"/>
          <p:cNvSpPr txBox="1"/>
          <p:nvPr/>
        </p:nvSpPr>
        <p:spPr>
          <a:xfrm>
            <a:off x="914400" y="3625596"/>
            <a:ext cx="2788920" cy="274320"/>
          </a:xfrm>
          <a:prstGeom prst="rect">
            <a:avLst/>
          </a:prstGeom>
          <a:noFill/>
        </p:spPr>
        <p:txBody>
          <a:bodyPr wrap="square" lIns="0" rIns="0" tIns="0" bIns="0">
            <a:spAutoFit/>
          </a:bodyPr>
          <a:lstStyle/>
          <a:p>
            <a:pPr algn="l"/>
            <a:r>
              <a:rPr sz="800" b="0" i="0">
                <a:solidFill>
                  <a:srgbClr val="5F687D"/>
                </a:solidFill>
                <a:latin typeface="Arial"/>
              </a:rPr>
              <a:t>Pushes toward symmetric sections.</a:t>
            </a:r>
          </a:p>
        </p:txBody>
      </p:sp>
      <p:sp>
        <p:nvSpPr>
          <p:cNvPr id="29" name="Oval 28"/>
          <p:cNvSpPr/>
          <p:nvPr/>
        </p:nvSpPr>
        <p:spPr>
          <a:xfrm>
            <a:off x="566928" y="4059935"/>
            <a:ext cx="237744" cy="237744"/>
          </a:xfrm>
          <a:prstGeom prst="ellipse">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4101083"/>
            <a:ext cx="237744" cy="155448"/>
          </a:xfrm>
          <a:prstGeom prst="rect">
            <a:avLst/>
          </a:prstGeom>
          <a:noFill/>
        </p:spPr>
        <p:txBody>
          <a:bodyPr wrap="square" lIns="0" rIns="0" tIns="0" bIns="0">
            <a:spAutoFit/>
          </a:bodyPr>
          <a:lstStyle/>
          <a:p>
            <a:pPr algn="ctr"/>
            <a:r>
              <a:rPr sz="900" b="1" i="0">
                <a:solidFill>
                  <a:srgbClr val="FFFFFF"/>
                </a:solidFill>
                <a:latin typeface="Arial"/>
              </a:rPr>
              <a:t>5</a:t>
            </a:r>
          </a:p>
        </p:txBody>
      </p:sp>
      <p:sp>
        <p:nvSpPr>
          <p:cNvPr id="31" name="TextBox 30"/>
          <p:cNvSpPr txBox="1"/>
          <p:nvPr/>
        </p:nvSpPr>
        <p:spPr>
          <a:xfrm>
            <a:off x="914400" y="4050791"/>
            <a:ext cx="2788920" cy="164592"/>
          </a:xfrm>
          <a:prstGeom prst="rect">
            <a:avLst/>
          </a:prstGeom>
          <a:noFill/>
        </p:spPr>
        <p:txBody>
          <a:bodyPr wrap="square" lIns="0" rIns="0" tIns="0" bIns="0">
            <a:spAutoFit/>
          </a:bodyPr>
          <a:lstStyle/>
          <a:p>
            <a:pPr algn="l"/>
            <a:r>
              <a:rPr sz="900" b="1" i="0">
                <a:solidFill>
                  <a:srgbClr val="20263A"/>
                </a:solidFill>
                <a:latin typeface="Arial"/>
              </a:rPr>
              <a:t>How easy must it be to build?</a:t>
            </a:r>
          </a:p>
        </p:txBody>
      </p:sp>
      <p:sp>
        <p:nvSpPr>
          <p:cNvPr id="32" name="TextBox 31"/>
          <p:cNvSpPr txBox="1"/>
          <p:nvPr/>
        </p:nvSpPr>
        <p:spPr>
          <a:xfrm>
            <a:off x="914400" y="4215383"/>
            <a:ext cx="2788920" cy="274320"/>
          </a:xfrm>
          <a:prstGeom prst="rect">
            <a:avLst/>
          </a:prstGeom>
          <a:noFill/>
        </p:spPr>
        <p:txBody>
          <a:bodyPr wrap="square" lIns="0" rIns="0" tIns="0" bIns="0">
            <a:spAutoFit/>
          </a:bodyPr>
          <a:lstStyle/>
          <a:p>
            <a:pPr algn="l"/>
            <a:r>
              <a:rPr sz="800" b="0" i="0">
                <a:solidFill>
                  <a:srgbClr val="5F687D"/>
                </a:solidFill>
                <a:latin typeface="Arial"/>
              </a:rPr>
              <a:t>Flat bottoms and gentle curves are friendlier.</a:t>
            </a:r>
          </a:p>
        </p:txBody>
      </p:sp>
      <p:sp>
        <p:nvSpPr>
          <p:cNvPr id="33" name="Oval 32"/>
          <p:cNvSpPr/>
          <p:nvPr/>
        </p:nvSpPr>
        <p:spPr>
          <a:xfrm>
            <a:off x="566928" y="4649723"/>
            <a:ext cx="237744" cy="237744"/>
          </a:xfrm>
          <a:prstGeom prst="ellipse">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4690871"/>
            <a:ext cx="237744" cy="155448"/>
          </a:xfrm>
          <a:prstGeom prst="rect">
            <a:avLst/>
          </a:prstGeom>
          <a:noFill/>
        </p:spPr>
        <p:txBody>
          <a:bodyPr wrap="square" lIns="0" rIns="0" tIns="0" bIns="0">
            <a:spAutoFit/>
          </a:bodyPr>
          <a:lstStyle/>
          <a:p>
            <a:pPr algn="ctr"/>
            <a:r>
              <a:rPr sz="900" b="1" i="0">
                <a:solidFill>
                  <a:srgbClr val="FFFFFF"/>
                </a:solidFill>
                <a:latin typeface="Arial"/>
              </a:rPr>
              <a:t>6</a:t>
            </a:r>
          </a:p>
        </p:txBody>
      </p:sp>
      <p:sp>
        <p:nvSpPr>
          <p:cNvPr id="35" name="TextBox 34"/>
          <p:cNvSpPr txBox="1"/>
          <p:nvPr/>
        </p:nvSpPr>
        <p:spPr>
          <a:xfrm>
            <a:off x="914400" y="4640579"/>
            <a:ext cx="2788920" cy="164592"/>
          </a:xfrm>
          <a:prstGeom prst="rect">
            <a:avLst/>
          </a:prstGeom>
          <a:noFill/>
        </p:spPr>
        <p:txBody>
          <a:bodyPr wrap="square" lIns="0" rIns="0" tIns="0" bIns="0">
            <a:spAutoFit/>
          </a:bodyPr>
          <a:lstStyle/>
          <a:p>
            <a:pPr algn="l"/>
            <a:r>
              <a:rPr sz="900" b="1" i="0">
                <a:solidFill>
                  <a:srgbClr val="20263A"/>
                </a:solidFill>
                <a:latin typeface="Arial"/>
              </a:rPr>
              <a:t>How small is the wing chord?</a:t>
            </a:r>
          </a:p>
        </p:txBody>
      </p:sp>
      <p:sp>
        <p:nvSpPr>
          <p:cNvPr id="36" name="TextBox 35"/>
          <p:cNvSpPr txBox="1"/>
          <p:nvPr/>
        </p:nvSpPr>
        <p:spPr>
          <a:xfrm>
            <a:off x="914400" y="4805171"/>
            <a:ext cx="2788920" cy="274320"/>
          </a:xfrm>
          <a:prstGeom prst="rect">
            <a:avLst/>
          </a:prstGeom>
          <a:noFill/>
        </p:spPr>
        <p:txBody>
          <a:bodyPr wrap="square" lIns="0" rIns="0" tIns="0" bIns="0">
            <a:spAutoFit/>
          </a:bodyPr>
          <a:lstStyle/>
          <a:p>
            <a:pPr algn="l"/>
            <a:r>
              <a:rPr sz="800" b="0" i="0">
                <a:solidFill>
                  <a:srgbClr val="5F687D"/>
                </a:solidFill>
                <a:latin typeface="Arial"/>
              </a:rPr>
              <a:t>Sets Reynolds number — small chords need low-Re sections.</a:t>
            </a:r>
          </a:p>
        </p:txBody>
      </p:sp>
      <p:sp>
        <p:nvSpPr>
          <p:cNvPr id="37" name="Rounded Rectangle 36"/>
          <p:cNvSpPr/>
          <p:nvPr/>
        </p:nvSpPr>
        <p:spPr>
          <a:xfrm>
            <a:off x="3950208" y="1188720"/>
            <a:ext cx="3474720" cy="416052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950208" y="1188720"/>
            <a:ext cx="54864" cy="4160520"/>
          </a:xfrm>
          <a:prstGeom prst="rect">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51376" y="1353312"/>
            <a:ext cx="3108960" cy="219456"/>
          </a:xfrm>
          <a:prstGeom prst="rect">
            <a:avLst/>
          </a:prstGeom>
          <a:noFill/>
        </p:spPr>
        <p:txBody>
          <a:bodyPr wrap="square" lIns="0" rIns="0" tIns="0" bIns="0">
            <a:spAutoFit/>
          </a:bodyPr>
          <a:lstStyle/>
          <a:p>
            <a:pPr algn="l"/>
            <a:r>
              <a:rPr sz="1000" b="1" i="0">
                <a:solidFill>
                  <a:srgbClr val="20263A"/>
                </a:solidFill>
                <a:latin typeface="Arial"/>
              </a:rPr>
              <a:t>AIRFOIL ROLES AT A GLANCE</a:t>
            </a:r>
          </a:p>
        </p:txBody>
      </p:sp>
      <p:sp>
        <p:nvSpPr>
          <p:cNvPr id="2" name="Freeform 1"/>
          <p:cNvSpPr/>
          <p:nvPr/>
        </p:nvSpPr>
        <p:spPr>
          <a:xfrm>
            <a:off x="4187952" y="1899416"/>
            <a:ext cx="1051560" cy="143017"/>
          </a:xfrm>
          <a:custGeom>
            <a:avLst/>
            <a:gdLst/>
            <a:ahLst/>
            <a:cxnLst/>
            <a:rect l="l" t="t" r="r" b="b"/>
            <a:pathLst>
              <a:path w="1051560" h="143017">
                <a:moveTo>
                  <a:pt x="0" y="130551"/>
                </a:moveTo>
                <a:lnTo>
                  <a:pt x="15773" y="101953"/>
                </a:lnTo>
                <a:lnTo>
                  <a:pt x="42062" y="85002"/>
                </a:lnTo>
                <a:lnTo>
                  <a:pt x="84124" y="64551"/>
                </a:lnTo>
                <a:lnTo>
                  <a:pt x="157734" y="38803"/>
                </a:lnTo>
                <a:lnTo>
                  <a:pt x="262890" y="13250"/>
                </a:lnTo>
                <a:lnTo>
                  <a:pt x="315468" y="5258"/>
                </a:lnTo>
                <a:lnTo>
                  <a:pt x="420624" y="0"/>
                </a:lnTo>
                <a:lnTo>
                  <a:pt x="525780" y="3839"/>
                </a:lnTo>
                <a:lnTo>
                  <a:pt x="630936" y="16194"/>
                </a:lnTo>
                <a:lnTo>
                  <a:pt x="736092" y="35911"/>
                </a:lnTo>
                <a:lnTo>
                  <a:pt x="841248" y="61832"/>
                </a:lnTo>
                <a:lnTo>
                  <a:pt x="946404" y="92800"/>
                </a:lnTo>
                <a:lnTo>
                  <a:pt x="1051560" y="129395"/>
                </a:lnTo>
                <a:lnTo>
                  <a:pt x="1051560" y="130551"/>
                </a:lnTo>
                <a:lnTo>
                  <a:pt x="946404" y="109573"/>
                </a:lnTo>
                <a:lnTo>
                  <a:pt x="841248" y="94220"/>
                </a:lnTo>
                <a:lnTo>
                  <a:pt x="736092" y="84493"/>
                </a:lnTo>
                <a:lnTo>
                  <a:pt x="630936" y="80392"/>
                </a:lnTo>
                <a:lnTo>
                  <a:pt x="525780" y="81338"/>
                </a:lnTo>
                <a:lnTo>
                  <a:pt x="420624" y="87332"/>
                </a:lnTo>
                <a:lnTo>
                  <a:pt x="315468" y="98374"/>
                </a:lnTo>
                <a:lnTo>
                  <a:pt x="262890" y="105209"/>
                </a:lnTo>
                <a:lnTo>
                  <a:pt x="157734" y="122665"/>
                </a:lnTo>
                <a:lnTo>
                  <a:pt x="84124" y="135689"/>
                </a:lnTo>
                <a:lnTo>
                  <a:pt x="42062" y="141681"/>
                </a:lnTo>
                <a:lnTo>
                  <a:pt x="15773" y="143017"/>
                </a:lnTo>
                <a:close/>
              </a:path>
            </a:pathLst>
          </a:custGeom>
          <a:solidFill>
            <a:srgbClr val="DDE4F4"/>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40680" y="1773936"/>
            <a:ext cx="1874519" cy="164592"/>
          </a:xfrm>
          <a:prstGeom prst="rect">
            <a:avLst/>
          </a:prstGeom>
          <a:noFill/>
        </p:spPr>
        <p:txBody>
          <a:bodyPr wrap="square" lIns="0" rIns="0" tIns="0" bIns="0">
            <a:spAutoFit/>
          </a:bodyPr>
          <a:lstStyle/>
          <a:p>
            <a:pPr algn="l"/>
            <a:r>
              <a:rPr sz="900" b="1" i="0">
                <a:solidFill>
                  <a:srgbClr val="20263A"/>
                </a:solidFill>
                <a:latin typeface="Arial"/>
              </a:rPr>
              <a:t>Clark Y</a:t>
            </a:r>
          </a:p>
        </p:txBody>
      </p:sp>
      <p:sp>
        <p:nvSpPr>
          <p:cNvPr id="41" name="TextBox 40"/>
          <p:cNvSpPr txBox="1"/>
          <p:nvPr/>
        </p:nvSpPr>
        <p:spPr>
          <a:xfrm>
            <a:off x="5440680" y="1938528"/>
            <a:ext cx="1874519" cy="292608"/>
          </a:xfrm>
          <a:prstGeom prst="rect">
            <a:avLst/>
          </a:prstGeom>
          <a:noFill/>
        </p:spPr>
        <p:txBody>
          <a:bodyPr wrap="square" lIns="0" rIns="0" tIns="0" bIns="0">
            <a:spAutoFit/>
          </a:bodyPr>
          <a:lstStyle/>
          <a:p>
            <a:pPr algn="l"/>
            <a:r>
              <a:rPr sz="800" b="0" i="0">
                <a:solidFill>
                  <a:srgbClr val="5F687D"/>
                </a:solidFill>
                <a:latin typeface="Arial"/>
              </a:rPr>
              <a:t>trainers; easy flat-bottom build</a:t>
            </a:r>
          </a:p>
        </p:txBody>
      </p:sp>
      <p:sp>
        <p:nvSpPr>
          <p:cNvPr id="42" name="Freeform 41"/>
          <p:cNvSpPr/>
          <p:nvPr/>
        </p:nvSpPr>
        <p:spPr>
          <a:xfrm>
            <a:off x="4187952" y="2607901"/>
            <a:ext cx="1051560" cy="118785"/>
          </a:xfrm>
          <a:custGeom>
            <a:avLst/>
            <a:gdLst/>
            <a:ahLst/>
            <a:cxnLst/>
            <a:rect l="l" t="t" r="r" b="b"/>
            <a:pathLst>
              <a:path w="1051560" h="118785">
                <a:moveTo>
                  <a:pt x="0" y="103295"/>
                </a:moveTo>
                <a:lnTo>
                  <a:pt x="15773" y="76374"/>
                </a:lnTo>
                <a:lnTo>
                  <a:pt x="42062" y="62106"/>
                </a:lnTo>
                <a:lnTo>
                  <a:pt x="84124" y="45653"/>
                </a:lnTo>
                <a:lnTo>
                  <a:pt x="157734" y="26026"/>
                </a:lnTo>
                <a:lnTo>
                  <a:pt x="262890" y="7287"/>
                </a:lnTo>
                <a:lnTo>
                  <a:pt x="315468" y="1851"/>
                </a:lnTo>
                <a:lnTo>
                  <a:pt x="420624" y="0"/>
                </a:lnTo>
                <a:lnTo>
                  <a:pt x="525780" y="4974"/>
                </a:lnTo>
                <a:lnTo>
                  <a:pt x="630936" y="16194"/>
                </a:lnTo>
                <a:lnTo>
                  <a:pt x="736092" y="32503"/>
                </a:lnTo>
                <a:lnTo>
                  <a:pt x="841248" y="52746"/>
                </a:lnTo>
                <a:lnTo>
                  <a:pt x="946404" y="75765"/>
                </a:lnTo>
                <a:lnTo>
                  <a:pt x="1051560" y="102138"/>
                </a:lnTo>
                <a:lnTo>
                  <a:pt x="1051560" y="103295"/>
                </a:lnTo>
                <a:lnTo>
                  <a:pt x="946404" y="92537"/>
                </a:lnTo>
                <a:lnTo>
                  <a:pt x="841248" y="85134"/>
                </a:lnTo>
                <a:lnTo>
                  <a:pt x="736092" y="81086"/>
                </a:lnTo>
                <a:lnTo>
                  <a:pt x="630936" y="80392"/>
                </a:lnTo>
                <a:lnTo>
                  <a:pt x="525780" y="82474"/>
                </a:lnTo>
                <a:lnTo>
                  <a:pt x="420624" y="87332"/>
                </a:lnTo>
                <a:lnTo>
                  <a:pt x="315468" y="94966"/>
                </a:lnTo>
                <a:lnTo>
                  <a:pt x="262890" y="99246"/>
                </a:lnTo>
                <a:lnTo>
                  <a:pt x="157734" y="109888"/>
                </a:lnTo>
                <a:lnTo>
                  <a:pt x="84124" y="116791"/>
                </a:lnTo>
                <a:lnTo>
                  <a:pt x="42062" y="118785"/>
                </a:lnTo>
                <a:lnTo>
                  <a:pt x="15773" y="117438"/>
                </a:lnTo>
                <a:close/>
              </a:path>
            </a:pathLst>
          </a:custGeom>
          <a:solidFill>
            <a:srgbClr val="DDE4F4"/>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40680" y="2455164"/>
            <a:ext cx="1874519" cy="164592"/>
          </a:xfrm>
          <a:prstGeom prst="rect">
            <a:avLst/>
          </a:prstGeom>
          <a:noFill/>
        </p:spPr>
        <p:txBody>
          <a:bodyPr wrap="square" lIns="0" rIns="0" tIns="0" bIns="0">
            <a:spAutoFit/>
          </a:bodyPr>
          <a:lstStyle/>
          <a:p>
            <a:pPr algn="l"/>
            <a:r>
              <a:rPr sz="900" b="1" i="0">
                <a:solidFill>
                  <a:srgbClr val="20263A"/>
                </a:solidFill>
                <a:latin typeface="Arial"/>
              </a:rPr>
              <a:t>NACA 2412</a:t>
            </a:r>
          </a:p>
        </p:txBody>
      </p:sp>
      <p:sp>
        <p:nvSpPr>
          <p:cNvPr id="44" name="TextBox 43"/>
          <p:cNvSpPr txBox="1"/>
          <p:nvPr/>
        </p:nvSpPr>
        <p:spPr>
          <a:xfrm>
            <a:off x="5440680" y="2619756"/>
            <a:ext cx="1874519" cy="292608"/>
          </a:xfrm>
          <a:prstGeom prst="rect">
            <a:avLst/>
          </a:prstGeom>
          <a:noFill/>
        </p:spPr>
        <p:txBody>
          <a:bodyPr wrap="square" lIns="0" rIns="0" tIns="0" bIns="0">
            <a:spAutoFit/>
          </a:bodyPr>
          <a:lstStyle/>
          <a:p>
            <a:pPr algn="l"/>
            <a:r>
              <a:rPr sz="800" b="0" i="0">
                <a:solidFill>
                  <a:srgbClr val="5F687D"/>
                </a:solidFill>
                <a:latin typeface="Arial"/>
              </a:rPr>
              <a:t>sport all-rounder</a:t>
            </a:r>
          </a:p>
        </p:txBody>
      </p:sp>
      <p:sp>
        <p:nvSpPr>
          <p:cNvPr id="45" name="Freeform 44"/>
          <p:cNvSpPr/>
          <p:nvPr/>
        </p:nvSpPr>
        <p:spPr>
          <a:xfrm>
            <a:off x="4187952" y="3192688"/>
            <a:ext cx="1051560" cy="206916"/>
          </a:xfrm>
          <a:custGeom>
            <a:avLst/>
            <a:gdLst/>
            <a:ahLst/>
            <a:cxnLst/>
            <a:rect l="l" t="t" r="r" b="b"/>
            <a:pathLst>
              <a:path w="1051560" h="206916">
                <a:moveTo>
                  <a:pt x="0" y="199736"/>
                </a:moveTo>
                <a:lnTo>
                  <a:pt x="15773" y="167906"/>
                </a:lnTo>
                <a:lnTo>
                  <a:pt x="42062" y="144350"/>
                </a:lnTo>
                <a:lnTo>
                  <a:pt x="84124" y="113817"/>
                </a:lnTo>
                <a:lnTo>
                  <a:pt x="157734" y="72352"/>
                </a:lnTo>
                <a:lnTo>
                  <a:pt x="262890" y="29149"/>
                </a:lnTo>
                <a:lnTo>
                  <a:pt x="315468" y="14459"/>
                </a:lnTo>
                <a:lnTo>
                  <a:pt x="420624" y="0"/>
                </a:lnTo>
                <a:lnTo>
                  <a:pt x="525780" y="491"/>
                </a:lnTo>
                <a:lnTo>
                  <a:pt x="630936" y="15384"/>
                </a:lnTo>
                <a:lnTo>
                  <a:pt x="736092" y="43579"/>
                </a:lnTo>
                <a:lnTo>
                  <a:pt x="841248" y="83977"/>
                </a:lnTo>
                <a:lnTo>
                  <a:pt x="946404" y="135480"/>
                </a:lnTo>
                <a:lnTo>
                  <a:pt x="1051560" y="198637"/>
                </a:lnTo>
                <a:lnTo>
                  <a:pt x="1051560" y="199736"/>
                </a:lnTo>
                <a:lnTo>
                  <a:pt x="946404" y="151414"/>
                </a:lnTo>
                <a:lnTo>
                  <a:pt x="841248" y="114746"/>
                </a:lnTo>
                <a:lnTo>
                  <a:pt x="736092" y="89732"/>
                </a:lnTo>
                <a:lnTo>
                  <a:pt x="630936" y="76372"/>
                </a:lnTo>
                <a:lnTo>
                  <a:pt x="525780" y="74116"/>
                </a:lnTo>
                <a:lnTo>
                  <a:pt x="420624" y="82965"/>
                </a:lnTo>
                <a:lnTo>
                  <a:pt x="315468" y="102918"/>
                </a:lnTo>
                <a:lnTo>
                  <a:pt x="262890" y="116510"/>
                </a:lnTo>
                <a:lnTo>
                  <a:pt x="157734" y="152021"/>
                </a:lnTo>
                <a:lnTo>
                  <a:pt x="84124" y="181398"/>
                </a:lnTo>
                <a:lnTo>
                  <a:pt x="42062" y="198195"/>
                </a:lnTo>
                <a:lnTo>
                  <a:pt x="15773" y="206916"/>
                </a:lnTo>
                <a:close/>
              </a:path>
            </a:pathLst>
          </a:custGeom>
          <a:solidFill>
            <a:srgbClr val="DDE4F4"/>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40680" y="3136392"/>
            <a:ext cx="1874519" cy="164592"/>
          </a:xfrm>
          <a:prstGeom prst="rect">
            <a:avLst/>
          </a:prstGeom>
          <a:noFill/>
        </p:spPr>
        <p:txBody>
          <a:bodyPr wrap="square" lIns="0" rIns="0" tIns="0" bIns="0">
            <a:spAutoFit/>
          </a:bodyPr>
          <a:lstStyle/>
          <a:p>
            <a:pPr algn="l"/>
            <a:r>
              <a:rPr sz="900" b="1" i="0">
                <a:solidFill>
                  <a:srgbClr val="20263A"/>
                </a:solidFill>
                <a:latin typeface="Arial"/>
              </a:rPr>
              <a:t>S1223</a:t>
            </a:r>
          </a:p>
        </p:txBody>
      </p:sp>
      <p:sp>
        <p:nvSpPr>
          <p:cNvPr id="47" name="TextBox 46"/>
          <p:cNvSpPr txBox="1"/>
          <p:nvPr/>
        </p:nvSpPr>
        <p:spPr>
          <a:xfrm>
            <a:off x="5440680" y="3300984"/>
            <a:ext cx="1874519" cy="292608"/>
          </a:xfrm>
          <a:prstGeom prst="rect">
            <a:avLst/>
          </a:prstGeom>
          <a:noFill/>
        </p:spPr>
        <p:txBody>
          <a:bodyPr wrap="square" lIns="0" rIns="0" tIns="0" bIns="0">
            <a:spAutoFit/>
          </a:bodyPr>
          <a:lstStyle/>
          <a:p>
            <a:pPr algn="l"/>
            <a:r>
              <a:rPr sz="800" b="0" i="0">
                <a:solidFill>
                  <a:srgbClr val="5F687D"/>
                </a:solidFill>
                <a:latin typeface="Arial"/>
              </a:rPr>
              <a:t>slow flight, heavy lifting</a:t>
            </a:r>
          </a:p>
        </p:txBody>
      </p:sp>
      <p:sp>
        <p:nvSpPr>
          <p:cNvPr id="48" name="Freeform 47"/>
          <p:cNvSpPr/>
          <p:nvPr/>
        </p:nvSpPr>
        <p:spPr>
          <a:xfrm>
            <a:off x="4187952" y="4001357"/>
            <a:ext cx="1051560" cy="96586"/>
          </a:xfrm>
          <a:custGeom>
            <a:avLst/>
            <a:gdLst/>
            <a:ahLst/>
            <a:cxnLst/>
            <a:rect l="l" t="t" r="r" b="b"/>
            <a:pathLst>
              <a:path w="1051560" h="96586">
                <a:moveTo>
                  <a:pt x="0" y="72295"/>
                </a:moveTo>
                <a:lnTo>
                  <a:pt x="15773" y="47425"/>
                </a:lnTo>
                <a:lnTo>
                  <a:pt x="42062" y="36436"/>
                </a:lnTo>
                <a:lnTo>
                  <a:pt x="84124" y="24869"/>
                </a:lnTo>
                <a:lnTo>
                  <a:pt x="157734" y="12724"/>
                </a:lnTo>
                <a:lnTo>
                  <a:pt x="262890" y="2313"/>
                </a:lnTo>
                <a:lnTo>
                  <a:pt x="315468" y="0"/>
                </a:lnTo>
                <a:lnTo>
                  <a:pt x="420624" y="2313"/>
                </a:lnTo>
                <a:lnTo>
                  <a:pt x="525780" y="8675"/>
                </a:lnTo>
                <a:lnTo>
                  <a:pt x="630936" y="18507"/>
                </a:lnTo>
                <a:lnTo>
                  <a:pt x="736092" y="30653"/>
                </a:lnTo>
                <a:lnTo>
                  <a:pt x="841248" y="43955"/>
                </a:lnTo>
                <a:lnTo>
                  <a:pt x="946404" y="57257"/>
                </a:lnTo>
                <a:lnTo>
                  <a:pt x="1051560" y="71138"/>
                </a:lnTo>
                <a:lnTo>
                  <a:pt x="1051560" y="72295"/>
                </a:lnTo>
                <a:lnTo>
                  <a:pt x="946404" y="74030"/>
                </a:lnTo>
                <a:lnTo>
                  <a:pt x="841248" y="76343"/>
                </a:lnTo>
                <a:lnTo>
                  <a:pt x="736092" y="79235"/>
                </a:lnTo>
                <a:lnTo>
                  <a:pt x="630936" y="82705"/>
                </a:lnTo>
                <a:lnTo>
                  <a:pt x="525780" y="86175"/>
                </a:lnTo>
                <a:lnTo>
                  <a:pt x="420624" y="89645"/>
                </a:lnTo>
                <a:lnTo>
                  <a:pt x="315468" y="93115"/>
                </a:lnTo>
                <a:lnTo>
                  <a:pt x="262890" y="94272"/>
                </a:lnTo>
                <a:lnTo>
                  <a:pt x="157734" y="96586"/>
                </a:lnTo>
                <a:lnTo>
                  <a:pt x="84124" y="96007"/>
                </a:lnTo>
                <a:lnTo>
                  <a:pt x="42062" y="93115"/>
                </a:lnTo>
                <a:lnTo>
                  <a:pt x="15773" y="88489"/>
                </a:lnTo>
                <a:close/>
              </a:path>
            </a:pathLst>
          </a:custGeom>
          <a:solidFill>
            <a:srgbClr val="DDE4F4"/>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40680" y="3817620"/>
            <a:ext cx="1874519" cy="164592"/>
          </a:xfrm>
          <a:prstGeom prst="rect">
            <a:avLst/>
          </a:prstGeom>
          <a:noFill/>
        </p:spPr>
        <p:txBody>
          <a:bodyPr wrap="square" lIns="0" rIns="0" tIns="0" bIns="0">
            <a:spAutoFit/>
          </a:bodyPr>
          <a:lstStyle/>
          <a:p>
            <a:pPr algn="l"/>
            <a:r>
              <a:rPr sz="900" b="1" i="0">
                <a:solidFill>
                  <a:srgbClr val="20263A"/>
                </a:solidFill>
                <a:latin typeface="Arial"/>
              </a:rPr>
              <a:t>NACA 0012</a:t>
            </a:r>
          </a:p>
        </p:txBody>
      </p:sp>
      <p:sp>
        <p:nvSpPr>
          <p:cNvPr id="50" name="TextBox 49"/>
          <p:cNvSpPr txBox="1"/>
          <p:nvPr/>
        </p:nvSpPr>
        <p:spPr>
          <a:xfrm>
            <a:off x="5440680" y="3982212"/>
            <a:ext cx="1874519" cy="292608"/>
          </a:xfrm>
          <a:prstGeom prst="rect">
            <a:avLst/>
          </a:prstGeom>
          <a:noFill/>
        </p:spPr>
        <p:txBody>
          <a:bodyPr wrap="square" lIns="0" rIns="0" tIns="0" bIns="0">
            <a:spAutoFit/>
          </a:bodyPr>
          <a:lstStyle/>
          <a:p>
            <a:pPr algn="l"/>
            <a:r>
              <a:rPr sz="800" b="0" i="0">
                <a:solidFill>
                  <a:srgbClr val="5F687D"/>
                </a:solidFill>
                <a:latin typeface="Arial"/>
              </a:rPr>
              <a:t>aerobatics, tails and fins</a:t>
            </a:r>
          </a:p>
        </p:txBody>
      </p:sp>
      <p:sp>
        <p:nvSpPr>
          <p:cNvPr id="51" name="Freeform 50"/>
          <p:cNvSpPr/>
          <p:nvPr/>
        </p:nvSpPr>
        <p:spPr>
          <a:xfrm>
            <a:off x="4187952" y="4647881"/>
            <a:ext cx="1051560" cy="115788"/>
          </a:xfrm>
          <a:custGeom>
            <a:avLst/>
            <a:gdLst/>
            <a:ahLst/>
            <a:cxnLst/>
            <a:rect l="l" t="t" r="r" b="b"/>
            <a:pathLst>
              <a:path w="1051560" h="115788">
                <a:moveTo>
                  <a:pt x="0" y="106999"/>
                </a:moveTo>
                <a:lnTo>
                  <a:pt x="15773" y="84991"/>
                </a:lnTo>
                <a:lnTo>
                  <a:pt x="42062" y="71383"/>
                </a:lnTo>
                <a:lnTo>
                  <a:pt x="84124" y="54712"/>
                </a:lnTo>
                <a:lnTo>
                  <a:pt x="157734" y="33360"/>
                </a:lnTo>
                <a:lnTo>
                  <a:pt x="262890" y="11924"/>
                </a:lnTo>
                <a:lnTo>
                  <a:pt x="315468" y="5079"/>
                </a:lnTo>
                <a:lnTo>
                  <a:pt x="420624" y="0"/>
                </a:lnTo>
                <a:lnTo>
                  <a:pt x="525780" y="2500"/>
                </a:lnTo>
                <a:lnTo>
                  <a:pt x="630936" y="12145"/>
                </a:lnTo>
                <a:lnTo>
                  <a:pt x="736092" y="28068"/>
                </a:lnTo>
                <a:lnTo>
                  <a:pt x="841248" y="49402"/>
                </a:lnTo>
                <a:lnTo>
                  <a:pt x="946404" y="75278"/>
                </a:lnTo>
                <a:lnTo>
                  <a:pt x="1051560" y="106131"/>
                </a:lnTo>
                <a:lnTo>
                  <a:pt x="1051560" y="106999"/>
                </a:lnTo>
                <a:lnTo>
                  <a:pt x="946404" y="87857"/>
                </a:lnTo>
                <a:lnTo>
                  <a:pt x="841248" y="73693"/>
                </a:lnTo>
                <a:lnTo>
                  <a:pt x="736092" y="64505"/>
                </a:lnTo>
                <a:lnTo>
                  <a:pt x="630936" y="60293"/>
                </a:lnTo>
                <a:lnTo>
                  <a:pt x="525780" y="60625"/>
                </a:lnTo>
                <a:lnTo>
                  <a:pt x="420624" y="65499"/>
                </a:lnTo>
                <a:lnTo>
                  <a:pt x="315468" y="74915"/>
                </a:lnTo>
                <a:lnTo>
                  <a:pt x="262890" y="80894"/>
                </a:lnTo>
                <a:lnTo>
                  <a:pt x="157734" y="96257"/>
                </a:lnTo>
                <a:lnTo>
                  <a:pt x="84124" y="108066"/>
                </a:lnTo>
                <a:lnTo>
                  <a:pt x="42062" y="113892"/>
                </a:lnTo>
                <a:lnTo>
                  <a:pt x="15773" y="115788"/>
                </a:lnTo>
                <a:close/>
              </a:path>
            </a:pathLst>
          </a:custGeom>
          <a:solidFill>
            <a:srgbClr val="DDE4F4"/>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40680" y="4498848"/>
            <a:ext cx="1874519" cy="164592"/>
          </a:xfrm>
          <a:prstGeom prst="rect">
            <a:avLst/>
          </a:prstGeom>
          <a:noFill/>
        </p:spPr>
        <p:txBody>
          <a:bodyPr wrap="square" lIns="0" rIns="0" tIns="0" bIns="0">
            <a:spAutoFit/>
          </a:bodyPr>
          <a:lstStyle/>
          <a:p>
            <a:pPr algn="l"/>
            <a:r>
              <a:rPr sz="900" b="1" i="0">
                <a:solidFill>
                  <a:srgbClr val="20263A"/>
                </a:solidFill>
                <a:latin typeface="Arial"/>
              </a:rPr>
              <a:t>E387</a:t>
            </a:r>
          </a:p>
        </p:txBody>
      </p:sp>
      <p:sp>
        <p:nvSpPr>
          <p:cNvPr id="53" name="TextBox 52"/>
          <p:cNvSpPr txBox="1"/>
          <p:nvPr/>
        </p:nvSpPr>
        <p:spPr>
          <a:xfrm>
            <a:off x="5440680" y="4663440"/>
            <a:ext cx="1874519" cy="292608"/>
          </a:xfrm>
          <a:prstGeom prst="rect">
            <a:avLst/>
          </a:prstGeom>
          <a:noFill/>
        </p:spPr>
        <p:txBody>
          <a:bodyPr wrap="square" lIns="0" rIns="0" tIns="0" bIns="0">
            <a:spAutoFit/>
          </a:bodyPr>
          <a:lstStyle/>
          <a:p>
            <a:pPr algn="l"/>
            <a:r>
              <a:rPr sz="800" b="0" i="0">
                <a:solidFill>
                  <a:srgbClr val="5F687D"/>
                </a:solidFill>
                <a:latin typeface="Arial"/>
              </a:rPr>
              <a:t>gliders, efficient cruise</a:t>
            </a:r>
          </a:p>
        </p:txBody>
      </p:sp>
      <p:sp>
        <p:nvSpPr>
          <p:cNvPr id="54" name="TextBox 53"/>
          <p:cNvSpPr txBox="1"/>
          <p:nvPr/>
        </p:nvSpPr>
        <p:spPr>
          <a:xfrm>
            <a:off x="4151376" y="5138928"/>
            <a:ext cx="3154680" cy="146304"/>
          </a:xfrm>
          <a:prstGeom prst="rect">
            <a:avLst/>
          </a:prstGeom>
          <a:noFill/>
        </p:spPr>
        <p:txBody>
          <a:bodyPr wrap="square" lIns="0" rIns="0" tIns="0" bIns="0">
            <a:spAutoFit/>
          </a:bodyPr>
          <a:lstStyle/>
          <a:p>
            <a:pPr algn="l"/>
            <a:r>
              <a:rPr sz="750" b="0" i="1">
                <a:solidFill>
                  <a:srgbClr val="5F687D"/>
                </a:solidFill>
                <a:latin typeface="Arial"/>
              </a:rPr>
              <a:t>Details: next five pages. Full vocabulary: reference pages 40–44.</a:t>
            </a:r>
          </a:p>
        </p:txBody>
      </p:sp>
      <p:sp>
        <p:nvSpPr>
          <p:cNvPr id="55" name="Rounded Rectangle 54"/>
          <p:cNvSpPr/>
          <p:nvPr/>
        </p:nvSpPr>
        <p:spPr>
          <a:xfrm>
            <a:off x="347472" y="5577840"/>
            <a:ext cx="7077456" cy="960120"/>
          </a:xfrm>
          <a:prstGeom prst="roundRect">
            <a:avLst>
              <a:gd name="adj" fmla="val 10000"/>
            </a:avLst>
          </a:prstGeom>
          <a:solidFill>
            <a:srgbClr val="ECF7F0"/>
          </a:solidFill>
          <a:ln w="1270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75488" y="5870448"/>
            <a:ext cx="292608" cy="292608"/>
          </a:xfrm>
          <a:prstGeom prst="ellipse">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75488" y="5925312"/>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58" name="TextBox 57"/>
          <p:cNvSpPr txBox="1"/>
          <p:nvPr/>
        </p:nvSpPr>
        <p:spPr>
          <a:xfrm>
            <a:off x="868680" y="5724144"/>
            <a:ext cx="6400800" cy="685800"/>
          </a:xfrm>
          <a:prstGeom prst="rect">
            <a:avLst/>
          </a:prstGeom>
          <a:noFill/>
        </p:spPr>
        <p:txBody>
          <a:bodyPr wrap="square" lIns="0" rIns="0" tIns="0" bIns="0">
            <a:spAutoFit/>
          </a:bodyPr>
          <a:lstStyle/>
          <a:p>
            <a:pPr algn="l"/>
            <a:r>
              <a:rPr sz="950" b="0" i="0">
                <a:solidFill>
                  <a:srgbClr val="20263A"/>
                </a:solidFill>
                <a:latin typeface="Arial"/>
              </a:rPr>
              <a:t>One big idea: the wing pushes air down, so the air pushes the wing up (Newton’s third law). The airfoil decides how efficiently that trade happens, over what speed range, and how gently it fails at the stall. Choose it after mission, mass, and wing loading are known — never before.</a:t>
            </a:r>
          </a:p>
        </p:txBody>
      </p:sp>
      <p:sp>
        <p:nvSpPr>
          <p:cNvPr id="59" name="Rounded Rectangle 58"/>
          <p:cNvSpPr/>
          <p:nvPr/>
        </p:nvSpPr>
        <p:spPr>
          <a:xfrm>
            <a:off x="347472" y="6766560"/>
            <a:ext cx="7077456" cy="1188720"/>
          </a:xfrm>
          <a:prstGeom prst="roundRect">
            <a:avLst>
              <a:gd name="adj" fmla="val 8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6912864"/>
            <a:ext cx="6675120" cy="201168"/>
          </a:xfrm>
          <a:prstGeom prst="rect">
            <a:avLst/>
          </a:prstGeom>
          <a:noFill/>
        </p:spPr>
        <p:txBody>
          <a:bodyPr wrap="square" lIns="0" rIns="0" tIns="0" bIns="0">
            <a:spAutoFit/>
          </a:bodyPr>
          <a:lstStyle/>
          <a:p>
            <a:pPr algn="l"/>
            <a:r>
              <a:rPr sz="1000" b="1" i="0">
                <a:solidFill>
                  <a:srgbClr val="20263A"/>
                </a:solidFill>
                <a:latin typeface="Arial"/>
              </a:rPr>
              <a:t>HOW TO READ THE NEXT FIVE PAGES</a:t>
            </a:r>
          </a:p>
        </p:txBody>
      </p:sp>
      <p:sp>
        <p:nvSpPr>
          <p:cNvPr id="61" name="TextBox 60"/>
          <p:cNvSpPr txBox="1"/>
          <p:nvPr/>
        </p:nvSpPr>
        <p:spPr>
          <a:xfrm>
            <a:off x="548640" y="7168896"/>
            <a:ext cx="6675120" cy="731520"/>
          </a:xfrm>
          <a:prstGeom prst="rect">
            <a:avLst/>
          </a:prstGeom>
          <a:noFill/>
        </p:spPr>
        <p:txBody>
          <a:bodyPr wrap="square" lIns="0" rIns="0" tIns="0" bIns="0">
            <a:spAutoFit/>
          </a:bodyPr>
          <a:lstStyle/>
          <a:p>
            <a:pPr algn="l"/>
            <a:r>
              <a:rPr sz="900" b="0" i="0">
                <a:solidFill>
                  <a:srgbClr val="5F687D"/>
                </a:solidFill>
                <a:latin typeface="Arial"/>
              </a:rPr>
              <a:t>Each page gives one family: its geometry (thickness, camber, and where they peak), what it is best at, why it flies the way it does, what to watch while building, and rough R/C tendencies scored 0–5. The scores are habits, not test data — wing loading and Reynolds number can overturn them.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7772400" cy="896112"/>
          </a:xfrm>
          <a:prstGeom prst="rect">
            <a:avLst/>
          </a:prstGeom>
          <a:solidFill>
            <a:srgbClr val="111A42"/>
          </a:solidFill>
          <a:ln w="12700">
            <a:solidFill>
              <a:srgbClr val="111A42"/>
            </a:solidFill>
            <a:prstDash val="solid"/>
          </a:ln>
        </p:spPr>
        <p:txBody>
          <a:bodyPr/>
          <a:p/>
        </p:txBody>
      </p:sp>
      <p:sp>
        <p:nvSpPr>
          <p:cNvPr id="3" name="Shape 1"/>
          <p:cNvSpPr/>
          <p:nvPr/>
        </p:nvSpPr>
        <p:spPr>
          <a:xfrm>
            <a:off x="0" y="896112"/>
            <a:ext cx="7772400" cy="54864"/>
          </a:xfrm>
          <a:prstGeom prst="rect">
            <a:avLst/>
          </a:prstGeom>
          <a:solidFill>
            <a:srgbClr val="2F8F5B"/>
          </a:solidFill>
          <a:ln w="12700">
            <a:solidFill>
              <a:srgbClr val="2F8F5B"/>
            </a:solidFill>
            <a:prstDash val="solid"/>
          </a:ln>
        </p:spPr>
        <p:txBody>
          <a:bodyPr/>
          <a:p/>
        </p:txBody>
      </p:sp>
      <p:sp>
        <p:nvSpPr>
          <p:cNvPr id="4" name="Text 2"/>
          <p:cNvSpPr/>
          <p:nvPr/>
        </p:nvSpPr>
        <p:spPr>
          <a:xfrm>
            <a:off x="347472" y="109728"/>
            <a:ext cx="2286000" cy="173736"/>
          </a:xfrm>
          <a:prstGeom prst="rect">
            <a:avLst/>
          </a:prstGeom>
          <a:noFill/>
          <a:ln/>
        </p:spPr>
        <p:txBody>
          <a:bodyPr wrap="square" lIns="0" tIns="0" rIns="0" bIns="0" rtlCol="0" anchor="ctr">
            <a:normAutofit/>
          </a:bodyPr>
          <a:lstStyle/>
          <a:p>
            <a:pPr indent="0" marL="0">
              <a:buNone/>
            </a:pPr>
            <a:r>
              <a:rPr lang="en-US" sz="850" b="1" spc="100" kern="0" dirty="0">
                <a:solidFill>
                  <a:srgbClr val="AFC3F3"/>
                </a:solidFill>
                <a:latin typeface="Arial" pitchFamily="34" charset="0"/>
                <a:ea typeface="Arial" pitchFamily="34" charset="-122"/>
                <a:cs typeface="Arial" pitchFamily="34" charset="-120"/>
              </a:rPr>
              <a:t>AIRFOIL FAMILY 1 OF 5</a:t>
            </a:r>
            <a:endParaRPr lang="en-US" sz="850" dirty="0"/>
          </a:p>
        </p:txBody>
      </p:sp>
      <p:sp>
        <p:nvSpPr>
          <p:cNvPr id="5" name="Text 3"/>
          <p:cNvSpPr/>
          <p:nvPr/>
        </p:nvSpPr>
        <p:spPr>
          <a:xfrm>
            <a:off x="347472" y="274320"/>
            <a:ext cx="7086600" cy="329184"/>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Clark Y: the friendly builder’s airfoil</a:t>
            </a:r>
            <a:endParaRPr lang="en-US" sz="2300" dirty="0"/>
          </a:p>
        </p:txBody>
      </p:sp>
      <p:sp>
        <p:nvSpPr>
          <p:cNvPr id="6" name="Text 4"/>
          <p:cNvSpPr/>
          <p:nvPr/>
        </p:nvSpPr>
        <p:spPr>
          <a:xfrm>
            <a:off x="347472" y="621792"/>
            <a:ext cx="7086600" cy="182880"/>
          </a:xfrm>
          <a:prstGeom prst="rect">
            <a:avLst/>
          </a:prstGeom>
          <a:noFill/>
          <a:ln/>
        </p:spPr>
        <p:txBody>
          <a:bodyPr wrap="square" lIns="0" tIns="0" rIns="0" bIns="0" rtlCol="0" anchor="ctr">
            <a:normAutofit/>
          </a:bodyPr>
          <a:lstStyle/>
          <a:p>
            <a:pPr indent="0" marL="0">
              <a:buNone/>
            </a:pPr>
            <a:r>
              <a:rPr lang="en-US" sz="1050" dirty="0">
                <a:solidFill>
                  <a:srgbClr val="D7DEF0"/>
                </a:solidFill>
                <a:latin typeface="Arial" pitchFamily="34" charset="0"/>
                <a:ea typeface="Arial" pitchFamily="34" charset="-122"/>
                <a:cs typeface="Arial" pitchFamily="34" charset="-120"/>
              </a:rPr>
              <a:t>A classic cambered section with a nearly straight aft lower surface</a:t>
            </a:r>
            <a:endParaRPr lang="en-US" sz="1050" dirty="0"/>
          </a:p>
        </p:txBody>
      </p:sp>
      <p:sp>
        <p:nvSpPr>
          <p:cNvPr id="7" name="Shape 5"/>
          <p:cNvSpPr/>
          <p:nvPr/>
        </p:nvSpPr>
        <p:spPr>
          <a:xfrm>
            <a:off x="329184" y="1115568"/>
            <a:ext cx="7095744" cy="1901952"/>
          </a:xfrm>
          <a:prstGeom prst="roundRect">
            <a:avLst>
              <a:gd name="adj" fmla="val 4808"/>
            </a:avLst>
          </a:prstGeom>
          <a:solidFill>
            <a:srgbClr val="FFFFFF"/>
          </a:solidFill>
          <a:ln w="10160">
            <a:solidFill>
              <a:srgbClr val="DDE2EC"/>
            </a:solidFill>
            <a:prstDash val="solid"/>
          </a:ln>
        </p:spPr>
        <p:txBody>
          <a:bodyPr/>
          <a:p/>
        </p:txBody>
      </p:sp>
      <p:sp>
        <p:nvSpPr>
          <p:cNvPr id="8" name="Shape 6"/>
          <p:cNvSpPr/>
          <p:nvPr/>
        </p:nvSpPr>
        <p:spPr>
          <a:xfrm>
            <a:off x="329184" y="1115568"/>
            <a:ext cx="73152" cy="1901952"/>
          </a:xfrm>
          <a:prstGeom prst="rect">
            <a:avLst/>
          </a:prstGeom>
          <a:solidFill>
            <a:srgbClr val="2F8F5B"/>
          </a:solidFill>
          <a:ln w="12700">
            <a:solidFill>
              <a:srgbClr val="2F8F5B"/>
            </a:solidFill>
            <a:prstDash val="solid"/>
          </a:ln>
        </p:spPr>
        <p:txBody>
          <a:bodyPr/>
          <a:p/>
        </p:txBody>
      </p:sp>
      <p:pic>
        <p:nvPicPr>
          <p:cNvPr id="9" name="Image 0" descr="/mnt/data/airfoil_project/assets/clark_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3776" y="1225296"/>
            <a:ext cx="6729984" cy="1664208"/>
          </a:xfrm>
          <a:prstGeom prst="rect">
            <a:avLst/>
          </a:prstGeom>
        </p:spPr>
      </p:pic>
      <p:sp>
        <p:nvSpPr>
          <p:cNvPr id="10" name="Shape 7"/>
          <p:cNvSpPr/>
          <p:nvPr/>
        </p:nvSpPr>
        <p:spPr>
          <a:xfrm>
            <a:off x="32918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1" name="Text 8"/>
          <p:cNvSpPr/>
          <p:nvPr/>
        </p:nvSpPr>
        <p:spPr>
          <a:xfrm>
            <a:off x="43891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MAX THICKNESS</a:t>
            </a:r>
            <a:endParaRPr lang="en-US" sz="820" dirty="0"/>
          </a:p>
        </p:txBody>
      </p:sp>
      <p:sp>
        <p:nvSpPr>
          <p:cNvPr id="12" name="Text 9"/>
          <p:cNvSpPr/>
          <p:nvPr/>
        </p:nvSpPr>
        <p:spPr>
          <a:xfrm>
            <a:off x="43891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2F8F5B"/>
                </a:solidFill>
                <a:latin typeface="Arial" pitchFamily="34" charset="0"/>
                <a:ea typeface="Arial" pitchFamily="34" charset="-122"/>
                <a:cs typeface="Arial" pitchFamily="34" charset="-120"/>
              </a:rPr>
              <a:t>11.7%</a:t>
            </a:r>
            <a:endParaRPr lang="en-US" sz="1800" dirty="0"/>
          </a:p>
        </p:txBody>
      </p:sp>
      <p:sp>
        <p:nvSpPr>
          <p:cNvPr id="13" name="Text 10"/>
          <p:cNvSpPr/>
          <p:nvPr/>
        </p:nvSpPr>
        <p:spPr>
          <a:xfrm>
            <a:off x="43891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near 28% chord</a:t>
            </a:r>
            <a:endParaRPr lang="en-US" sz="720" dirty="0"/>
          </a:p>
        </p:txBody>
      </p:sp>
      <p:sp>
        <p:nvSpPr>
          <p:cNvPr id="14" name="Shape 11"/>
          <p:cNvSpPr/>
          <p:nvPr/>
        </p:nvSpPr>
        <p:spPr>
          <a:xfrm>
            <a:off x="275234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5" name="Text 12"/>
          <p:cNvSpPr/>
          <p:nvPr/>
        </p:nvSpPr>
        <p:spPr>
          <a:xfrm>
            <a:off x="286207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MAX CAMBER</a:t>
            </a:r>
            <a:endParaRPr lang="en-US" sz="820" dirty="0"/>
          </a:p>
        </p:txBody>
      </p:sp>
      <p:sp>
        <p:nvSpPr>
          <p:cNvPr id="16" name="Text 13"/>
          <p:cNvSpPr/>
          <p:nvPr/>
        </p:nvSpPr>
        <p:spPr>
          <a:xfrm>
            <a:off x="286207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2F8F5B"/>
                </a:solidFill>
                <a:latin typeface="Arial" pitchFamily="34" charset="0"/>
                <a:ea typeface="Arial" pitchFamily="34" charset="-122"/>
                <a:cs typeface="Arial" pitchFamily="34" charset="-120"/>
              </a:rPr>
              <a:t>3.4%</a:t>
            </a:r>
            <a:endParaRPr lang="en-US" sz="1800" dirty="0"/>
          </a:p>
        </p:txBody>
      </p:sp>
      <p:sp>
        <p:nvSpPr>
          <p:cNvPr id="17" name="Text 14"/>
          <p:cNvSpPr/>
          <p:nvPr/>
        </p:nvSpPr>
        <p:spPr>
          <a:xfrm>
            <a:off x="286207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near 42% chord</a:t>
            </a:r>
            <a:endParaRPr lang="en-US" sz="720" dirty="0"/>
          </a:p>
        </p:txBody>
      </p:sp>
      <p:sp>
        <p:nvSpPr>
          <p:cNvPr id="18" name="Shape 15"/>
          <p:cNvSpPr/>
          <p:nvPr/>
        </p:nvSpPr>
        <p:spPr>
          <a:xfrm>
            <a:off x="517550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9" name="Text 16"/>
          <p:cNvSpPr/>
          <p:nvPr/>
        </p:nvSpPr>
        <p:spPr>
          <a:xfrm>
            <a:off x="528523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PERSONALITY</a:t>
            </a:r>
            <a:endParaRPr lang="en-US" sz="820" dirty="0"/>
          </a:p>
        </p:txBody>
      </p:sp>
      <p:sp>
        <p:nvSpPr>
          <p:cNvPr id="20" name="Text 17"/>
          <p:cNvSpPr/>
          <p:nvPr/>
        </p:nvSpPr>
        <p:spPr>
          <a:xfrm>
            <a:off x="528523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2F8F5B"/>
                </a:solidFill>
                <a:latin typeface="Arial" pitchFamily="34" charset="0"/>
                <a:ea typeface="Arial" pitchFamily="34" charset="-122"/>
                <a:cs typeface="Arial" pitchFamily="34" charset="-120"/>
              </a:rPr>
              <a:t>steady</a:t>
            </a:r>
            <a:endParaRPr lang="en-US" sz="1800" dirty="0"/>
          </a:p>
        </p:txBody>
      </p:sp>
      <p:sp>
        <p:nvSpPr>
          <p:cNvPr id="21" name="Text 18"/>
          <p:cNvSpPr/>
          <p:nvPr/>
        </p:nvSpPr>
        <p:spPr>
          <a:xfrm>
            <a:off x="528523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forgiving, not especially fast</a:t>
            </a:r>
            <a:endParaRPr lang="en-US" sz="720" dirty="0"/>
          </a:p>
        </p:txBody>
      </p:sp>
      <p:sp>
        <p:nvSpPr>
          <p:cNvPr id="22" name="Shape 19"/>
          <p:cNvSpPr/>
          <p:nvPr/>
        </p:nvSpPr>
        <p:spPr>
          <a:xfrm>
            <a:off x="329184" y="4005072"/>
            <a:ext cx="4343400" cy="4809744"/>
          </a:xfrm>
          <a:prstGeom prst="roundRect">
            <a:avLst>
              <a:gd name="adj" fmla="val 2105"/>
            </a:avLst>
          </a:prstGeom>
          <a:solidFill>
            <a:srgbClr val="FFFFFF"/>
          </a:solidFill>
          <a:ln w="10160">
            <a:solidFill>
              <a:srgbClr val="D9DFEA"/>
            </a:solidFill>
            <a:prstDash val="solid"/>
          </a:ln>
        </p:spPr>
        <p:txBody>
          <a:bodyPr/>
          <a:p/>
        </p:txBody>
      </p:sp>
      <p:sp>
        <p:nvSpPr>
          <p:cNvPr id="23" name="Shape 20"/>
          <p:cNvSpPr/>
          <p:nvPr/>
        </p:nvSpPr>
        <p:spPr>
          <a:xfrm>
            <a:off x="512064" y="4160520"/>
            <a:ext cx="45720" cy="173736"/>
          </a:xfrm>
          <a:prstGeom prst="rect">
            <a:avLst/>
          </a:prstGeom>
          <a:solidFill>
            <a:srgbClr val="2F8F5B"/>
          </a:solidFill>
          <a:ln w="12700">
            <a:solidFill>
              <a:srgbClr val="2F8F5B">
                <a:alpha val="0"/>
              </a:srgbClr>
            </a:solidFill>
            <a:prstDash val="solid"/>
          </a:ln>
        </p:spPr>
        <p:txBody>
          <a:bodyPr/>
          <a:p/>
        </p:txBody>
      </p:sp>
      <p:sp>
        <p:nvSpPr>
          <p:cNvPr id="24" name="Text 21"/>
          <p:cNvSpPr/>
          <p:nvPr/>
        </p:nvSpPr>
        <p:spPr>
          <a:xfrm>
            <a:off x="621792" y="4133088"/>
            <a:ext cx="3867912"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WHY IT FLIES THIS WAY</a:t>
            </a:r>
            <a:endParaRPr lang="en-US" sz="950" dirty="0"/>
          </a:p>
        </p:txBody>
      </p:sp>
      <p:sp>
        <p:nvSpPr>
          <p:cNvPr id="25" name="Shape 22"/>
          <p:cNvSpPr/>
          <p:nvPr/>
        </p:nvSpPr>
        <p:spPr>
          <a:xfrm>
            <a:off x="530352" y="4453128"/>
            <a:ext cx="310896" cy="310896"/>
          </a:xfrm>
          <a:prstGeom prst="ellipse">
            <a:avLst/>
          </a:prstGeom>
          <a:solidFill>
            <a:srgbClr val="2F8F5B"/>
          </a:solidFill>
          <a:ln w="12700">
            <a:solidFill>
              <a:srgbClr val="2F8F5B"/>
            </a:solidFill>
            <a:prstDash val="solid"/>
          </a:ln>
        </p:spPr>
        <p:txBody>
          <a:bodyPr/>
          <a:p/>
        </p:txBody>
      </p:sp>
      <p:sp>
        <p:nvSpPr>
          <p:cNvPr id="26" name="Text 23"/>
          <p:cNvSpPr/>
          <p:nvPr/>
        </p:nvSpPr>
        <p:spPr>
          <a:xfrm>
            <a:off x="530352" y="4453128"/>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27" name="Text 24"/>
          <p:cNvSpPr/>
          <p:nvPr/>
        </p:nvSpPr>
        <p:spPr>
          <a:xfrm>
            <a:off x="941832" y="4443984"/>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Moderate camber makes useful lift at a small angle of attack, so the airplane does not need to fly nose-high all the time.</a:t>
            </a:r>
            <a:endParaRPr lang="en-US" sz="1120" dirty="0"/>
          </a:p>
        </p:txBody>
      </p:sp>
      <p:sp>
        <p:nvSpPr>
          <p:cNvPr id="28" name="Shape 25"/>
          <p:cNvSpPr/>
          <p:nvPr/>
        </p:nvSpPr>
        <p:spPr>
          <a:xfrm>
            <a:off x="530352" y="5129784"/>
            <a:ext cx="310896" cy="310896"/>
          </a:xfrm>
          <a:prstGeom prst="ellipse">
            <a:avLst/>
          </a:prstGeom>
          <a:solidFill>
            <a:srgbClr val="2F8F5B"/>
          </a:solidFill>
          <a:ln w="12700">
            <a:solidFill>
              <a:srgbClr val="2F8F5B"/>
            </a:solidFill>
            <a:prstDash val="solid"/>
          </a:ln>
        </p:spPr>
        <p:txBody>
          <a:bodyPr/>
          <a:p/>
        </p:txBody>
      </p:sp>
      <p:sp>
        <p:nvSpPr>
          <p:cNvPr id="29" name="Text 26"/>
          <p:cNvSpPr/>
          <p:nvPr/>
        </p:nvSpPr>
        <p:spPr>
          <a:xfrm>
            <a:off x="530352" y="5129784"/>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30" name="Text 27"/>
          <p:cNvSpPr/>
          <p:nvPr/>
        </p:nvSpPr>
        <p:spPr>
          <a:xfrm>
            <a:off x="941832" y="5120640"/>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The rounded leading edge and fairly thick nose give the airflow room to stay attached as the angle increases.</a:t>
            </a:r>
            <a:endParaRPr lang="en-US" sz="1120" dirty="0"/>
          </a:p>
        </p:txBody>
      </p:sp>
      <p:sp>
        <p:nvSpPr>
          <p:cNvPr id="31" name="Shape 28"/>
          <p:cNvSpPr/>
          <p:nvPr/>
        </p:nvSpPr>
        <p:spPr>
          <a:xfrm>
            <a:off x="530352" y="5806440"/>
            <a:ext cx="310896" cy="310896"/>
          </a:xfrm>
          <a:prstGeom prst="ellipse">
            <a:avLst/>
          </a:prstGeom>
          <a:solidFill>
            <a:srgbClr val="2F8F5B"/>
          </a:solidFill>
          <a:ln w="12700">
            <a:solidFill>
              <a:srgbClr val="2F8F5B"/>
            </a:solidFill>
            <a:prstDash val="solid"/>
          </a:ln>
        </p:spPr>
        <p:txBody>
          <a:bodyPr/>
          <a:p/>
        </p:txBody>
      </p:sp>
      <p:sp>
        <p:nvSpPr>
          <p:cNvPr id="32" name="Text 29"/>
          <p:cNvSpPr/>
          <p:nvPr/>
        </p:nvSpPr>
        <p:spPr>
          <a:xfrm>
            <a:off x="530352" y="5806440"/>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33" name="Text 30"/>
          <p:cNvSpPr/>
          <p:nvPr/>
        </p:nvSpPr>
        <p:spPr>
          <a:xfrm>
            <a:off x="941832" y="5797296"/>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Its lower surface is close to straight over much of the rear half, which simplifies rib alignment during construction.</a:t>
            </a:r>
            <a:endParaRPr lang="en-US" sz="1120" dirty="0"/>
          </a:p>
        </p:txBody>
      </p:sp>
      <p:sp>
        <p:nvSpPr>
          <p:cNvPr id="34" name="Shape 31"/>
          <p:cNvSpPr/>
          <p:nvPr/>
        </p:nvSpPr>
        <p:spPr>
          <a:xfrm>
            <a:off x="585216" y="6629400"/>
            <a:ext cx="3840480" cy="1737360"/>
          </a:xfrm>
          <a:prstGeom prst="roundRect">
            <a:avLst>
              <a:gd name="adj" fmla="val 5263"/>
            </a:avLst>
          </a:prstGeom>
          <a:solidFill>
            <a:srgbClr val="F8FAFD"/>
          </a:solidFill>
          <a:ln w="10160">
            <a:solidFill>
              <a:srgbClr val="E5EAF2"/>
            </a:solidFill>
            <a:prstDash val="solid"/>
          </a:ln>
        </p:spPr>
        <p:txBody>
          <a:bodyPr/>
          <a:p/>
        </p:txBody>
      </p:sp>
      <p:sp>
        <p:nvSpPr>
          <p:cNvPr id="35" name="Text 32"/>
          <p:cNvSpPr/>
          <p:nvPr/>
        </p:nvSpPr>
        <p:spPr>
          <a:xfrm>
            <a:off x="731520" y="6720840"/>
            <a:ext cx="1645920" cy="155448"/>
          </a:xfrm>
          <a:prstGeom prst="rect">
            <a:avLst/>
          </a:prstGeom>
          <a:noFill/>
          <a:ln/>
        </p:spPr>
        <p:txBody>
          <a:bodyPr wrap="square" lIns="0" tIns="0" rIns="0" bIns="0" rtlCol="0" anchor="ctr">
            <a:normAutofit/>
          </a:bodyPr>
          <a:lstStyle/>
          <a:p>
            <a:pPr indent="0" marL="0">
              <a:buNone/>
            </a:pPr>
            <a:r>
              <a:rPr lang="en-US" sz="780" b="1" spc="50" kern="0" dirty="0">
                <a:solidFill>
                  <a:srgbClr val="59627A"/>
                </a:solidFill>
                <a:latin typeface="Arial" pitchFamily="34" charset="0"/>
                <a:ea typeface="Arial" pitchFamily="34" charset="-122"/>
                <a:cs typeface="Arial" pitchFamily="34" charset="-120"/>
              </a:rPr>
              <a:t>CONSTRUCTION PICTURE</a:t>
            </a:r>
            <a:endParaRPr lang="en-US" sz="780" dirty="0"/>
          </a:p>
        </p:txBody>
      </p:sp>
      <p:sp>
        <p:nvSpPr>
          <p:cNvPr id="36" name="Shape 33"/>
          <p:cNvSpPr/>
          <p:nvPr/>
        </p:nvSpPr>
        <p:spPr>
          <a:xfrm>
            <a:off x="768096" y="7955280"/>
            <a:ext cx="3474720" cy="91440"/>
          </a:xfrm>
          <a:prstGeom prst="rect">
            <a:avLst/>
          </a:prstGeom>
          <a:solidFill>
            <a:srgbClr val="A57B55"/>
          </a:solidFill>
          <a:ln w="12700">
            <a:solidFill>
              <a:srgbClr val="8A6446"/>
            </a:solidFill>
            <a:prstDash val="solid"/>
          </a:ln>
        </p:spPr>
        <p:txBody>
          <a:bodyPr/>
          <a:p/>
        </p:txBody>
      </p:sp>
      <p:pic>
        <p:nvPicPr>
          <p:cNvPr id="37" name="Image 1" descr="/mnt/data/airfoil_project/assets/clark_y_clean.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78000">
            <a:off x="841248" y="7013448"/>
            <a:ext cx="3291840" cy="713232"/>
          </a:xfrm>
          <a:prstGeom prst="rect">
            <a:avLst/>
          </a:prstGeom>
        </p:spPr>
      </p:pic>
      <p:sp>
        <p:nvSpPr>
          <p:cNvPr id="38" name="Shape 34"/>
          <p:cNvSpPr/>
          <p:nvPr/>
        </p:nvSpPr>
        <p:spPr>
          <a:xfrm>
            <a:off x="1115568" y="7699248"/>
            <a:ext cx="0" cy="256032"/>
          </a:xfrm>
          <a:prstGeom prst="line">
            <a:avLst/>
          </a:prstGeom>
          <a:noFill/>
          <a:ln w="15240">
            <a:solidFill>
              <a:srgbClr val="2F8F5B"/>
            </a:solidFill>
            <a:prstDash val="solid"/>
          </a:ln>
        </p:spPr>
        <p:txBody>
          <a:bodyPr/>
          <a:p/>
        </p:txBody>
      </p:sp>
      <p:sp>
        <p:nvSpPr>
          <p:cNvPr id="39" name="Shape 35"/>
          <p:cNvSpPr/>
          <p:nvPr/>
        </p:nvSpPr>
        <p:spPr>
          <a:xfrm>
            <a:off x="1636776" y="7699248"/>
            <a:ext cx="0" cy="256032"/>
          </a:xfrm>
          <a:prstGeom prst="line">
            <a:avLst/>
          </a:prstGeom>
          <a:noFill/>
          <a:ln w="15240">
            <a:solidFill>
              <a:srgbClr val="2F8F5B"/>
            </a:solidFill>
            <a:prstDash val="solid"/>
          </a:ln>
        </p:spPr>
        <p:txBody>
          <a:bodyPr/>
          <a:p/>
        </p:txBody>
      </p:sp>
      <p:sp>
        <p:nvSpPr>
          <p:cNvPr id="40" name="Shape 36"/>
          <p:cNvSpPr/>
          <p:nvPr/>
        </p:nvSpPr>
        <p:spPr>
          <a:xfrm>
            <a:off x="2157984" y="7699248"/>
            <a:ext cx="0" cy="256032"/>
          </a:xfrm>
          <a:prstGeom prst="line">
            <a:avLst/>
          </a:prstGeom>
          <a:noFill/>
          <a:ln w="15240">
            <a:solidFill>
              <a:srgbClr val="2F8F5B"/>
            </a:solidFill>
            <a:prstDash val="solid"/>
          </a:ln>
        </p:spPr>
        <p:txBody>
          <a:bodyPr/>
          <a:p/>
        </p:txBody>
      </p:sp>
      <p:sp>
        <p:nvSpPr>
          <p:cNvPr id="41" name="Shape 37"/>
          <p:cNvSpPr/>
          <p:nvPr/>
        </p:nvSpPr>
        <p:spPr>
          <a:xfrm>
            <a:off x="2679192" y="7699248"/>
            <a:ext cx="0" cy="256032"/>
          </a:xfrm>
          <a:prstGeom prst="line">
            <a:avLst/>
          </a:prstGeom>
          <a:noFill/>
          <a:ln w="15240">
            <a:solidFill>
              <a:srgbClr val="2F8F5B"/>
            </a:solidFill>
            <a:prstDash val="solid"/>
          </a:ln>
        </p:spPr>
        <p:txBody>
          <a:bodyPr/>
          <a:p/>
        </p:txBody>
      </p:sp>
      <p:sp>
        <p:nvSpPr>
          <p:cNvPr id="42" name="Shape 38"/>
          <p:cNvSpPr/>
          <p:nvPr/>
        </p:nvSpPr>
        <p:spPr>
          <a:xfrm>
            <a:off x="3200400" y="7699248"/>
            <a:ext cx="0" cy="256032"/>
          </a:xfrm>
          <a:prstGeom prst="line">
            <a:avLst/>
          </a:prstGeom>
          <a:noFill/>
          <a:ln w="15240">
            <a:solidFill>
              <a:srgbClr val="2F8F5B"/>
            </a:solidFill>
            <a:prstDash val="solid"/>
          </a:ln>
        </p:spPr>
        <p:txBody>
          <a:bodyPr/>
          <a:p/>
        </p:txBody>
      </p:sp>
      <p:sp>
        <p:nvSpPr>
          <p:cNvPr id="43" name="Text 39"/>
          <p:cNvSpPr/>
          <p:nvPr/>
        </p:nvSpPr>
        <p:spPr>
          <a:xfrm>
            <a:off x="768096" y="8101584"/>
            <a:ext cx="3474720" cy="182880"/>
          </a:xfrm>
          <a:prstGeom prst="rect">
            <a:avLst/>
          </a:prstGeom>
          <a:noFill/>
          <a:ln/>
        </p:spPr>
        <p:txBody>
          <a:bodyPr wrap="square" lIns="0" tIns="0" rIns="0" bIns="0" rtlCol="0" anchor="ctr">
            <a:normAutofit/>
          </a:bodyPr>
          <a:lstStyle/>
          <a:p>
            <a:pPr algn="ctr" indent="0" marL="0">
              <a:buNone/>
            </a:pPr>
            <a:r>
              <a:rPr lang="en-US" sz="920" dirty="0">
                <a:solidFill>
                  <a:srgbClr val="1A2342"/>
                </a:solidFill>
                <a:latin typeface="Arial" pitchFamily="34" charset="0"/>
                <a:ea typeface="Arial" pitchFamily="34" charset="-122"/>
                <a:cs typeface="Arial" pitchFamily="34" charset="-120"/>
              </a:rPr>
              <a:t>A nearly straight aft lower surface makes alignment on a building board easier.</a:t>
            </a:r>
            <a:endParaRPr lang="en-US" sz="920" dirty="0"/>
          </a:p>
        </p:txBody>
      </p:sp>
      <p:sp>
        <p:nvSpPr>
          <p:cNvPr id="44" name="Shape 40"/>
          <p:cNvSpPr/>
          <p:nvPr/>
        </p:nvSpPr>
        <p:spPr>
          <a:xfrm>
            <a:off x="4828032" y="4005072"/>
            <a:ext cx="2596896" cy="1143000"/>
          </a:xfrm>
          <a:prstGeom prst="roundRect">
            <a:avLst>
              <a:gd name="adj" fmla="val 8000"/>
            </a:avLst>
          </a:prstGeom>
          <a:solidFill>
            <a:srgbClr val="FFFFFF"/>
          </a:solidFill>
          <a:ln w="10160">
            <a:solidFill>
              <a:srgbClr val="D9DFEA"/>
            </a:solidFill>
            <a:prstDash val="solid"/>
          </a:ln>
        </p:spPr>
        <p:txBody>
          <a:bodyPr/>
          <a:p/>
        </p:txBody>
      </p:sp>
      <p:sp>
        <p:nvSpPr>
          <p:cNvPr id="45" name="Shape 41"/>
          <p:cNvSpPr/>
          <p:nvPr/>
        </p:nvSpPr>
        <p:spPr>
          <a:xfrm>
            <a:off x="4965192" y="4142232"/>
            <a:ext cx="45720" cy="173736"/>
          </a:xfrm>
          <a:prstGeom prst="rect">
            <a:avLst/>
          </a:prstGeom>
          <a:solidFill>
            <a:srgbClr val="2F8F5B"/>
          </a:solidFill>
          <a:ln w="12700">
            <a:solidFill>
              <a:srgbClr val="2F8F5B">
                <a:alpha val="0"/>
              </a:srgbClr>
            </a:solidFill>
            <a:prstDash val="solid"/>
          </a:ln>
        </p:spPr>
        <p:txBody>
          <a:bodyPr/>
          <a:p/>
        </p:txBody>
      </p:sp>
      <p:sp>
        <p:nvSpPr>
          <p:cNvPr id="46" name="Text 42"/>
          <p:cNvSpPr/>
          <p:nvPr/>
        </p:nvSpPr>
        <p:spPr>
          <a:xfrm>
            <a:off x="5074920" y="4114800"/>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BEST FOR</a:t>
            </a:r>
            <a:endParaRPr lang="en-US" sz="950" dirty="0"/>
          </a:p>
        </p:txBody>
      </p:sp>
      <p:sp>
        <p:nvSpPr>
          <p:cNvPr id="47" name="Shape 43"/>
          <p:cNvSpPr/>
          <p:nvPr/>
        </p:nvSpPr>
        <p:spPr>
          <a:xfrm>
            <a:off x="4992624" y="4434840"/>
            <a:ext cx="91440" cy="91440"/>
          </a:xfrm>
          <a:prstGeom prst="ellipse">
            <a:avLst/>
          </a:prstGeom>
          <a:solidFill>
            <a:srgbClr val="2F8F5B"/>
          </a:solidFill>
          <a:ln w="12700">
            <a:solidFill>
              <a:srgbClr val="2F8F5B"/>
            </a:solidFill>
            <a:prstDash val="solid"/>
          </a:ln>
        </p:spPr>
        <p:txBody>
          <a:bodyPr/>
          <a:p/>
        </p:txBody>
      </p:sp>
      <p:sp>
        <p:nvSpPr>
          <p:cNvPr id="48" name="Text 44"/>
          <p:cNvSpPr/>
          <p:nvPr/>
        </p:nvSpPr>
        <p:spPr>
          <a:xfrm>
            <a:off x="5157216" y="4370832"/>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High-wing trainers</a:t>
            </a:r>
            <a:endParaRPr lang="en-US" sz="920" dirty="0"/>
          </a:p>
        </p:txBody>
      </p:sp>
      <p:sp>
        <p:nvSpPr>
          <p:cNvPr id="49" name="Shape 45"/>
          <p:cNvSpPr/>
          <p:nvPr/>
        </p:nvSpPr>
        <p:spPr>
          <a:xfrm>
            <a:off x="4992624" y="4654296"/>
            <a:ext cx="91440" cy="91440"/>
          </a:xfrm>
          <a:prstGeom prst="ellipse">
            <a:avLst/>
          </a:prstGeom>
          <a:solidFill>
            <a:srgbClr val="2F8F5B"/>
          </a:solidFill>
          <a:ln w="12700">
            <a:solidFill>
              <a:srgbClr val="2F8F5B"/>
            </a:solidFill>
            <a:prstDash val="solid"/>
          </a:ln>
        </p:spPr>
        <p:txBody>
          <a:bodyPr/>
          <a:p/>
        </p:txBody>
      </p:sp>
      <p:sp>
        <p:nvSpPr>
          <p:cNvPr id="50" name="Text 46"/>
          <p:cNvSpPr/>
          <p:nvPr/>
        </p:nvSpPr>
        <p:spPr>
          <a:xfrm>
            <a:off x="5157216" y="4590288"/>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Relaxed sport and scale models</a:t>
            </a:r>
            <a:endParaRPr lang="en-US" sz="920" dirty="0"/>
          </a:p>
        </p:txBody>
      </p:sp>
      <p:sp>
        <p:nvSpPr>
          <p:cNvPr id="51" name="Shape 47"/>
          <p:cNvSpPr/>
          <p:nvPr/>
        </p:nvSpPr>
        <p:spPr>
          <a:xfrm>
            <a:off x="4992624" y="4873752"/>
            <a:ext cx="91440" cy="91440"/>
          </a:xfrm>
          <a:prstGeom prst="ellipse">
            <a:avLst/>
          </a:prstGeom>
          <a:solidFill>
            <a:srgbClr val="2F8F5B"/>
          </a:solidFill>
          <a:ln w="12700">
            <a:solidFill>
              <a:srgbClr val="2F8F5B"/>
            </a:solidFill>
            <a:prstDash val="solid"/>
          </a:ln>
        </p:spPr>
        <p:txBody>
          <a:bodyPr/>
          <a:p/>
        </p:txBody>
      </p:sp>
      <p:sp>
        <p:nvSpPr>
          <p:cNvPr id="52" name="Text 48"/>
          <p:cNvSpPr/>
          <p:nvPr/>
        </p:nvSpPr>
        <p:spPr>
          <a:xfrm>
            <a:off x="5157216" y="4809744"/>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Medium-to-slow electric aircraft</a:t>
            </a:r>
            <a:endParaRPr lang="en-US" sz="920" dirty="0"/>
          </a:p>
        </p:txBody>
      </p:sp>
      <p:sp>
        <p:nvSpPr>
          <p:cNvPr id="53" name="Shape 49"/>
          <p:cNvSpPr/>
          <p:nvPr/>
        </p:nvSpPr>
        <p:spPr>
          <a:xfrm>
            <a:off x="4828032" y="5266944"/>
            <a:ext cx="2596896" cy="1353312"/>
          </a:xfrm>
          <a:prstGeom prst="roundRect">
            <a:avLst>
              <a:gd name="adj" fmla="val 6757"/>
            </a:avLst>
          </a:prstGeom>
          <a:solidFill>
            <a:srgbClr val="FFFFFF"/>
          </a:solidFill>
          <a:ln w="10160">
            <a:solidFill>
              <a:srgbClr val="D9DFEA"/>
            </a:solidFill>
            <a:prstDash val="solid"/>
          </a:ln>
        </p:spPr>
        <p:txBody>
          <a:bodyPr/>
          <a:p/>
        </p:txBody>
      </p:sp>
      <p:sp>
        <p:nvSpPr>
          <p:cNvPr id="54" name="Shape 50"/>
          <p:cNvSpPr/>
          <p:nvPr/>
        </p:nvSpPr>
        <p:spPr>
          <a:xfrm>
            <a:off x="4965192" y="5404104"/>
            <a:ext cx="45720" cy="173736"/>
          </a:xfrm>
          <a:prstGeom prst="rect">
            <a:avLst/>
          </a:prstGeom>
          <a:solidFill>
            <a:srgbClr val="2F8F5B"/>
          </a:solidFill>
          <a:ln w="12700">
            <a:solidFill>
              <a:srgbClr val="2F8F5B">
                <a:alpha val="0"/>
              </a:srgbClr>
            </a:solidFill>
            <a:prstDash val="solid"/>
          </a:ln>
        </p:spPr>
        <p:txBody>
          <a:bodyPr/>
          <a:p/>
        </p:txBody>
      </p:sp>
      <p:sp>
        <p:nvSpPr>
          <p:cNvPr id="55" name="Text 51"/>
          <p:cNvSpPr/>
          <p:nvPr/>
        </p:nvSpPr>
        <p:spPr>
          <a:xfrm>
            <a:off x="5074920" y="5376672"/>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BUILD NOTES</a:t>
            </a:r>
            <a:endParaRPr lang="en-US" sz="950" dirty="0"/>
          </a:p>
        </p:txBody>
      </p:sp>
      <p:sp>
        <p:nvSpPr>
          <p:cNvPr id="56" name="Shape 52"/>
          <p:cNvSpPr/>
          <p:nvPr/>
        </p:nvSpPr>
        <p:spPr>
          <a:xfrm>
            <a:off x="4992624" y="5687568"/>
            <a:ext cx="91440" cy="91440"/>
          </a:xfrm>
          <a:prstGeom prst="ellipse">
            <a:avLst/>
          </a:prstGeom>
          <a:solidFill>
            <a:srgbClr val="2F8F5B"/>
          </a:solidFill>
          <a:ln w="12700">
            <a:solidFill>
              <a:srgbClr val="2F8F5B"/>
            </a:solidFill>
            <a:prstDash val="solid"/>
          </a:ln>
        </p:spPr>
        <p:txBody>
          <a:bodyPr/>
          <a:p/>
        </p:txBody>
      </p:sp>
      <p:sp>
        <p:nvSpPr>
          <p:cNvPr id="57" name="Text 53"/>
          <p:cNvSpPr/>
          <p:nvPr/>
        </p:nvSpPr>
        <p:spPr>
          <a:xfrm>
            <a:off x="5157216" y="5623560"/>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Keep the leading edge smooth and truly rounded.</a:t>
            </a:r>
            <a:endParaRPr lang="en-US" sz="900" dirty="0"/>
          </a:p>
        </p:txBody>
      </p:sp>
      <p:sp>
        <p:nvSpPr>
          <p:cNvPr id="58" name="Shape 54"/>
          <p:cNvSpPr/>
          <p:nvPr/>
        </p:nvSpPr>
        <p:spPr>
          <a:xfrm>
            <a:off x="4992624" y="5974080"/>
            <a:ext cx="91440" cy="91440"/>
          </a:xfrm>
          <a:prstGeom prst="ellipse">
            <a:avLst/>
          </a:prstGeom>
          <a:solidFill>
            <a:srgbClr val="2F8F5B"/>
          </a:solidFill>
          <a:ln w="12700">
            <a:solidFill>
              <a:srgbClr val="2F8F5B"/>
            </a:solidFill>
            <a:prstDash val="solid"/>
          </a:ln>
        </p:spPr>
        <p:txBody>
          <a:bodyPr/>
          <a:p/>
        </p:txBody>
      </p:sp>
      <p:sp>
        <p:nvSpPr>
          <p:cNvPr id="59" name="Text 55"/>
          <p:cNvSpPr/>
          <p:nvPr/>
        </p:nvSpPr>
        <p:spPr>
          <a:xfrm>
            <a:off x="5157216" y="5910072"/>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Use the plan’s jigging or washout; avoid accidental wing twist.</a:t>
            </a:r>
            <a:endParaRPr lang="en-US" sz="900" dirty="0"/>
          </a:p>
        </p:txBody>
      </p:sp>
      <p:sp>
        <p:nvSpPr>
          <p:cNvPr id="60" name="Shape 56"/>
          <p:cNvSpPr/>
          <p:nvPr/>
        </p:nvSpPr>
        <p:spPr>
          <a:xfrm>
            <a:off x="4992624" y="6260592"/>
            <a:ext cx="91440" cy="91440"/>
          </a:xfrm>
          <a:prstGeom prst="ellipse">
            <a:avLst/>
          </a:prstGeom>
          <a:solidFill>
            <a:srgbClr val="2F8F5B"/>
          </a:solidFill>
          <a:ln w="12700">
            <a:solidFill>
              <a:srgbClr val="2F8F5B"/>
            </a:solidFill>
            <a:prstDash val="solid"/>
          </a:ln>
        </p:spPr>
        <p:txBody>
          <a:bodyPr/>
          <a:p/>
        </p:txBody>
      </p:sp>
      <p:sp>
        <p:nvSpPr>
          <p:cNvPr id="61" name="Text 57"/>
          <p:cNvSpPr/>
          <p:nvPr/>
        </p:nvSpPr>
        <p:spPr>
          <a:xfrm>
            <a:off x="5157216" y="6196584"/>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Leave enough spar depth near the thickest part.</a:t>
            </a:r>
            <a:endParaRPr lang="en-US" sz="900" dirty="0"/>
          </a:p>
        </p:txBody>
      </p:sp>
      <p:sp>
        <p:nvSpPr>
          <p:cNvPr id="62" name="Shape 58"/>
          <p:cNvSpPr/>
          <p:nvPr/>
        </p:nvSpPr>
        <p:spPr>
          <a:xfrm>
            <a:off x="4828032" y="6739128"/>
            <a:ext cx="2596896" cy="1097280"/>
          </a:xfrm>
          <a:prstGeom prst="roundRect">
            <a:avLst>
              <a:gd name="adj" fmla="val 8333"/>
            </a:avLst>
          </a:prstGeom>
          <a:solidFill>
            <a:srgbClr val="FFFFFF"/>
          </a:solidFill>
          <a:ln w="10160">
            <a:solidFill>
              <a:srgbClr val="D9DFEA"/>
            </a:solidFill>
            <a:prstDash val="solid"/>
          </a:ln>
        </p:spPr>
        <p:txBody>
          <a:bodyPr/>
          <a:p/>
        </p:txBody>
      </p:sp>
      <p:sp>
        <p:nvSpPr>
          <p:cNvPr id="63" name="Shape 59"/>
          <p:cNvSpPr/>
          <p:nvPr/>
        </p:nvSpPr>
        <p:spPr>
          <a:xfrm>
            <a:off x="4965192" y="6876288"/>
            <a:ext cx="45720" cy="173736"/>
          </a:xfrm>
          <a:prstGeom prst="rect">
            <a:avLst/>
          </a:prstGeom>
          <a:solidFill>
            <a:srgbClr val="C83E3E"/>
          </a:solidFill>
          <a:ln w="12700">
            <a:solidFill>
              <a:srgbClr val="C83E3E">
                <a:alpha val="0"/>
              </a:srgbClr>
            </a:solidFill>
            <a:prstDash val="solid"/>
          </a:ln>
        </p:spPr>
        <p:txBody>
          <a:bodyPr/>
          <a:p/>
        </p:txBody>
      </p:sp>
      <p:sp>
        <p:nvSpPr>
          <p:cNvPr id="64" name="Text 60"/>
          <p:cNvSpPr/>
          <p:nvPr/>
        </p:nvSpPr>
        <p:spPr>
          <a:xfrm>
            <a:off x="5074920" y="6848856"/>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WATCH-OUTS</a:t>
            </a:r>
            <a:endParaRPr lang="en-US" sz="950" dirty="0"/>
          </a:p>
        </p:txBody>
      </p:sp>
      <p:sp>
        <p:nvSpPr>
          <p:cNvPr id="65" name="Shape 61"/>
          <p:cNvSpPr/>
          <p:nvPr/>
        </p:nvSpPr>
        <p:spPr>
          <a:xfrm>
            <a:off x="4992624" y="7159752"/>
            <a:ext cx="91440" cy="91440"/>
          </a:xfrm>
          <a:prstGeom prst="ellipse">
            <a:avLst/>
          </a:prstGeom>
          <a:solidFill>
            <a:srgbClr val="C83E3E"/>
          </a:solidFill>
          <a:ln w="12700">
            <a:solidFill>
              <a:srgbClr val="C83E3E"/>
            </a:solidFill>
            <a:prstDash val="solid"/>
          </a:ln>
        </p:spPr>
        <p:txBody>
          <a:bodyPr/>
          <a:p/>
        </p:txBody>
      </p:sp>
      <p:sp>
        <p:nvSpPr>
          <p:cNvPr id="66" name="Text 62"/>
          <p:cNvSpPr/>
          <p:nvPr/>
        </p:nvSpPr>
        <p:spPr>
          <a:xfrm>
            <a:off x="5157216" y="7095744"/>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Not equally good inverted.</a:t>
            </a:r>
            <a:endParaRPr lang="en-US" sz="880" dirty="0"/>
          </a:p>
        </p:txBody>
      </p:sp>
      <p:sp>
        <p:nvSpPr>
          <p:cNvPr id="67" name="Shape 63"/>
          <p:cNvSpPr/>
          <p:nvPr/>
        </p:nvSpPr>
        <p:spPr>
          <a:xfrm>
            <a:off x="4992624" y="7367016"/>
            <a:ext cx="91440" cy="91440"/>
          </a:xfrm>
          <a:prstGeom prst="ellipse">
            <a:avLst/>
          </a:prstGeom>
          <a:solidFill>
            <a:srgbClr val="C83E3E"/>
          </a:solidFill>
          <a:ln w="12700">
            <a:solidFill>
              <a:srgbClr val="C83E3E"/>
            </a:solidFill>
            <a:prstDash val="solid"/>
          </a:ln>
        </p:spPr>
        <p:txBody>
          <a:bodyPr/>
          <a:p/>
        </p:txBody>
      </p:sp>
      <p:sp>
        <p:nvSpPr>
          <p:cNvPr id="68" name="Text 64"/>
          <p:cNvSpPr/>
          <p:nvPr/>
        </p:nvSpPr>
        <p:spPr>
          <a:xfrm>
            <a:off x="5157216" y="7303008"/>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Can become draggy when pushed fast.</a:t>
            </a:r>
            <a:endParaRPr lang="en-US" sz="880" dirty="0"/>
          </a:p>
        </p:txBody>
      </p:sp>
      <p:sp>
        <p:nvSpPr>
          <p:cNvPr id="69" name="Shape 65"/>
          <p:cNvSpPr/>
          <p:nvPr/>
        </p:nvSpPr>
        <p:spPr>
          <a:xfrm>
            <a:off x="4992624" y="7574280"/>
            <a:ext cx="91440" cy="91440"/>
          </a:xfrm>
          <a:prstGeom prst="ellipse">
            <a:avLst/>
          </a:prstGeom>
          <a:solidFill>
            <a:srgbClr val="C83E3E"/>
          </a:solidFill>
          <a:ln w="12700">
            <a:solidFill>
              <a:srgbClr val="C83E3E"/>
            </a:solidFill>
            <a:prstDash val="solid"/>
          </a:ln>
        </p:spPr>
        <p:txBody>
          <a:bodyPr/>
          <a:p/>
        </p:txBody>
      </p:sp>
      <p:sp>
        <p:nvSpPr>
          <p:cNvPr id="70" name="Text 66"/>
          <p:cNvSpPr/>
          <p:nvPr/>
        </p:nvSpPr>
        <p:spPr>
          <a:xfrm>
            <a:off x="5157216" y="7510272"/>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A thick airfoil cannot rescue excessive wing loading.</a:t>
            </a:r>
            <a:endParaRPr lang="en-US" sz="880" dirty="0"/>
          </a:p>
        </p:txBody>
      </p:sp>
      <p:sp>
        <p:nvSpPr>
          <p:cNvPr id="71" name="Shape 67"/>
          <p:cNvSpPr/>
          <p:nvPr/>
        </p:nvSpPr>
        <p:spPr>
          <a:xfrm>
            <a:off x="4828032" y="7955280"/>
            <a:ext cx="2596896" cy="859536"/>
          </a:xfrm>
          <a:prstGeom prst="roundRect">
            <a:avLst>
              <a:gd name="adj" fmla="val 10638"/>
            </a:avLst>
          </a:prstGeom>
          <a:solidFill>
            <a:srgbClr val="FFFFFF"/>
          </a:solidFill>
          <a:ln w="10160">
            <a:solidFill>
              <a:srgbClr val="D9DFEA"/>
            </a:solidFill>
            <a:prstDash val="solid"/>
          </a:ln>
        </p:spPr>
        <p:txBody>
          <a:bodyPr/>
          <a:p/>
        </p:txBody>
      </p:sp>
      <p:sp>
        <p:nvSpPr>
          <p:cNvPr id="72" name="Text 68"/>
          <p:cNvSpPr/>
          <p:nvPr/>
        </p:nvSpPr>
        <p:spPr>
          <a:xfrm>
            <a:off x="4965192" y="8046720"/>
            <a:ext cx="2322576" cy="146304"/>
          </a:xfrm>
          <a:prstGeom prst="rect">
            <a:avLst/>
          </a:prstGeom>
          <a:noFill/>
          <a:ln/>
        </p:spPr>
        <p:txBody>
          <a:bodyPr wrap="square" lIns="0" tIns="0" rIns="0" bIns="0" rtlCol="0" anchor="ctr">
            <a:normAutofit/>
          </a:bodyPr>
          <a:lstStyle/>
          <a:p>
            <a:pPr indent="0" marL="0">
              <a:buNone/>
            </a:pPr>
            <a:r>
              <a:rPr lang="en-US" sz="780" b="1" spc="50" kern="0" dirty="0">
                <a:solidFill>
                  <a:srgbClr val="111A42"/>
                </a:solidFill>
                <a:latin typeface="Arial" pitchFamily="34" charset="0"/>
                <a:ea typeface="Arial" pitchFamily="34" charset="-122"/>
                <a:cs typeface="Arial" pitchFamily="34" charset="-120"/>
              </a:rPr>
              <a:t>ROUGH R/C TENDENCIES (0–5)</a:t>
            </a:r>
            <a:endParaRPr lang="en-US" sz="780" dirty="0"/>
          </a:p>
        </p:txBody>
      </p:sp>
      <p:sp>
        <p:nvSpPr>
          <p:cNvPr id="73" name="Text 69"/>
          <p:cNvSpPr/>
          <p:nvPr/>
        </p:nvSpPr>
        <p:spPr>
          <a:xfrm>
            <a:off x="4965192" y="8229600"/>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Slow lift</a:t>
            </a:r>
            <a:endParaRPr lang="en-US" sz="780" dirty="0"/>
          </a:p>
        </p:txBody>
      </p:sp>
      <p:sp>
        <p:nvSpPr>
          <p:cNvPr id="74" name="Shape 70"/>
          <p:cNvSpPr/>
          <p:nvPr/>
        </p:nvSpPr>
        <p:spPr>
          <a:xfrm>
            <a:off x="5952744" y="8257032"/>
            <a:ext cx="173736" cy="109728"/>
          </a:xfrm>
          <a:prstGeom prst="roundRect">
            <a:avLst>
              <a:gd name="adj" fmla="val 25000"/>
            </a:avLst>
          </a:prstGeom>
          <a:solidFill>
            <a:srgbClr val="2F8F5B"/>
          </a:solidFill>
          <a:ln w="12700">
            <a:solidFill>
              <a:srgbClr val="2F8F5B">
                <a:alpha val="0"/>
              </a:srgbClr>
            </a:solidFill>
            <a:prstDash val="solid"/>
          </a:ln>
        </p:spPr>
        <p:txBody>
          <a:bodyPr/>
          <a:p/>
        </p:txBody>
      </p:sp>
      <p:sp>
        <p:nvSpPr>
          <p:cNvPr id="75" name="Shape 71"/>
          <p:cNvSpPr/>
          <p:nvPr/>
        </p:nvSpPr>
        <p:spPr>
          <a:xfrm>
            <a:off x="6172200" y="8257032"/>
            <a:ext cx="173736" cy="109728"/>
          </a:xfrm>
          <a:prstGeom prst="roundRect">
            <a:avLst>
              <a:gd name="adj" fmla="val 25000"/>
            </a:avLst>
          </a:prstGeom>
          <a:solidFill>
            <a:srgbClr val="2F8F5B"/>
          </a:solidFill>
          <a:ln w="12700">
            <a:solidFill>
              <a:srgbClr val="2F8F5B">
                <a:alpha val="0"/>
              </a:srgbClr>
            </a:solidFill>
            <a:prstDash val="solid"/>
          </a:ln>
        </p:spPr>
        <p:txBody>
          <a:bodyPr/>
          <a:p/>
        </p:txBody>
      </p:sp>
      <p:sp>
        <p:nvSpPr>
          <p:cNvPr id="76" name="Shape 72"/>
          <p:cNvSpPr/>
          <p:nvPr/>
        </p:nvSpPr>
        <p:spPr>
          <a:xfrm>
            <a:off x="6391656" y="8257032"/>
            <a:ext cx="173736" cy="109728"/>
          </a:xfrm>
          <a:prstGeom prst="roundRect">
            <a:avLst>
              <a:gd name="adj" fmla="val 25000"/>
            </a:avLst>
          </a:prstGeom>
          <a:solidFill>
            <a:srgbClr val="2F8F5B"/>
          </a:solidFill>
          <a:ln w="12700">
            <a:solidFill>
              <a:srgbClr val="2F8F5B">
                <a:alpha val="0"/>
              </a:srgbClr>
            </a:solidFill>
            <a:prstDash val="solid"/>
          </a:ln>
        </p:spPr>
        <p:txBody>
          <a:bodyPr/>
          <a:p/>
        </p:txBody>
      </p:sp>
      <p:sp>
        <p:nvSpPr>
          <p:cNvPr id="77" name="Shape 73"/>
          <p:cNvSpPr/>
          <p:nvPr/>
        </p:nvSpPr>
        <p:spPr>
          <a:xfrm>
            <a:off x="6611112" y="8257032"/>
            <a:ext cx="173736" cy="109728"/>
          </a:xfrm>
          <a:prstGeom prst="roundRect">
            <a:avLst>
              <a:gd name="adj" fmla="val 25000"/>
            </a:avLst>
          </a:prstGeom>
          <a:solidFill>
            <a:srgbClr val="2F8F5B"/>
          </a:solidFill>
          <a:ln w="12700">
            <a:solidFill>
              <a:srgbClr val="2F8F5B">
                <a:alpha val="0"/>
              </a:srgbClr>
            </a:solidFill>
            <a:prstDash val="solid"/>
          </a:ln>
        </p:spPr>
        <p:txBody>
          <a:bodyPr/>
          <a:p/>
        </p:txBody>
      </p:sp>
      <p:sp>
        <p:nvSpPr>
          <p:cNvPr id="78" name="Shape 74"/>
          <p:cNvSpPr/>
          <p:nvPr/>
        </p:nvSpPr>
        <p:spPr>
          <a:xfrm>
            <a:off x="6830568" y="8257032"/>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79" name="Text 75"/>
          <p:cNvSpPr/>
          <p:nvPr/>
        </p:nvSpPr>
        <p:spPr>
          <a:xfrm>
            <a:off x="4965192" y="8375904"/>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Speed</a:t>
            </a:r>
            <a:endParaRPr lang="en-US" sz="780" dirty="0"/>
          </a:p>
        </p:txBody>
      </p:sp>
      <p:sp>
        <p:nvSpPr>
          <p:cNvPr id="80" name="Shape 76"/>
          <p:cNvSpPr/>
          <p:nvPr/>
        </p:nvSpPr>
        <p:spPr>
          <a:xfrm>
            <a:off x="5952744" y="8403336"/>
            <a:ext cx="173736" cy="109728"/>
          </a:xfrm>
          <a:prstGeom prst="roundRect">
            <a:avLst>
              <a:gd name="adj" fmla="val 25000"/>
            </a:avLst>
          </a:prstGeom>
          <a:solidFill>
            <a:srgbClr val="2F8F5B"/>
          </a:solidFill>
          <a:ln w="12700">
            <a:solidFill>
              <a:srgbClr val="2F8F5B">
                <a:alpha val="0"/>
              </a:srgbClr>
            </a:solidFill>
            <a:prstDash val="solid"/>
          </a:ln>
        </p:spPr>
        <p:txBody>
          <a:bodyPr/>
          <a:p/>
        </p:txBody>
      </p:sp>
      <p:sp>
        <p:nvSpPr>
          <p:cNvPr id="81" name="Shape 77"/>
          <p:cNvSpPr/>
          <p:nvPr/>
        </p:nvSpPr>
        <p:spPr>
          <a:xfrm>
            <a:off x="6172200" y="8403336"/>
            <a:ext cx="173736" cy="109728"/>
          </a:xfrm>
          <a:prstGeom prst="roundRect">
            <a:avLst>
              <a:gd name="adj" fmla="val 25000"/>
            </a:avLst>
          </a:prstGeom>
          <a:solidFill>
            <a:srgbClr val="2F8F5B"/>
          </a:solidFill>
          <a:ln w="12700">
            <a:solidFill>
              <a:srgbClr val="2F8F5B">
                <a:alpha val="0"/>
              </a:srgbClr>
            </a:solidFill>
            <a:prstDash val="solid"/>
          </a:ln>
        </p:spPr>
        <p:txBody>
          <a:bodyPr/>
          <a:p/>
        </p:txBody>
      </p:sp>
      <p:sp>
        <p:nvSpPr>
          <p:cNvPr id="82" name="Shape 78"/>
          <p:cNvSpPr/>
          <p:nvPr/>
        </p:nvSpPr>
        <p:spPr>
          <a:xfrm>
            <a:off x="6391656"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83" name="Shape 79"/>
          <p:cNvSpPr/>
          <p:nvPr/>
        </p:nvSpPr>
        <p:spPr>
          <a:xfrm>
            <a:off x="6611112"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84" name="Shape 80"/>
          <p:cNvSpPr/>
          <p:nvPr/>
        </p:nvSpPr>
        <p:spPr>
          <a:xfrm>
            <a:off x="6830568"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85" name="Text 81"/>
          <p:cNvSpPr/>
          <p:nvPr/>
        </p:nvSpPr>
        <p:spPr>
          <a:xfrm>
            <a:off x="4965192" y="8522208"/>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Inverted</a:t>
            </a:r>
            <a:endParaRPr lang="en-US" sz="780" dirty="0"/>
          </a:p>
        </p:txBody>
      </p:sp>
      <p:sp>
        <p:nvSpPr>
          <p:cNvPr id="86" name="Shape 82"/>
          <p:cNvSpPr/>
          <p:nvPr/>
        </p:nvSpPr>
        <p:spPr>
          <a:xfrm>
            <a:off x="5952744" y="8549640"/>
            <a:ext cx="173736" cy="109728"/>
          </a:xfrm>
          <a:prstGeom prst="roundRect">
            <a:avLst>
              <a:gd name="adj" fmla="val 25000"/>
            </a:avLst>
          </a:prstGeom>
          <a:solidFill>
            <a:srgbClr val="2F8F5B"/>
          </a:solidFill>
          <a:ln w="12700">
            <a:solidFill>
              <a:srgbClr val="2F8F5B">
                <a:alpha val="0"/>
              </a:srgbClr>
            </a:solidFill>
            <a:prstDash val="solid"/>
          </a:ln>
        </p:spPr>
        <p:txBody>
          <a:bodyPr/>
          <a:p/>
        </p:txBody>
      </p:sp>
      <p:sp>
        <p:nvSpPr>
          <p:cNvPr id="87" name="Shape 83"/>
          <p:cNvSpPr/>
          <p:nvPr/>
        </p:nvSpPr>
        <p:spPr>
          <a:xfrm>
            <a:off x="6172200" y="8549640"/>
            <a:ext cx="173736" cy="109728"/>
          </a:xfrm>
          <a:prstGeom prst="roundRect">
            <a:avLst>
              <a:gd name="adj" fmla="val 25000"/>
            </a:avLst>
          </a:prstGeom>
          <a:solidFill>
            <a:srgbClr val="2F8F5B"/>
          </a:solidFill>
          <a:ln w="12700">
            <a:solidFill>
              <a:srgbClr val="2F8F5B">
                <a:alpha val="0"/>
              </a:srgbClr>
            </a:solidFill>
            <a:prstDash val="solid"/>
          </a:ln>
        </p:spPr>
        <p:txBody>
          <a:bodyPr/>
          <a:p/>
        </p:txBody>
      </p:sp>
      <p:sp>
        <p:nvSpPr>
          <p:cNvPr id="88" name="Shape 84"/>
          <p:cNvSpPr/>
          <p:nvPr/>
        </p:nvSpPr>
        <p:spPr>
          <a:xfrm>
            <a:off x="6391656"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89" name="Shape 85"/>
          <p:cNvSpPr/>
          <p:nvPr/>
        </p:nvSpPr>
        <p:spPr>
          <a:xfrm>
            <a:off x="6611112"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0" name="Shape 86"/>
          <p:cNvSpPr/>
          <p:nvPr/>
        </p:nvSpPr>
        <p:spPr>
          <a:xfrm>
            <a:off x="6830568"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1" name="Text 87"/>
          <p:cNvSpPr/>
          <p:nvPr/>
        </p:nvSpPr>
        <p:spPr>
          <a:xfrm>
            <a:off x="4965192" y="8686800"/>
            <a:ext cx="2322576" cy="91440"/>
          </a:xfrm>
          <a:prstGeom prst="rect">
            <a:avLst/>
          </a:prstGeom>
          <a:noFill/>
          <a:ln/>
        </p:spPr>
        <p:txBody>
          <a:bodyPr wrap="square" lIns="0" tIns="0" rIns="0" bIns="0" rtlCol="0" anchor="t">
            <a:normAutofit/>
          </a:bodyPr>
          <a:lstStyle/>
          <a:p>
            <a:pPr indent="0" marL="0">
              <a:buNone/>
            </a:pPr>
            <a:r>
              <a:rPr lang="en-US" sz="570" i="1" dirty="0">
                <a:solidFill>
                  <a:srgbClr val="59627A"/>
                </a:solidFill>
                <a:latin typeface="Arial" pitchFamily="34" charset="0"/>
                <a:ea typeface="Arial" pitchFamily="34" charset="-122"/>
                <a:cs typeface="Arial" pitchFamily="34" charset="-120"/>
              </a:rPr>
              <a:t>Not test data; wing loading and Reynolds number matter.</a:t>
            </a:r>
            <a:endParaRPr lang="en-US" sz="570" dirty="0"/>
          </a:p>
        </p:txBody>
      </p:sp>
      <p:sp>
        <p:nvSpPr>
          <p:cNvPr id="92" name="Shape 88"/>
          <p:cNvSpPr/>
          <p:nvPr/>
        </p:nvSpPr>
        <p:spPr>
          <a:xfrm>
            <a:off x="329184" y="8942832"/>
            <a:ext cx="7114032" cy="0"/>
          </a:xfrm>
          <a:prstGeom prst="line">
            <a:avLst/>
          </a:prstGeom>
          <a:noFill/>
          <a:ln w="10160">
            <a:solidFill>
              <a:srgbClr val="D8DEE9"/>
            </a:solidFill>
            <a:prstDash val="solid"/>
          </a:ln>
        </p:spPr>
        <p:txBody>
          <a:bodyPr/>
          <a:p/>
        </p:txBody>
      </p:sp>
      <p:sp>
        <p:nvSpPr>
          <p:cNvPr id="93" name="Text 89"/>
          <p:cNvSpPr/>
          <p:nvPr/>
        </p:nvSpPr>
        <p:spPr>
          <a:xfrm>
            <a:off x="347472" y="8979408"/>
            <a:ext cx="6812280" cy="164592"/>
          </a:xfrm>
          <a:prstGeom prst="rect">
            <a:avLst/>
          </a:prstGeom>
          <a:noFill/>
          <a:ln/>
        </p:spPr>
        <p:txBody>
          <a:bodyPr wrap="square" lIns="0" tIns="0" rIns="0" bIns="0" rtlCol="0" anchor="t">
            <a:normAutofit/>
          </a:bodyPr>
          <a:lstStyle/>
          <a:p>
            <a:pPr indent="0" marL="0">
              <a:buNone/>
            </a:pPr>
            <a:r>
              <a:rPr lang="en-US" sz="680" dirty="0">
                <a:solidFill>
                  <a:srgbClr val="6C758C"/>
                </a:solidFill>
                <a:latin typeface="Arial" pitchFamily="34" charset="0"/>
                <a:ea typeface="Arial" pitchFamily="34" charset="-122"/>
                <a:cs typeface="Arial" pitchFamily="34" charset="-120"/>
              </a:rPr>
              <a:t>Geometry: UIUC Airfoil Coordinates Database (clarky.dat). Descriptions are practical R/C tendencies, not a substitute for wind-tunnel or XFOIL data at your model’s Reynolds number.</a:t>
            </a:r>
            <a:endParaRPr lang="en-US" sz="680" dirty="0"/>
          </a:p>
        </p:txBody>
      </p:sp>
      <p:sp>
        <p:nvSpPr>
          <p:cNvPr id="94" name="TextBox 93"/>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30</a:t>
            </a:r>
          </a:p>
        </p:txBody>
      </p:sp>
      <p:sp>
        <p:nvSpPr>
          <p:cNvPr id="95" name="Rectangle 94"/>
          <p:cNvSpPr/>
          <p:nvPr/>
        </p:nvSpPr>
        <p:spPr>
          <a:xfrm>
            <a:off x="6217920" y="1920240"/>
            <a:ext cx="621792" cy="155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440680" y="1682496"/>
            <a:ext cx="1188720" cy="146304"/>
          </a:xfrm>
          <a:prstGeom prst="rect">
            <a:avLst/>
          </a:prstGeom>
          <a:noFill/>
        </p:spPr>
        <p:txBody>
          <a:bodyPr wrap="square" lIns="0" rIns="0" tIns="0" bIns="0">
            <a:spAutoFit/>
          </a:bodyPr>
          <a:lstStyle/>
          <a:p>
            <a:pPr algn="r"/>
            <a:r>
              <a:rPr sz="800" b="1" i="0">
                <a:solidFill>
                  <a:srgbClr val="5F687D"/>
                </a:solidFill>
                <a:latin typeface="Arial"/>
              </a:rPr>
              <a:t>chord line</a:t>
            </a:r>
          </a:p>
        </p:txBody>
      </p:sp>
      <p:cxnSp>
        <p:nvCxnSpPr>
          <p:cNvPr id="97" name="Connector 96"/>
          <p:cNvCxnSpPr/>
          <p:nvPr/>
        </p:nvCxnSpPr>
        <p:spPr>
          <a:xfrm flipH="1">
            <a:off x="6446520" y="1755648"/>
            <a:ext cx="210312" cy="292608"/>
          </a:xfrm>
          <a:prstGeom prst="line">
            <a:avLst/>
          </a:prstGeom>
          <a:ln w="9525">
            <a:solidFill>
              <a:srgbClr val="5F687D"/>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7772400" cy="896112"/>
          </a:xfrm>
          <a:prstGeom prst="rect">
            <a:avLst/>
          </a:prstGeom>
          <a:solidFill>
            <a:srgbClr val="111A42"/>
          </a:solidFill>
          <a:ln w="12700">
            <a:solidFill>
              <a:srgbClr val="111A42"/>
            </a:solidFill>
            <a:prstDash val="solid"/>
          </a:ln>
        </p:spPr>
        <p:txBody>
          <a:bodyPr/>
          <a:p/>
        </p:txBody>
      </p:sp>
      <p:sp>
        <p:nvSpPr>
          <p:cNvPr id="3" name="Shape 1"/>
          <p:cNvSpPr/>
          <p:nvPr/>
        </p:nvSpPr>
        <p:spPr>
          <a:xfrm>
            <a:off x="0" y="896112"/>
            <a:ext cx="7772400" cy="54864"/>
          </a:xfrm>
          <a:prstGeom prst="rect">
            <a:avLst/>
          </a:prstGeom>
          <a:solidFill>
            <a:srgbClr val="246BCE"/>
          </a:solidFill>
          <a:ln w="12700">
            <a:solidFill>
              <a:srgbClr val="246BCE"/>
            </a:solidFill>
            <a:prstDash val="solid"/>
          </a:ln>
        </p:spPr>
        <p:txBody>
          <a:bodyPr/>
          <a:p/>
        </p:txBody>
      </p:sp>
      <p:sp>
        <p:nvSpPr>
          <p:cNvPr id="4" name="Text 2"/>
          <p:cNvSpPr/>
          <p:nvPr/>
        </p:nvSpPr>
        <p:spPr>
          <a:xfrm>
            <a:off x="347472" y="109728"/>
            <a:ext cx="2286000" cy="173736"/>
          </a:xfrm>
          <a:prstGeom prst="rect">
            <a:avLst/>
          </a:prstGeom>
          <a:noFill/>
          <a:ln/>
        </p:spPr>
        <p:txBody>
          <a:bodyPr wrap="square" lIns="0" tIns="0" rIns="0" bIns="0" rtlCol="0" anchor="ctr">
            <a:normAutofit/>
          </a:bodyPr>
          <a:lstStyle/>
          <a:p>
            <a:pPr indent="0" marL="0">
              <a:buNone/>
            </a:pPr>
            <a:r>
              <a:rPr lang="en-US" sz="850" b="1" spc="100" kern="0" dirty="0">
                <a:solidFill>
                  <a:srgbClr val="AFC3F3"/>
                </a:solidFill>
                <a:latin typeface="Arial" pitchFamily="34" charset="0"/>
                <a:ea typeface="Arial" pitchFamily="34" charset="-122"/>
                <a:cs typeface="Arial" pitchFamily="34" charset="-120"/>
              </a:rPr>
              <a:t>AIRFOIL FAMILY 2 OF 5</a:t>
            </a:r>
            <a:endParaRPr lang="en-US" sz="850" dirty="0"/>
          </a:p>
        </p:txBody>
      </p:sp>
      <p:sp>
        <p:nvSpPr>
          <p:cNvPr id="5" name="Text 3"/>
          <p:cNvSpPr/>
          <p:nvPr/>
        </p:nvSpPr>
        <p:spPr>
          <a:xfrm>
            <a:off x="347472" y="274320"/>
            <a:ext cx="7086600" cy="329184"/>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NACA 2412: the balanced all-rounder</a:t>
            </a:r>
            <a:endParaRPr lang="en-US" sz="2300" dirty="0"/>
          </a:p>
        </p:txBody>
      </p:sp>
      <p:sp>
        <p:nvSpPr>
          <p:cNvPr id="6" name="Text 4"/>
          <p:cNvSpPr/>
          <p:nvPr/>
        </p:nvSpPr>
        <p:spPr>
          <a:xfrm>
            <a:off x="347472" y="621792"/>
            <a:ext cx="7086600" cy="182880"/>
          </a:xfrm>
          <a:prstGeom prst="rect">
            <a:avLst/>
          </a:prstGeom>
          <a:noFill/>
          <a:ln/>
        </p:spPr>
        <p:txBody>
          <a:bodyPr wrap="square" lIns="0" tIns="0" rIns="0" bIns="0" rtlCol="0" anchor="ctr">
            <a:normAutofit/>
          </a:bodyPr>
          <a:lstStyle/>
          <a:p>
            <a:pPr indent="0" marL="0">
              <a:buNone/>
            </a:pPr>
            <a:r>
              <a:rPr lang="en-US" sz="1050" dirty="0">
                <a:solidFill>
                  <a:srgbClr val="D7DEF0"/>
                </a:solidFill>
                <a:latin typeface="Arial" pitchFamily="34" charset="0"/>
                <a:ea typeface="Arial" pitchFamily="34" charset="-122"/>
                <a:cs typeface="Arial" pitchFamily="34" charset="-120"/>
              </a:rPr>
              <a:t>A four-digit airfoil with moderate camber and useful structural thickness</a:t>
            </a:r>
            <a:endParaRPr lang="en-US" sz="1050" dirty="0"/>
          </a:p>
        </p:txBody>
      </p:sp>
      <p:sp>
        <p:nvSpPr>
          <p:cNvPr id="7" name="Shape 5"/>
          <p:cNvSpPr/>
          <p:nvPr/>
        </p:nvSpPr>
        <p:spPr>
          <a:xfrm>
            <a:off x="329184" y="1115568"/>
            <a:ext cx="7095744" cy="1901952"/>
          </a:xfrm>
          <a:prstGeom prst="roundRect">
            <a:avLst>
              <a:gd name="adj" fmla="val 4808"/>
            </a:avLst>
          </a:prstGeom>
          <a:solidFill>
            <a:srgbClr val="FFFFFF"/>
          </a:solidFill>
          <a:ln w="10160">
            <a:solidFill>
              <a:srgbClr val="DDE2EC"/>
            </a:solidFill>
            <a:prstDash val="solid"/>
          </a:ln>
        </p:spPr>
        <p:txBody>
          <a:bodyPr/>
          <a:p/>
        </p:txBody>
      </p:sp>
      <p:sp>
        <p:nvSpPr>
          <p:cNvPr id="8" name="Shape 6"/>
          <p:cNvSpPr/>
          <p:nvPr/>
        </p:nvSpPr>
        <p:spPr>
          <a:xfrm>
            <a:off x="329184" y="1115568"/>
            <a:ext cx="73152" cy="1901952"/>
          </a:xfrm>
          <a:prstGeom prst="rect">
            <a:avLst/>
          </a:prstGeom>
          <a:solidFill>
            <a:srgbClr val="246BCE"/>
          </a:solidFill>
          <a:ln w="12700">
            <a:solidFill>
              <a:srgbClr val="246BCE"/>
            </a:solidFill>
            <a:prstDash val="solid"/>
          </a:ln>
        </p:spPr>
        <p:txBody>
          <a:bodyPr/>
          <a:p/>
        </p:txBody>
      </p:sp>
      <p:pic>
        <p:nvPicPr>
          <p:cNvPr id="9" name="Image 0" descr="/mnt/data/airfoil_project/assets/naca_241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3776" y="1225296"/>
            <a:ext cx="6729984" cy="1664208"/>
          </a:xfrm>
          <a:prstGeom prst="rect">
            <a:avLst/>
          </a:prstGeom>
        </p:spPr>
      </p:pic>
      <p:sp>
        <p:nvSpPr>
          <p:cNvPr id="10" name="Shape 7"/>
          <p:cNvSpPr/>
          <p:nvPr/>
        </p:nvSpPr>
        <p:spPr>
          <a:xfrm>
            <a:off x="32918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1" name="Text 8"/>
          <p:cNvSpPr/>
          <p:nvPr/>
        </p:nvSpPr>
        <p:spPr>
          <a:xfrm>
            <a:off x="43891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MAX THICKNESS</a:t>
            </a:r>
            <a:endParaRPr lang="en-US" sz="820" dirty="0"/>
          </a:p>
        </p:txBody>
      </p:sp>
      <p:sp>
        <p:nvSpPr>
          <p:cNvPr id="12" name="Text 9"/>
          <p:cNvSpPr/>
          <p:nvPr/>
        </p:nvSpPr>
        <p:spPr>
          <a:xfrm>
            <a:off x="43891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246BCE"/>
                </a:solidFill>
                <a:latin typeface="Arial" pitchFamily="34" charset="0"/>
                <a:ea typeface="Arial" pitchFamily="34" charset="-122"/>
                <a:cs typeface="Arial" pitchFamily="34" charset="-120"/>
              </a:rPr>
              <a:t>12.0%</a:t>
            </a:r>
            <a:endParaRPr lang="en-US" sz="1800" dirty="0"/>
          </a:p>
        </p:txBody>
      </p:sp>
      <p:sp>
        <p:nvSpPr>
          <p:cNvPr id="13" name="Text 10"/>
          <p:cNvSpPr/>
          <p:nvPr/>
        </p:nvSpPr>
        <p:spPr>
          <a:xfrm>
            <a:off x="43891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the “12” in its name</a:t>
            </a:r>
            <a:endParaRPr lang="en-US" sz="720" dirty="0"/>
          </a:p>
        </p:txBody>
      </p:sp>
      <p:sp>
        <p:nvSpPr>
          <p:cNvPr id="14" name="Shape 11"/>
          <p:cNvSpPr/>
          <p:nvPr/>
        </p:nvSpPr>
        <p:spPr>
          <a:xfrm>
            <a:off x="275234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5" name="Text 12"/>
          <p:cNvSpPr/>
          <p:nvPr/>
        </p:nvSpPr>
        <p:spPr>
          <a:xfrm>
            <a:off x="286207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MAX CAMBER</a:t>
            </a:r>
            <a:endParaRPr lang="en-US" sz="820" dirty="0"/>
          </a:p>
        </p:txBody>
      </p:sp>
      <p:sp>
        <p:nvSpPr>
          <p:cNvPr id="16" name="Text 13"/>
          <p:cNvSpPr/>
          <p:nvPr/>
        </p:nvSpPr>
        <p:spPr>
          <a:xfrm>
            <a:off x="286207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246BCE"/>
                </a:solidFill>
                <a:latin typeface="Arial" pitchFamily="34" charset="0"/>
                <a:ea typeface="Arial" pitchFamily="34" charset="-122"/>
                <a:cs typeface="Arial" pitchFamily="34" charset="-120"/>
              </a:rPr>
              <a:t>2.0%</a:t>
            </a:r>
            <a:endParaRPr lang="en-US" sz="1800" dirty="0"/>
          </a:p>
        </p:txBody>
      </p:sp>
      <p:sp>
        <p:nvSpPr>
          <p:cNvPr id="17" name="Text 14"/>
          <p:cNvSpPr/>
          <p:nvPr/>
        </p:nvSpPr>
        <p:spPr>
          <a:xfrm>
            <a:off x="286207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the first digit tells you this</a:t>
            </a:r>
            <a:endParaRPr lang="en-US" sz="720" dirty="0"/>
          </a:p>
        </p:txBody>
      </p:sp>
      <p:sp>
        <p:nvSpPr>
          <p:cNvPr id="18" name="Shape 15"/>
          <p:cNvSpPr/>
          <p:nvPr/>
        </p:nvSpPr>
        <p:spPr>
          <a:xfrm>
            <a:off x="517550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9" name="Text 16"/>
          <p:cNvSpPr/>
          <p:nvPr/>
        </p:nvSpPr>
        <p:spPr>
          <a:xfrm>
            <a:off x="528523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CAMBER LOCATION</a:t>
            </a:r>
            <a:endParaRPr lang="en-US" sz="820" dirty="0"/>
          </a:p>
        </p:txBody>
      </p:sp>
      <p:sp>
        <p:nvSpPr>
          <p:cNvPr id="20" name="Text 17"/>
          <p:cNvSpPr/>
          <p:nvPr/>
        </p:nvSpPr>
        <p:spPr>
          <a:xfrm>
            <a:off x="528523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246BCE"/>
                </a:solidFill>
                <a:latin typeface="Arial" pitchFamily="34" charset="0"/>
                <a:ea typeface="Arial" pitchFamily="34" charset="-122"/>
                <a:cs typeface="Arial" pitchFamily="34" charset="-120"/>
              </a:rPr>
              <a:t>40%</a:t>
            </a:r>
            <a:endParaRPr lang="en-US" sz="1800" dirty="0"/>
          </a:p>
        </p:txBody>
      </p:sp>
      <p:sp>
        <p:nvSpPr>
          <p:cNvPr id="21" name="Text 18"/>
          <p:cNvSpPr/>
          <p:nvPr/>
        </p:nvSpPr>
        <p:spPr>
          <a:xfrm>
            <a:off x="528523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the second digit tells you this</a:t>
            </a:r>
            <a:endParaRPr lang="en-US" sz="720" dirty="0"/>
          </a:p>
        </p:txBody>
      </p:sp>
      <p:sp>
        <p:nvSpPr>
          <p:cNvPr id="22" name="Shape 19"/>
          <p:cNvSpPr/>
          <p:nvPr/>
        </p:nvSpPr>
        <p:spPr>
          <a:xfrm>
            <a:off x="329184" y="4005072"/>
            <a:ext cx="4343400" cy="4809744"/>
          </a:xfrm>
          <a:prstGeom prst="roundRect">
            <a:avLst>
              <a:gd name="adj" fmla="val 2105"/>
            </a:avLst>
          </a:prstGeom>
          <a:solidFill>
            <a:srgbClr val="FFFFFF"/>
          </a:solidFill>
          <a:ln w="10160">
            <a:solidFill>
              <a:srgbClr val="D9DFEA"/>
            </a:solidFill>
            <a:prstDash val="solid"/>
          </a:ln>
        </p:spPr>
        <p:txBody>
          <a:bodyPr/>
          <a:p/>
        </p:txBody>
      </p:sp>
      <p:sp>
        <p:nvSpPr>
          <p:cNvPr id="23" name="Shape 20"/>
          <p:cNvSpPr/>
          <p:nvPr/>
        </p:nvSpPr>
        <p:spPr>
          <a:xfrm>
            <a:off x="512064" y="4160520"/>
            <a:ext cx="45720" cy="173736"/>
          </a:xfrm>
          <a:prstGeom prst="rect">
            <a:avLst/>
          </a:prstGeom>
          <a:solidFill>
            <a:srgbClr val="246BCE"/>
          </a:solidFill>
          <a:ln w="12700">
            <a:solidFill>
              <a:srgbClr val="246BCE">
                <a:alpha val="0"/>
              </a:srgbClr>
            </a:solidFill>
            <a:prstDash val="solid"/>
          </a:ln>
        </p:spPr>
        <p:txBody>
          <a:bodyPr/>
          <a:p/>
        </p:txBody>
      </p:sp>
      <p:sp>
        <p:nvSpPr>
          <p:cNvPr id="24" name="Text 21"/>
          <p:cNvSpPr/>
          <p:nvPr/>
        </p:nvSpPr>
        <p:spPr>
          <a:xfrm>
            <a:off x="621792" y="4133088"/>
            <a:ext cx="3867912"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WHY IT FLIES THIS WAY</a:t>
            </a:r>
            <a:endParaRPr lang="en-US" sz="950" dirty="0"/>
          </a:p>
        </p:txBody>
      </p:sp>
      <p:sp>
        <p:nvSpPr>
          <p:cNvPr id="25" name="Shape 22"/>
          <p:cNvSpPr/>
          <p:nvPr/>
        </p:nvSpPr>
        <p:spPr>
          <a:xfrm>
            <a:off x="530352" y="4453128"/>
            <a:ext cx="310896" cy="310896"/>
          </a:xfrm>
          <a:prstGeom prst="ellipse">
            <a:avLst/>
          </a:prstGeom>
          <a:solidFill>
            <a:srgbClr val="246BCE"/>
          </a:solidFill>
          <a:ln w="12700">
            <a:solidFill>
              <a:srgbClr val="246BCE"/>
            </a:solidFill>
            <a:prstDash val="solid"/>
          </a:ln>
        </p:spPr>
        <p:txBody>
          <a:bodyPr/>
          <a:p/>
        </p:txBody>
      </p:sp>
      <p:sp>
        <p:nvSpPr>
          <p:cNvPr id="26" name="Text 23"/>
          <p:cNvSpPr/>
          <p:nvPr/>
        </p:nvSpPr>
        <p:spPr>
          <a:xfrm>
            <a:off x="530352" y="4453128"/>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27" name="Text 24"/>
          <p:cNvSpPr/>
          <p:nvPr/>
        </p:nvSpPr>
        <p:spPr>
          <a:xfrm>
            <a:off x="941832" y="4443984"/>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Two percent camber gives more upright lift than a symmetric section without creating an extreme undercambered shape.</a:t>
            </a:r>
            <a:endParaRPr lang="en-US" sz="1120" dirty="0"/>
          </a:p>
        </p:txBody>
      </p:sp>
      <p:sp>
        <p:nvSpPr>
          <p:cNvPr id="28" name="Shape 25"/>
          <p:cNvSpPr/>
          <p:nvPr/>
        </p:nvSpPr>
        <p:spPr>
          <a:xfrm>
            <a:off x="530352" y="5129784"/>
            <a:ext cx="310896" cy="310896"/>
          </a:xfrm>
          <a:prstGeom prst="ellipse">
            <a:avLst/>
          </a:prstGeom>
          <a:solidFill>
            <a:srgbClr val="246BCE"/>
          </a:solidFill>
          <a:ln w="12700">
            <a:solidFill>
              <a:srgbClr val="246BCE"/>
            </a:solidFill>
            <a:prstDash val="solid"/>
          </a:ln>
        </p:spPr>
        <p:txBody>
          <a:bodyPr/>
          <a:p/>
        </p:txBody>
      </p:sp>
      <p:sp>
        <p:nvSpPr>
          <p:cNvPr id="29" name="Text 26"/>
          <p:cNvSpPr/>
          <p:nvPr/>
        </p:nvSpPr>
        <p:spPr>
          <a:xfrm>
            <a:off x="530352" y="5129784"/>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30" name="Text 27"/>
          <p:cNvSpPr/>
          <p:nvPr/>
        </p:nvSpPr>
        <p:spPr>
          <a:xfrm>
            <a:off x="941832" y="5120640"/>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Twelve percent thickness leaves useful room for a spar, servos, and a strong leading edge.</a:t>
            </a:r>
            <a:endParaRPr lang="en-US" sz="1120" dirty="0"/>
          </a:p>
        </p:txBody>
      </p:sp>
      <p:sp>
        <p:nvSpPr>
          <p:cNvPr id="31" name="Shape 28"/>
          <p:cNvSpPr/>
          <p:nvPr/>
        </p:nvSpPr>
        <p:spPr>
          <a:xfrm>
            <a:off x="530352" y="5806440"/>
            <a:ext cx="310896" cy="310896"/>
          </a:xfrm>
          <a:prstGeom prst="ellipse">
            <a:avLst/>
          </a:prstGeom>
          <a:solidFill>
            <a:srgbClr val="246BCE"/>
          </a:solidFill>
          <a:ln w="12700">
            <a:solidFill>
              <a:srgbClr val="246BCE"/>
            </a:solidFill>
            <a:prstDash val="solid"/>
          </a:ln>
        </p:spPr>
        <p:txBody>
          <a:bodyPr/>
          <a:p/>
        </p:txBody>
      </p:sp>
      <p:sp>
        <p:nvSpPr>
          <p:cNvPr id="32" name="Text 29"/>
          <p:cNvSpPr/>
          <p:nvPr/>
        </p:nvSpPr>
        <p:spPr>
          <a:xfrm>
            <a:off x="530352" y="5806440"/>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33" name="Text 30"/>
          <p:cNvSpPr/>
          <p:nvPr/>
        </p:nvSpPr>
        <p:spPr>
          <a:xfrm>
            <a:off x="941832" y="5797296"/>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It is a compromise: reasonably efficient, reasonably gentle, and capable of sport flying without specializing in one job.</a:t>
            </a:r>
            <a:endParaRPr lang="en-US" sz="1120" dirty="0"/>
          </a:p>
        </p:txBody>
      </p:sp>
      <p:sp>
        <p:nvSpPr>
          <p:cNvPr id="34" name="Shape 31"/>
          <p:cNvSpPr/>
          <p:nvPr/>
        </p:nvSpPr>
        <p:spPr>
          <a:xfrm>
            <a:off x="585216" y="6629400"/>
            <a:ext cx="3840480" cy="1737360"/>
          </a:xfrm>
          <a:prstGeom prst="roundRect">
            <a:avLst>
              <a:gd name="adj" fmla="val 5263"/>
            </a:avLst>
          </a:prstGeom>
          <a:solidFill>
            <a:srgbClr val="F8FAFD"/>
          </a:solidFill>
          <a:ln w="10160">
            <a:solidFill>
              <a:srgbClr val="E5EAF2"/>
            </a:solidFill>
            <a:prstDash val="solid"/>
          </a:ln>
        </p:spPr>
        <p:txBody>
          <a:bodyPr/>
          <a:p/>
        </p:txBody>
      </p:sp>
      <p:sp>
        <p:nvSpPr>
          <p:cNvPr id="35" name="Text 32"/>
          <p:cNvSpPr/>
          <p:nvPr/>
        </p:nvSpPr>
        <p:spPr>
          <a:xfrm>
            <a:off x="731520" y="6720840"/>
            <a:ext cx="2103120" cy="155448"/>
          </a:xfrm>
          <a:prstGeom prst="rect">
            <a:avLst/>
          </a:prstGeom>
          <a:noFill/>
          <a:ln/>
        </p:spPr>
        <p:txBody>
          <a:bodyPr wrap="square" lIns="0" tIns="0" rIns="0" bIns="0" rtlCol="0" anchor="ctr">
            <a:normAutofit/>
          </a:bodyPr>
          <a:lstStyle/>
          <a:p>
            <a:pPr indent="0" marL="0">
              <a:buNone/>
            </a:pPr>
            <a:r>
              <a:rPr lang="en-US" sz="780" b="1" spc="50" kern="0" dirty="0">
                <a:solidFill>
                  <a:srgbClr val="59627A"/>
                </a:solidFill>
                <a:latin typeface="Arial" pitchFamily="34" charset="0"/>
                <a:ea typeface="Arial" pitchFamily="34" charset="-122"/>
                <a:cs typeface="Arial" pitchFamily="34" charset="-120"/>
              </a:rPr>
              <a:t>CRACK THE FOUR-DIGIT CODE</a:t>
            </a:r>
            <a:endParaRPr lang="en-US" sz="780" dirty="0"/>
          </a:p>
        </p:txBody>
      </p:sp>
      <p:sp>
        <p:nvSpPr>
          <p:cNvPr id="36" name="Shape 33"/>
          <p:cNvSpPr/>
          <p:nvPr/>
        </p:nvSpPr>
        <p:spPr>
          <a:xfrm>
            <a:off x="768096" y="7013448"/>
            <a:ext cx="987552" cy="603504"/>
          </a:xfrm>
          <a:prstGeom prst="roundRect">
            <a:avLst>
              <a:gd name="adj" fmla="val 12121"/>
            </a:avLst>
          </a:prstGeom>
          <a:solidFill>
            <a:srgbClr val="246BCE">
              <a:alpha val="96000"/>
            </a:srgbClr>
          </a:solidFill>
          <a:ln w="12700">
            <a:solidFill>
              <a:srgbClr val="246BCE"/>
            </a:solidFill>
            <a:prstDash val="solid"/>
          </a:ln>
        </p:spPr>
        <p:txBody>
          <a:bodyPr/>
          <a:p/>
        </p:txBody>
      </p:sp>
      <p:sp>
        <p:nvSpPr>
          <p:cNvPr id="37" name="Text 34"/>
          <p:cNvSpPr/>
          <p:nvPr/>
        </p:nvSpPr>
        <p:spPr>
          <a:xfrm>
            <a:off x="768096" y="7059168"/>
            <a:ext cx="987552" cy="329184"/>
          </a:xfrm>
          <a:prstGeom prst="rect">
            <a:avLst/>
          </a:prstGeom>
          <a:noFill/>
          <a:ln/>
        </p:spPr>
        <p:txBody>
          <a:bodyPr wrap="square" lIns="0" tIns="0" rIns="0" bIns="0" rtlCol="0" anchor="ctr">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38" name="Text 35"/>
          <p:cNvSpPr/>
          <p:nvPr/>
        </p:nvSpPr>
        <p:spPr>
          <a:xfrm>
            <a:off x="722376" y="7690104"/>
            <a:ext cx="1078992" cy="411480"/>
          </a:xfrm>
          <a:prstGeom prst="rect">
            <a:avLst/>
          </a:prstGeom>
          <a:noFill/>
          <a:ln/>
        </p:spPr>
        <p:txBody>
          <a:bodyPr wrap="square" lIns="0" tIns="0" rIns="0" bIns="0" rtlCol="0" anchor="t">
            <a:normAutofit/>
          </a:bodyPr>
          <a:lstStyle/>
          <a:p>
            <a:pPr algn="ctr" indent="0" marL="0">
              <a:buNone/>
            </a:pPr>
            <a:r>
              <a:rPr lang="en-US" sz="860" dirty="0">
                <a:solidFill>
                  <a:srgbClr val="1A2342"/>
                </a:solidFill>
                <a:latin typeface="Arial" pitchFamily="34" charset="0"/>
                <a:ea typeface="Arial" pitchFamily="34" charset="-122"/>
                <a:cs typeface="Arial" pitchFamily="34" charset="-120"/>
              </a:rPr>
              <a:t>2% maximum camber</a:t>
            </a:r>
            <a:endParaRPr lang="en-US" sz="860" dirty="0"/>
          </a:p>
        </p:txBody>
      </p:sp>
      <p:sp>
        <p:nvSpPr>
          <p:cNvPr id="39" name="Shape 36"/>
          <p:cNvSpPr/>
          <p:nvPr/>
        </p:nvSpPr>
        <p:spPr>
          <a:xfrm>
            <a:off x="1975104" y="7013448"/>
            <a:ext cx="987552" cy="603504"/>
          </a:xfrm>
          <a:prstGeom prst="roundRect">
            <a:avLst>
              <a:gd name="adj" fmla="val 12121"/>
            </a:avLst>
          </a:prstGeom>
          <a:solidFill>
            <a:srgbClr val="246BCE">
              <a:alpha val="96000"/>
            </a:srgbClr>
          </a:solidFill>
          <a:ln w="12700">
            <a:solidFill>
              <a:srgbClr val="246BCE"/>
            </a:solidFill>
            <a:prstDash val="solid"/>
          </a:ln>
        </p:spPr>
        <p:txBody>
          <a:bodyPr/>
          <a:p/>
        </p:txBody>
      </p:sp>
      <p:sp>
        <p:nvSpPr>
          <p:cNvPr id="40" name="Text 37"/>
          <p:cNvSpPr/>
          <p:nvPr/>
        </p:nvSpPr>
        <p:spPr>
          <a:xfrm>
            <a:off x="1975104" y="7059168"/>
            <a:ext cx="987552" cy="329184"/>
          </a:xfrm>
          <a:prstGeom prst="rect">
            <a:avLst/>
          </a:prstGeom>
          <a:noFill/>
          <a:ln/>
        </p:spPr>
        <p:txBody>
          <a:bodyPr wrap="square" lIns="0" tIns="0" rIns="0" bIns="0" rtlCol="0" anchor="ctr">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41" name="Text 38"/>
          <p:cNvSpPr/>
          <p:nvPr/>
        </p:nvSpPr>
        <p:spPr>
          <a:xfrm>
            <a:off x="1929384" y="7690104"/>
            <a:ext cx="1078992" cy="411480"/>
          </a:xfrm>
          <a:prstGeom prst="rect">
            <a:avLst/>
          </a:prstGeom>
          <a:noFill/>
          <a:ln/>
        </p:spPr>
        <p:txBody>
          <a:bodyPr wrap="square" lIns="0" tIns="0" rIns="0" bIns="0" rtlCol="0" anchor="t">
            <a:normAutofit/>
          </a:bodyPr>
          <a:lstStyle/>
          <a:p>
            <a:pPr algn="ctr" indent="0" marL="0">
              <a:buNone/>
            </a:pPr>
            <a:r>
              <a:rPr lang="en-US" sz="860" dirty="0">
                <a:solidFill>
                  <a:srgbClr val="1A2342"/>
                </a:solidFill>
                <a:latin typeface="Arial" pitchFamily="34" charset="0"/>
                <a:ea typeface="Arial" pitchFamily="34" charset="-122"/>
                <a:cs typeface="Arial" pitchFamily="34" charset="-120"/>
              </a:rPr>
              <a:t>camber peak at 40% chord</a:t>
            </a:r>
            <a:endParaRPr lang="en-US" sz="860" dirty="0"/>
          </a:p>
        </p:txBody>
      </p:sp>
      <p:sp>
        <p:nvSpPr>
          <p:cNvPr id="42" name="Shape 39"/>
          <p:cNvSpPr/>
          <p:nvPr/>
        </p:nvSpPr>
        <p:spPr>
          <a:xfrm>
            <a:off x="3182112" y="7013448"/>
            <a:ext cx="987552" cy="603504"/>
          </a:xfrm>
          <a:prstGeom prst="roundRect">
            <a:avLst>
              <a:gd name="adj" fmla="val 12121"/>
            </a:avLst>
          </a:prstGeom>
          <a:solidFill>
            <a:srgbClr val="246BCE">
              <a:alpha val="96000"/>
            </a:srgbClr>
          </a:solidFill>
          <a:ln w="12700">
            <a:solidFill>
              <a:srgbClr val="246BCE"/>
            </a:solidFill>
            <a:prstDash val="solid"/>
          </a:ln>
        </p:spPr>
        <p:txBody>
          <a:bodyPr/>
          <a:p/>
        </p:txBody>
      </p:sp>
      <p:sp>
        <p:nvSpPr>
          <p:cNvPr id="43" name="Text 40"/>
          <p:cNvSpPr/>
          <p:nvPr/>
        </p:nvSpPr>
        <p:spPr>
          <a:xfrm>
            <a:off x="3182112" y="7059168"/>
            <a:ext cx="987552" cy="329184"/>
          </a:xfrm>
          <a:prstGeom prst="rect">
            <a:avLst/>
          </a:prstGeom>
          <a:noFill/>
          <a:ln/>
        </p:spPr>
        <p:txBody>
          <a:bodyPr wrap="square" lIns="0" tIns="0" rIns="0" bIns="0" rtlCol="0" anchor="ctr">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
        <p:nvSpPr>
          <p:cNvPr id="44" name="Text 41"/>
          <p:cNvSpPr/>
          <p:nvPr/>
        </p:nvSpPr>
        <p:spPr>
          <a:xfrm>
            <a:off x="3136392" y="7690104"/>
            <a:ext cx="1078992" cy="411480"/>
          </a:xfrm>
          <a:prstGeom prst="rect">
            <a:avLst/>
          </a:prstGeom>
          <a:noFill/>
          <a:ln/>
        </p:spPr>
        <p:txBody>
          <a:bodyPr wrap="square" lIns="0" tIns="0" rIns="0" bIns="0" rtlCol="0" anchor="t">
            <a:normAutofit/>
          </a:bodyPr>
          <a:lstStyle/>
          <a:p>
            <a:pPr algn="ctr" indent="0" marL="0">
              <a:buNone/>
            </a:pPr>
            <a:r>
              <a:rPr lang="en-US" sz="860" dirty="0">
                <a:solidFill>
                  <a:srgbClr val="1A2342"/>
                </a:solidFill>
                <a:latin typeface="Arial" pitchFamily="34" charset="0"/>
                <a:ea typeface="Arial" pitchFamily="34" charset="-122"/>
                <a:cs typeface="Arial" pitchFamily="34" charset="-120"/>
              </a:rPr>
              <a:t>12% maximum thickness</a:t>
            </a:r>
            <a:endParaRPr lang="en-US" sz="860" dirty="0"/>
          </a:p>
        </p:txBody>
      </p:sp>
      <p:sp>
        <p:nvSpPr>
          <p:cNvPr id="45" name="Shape 42"/>
          <p:cNvSpPr/>
          <p:nvPr/>
        </p:nvSpPr>
        <p:spPr>
          <a:xfrm>
            <a:off x="4828032" y="4005072"/>
            <a:ext cx="2596896" cy="1143000"/>
          </a:xfrm>
          <a:prstGeom prst="roundRect">
            <a:avLst>
              <a:gd name="adj" fmla="val 8000"/>
            </a:avLst>
          </a:prstGeom>
          <a:solidFill>
            <a:srgbClr val="FFFFFF"/>
          </a:solidFill>
          <a:ln w="10160">
            <a:solidFill>
              <a:srgbClr val="D9DFEA"/>
            </a:solidFill>
            <a:prstDash val="solid"/>
          </a:ln>
        </p:spPr>
        <p:txBody>
          <a:bodyPr/>
          <a:p/>
        </p:txBody>
      </p:sp>
      <p:sp>
        <p:nvSpPr>
          <p:cNvPr id="46" name="Shape 43"/>
          <p:cNvSpPr/>
          <p:nvPr/>
        </p:nvSpPr>
        <p:spPr>
          <a:xfrm>
            <a:off x="4965192" y="4142232"/>
            <a:ext cx="45720" cy="173736"/>
          </a:xfrm>
          <a:prstGeom prst="rect">
            <a:avLst/>
          </a:prstGeom>
          <a:solidFill>
            <a:srgbClr val="246BCE"/>
          </a:solidFill>
          <a:ln w="12700">
            <a:solidFill>
              <a:srgbClr val="246BCE">
                <a:alpha val="0"/>
              </a:srgbClr>
            </a:solidFill>
            <a:prstDash val="solid"/>
          </a:ln>
        </p:spPr>
        <p:txBody>
          <a:bodyPr/>
          <a:p/>
        </p:txBody>
      </p:sp>
      <p:sp>
        <p:nvSpPr>
          <p:cNvPr id="47" name="Text 44"/>
          <p:cNvSpPr/>
          <p:nvPr/>
        </p:nvSpPr>
        <p:spPr>
          <a:xfrm>
            <a:off x="5074920" y="4114800"/>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BEST FOR</a:t>
            </a:r>
            <a:endParaRPr lang="en-US" sz="950" dirty="0"/>
          </a:p>
        </p:txBody>
      </p:sp>
      <p:sp>
        <p:nvSpPr>
          <p:cNvPr id="48" name="Shape 45"/>
          <p:cNvSpPr/>
          <p:nvPr/>
        </p:nvSpPr>
        <p:spPr>
          <a:xfrm>
            <a:off x="4992624" y="4434840"/>
            <a:ext cx="91440" cy="91440"/>
          </a:xfrm>
          <a:prstGeom prst="ellipse">
            <a:avLst/>
          </a:prstGeom>
          <a:solidFill>
            <a:srgbClr val="246BCE"/>
          </a:solidFill>
          <a:ln w="12700">
            <a:solidFill>
              <a:srgbClr val="246BCE"/>
            </a:solidFill>
            <a:prstDash val="solid"/>
          </a:ln>
        </p:spPr>
        <p:txBody>
          <a:bodyPr/>
          <a:p/>
        </p:txBody>
      </p:sp>
      <p:sp>
        <p:nvSpPr>
          <p:cNvPr id="49" name="Text 46"/>
          <p:cNvSpPr/>
          <p:nvPr/>
        </p:nvSpPr>
        <p:spPr>
          <a:xfrm>
            <a:off x="5157216" y="4370832"/>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General sport models</a:t>
            </a:r>
            <a:endParaRPr lang="en-US" sz="920" dirty="0"/>
          </a:p>
        </p:txBody>
      </p:sp>
      <p:sp>
        <p:nvSpPr>
          <p:cNvPr id="50" name="Shape 47"/>
          <p:cNvSpPr/>
          <p:nvPr/>
        </p:nvSpPr>
        <p:spPr>
          <a:xfrm>
            <a:off x="4992624" y="4654296"/>
            <a:ext cx="91440" cy="91440"/>
          </a:xfrm>
          <a:prstGeom prst="ellipse">
            <a:avLst/>
          </a:prstGeom>
          <a:solidFill>
            <a:srgbClr val="246BCE"/>
          </a:solidFill>
          <a:ln w="12700">
            <a:solidFill>
              <a:srgbClr val="246BCE"/>
            </a:solidFill>
            <a:prstDash val="solid"/>
          </a:ln>
        </p:spPr>
        <p:txBody>
          <a:bodyPr/>
          <a:p/>
        </p:txBody>
      </p:sp>
      <p:sp>
        <p:nvSpPr>
          <p:cNvPr id="51" name="Text 48"/>
          <p:cNvSpPr/>
          <p:nvPr/>
        </p:nvSpPr>
        <p:spPr>
          <a:xfrm>
            <a:off x="5157216" y="4590288"/>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Scale aircraft</a:t>
            </a:r>
            <a:endParaRPr lang="en-US" sz="920" dirty="0"/>
          </a:p>
        </p:txBody>
      </p:sp>
      <p:sp>
        <p:nvSpPr>
          <p:cNvPr id="52" name="Shape 49"/>
          <p:cNvSpPr/>
          <p:nvPr/>
        </p:nvSpPr>
        <p:spPr>
          <a:xfrm>
            <a:off x="4992624" y="4873752"/>
            <a:ext cx="91440" cy="91440"/>
          </a:xfrm>
          <a:prstGeom prst="ellipse">
            <a:avLst/>
          </a:prstGeom>
          <a:solidFill>
            <a:srgbClr val="246BCE"/>
          </a:solidFill>
          <a:ln w="12700">
            <a:solidFill>
              <a:srgbClr val="246BCE"/>
            </a:solidFill>
            <a:prstDash val="solid"/>
          </a:ln>
        </p:spPr>
        <p:txBody>
          <a:bodyPr/>
          <a:p/>
        </p:txBody>
      </p:sp>
      <p:sp>
        <p:nvSpPr>
          <p:cNvPr id="53" name="Text 50"/>
          <p:cNvSpPr/>
          <p:nvPr/>
        </p:nvSpPr>
        <p:spPr>
          <a:xfrm>
            <a:off x="5157216" y="4809744"/>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Moderate aerobatics</a:t>
            </a:r>
            <a:endParaRPr lang="en-US" sz="920" dirty="0"/>
          </a:p>
        </p:txBody>
      </p:sp>
      <p:sp>
        <p:nvSpPr>
          <p:cNvPr id="54" name="Shape 51"/>
          <p:cNvSpPr/>
          <p:nvPr/>
        </p:nvSpPr>
        <p:spPr>
          <a:xfrm>
            <a:off x="4828032" y="5266944"/>
            <a:ext cx="2596896" cy="1353312"/>
          </a:xfrm>
          <a:prstGeom prst="roundRect">
            <a:avLst>
              <a:gd name="adj" fmla="val 6757"/>
            </a:avLst>
          </a:prstGeom>
          <a:solidFill>
            <a:srgbClr val="FFFFFF"/>
          </a:solidFill>
          <a:ln w="10160">
            <a:solidFill>
              <a:srgbClr val="D9DFEA"/>
            </a:solidFill>
            <a:prstDash val="solid"/>
          </a:ln>
        </p:spPr>
        <p:txBody>
          <a:bodyPr/>
          <a:p/>
        </p:txBody>
      </p:sp>
      <p:sp>
        <p:nvSpPr>
          <p:cNvPr id="55" name="Shape 52"/>
          <p:cNvSpPr/>
          <p:nvPr/>
        </p:nvSpPr>
        <p:spPr>
          <a:xfrm>
            <a:off x="4965192" y="5404104"/>
            <a:ext cx="45720" cy="173736"/>
          </a:xfrm>
          <a:prstGeom prst="rect">
            <a:avLst/>
          </a:prstGeom>
          <a:solidFill>
            <a:srgbClr val="246BCE"/>
          </a:solidFill>
          <a:ln w="12700">
            <a:solidFill>
              <a:srgbClr val="246BCE">
                <a:alpha val="0"/>
              </a:srgbClr>
            </a:solidFill>
            <a:prstDash val="solid"/>
          </a:ln>
        </p:spPr>
        <p:txBody>
          <a:bodyPr/>
          <a:p/>
        </p:txBody>
      </p:sp>
      <p:sp>
        <p:nvSpPr>
          <p:cNvPr id="56" name="Text 53"/>
          <p:cNvSpPr/>
          <p:nvPr/>
        </p:nvSpPr>
        <p:spPr>
          <a:xfrm>
            <a:off x="5074920" y="5376672"/>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BUILD NOTES</a:t>
            </a:r>
            <a:endParaRPr lang="en-US" sz="950" dirty="0"/>
          </a:p>
        </p:txBody>
      </p:sp>
      <p:sp>
        <p:nvSpPr>
          <p:cNvPr id="57" name="Shape 54"/>
          <p:cNvSpPr/>
          <p:nvPr/>
        </p:nvSpPr>
        <p:spPr>
          <a:xfrm>
            <a:off x="4992624" y="5687568"/>
            <a:ext cx="91440" cy="91440"/>
          </a:xfrm>
          <a:prstGeom prst="ellipse">
            <a:avLst/>
          </a:prstGeom>
          <a:solidFill>
            <a:srgbClr val="246BCE"/>
          </a:solidFill>
          <a:ln w="12700">
            <a:solidFill>
              <a:srgbClr val="246BCE"/>
            </a:solidFill>
            <a:prstDash val="solid"/>
          </a:ln>
        </p:spPr>
        <p:txBody>
          <a:bodyPr/>
          <a:p/>
        </p:txBody>
      </p:sp>
      <p:sp>
        <p:nvSpPr>
          <p:cNvPr id="58" name="Text 55"/>
          <p:cNvSpPr/>
          <p:nvPr/>
        </p:nvSpPr>
        <p:spPr>
          <a:xfrm>
            <a:off x="5157216" y="5623560"/>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The lower surface is curved, so use rib feet, tabs, or a jig.</a:t>
            </a:r>
            <a:endParaRPr lang="en-US" sz="900" dirty="0"/>
          </a:p>
        </p:txBody>
      </p:sp>
      <p:sp>
        <p:nvSpPr>
          <p:cNvPr id="59" name="Shape 56"/>
          <p:cNvSpPr/>
          <p:nvPr/>
        </p:nvSpPr>
        <p:spPr>
          <a:xfrm>
            <a:off x="4992624" y="5974080"/>
            <a:ext cx="91440" cy="91440"/>
          </a:xfrm>
          <a:prstGeom prst="ellipse">
            <a:avLst/>
          </a:prstGeom>
          <a:solidFill>
            <a:srgbClr val="246BCE"/>
          </a:solidFill>
          <a:ln w="12700">
            <a:solidFill>
              <a:srgbClr val="246BCE"/>
            </a:solidFill>
            <a:prstDash val="solid"/>
          </a:ln>
        </p:spPr>
        <p:txBody>
          <a:bodyPr/>
          <a:p/>
        </p:txBody>
      </p:sp>
      <p:sp>
        <p:nvSpPr>
          <p:cNvPr id="60" name="Text 57"/>
          <p:cNvSpPr/>
          <p:nvPr/>
        </p:nvSpPr>
        <p:spPr>
          <a:xfrm>
            <a:off x="5157216" y="5910072"/>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Measure the 40% camber location from the leading edge.</a:t>
            </a:r>
            <a:endParaRPr lang="en-US" sz="900" dirty="0"/>
          </a:p>
        </p:txBody>
      </p:sp>
      <p:sp>
        <p:nvSpPr>
          <p:cNvPr id="61" name="Shape 58"/>
          <p:cNvSpPr/>
          <p:nvPr/>
        </p:nvSpPr>
        <p:spPr>
          <a:xfrm>
            <a:off x="4992624" y="6260592"/>
            <a:ext cx="91440" cy="91440"/>
          </a:xfrm>
          <a:prstGeom prst="ellipse">
            <a:avLst/>
          </a:prstGeom>
          <a:solidFill>
            <a:srgbClr val="246BCE"/>
          </a:solidFill>
          <a:ln w="12700">
            <a:solidFill>
              <a:srgbClr val="246BCE"/>
            </a:solidFill>
            <a:prstDash val="solid"/>
          </a:ln>
        </p:spPr>
        <p:txBody>
          <a:bodyPr/>
          <a:p/>
        </p:txBody>
      </p:sp>
      <p:sp>
        <p:nvSpPr>
          <p:cNvPr id="62" name="Text 59"/>
          <p:cNvSpPr/>
          <p:nvPr/>
        </p:nvSpPr>
        <p:spPr>
          <a:xfrm>
            <a:off x="5157216" y="6196584"/>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Do not blunt the trailing edge more than the plan requires.</a:t>
            </a:r>
            <a:endParaRPr lang="en-US" sz="900" dirty="0"/>
          </a:p>
        </p:txBody>
      </p:sp>
      <p:sp>
        <p:nvSpPr>
          <p:cNvPr id="63" name="Shape 60"/>
          <p:cNvSpPr/>
          <p:nvPr/>
        </p:nvSpPr>
        <p:spPr>
          <a:xfrm>
            <a:off x="4828032" y="6739128"/>
            <a:ext cx="2596896" cy="1097280"/>
          </a:xfrm>
          <a:prstGeom prst="roundRect">
            <a:avLst>
              <a:gd name="adj" fmla="val 8333"/>
            </a:avLst>
          </a:prstGeom>
          <a:solidFill>
            <a:srgbClr val="FFFFFF"/>
          </a:solidFill>
          <a:ln w="10160">
            <a:solidFill>
              <a:srgbClr val="D9DFEA"/>
            </a:solidFill>
            <a:prstDash val="solid"/>
          </a:ln>
        </p:spPr>
        <p:txBody>
          <a:bodyPr/>
          <a:p/>
        </p:txBody>
      </p:sp>
      <p:sp>
        <p:nvSpPr>
          <p:cNvPr id="64" name="Shape 61"/>
          <p:cNvSpPr/>
          <p:nvPr/>
        </p:nvSpPr>
        <p:spPr>
          <a:xfrm>
            <a:off x="4965192" y="6876288"/>
            <a:ext cx="45720" cy="173736"/>
          </a:xfrm>
          <a:prstGeom prst="rect">
            <a:avLst/>
          </a:prstGeom>
          <a:solidFill>
            <a:srgbClr val="C83E3E"/>
          </a:solidFill>
          <a:ln w="12700">
            <a:solidFill>
              <a:srgbClr val="C83E3E">
                <a:alpha val="0"/>
              </a:srgbClr>
            </a:solidFill>
            <a:prstDash val="solid"/>
          </a:ln>
        </p:spPr>
        <p:txBody>
          <a:bodyPr/>
          <a:p/>
        </p:txBody>
      </p:sp>
      <p:sp>
        <p:nvSpPr>
          <p:cNvPr id="65" name="Text 62"/>
          <p:cNvSpPr/>
          <p:nvPr/>
        </p:nvSpPr>
        <p:spPr>
          <a:xfrm>
            <a:off x="5074920" y="6848856"/>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WATCH-OUTS</a:t>
            </a:r>
            <a:endParaRPr lang="en-US" sz="950" dirty="0"/>
          </a:p>
        </p:txBody>
      </p:sp>
      <p:sp>
        <p:nvSpPr>
          <p:cNvPr id="66" name="Shape 63"/>
          <p:cNvSpPr/>
          <p:nvPr/>
        </p:nvSpPr>
        <p:spPr>
          <a:xfrm>
            <a:off x="4992624" y="7159752"/>
            <a:ext cx="91440" cy="91440"/>
          </a:xfrm>
          <a:prstGeom prst="ellipse">
            <a:avLst/>
          </a:prstGeom>
          <a:solidFill>
            <a:srgbClr val="C83E3E"/>
          </a:solidFill>
          <a:ln w="12700">
            <a:solidFill>
              <a:srgbClr val="C83E3E"/>
            </a:solidFill>
            <a:prstDash val="solid"/>
          </a:ln>
        </p:spPr>
        <p:txBody>
          <a:bodyPr/>
          <a:p/>
        </p:txBody>
      </p:sp>
      <p:sp>
        <p:nvSpPr>
          <p:cNvPr id="67" name="Text 64"/>
          <p:cNvSpPr/>
          <p:nvPr/>
        </p:nvSpPr>
        <p:spPr>
          <a:xfrm>
            <a:off x="5157216" y="7095744"/>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Upright and inverted trim will differ.</a:t>
            </a:r>
            <a:endParaRPr lang="en-US" sz="880" dirty="0"/>
          </a:p>
        </p:txBody>
      </p:sp>
      <p:sp>
        <p:nvSpPr>
          <p:cNvPr id="68" name="Shape 65"/>
          <p:cNvSpPr/>
          <p:nvPr/>
        </p:nvSpPr>
        <p:spPr>
          <a:xfrm>
            <a:off x="4992624" y="7367016"/>
            <a:ext cx="91440" cy="91440"/>
          </a:xfrm>
          <a:prstGeom prst="ellipse">
            <a:avLst/>
          </a:prstGeom>
          <a:solidFill>
            <a:srgbClr val="C83E3E"/>
          </a:solidFill>
          <a:ln w="12700">
            <a:solidFill>
              <a:srgbClr val="C83E3E"/>
            </a:solidFill>
            <a:prstDash val="solid"/>
          </a:ln>
        </p:spPr>
        <p:txBody>
          <a:bodyPr/>
          <a:p/>
        </p:txBody>
      </p:sp>
      <p:sp>
        <p:nvSpPr>
          <p:cNvPr id="69" name="Text 66"/>
          <p:cNvSpPr/>
          <p:nvPr/>
        </p:nvSpPr>
        <p:spPr>
          <a:xfrm>
            <a:off x="5157216" y="7303008"/>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Full-size data may not match a small model’s Reynolds number.</a:t>
            </a:r>
            <a:endParaRPr lang="en-US" sz="880" dirty="0"/>
          </a:p>
        </p:txBody>
      </p:sp>
      <p:sp>
        <p:nvSpPr>
          <p:cNvPr id="70" name="Shape 67"/>
          <p:cNvSpPr/>
          <p:nvPr/>
        </p:nvSpPr>
        <p:spPr>
          <a:xfrm>
            <a:off x="4992624" y="7574280"/>
            <a:ext cx="91440" cy="91440"/>
          </a:xfrm>
          <a:prstGeom prst="ellipse">
            <a:avLst/>
          </a:prstGeom>
          <a:solidFill>
            <a:srgbClr val="C83E3E"/>
          </a:solidFill>
          <a:ln w="12700">
            <a:solidFill>
              <a:srgbClr val="C83E3E"/>
            </a:solidFill>
            <a:prstDash val="solid"/>
          </a:ln>
        </p:spPr>
        <p:txBody>
          <a:bodyPr/>
          <a:p/>
        </p:txBody>
      </p:sp>
      <p:sp>
        <p:nvSpPr>
          <p:cNvPr id="71" name="Text 68"/>
          <p:cNvSpPr/>
          <p:nvPr/>
        </p:nvSpPr>
        <p:spPr>
          <a:xfrm>
            <a:off x="5157216" y="7510272"/>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Surface waves can erase a theoretical advantage.</a:t>
            </a:r>
            <a:endParaRPr lang="en-US" sz="880" dirty="0"/>
          </a:p>
        </p:txBody>
      </p:sp>
      <p:sp>
        <p:nvSpPr>
          <p:cNvPr id="72" name="Shape 69"/>
          <p:cNvSpPr/>
          <p:nvPr/>
        </p:nvSpPr>
        <p:spPr>
          <a:xfrm>
            <a:off x="4828032" y="7955280"/>
            <a:ext cx="2596896" cy="859536"/>
          </a:xfrm>
          <a:prstGeom prst="roundRect">
            <a:avLst>
              <a:gd name="adj" fmla="val 10638"/>
            </a:avLst>
          </a:prstGeom>
          <a:solidFill>
            <a:srgbClr val="FFFFFF"/>
          </a:solidFill>
          <a:ln w="10160">
            <a:solidFill>
              <a:srgbClr val="D9DFEA"/>
            </a:solidFill>
            <a:prstDash val="solid"/>
          </a:ln>
        </p:spPr>
        <p:txBody>
          <a:bodyPr/>
          <a:p/>
        </p:txBody>
      </p:sp>
      <p:sp>
        <p:nvSpPr>
          <p:cNvPr id="73" name="Text 70"/>
          <p:cNvSpPr/>
          <p:nvPr/>
        </p:nvSpPr>
        <p:spPr>
          <a:xfrm>
            <a:off x="4965192" y="8046720"/>
            <a:ext cx="2322576" cy="146304"/>
          </a:xfrm>
          <a:prstGeom prst="rect">
            <a:avLst/>
          </a:prstGeom>
          <a:noFill/>
          <a:ln/>
        </p:spPr>
        <p:txBody>
          <a:bodyPr wrap="square" lIns="0" tIns="0" rIns="0" bIns="0" rtlCol="0" anchor="ctr">
            <a:normAutofit/>
          </a:bodyPr>
          <a:lstStyle/>
          <a:p>
            <a:pPr indent="0" marL="0">
              <a:buNone/>
            </a:pPr>
            <a:r>
              <a:rPr lang="en-US" sz="780" b="1" spc="50" kern="0" dirty="0">
                <a:solidFill>
                  <a:srgbClr val="111A42"/>
                </a:solidFill>
                <a:latin typeface="Arial" pitchFamily="34" charset="0"/>
                <a:ea typeface="Arial" pitchFamily="34" charset="-122"/>
                <a:cs typeface="Arial" pitchFamily="34" charset="-120"/>
              </a:rPr>
              <a:t>ROUGH R/C TENDENCIES (0–5)</a:t>
            </a:r>
            <a:endParaRPr lang="en-US" sz="780" dirty="0"/>
          </a:p>
        </p:txBody>
      </p:sp>
      <p:sp>
        <p:nvSpPr>
          <p:cNvPr id="74" name="Text 71"/>
          <p:cNvSpPr/>
          <p:nvPr/>
        </p:nvSpPr>
        <p:spPr>
          <a:xfrm>
            <a:off x="4965192" y="8229600"/>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Slow lift</a:t>
            </a:r>
            <a:endParaRPr lang="en-US" sz="780" dirty="0"/>
          </a:p>
        </p:txBody>
      </p:sp>
      <p:sp>
        <p:nvSpPr>
          <p:cNvPr id="75" name="Shape 72"/>
          <p:cNvSpPr/>
          <p:nvPr/>
        </p:nvSpPr>
        <p:spPr>
          <a:xfrm>
            <a:off x="5952744" y="8257032"/>
            <a:ext cx="173736" cy="109728"/>
          </a:xfrm>
          <a:prstGeom prst="roundRect">
            <a:avLst>
              <a:gd name="adj" fmla="val 25000"/>
            </a:avLst>
          </a:prstGeom>
          <a:solidFill>
            <a:srgbClr val="246BCE"/>
          </a:solidFill>
          <a:ln w="12700">
            <a:solidFill>
              <a:srgbClr val="246BCE">
                <a:alpha val="0"/>
              </a:srgbClr>
            </a:solidFill>
            <a:prstDash val="solid"/>
          </a:ln>
        </p:spPr>
        <p:txBody>
          <a:bodyPr/>
          <a:p/>
        </p:txBody>
      </p:sp>
      <p:sp>
        <p:nvSpPr>
          <p:cNvPr id="76" name="Shape 73"/>
          <p:cNvSpPr/>
          <p:nvPr/>
        </p:nvSpPr>
        <p:spPr>
          <a:xfrm>
            <a:off x="6172200" y="8257032"/>
            <a:ext cx="173736" cy="109728"/>
          </a:xfrm>
          <a:prstGeom prst="roundRect">
            <a:avLst>
              <a:gd name="adj" fmla="val 25000"/>
            </a:avLst>
          </a:prstGeom>
          <a:solidFill>
            <a:srgbClr val="246BCE"/>
          </a:solidFill>
          <a:ln w="12700">
            <a:solidFill>
              <a:srgbClr val="246BCE">
                <a:alpha val="0"/>
              </a:srgbClr>
            </a:solidFill>
            <a:prstDash val="solid"/>
          </a:ln>
        </p:spPr>
        <p:txBody>
          <a:bodyPr/>
          <a:p/>
        </p:txBody>
      </p:sp>
      <p:sp>
        <p:nvSpPr>
          <p:cNvPr id="77" name="Shape 74"/>
          <p:cNvSpPr/>
          <p:nvPr/>
        </p:nvSpPr>
        <p:spPr>
          <a:xfrm>
            <a:off x="6391656" y="8257032"/>
            <a:ext cx="173736" cy="109728"/>
          </a:xfrm>
          <a:prstGeom prst="roundRect">
            <a:avLst>
              <a:gd name="adj" fmla="val 25000"/>
            </a:avLst>
          </a:prstGeom>
          <a:solidFill>
            <a:srgbClr val="246BCE"/>
          </a:solidFill>
          <a:ln w="12700">
            <a:solidFill>
              <a:srgbClr val="246BCE">
                <a:alpha val="0"/>
              </a:srgbClr>
            </a:solidFill>
            <a:prstDash val="solid"/>
          </a:ln>
        </p:spPr>
        <p:txBody>
          <a:bodyPr/>
          <a:p/>
        </p:txBody>
      </p:sp>
      <p:sp>
        <p:nvSpPr>
          <p:cNvPr id="78" name="Shape 75"/>
          <p:cNvSpPr/>
          <p:nvPr/>
        </p:nvSpPr>
        <p:spPr>
          <a:xfrm>
            <a:off x="6611112" y="8257032"/>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79" name="Shape 76"/>
          <p:cNvSpPr/>
          <p:nvPr/>
        </p:nvSpPr>
        <p:spPr>
          <a:xfrm>
            <a:off x="6830568" y="8257032"/>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80" name="Text 77"/>
          <p:cNvSpPr/>
          <p:nvPr/>
        </p:nvSpPr>
        <p:spPr>
          <a:xfrm>
            <a:off x="4965192" y="8375904"/>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Speed</a:t>
            </a:r>
            <a:endParaRPr lang="en-US" sz="780" dirty="0"/>
          </a:p>
        </p:txBody>
      </p:sp>
      <p:sp>
        <p:nvSpPr>
          <p:cNvPr id="81" name="Shape 78"/>
          <p:cNvSpPr/>
          <p:nvPr/>
        </p:nvSpPr>
        <p:spPr>
          <a:xfrm>
            <a:off x="5952744" y="8403336"/>
            <a:ext cx="173736" cy="109728"/>
          </a:xfrm>
          <a:prstGeom prst="roundRect">
            <a:avLst>
              <a:gd name="adj" fmla="val 25000"/>
            </a:avLst>
          </a:prstGeom>
          <a:solidFill>
            <a:srgbClr val="246BCE"/>
          </a:solidFill>
          <a:ln w="12700">
            <a:solidFill>
              <a:srgbClr val="246BCE">
                <a:alpha val="0"/>
              </a:srgbClr>
            </a:solidFill>
            <a:prstDash val="solid"/>
          </a:ln>
        </p:spPr>
        <p:txBody>
          <a:bodyPr/>
          <a:p/>
        </p:txBody>
      </p:sp>
      <p:sp>
        <p:nvSpPr>
          <p:cNvPr id="82" name="Shape 79"/>
          <p:cNvSpPr/>
          <p:nvPr/>
        </p:nvSpPr>
        <p:spPr>
          <a:xfrm>
            <a:off x="6172200" y="8403336"/>
            <a:ext cx="173736" cy="109728"/>
          </a:xfrm>
          <a:prstGeom prst="roundRect">
            <a:avLst>
              <a:gd name="adj" fmla="val 25000"/>
            </a:avLst>
          </a:prstGeom>
          <a:solidFill>
            <a:srgbClr val="246BCE"/>
          </a:solidFill>
          <a:ln w="12700">
            <a:solidFill>
              <a:srgbClr val="246BCE">
                <a:alpha val="0"/>
              </a:srgbClr>
            </a:solidFill>
            <a:prstDash val="solid"/>
          </a:ln>
        </p:spPr>
        <p:txBody>
          <a:bodyPr/>
          <a:p/>
        </p:txBody>
      </p:sp>
      <p:sp>
        <p:nvSpPr>
          <p:cNvPr id="83" name="Shape 80"/>
          <p:cNvSpPr/>
          <p:nvPr/>
        </p:nvSpPr>
        <p:spPr>
          <a:xfrm>
            <a:off x="6391656" y="8403336"/>
            <a:ext cx="173736" cy="109728"/>
          </a:xfrm>
          <a:prstGeom prst="roundRect">
            <a:avLst>
              <a:gd name="adj" fmla="val 25000"/>
            </a:avLst>
          </a:prstGeom>
          <a:solidFill>
            <a:srgbClr val="246BCE"/>
          </a:solidFill>
          <a:ln w="12700">
            <a:solidFill>
              <a:srgbClr val="246BCE">
                <a:alpha val="0"/>
              </a:srgbClr>
            </a:solidFill>
            <a:prstDash val="solid"/>
          </a:ln>
        </p:spPr>
        <p:txBody>
          <a:bodyPr/>
          <a:p/>
        </p:txBody>
      </p:sp>
      <p:sp>
        <p:nvSpPr>
          <p:cNvPr id="84" name="Shape 81"/>
          <p:cNvSpPr/>
          <p:nvPr/>
        </p:nvSpPr>
        <p:spPr>
          <a:xfrm>
            <a:off x="6611112"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85" name="Shape 82"/>
          <p:cNvSpPr/>
          <p:nvPr/>
        </p:nvSpPr>
        <p:spPr>
          <a:xfrm>
            <a:off x="6830568"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86" name="Text 83"/>
          <p:cNvSpPr/>
          <p:nvPr/>
        </p:nvSpPr>
        <p:spPr>
          <a:xfrm>
            <a:off x="4965192" y="8522208"/>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Inverted</a:t>
            </a:r>
            <a:endParaRPr lang="en-US" sz="780" dirty="0"/>
          </a:p>
        </p:txBody>
      </p:sp>
      <p:sp>
        <p:nvSpPr>
          <p:cNvPr id="87" name="Shape 84"/>
          <p:cNvSpPr/>
          <p:nvPr/>
        </p:nvSpPr>
        <p:spPr>
          <a:xfrm>
            <a:off x="5952744" y="8549640"/>
            <a:ext cx="173736" cy="109728"/>
          </a:xfrm>
          <a:prstGeom prst="roundRect">
            <a:avLst>
              <a:gd name="adj" fmla="val 25000"/>
            </a:avLst>
          </a:prstGeom>
          <a:solidFill>
            <a:srgbClr val="246BCE"/>
          </a:solidFill>
          <a:ln w="12700">
            <a:solidFill>
              <a:srgbClr val="246BCE">
                <a:alpha val="0"/>
              </a:srgbClr>
            </a:solidFill>
            <a:prstDash val="solid"/>
          </a:ln>
        </p:spPr>
        <p:txBody>
          <a:bodyPr/>
          <a:p/>
        </p:txBody>
      </p:sp>
      <p:sp>
        <p:nvSpPr>
          <p:cNvPr id="88" name="Shape 85"/>
          <p:cNvSpPr/>
          <p:nvPr/>
        </p:nvSpPr>
        <p:spPr>
          <a:xfrm>
            <a:off x="6172200" y="8549640"/>
            <a:ext cx="173736" cy="109728"/>
          </a:xfrm>
          <a:prstGeom prst="roundRect">
            <a:avLst>
              <a:gd name="adj" fmla="val 25000"/>
            </a:avLst>
          </a:prstGeom>
          <a:solidFill>
            <a:srgbClr val="246BCE"/>
          </a:solidFill>
          <a:ln w="12700">
            <a:solidFill>
              <a:srgbClr val="246BCE">
                <a:alpha val="0"/>
              </a:srgbClr>
            </a:solidFill>
            <a:prstDash val="solid"/>
          </a:ln>
        </p:spPr>
        <p:txBody>
          <a:bodyPr/>
          <a:p/>
        </p:txBody>
      </p:sp>
      <p:sp>
        <p:nvSpPr>
          <p:cNvPr id="89" name="Shape 86"/>
          <p:cNvSpPr/>
          <p:nvPr/>
        </p:nvSpPr>
        <p:spPr>
          <a:xfrm>
            <a:off x="6391656" y="8549640"/>
            <a:ext cx="173736" cy="109728"/>
          </a:xfrm>
          <a:prstGeom prst="roundRect">
            <a:avLst>
              <a:gd name="adj" fmla="val 25000"/>
            </a:avLst>
          </a:prstGeom>
          <a:solidFill>
            <a:srgbClr val="246BCE"/>
          </a:solidFill>
          <a:ln w="12700">
            <a:solidFill>
              <a:srgbClr val="246BCE">
                <a:alpha val="0"/>
              </a:srgbClr>
            </a:solidFill>
            <a:prstDash val="solid"/>
          </a:ln>
        </p:spPr>
        <p:txBody>
          <a:bodyPr/>
          <a:p/>
        </p:txBody>
      </p:sp>
      <p:sp>
        <p:nvSpPr>
          <p:cNvPr id="90" name="Shape 87"/>
          <p:cNvSpPr/>
          <p:nvPr/>
        </p:nvSpPr>
        <p:spPr>
          <a:xfrm>
            <a:off x="6611112"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1" name="Shape 88"/>
          <p:cNvSpPr/>
          <p:nvPr/>
        </p:nvSpPr>
        <p:spPr>
          <a:xfrm>
            <a:off x="6830568"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2" name="Text 89"/>
          <p:cNvSpPr/>
          <p:nvPr/>
        </p:nvSpPr>
        <p:spPr>
          <a:xfrm>
            <a:off x="4965192" y="8686800"/>
            <a:ext cx="2322576" cy="91440"/>
          </a:xfrm>
          <a:prstGeom prst="rect">
            <a:avLst/>
          </a:prstGeom>
          <a:noFill/>
          <a:ln/>
        </p:spPr>
        <p:txBody>
          <a:bodyPr wrap="square" lIns="0" tIns="0" rIns="0" bIns="0" rtlCol="0" anchor="t">
            <a:normAutofit/>
          </a:bodyPr>
          <a:lstStyle/>
          <a:p>
            <a:pPr indent="0" marL="0">
              <a:buNone/>
            </a:pPr>
            <a:r>
              <a:rPr lang="en-US" sz="570" i="1" dirty="0">
                <a:solidFill>
                  <a:srgbClr val="59627A"/>
                </a:solidFill>
                <a:latin typeface="Arial" pitchFamily="34" charset="0"/>
                <a:ea typeface="Arial" pitchFamily="34" charset="-122"/>
                <a:cs typeface="Arial" pitchFamily="34" charset="-120"/>
              </a:rPr>
              <a:t>Not test data; wing loading and Reynolds number matter.</a:t>
            </a:r>
            <a:endParaRPr lang="en-US" sz="570" dirty="0"/>
          </a:p>
        </p:txBody>
      </p:sp>
      <p:sp>
        <p:nvSpPr>
          <p:cNvPr id="93" name="Shape 90"/>
          <p:cNvSpPr/>
          <p:nvPr/>
        </p:nvSpPr>
        <p:spPr>
          <a:xfrm>
            <a:off x="329184" y="8942832"/>
            <a:ext cx="7114032" cy="0"/>
          </a:xfrm>
          <a:prstGeom prst="line">
            <a:avLst/>
          </a:prstGeom>
          <a:noFill/>
          <a:ln w="10160">
            <a:solidFill>
              <a:srgbClr val="D8DEE9"/>
            </a:solidFill>
            <a:prstDash val="solid"/>
          </a:ln>
        </p:spPr>
        <p:txBody>
          <a:bodyPr/>
          <a:p/>
        </p:txBody>
      </p:sp>
      <p:sp>
        <p:nvSpPr>
          <p:cNvPr id="94" name="Text 91"/>
          <p:cNvSpPr/>
          <p:nvPr/>
        </p:nvSpPr>
        <p:spPr>
          <a:xfrm>
            <a:off x="347472" y="8979408"/>
            <a:ext cx="6812280" cy="164592"/>
          </a:xfrm>
          <a:prstGeom prst="rect">
            <a:avLst/>
          </a:prstGeom>
          <a:noFill/>
          <a:ln/>
        </p:spPr>
        <p:txBody>
          <a:bodyPr wrap="square" lIns="0" tIns="0" rIns="0" bIns="0" rtlCol="0" anchor="t">
            <a:normAutofit/>
          </a:bodyPr>
          <a:lstStyle/>
          <a:p>
            <a:pPr indent="0" marL="0">
              <a:buNone/>
            </a:pPr>
            <a:r>
              <a:rPr lang="en-US" sz="680" dirty="0">
                <a:solidFill>
                  <a:srgbClr val="6C758C"/>
                </a:solidFill>
                <a:latin typeface="Arial" pitchFamily="34" charset="0"/>
                <a:ea typeface="Arial" pitchFamily="34" charset="-122"/>
                <a:cs typeface="Arial" pitchFamily="34" charset="-120"/>
              </a:rPr>
              <a:t>Geometry: UIUC Airfoil Coordinates Database (naca2412.dat). Descriptions are practical R/C tendencies, not a substitute for wind-tunnel or XFOIL data at your model’s Reynolds number.</a:t>
            </a:r>
            <a:endParaRPr lang="en-US" sz="680" dirty="0"/>
          </a:p>
        </p:txBody>
      </p:sp>
      <p:sp>
        <p:nvSpPr>
          <p:cNvPr id="95" name="TextBox 94"/>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31</a:t>
            </a:r>
          </a:p>
        </p:txBody>
      </p:sp>
      <p:sp>
        <p:nvSpPr>
          <p:cNvPr id="96" name="Rectangle 95"/>
          <p:cNvSpPr/>
          <p:nvPr/>
        </p:nvSpPr>
        <p:spPr>
          <a:xfrm>
            <a:off x="6217920" y="1920240"/>
            <a:ext cx="621792" cy="155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440680" y="1682496"/>
            <a:ext cx="1188720" cy="146304"/>
          </a:xfrm>
          <a:prstGeom prst="rect">
            <a:avLst/>
          </a:prstGeom>
          <a:noFill/>
        </p:spPr>
        <p:txBody>
          <a:bodyPr wrap="square" lIns="0" rIns="0" tIns="0" bIns="0">
            <a:spAutoFit/>
          </a:bodyPr>
          <a:lstStyle/>
          <a:p>
            <a:pPr algn="r"/>
            <a:r>
              <a:rPr sz="800" b="1" i="0">
                <a:solidFill>
                  <a:srgbClr val="5F687D"/>
                </a:solidFill>
                <a:latin typeface="Arial"/>
              </a:rPr>
              <a:t>chord line</a:t>
            </a:r>
          </a:p>
        </p:txBody>
      </p:sp>
      <p:cxnSp>
        <p:nvCxnSpPr>
          <p:cNvPr id="98" name="Connector 97"/>
          <p:cNvCxnSpPr/>
          <p:nvPr/>
        </p:nvCxnSpPr>
        <p:spPr>
          <a:xfrm flipH="1">
            <a:off x="6446520" y="1755648"/>
            <a:ext cx="210312" cy="292608"/>
          </a:xfrm>
          <a:prstGeom prst="line">
            <a:avLst/>
          </a:prstGeom>
          <a:ln w="9525">
            <a:solidFill>
              <a:srgbClr val="5F687D"/>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7772400" cy="896112"/>
          </a:xfrm>
          <a:prstGeom prst="rect">
            <a:avLst/>
          </a:prstGeom>
          <a:solidFill>
            <a:srgbClr val="111A42"/>
          </a:solidFill>
          <a:ln w="12700">
            <a:solidFill>
              <a:srgbClr val="111A42"/>
            </a:solidFill>
            <a:prstDash val="solid"/>
          </a:ln>
        </p:spPr>
        <p:txBody>
          <a:bodyPr/>
          <a:p/>
        </p:txBody>
      </p:sp>
      <p:sp>
        <p:nvSpPr>
          <p:cNvPr id="3" name="Shape 1"/>
          <p:cNvSpPr/>
          <p:nvPr/>
        </p:nvSpPr>
        <p:spPr>
          <a:xfrm>
            <a:off x="0" y="896112"/>
            <a:ext cx="7772400" cy="54864"/>
          </a:xfrm>
          <a:prstGeom prst="rect">
            <a:avLst/>
          </a:prstGeom>
          <a:solidFill>
            <a:srgbClr val="E0702B"/>
          </a:solidFill>
          <a:ln w="12700">
            <a:solidFill>
              <a:srgbClr val="E0702B"/>
            </a:solidFill>
            <a:prstDash val="solid"/>
          </a:ln>
        </p:spPr>
        <p:txBody>
          <a:bodyPr/>
          <a:p/>
        </p:txBody>
      </p:sp>
      <p:sp>
        <p:nvSpPr>
          <p:cNvPr id="4" name="Text 2"/>
          <p:cNvSpPr/>
          <p:nvPr/>
        </p:nvSpPr>
        <p:spPr>
          <a:xfrm>
            <a:off x="347472" y="109728"/>
            <a:ext cx="2286000" cy="173736"/>
          </a:xfrm>
          <a:prstGeom prst="rect">
            <a:avLst/>
          </a:prstGeom>
          <a:noFill/>
          <a:ln/>
        </p:spPr>
        <p:txBody>
          <a:bodyPr wrap="square" lIns="0" tIns="0" rIns="0" bIns="0" rtlCol="0" anchor="ctr">
            <a:normAutofit/>
          </a:bodyPr>
          <a:lstStyle/>
          <a:p>
            <a:pPr indent="0" marL="0">
              <a:buNone/>
            </a:pPr>
            <a:r>
              <a:rPr lang="en-US" sz="850" b="1" spc="100" kern="0" dirty="0">
                <a:solidFill>
                  <a:srgbClr val="AFC3F3"/>
                </a:solidFill>
                <a:latin typeface="Arial" pitchFamily="34" charset="0"/>
                <a:ea typeface="Arial" pitchFamily="34" charset="-122"/>
                <a:cs typeface="Arial" pitchFamily="34" charset="-120"/>
              </a:rPr>
              <a:t>AIRFOIL FAMILY 3 OF 5</a:t>
            </a:r>
            <a:endParaRPr lang="en-US" sz="850" dirty="0"/>
          </a:p>
        </p:txBody>
      </p:sp>
      <p:sp>
        <p:nvSpPr>
          <p:cNvPr id="5" name="Text 3"/>
          <p:cNvSpPr/>
          <p:nvPr/>
        </p:nvSpPr>
        <p:spPr>
          <a:xfrm>
            <a:off x="347472" y="274320"/>
            <a:ext cx="7086600" cy="329184"/>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Selig S1223: high lift at low model speeds</a:t>
            </a:r>
            <a:endParaRPr lang="en-US" sz="2300" dirty="0"/>
          </a:p>
        </p:txBody>
      </p:sp>
      <p:sp>
        <p:nvSpPr>
          <p:cNvPr id="6" name="Text 4"/>
          <p:cNvSpPr/>
          <p:nvPr/>
        </p:nvSpPr>
        <p:spPr>
          <a:xfrm>
            <a:off x="347472" y="621792"/>
            <a:ext cx="7086600" cy="182880"/>
          </a:xfrm>
          <a:prstGeom prst="rect">
            <a:avLst/>
          </a:prstGeom>
          <a:noFill/>
          <a:ln/>
        </p:spPr>
        <p:txBody>
          <a:bodyPr wrap="square" lIns="0" tIns="0" rIns="0" bIns="0" rtlCol="0" anchor="ctr">
            <a:normAutofit/>
          </a:bodyPr>
          <a:lstStyle/>
          <a:p>
            <a:pPr indent="0" marL="0">
              <a:buNone/>
            </a:pPr>
            <a:r>
              <a:rPr lang="en-US" sz="1050" dirty="0">
                <a:solidFill>
                  <a:srgbClr val="D7DEF0"/>
                </a:solidFill>
                <a:latin typeface="Arial" pitchFamily="34" charset="0"/>
                <a:ea typeface="Arial" pitchFamily="34" charset="-122"/>
                <a:cs typeface="Arial" pitchFamily="34" charset="-120"/>
              </a:rPr>
              <a:t>A strongly cambered, low-Reynolds-number section for slow flight and heavy lifting</a:t>
            </a:r>
            <a:endParaRPr lang="en-US" sz="1050" dirty="0"/>
          </a:p>
        </p:txBody>
      </p:sp>
      <p:sp>
        <p:nvSpPr>
          <p:cNvPr id="7" name="Shape 5"/>
          <p:cNvSpPr/>
          <p:nvPr/>
        </p:nvSpPr>
        <p:spPr>
          <a:xfrm>
            <a:off x="329184" y="1115568"/>
            <a:ext cx="7095744" cy="1901952"/>
          </a:xfrm>
          <a:prstGeom prst="roundRect">
            <a:avLst>
              <a:gd name="adj" fmla="val 4808"/>
            </a:avLst>
          </a:prstGeom>
          <a:solidFill>
            <a:srgbClr val="FFFFFF"/>
          </a:solidFill>
          <a:ln w="10160">
            <a:solidFill>
              <a:srgbClr val="DDE2EC"/>
            </a:solidFill>
            <a:prstDash val="solid"/>
          </a:ln>
        </p:spPr>
        <p:txBody>
          <a:bodyPr/>
          <a:p/>
        </p:txBody>
      </p:sp>
      <p:sp>
        <p:nvSpPr>
          <p:cNvPr id="8" name="Shape 6"/>
          <p:cNvSpPr/>
          <p:nvPr/>
        </p:nvSpPr>
        <p:spPr>
          <a:xfrm>
            <a:off x="329184" y="1115568"/>
            <a:ext cx="73152" cy="1901952"/>
          </a:xfrm>
          <a:prstGeom prst="rect">
            <a:avLst/>
          </a:prstGeom>
          <a:solidFill>
            <a:srgbClr val="E0702B"/>
          </a:solidFill>
          <a:ln w="12700">
            <a:solidFill>
              <a:srgbClr val="E0702B"/>
            </a:solidFill>
            <a:prstDash val="solid"/>
          </a:ln>
        </p:spPr>
        <p:txBody>
          <a:bodyPr/>
          <a:p/>
        </p:txBody>
      </p:sp>
      <p:pic>
        <p:nvPicPr>
          <p:cNvPr id="9" name="Image 0" descr="/mnt/data/airfoil_project/assets/s1223.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3776" y="1225296"/>
            <a:ext cx="6729984" cy="1664208"/>
          </a:xfrm>
          <a:prstGeom prst="rect">
            <a:avLst/>
          </a:prstGeom>
        </p:spPr>
      </p:pic>
      <p:sp>
        <p:nvSpPr>
          <p:cNvPr id="10" name="Shape 7"/>
          <p:cNvSpPr/>
          <p:nvPr/>
        </p:nvSpPr>
        <p:spPr>
          <a:xfrm>
            <a:off x="32918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1" name="Text 8"/>
          <p:cNvSpPr/>
          <p:nvPr/>
        </p:nvSpPr>
        <p:spPr>
          <a:xfrm>
            <a:off x="43891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MAX THICKNESS</a:t>
            </a:r>
            <a:endParaRPr lang="en-US" sz="820" dirty="0"/>
          </a:p>
        </p:txBody>
      </p:sp>
      <p:sp>
        <p:nvSpPr>
          <p:cNvPr id="12" name="Text 9"/>
          <p:cNvSpPr/>
          <p:nvPr/>
        </p:nvSpPr>
        <p:spPr>
          <a:xfrm>
            <a:off x="43891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E0702B"/>
                </a:solidFill>
                <a:latin typeface="Arial" pitchFamily="34" charset="0"/>
                <a:ea typeface="Arial" pitchFamily="34" charset="-122"/>
                <a:cs typeface="Arial" pitchFamily="34" charset="-120"/>
              </a:rPr>
              <a:t>12.1%</a:t>
            </a:r>
            <a:endParaRPr lang="en-US" sz="1800" dirty="0"/>
          </a:p>
        </p:txBody>
      </p:sp>
      <p:sp>
        <p:nvSpPr>
          <p:cNvPr id="13" name="Text 10"/>
          <p:cNvSpPr/>
          <p:nvPr/>
        </p:nvSpPr>
        <p:spPr>
          <a:xfrm>
            <a:off x="43891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forward, near 20% chord</a:t>
            </a:r>
            <a:endParaRPr lang="en-US" sz="720" dirty="0"/>
          </a:p>
        </p:txBody>
      </p:sp>
      <p:sp>
        <p:nvSpPr>
          <p:cNvPr id="14" name="Shape 11"/>
          <p:cNvSpPr/>
          <p:nvPr/>
        </p:nvSpPr>
        <p:spPr>
          <a:xfrm>
            <a:off x="275234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5" name="Text 12"/>
          <p:cNvSpPr/>
          <p:nvPr/>
        </p:nvSpPr>
        <p:spPr>
          <a:xfrm>
            <a:off x="286207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MAX CAMBER</a:t>
            </a:r>
            <a:endParaRPr lang="en-US" sz="820" dirty="0"/>
          </a:p>
        </p:txBody>
      </p:sp>
      <p:sp>
        <p:nvSpPr>
          <p:cNvPr id="16" name="Text 13"/>
          <p:cNvSpPr/>
          <p:nvPr/>
        </p:nvSpPr>
        <p:spPr>
          <a:xfrm>
            <a:off x="286207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E0702B"/>
                </a:solidFill>
                <a:latin typeface="Arial" pitchFamily="34" charset="0"/>
                <a:ea typeface="Arial" pitchFamily="34" charset="-122"/>
                <a:cs typeface="Arial" pitchFamily="34" charset="-120"/>
              </a:rPr>
              <a:t>8.7%</a:t>
            </a:r>
            <a:endParaRPr lang="en-US" sz="1800" dirty="0"/>
          </a:p>
        </p:txBody>
      </p:sp>
      <p:sp>
        <p:nvSpPr>
          <p:cNvPr id="17" name="Text 14"/>
          <p:cNvSpPr/>
          <p:nvPr/>
        </p:nvSpPr>
        <p:spPr>
          <a:xfrm>
            <a:off x="286207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far more than the other examples</a:t>
            </a:r>
            <a:endParaRPr lang="en-US" sz="720" dirty="0"/>
          </a:p>
        </p:txBody>
      </p:sp>
      <p:sp>
        <p:nvSpPr>
          <p:cNvPr id="18" name="Shape 15"/>
          <p:cNvSpPr/>
          <p:nvPr/>
        </p:nvSpPr>
        <p:spPr>
          <a:xfrm>
            <a:off x="517550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9" name="Text 16"/>
          <p:cNvSpPr/>
          <p:nvPr/>
        </p:nvSpPr>
        <p:spPr>
          <a:xfrm>
            <a:off x="528523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PERSONALITY</a:t>
            </a:r>
            <a:endParaRPr lang="en-US" sz="820" dirty="0"/>
          </a:p>
        </p:txBody>
      </p:sp>
      <p:sp>
        <p:nvSpPr>
          <p:cNvPr id="20" name="Text 17"/>
          <p:cNvSpPr/>
          <p:nvPr/>
        </p:nvSpPr>
        <p:spPr>
          <a:xfrm>
            <a:off x="528523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E0702B"/>
                </a:solidFill>
                <a:latin typeface="Arial" pitchFamily="34" charset="0"/>
                <a:ea typeface="Arial" pitchFamily="34" charset="-122"/>
                <a:cs typeface="Arial" pitchFamily="34" charset="-120"/>
              </a:rPr>
              <a:t>high lift</a:t>
            </a:r>
            <a:endParaRPr lang="en-US" sz="1800" dirty="0"/>
          </a:p>
        </p:txBody>
      </p:sp>
      <p:sp>
        <p:nvSpPr>
          <p:cNvPr id="21" name="Text 18"/>
          <p:cNvSpPr/>
          <p:nvPr/>
        </p:nvSpPr>
        <p:spPr>
          <a:xfrm>
            <a:off x="528523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slow, powerful, draggy when fast</a:t>
            </a:r>
            <a:endParaRPr lang="en-US" sz="720" dirty="0"/>
          </a:p>
        </p:txBody>
      </p:sp>
      <p:sp>
        <p:nvSpPr>
          <p:cNvPr id="22" name="Shape 19"/>
          <p:cNvSpPr/>
          <p:nvPr/>
        </p:nvSpPr>
        <p:spPr>
          <a:xfrm>
            <a:off x="329184" y="4005072"/>
            <a:ext cx="4343400" cy="4809744"/>
          </a:xfrm>
          <a:prstGeom prst="roundRect">
            <a:avLst>
              <a:gd name="adj" fmla="val 2105"/>
            </a:avLst>
          </a:prstGeom>
          <a:solidFill>
            <a:srgbClr val="FFFFFF"/>
          </a:solidFill>
          <a:ln w="10160">
            <a:solidFill>
              <a:srgbClr val="D9DFEA"/>
            </a:solidFill>
            <a:prstDash val="solid"/>
          </a:ln>
        </p:spPr>
        <p:txBody>
          <a:bodyPr/>
          <a:p/>
        </p:txBody>
      </p:sp>
      <p:sp>
        <p:nvSpPr>
          <p:cNvPr id="23" name="Shape 20"/>
          <p:cNvSpPr/>
          <p:nvPr/>
        </p:nvSpPr>
        <p:spPr>
          <a:xfrm>
            <a:off x="512064" y="4160520"/>
            <a:ext cx="45720" cy="173736"/>
          </a:xfrm>
          <a:prstGeom prst="rect">
            <a:avLst/>
          </a:prstGeom>
          <a:solidFill>
            <a:srgbClr val="E0702B"/>
          </a:solidFill>
          <a:ln w="12700">
            <a:solidFill>
              <a:srgbClr val="E0702B">
                <a:alpha val="0"/>
              </a:srgbClr>
            </a:solidFill>
            <a:prstDash val="solid"/>
          </a:ln>
        </p:spPr>
        <p:txBody>
          <a:bodyPr/>
          <a:p/>
        </p:txBody>
      </p:sp>
      <p:sp>
        <p:nvSpPr>
          <p:cNvPr id="24" name="Text 21"/>
          <p:cNvSpPr/>
          <p:nvPr/>
        </p:nvSpPr>
        <p:spPr>
          <a:xfrm>
            <a:off x="621792" y="4133088"/>
            <a:ext cx="3867912"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WHY IT FLIES THIS WAY</a:t>
            </a:r>
            <a:endParaRPr lang="en-US" sz="950" dirty="0"/>
          </a:p>
        </p:txBody>
      </p:sp>
      <p:sp>
        <p:nvSpPr>
          <p:cNvPr id="25" name="Shape 22"/>
          <p:cNvSpPr/>
          <p:nvPr/>
        </p:nvSpPr>
        <p:spPr>
          <a:xfrm>
            <a:off x="530352" y="4453128"/>
            <a:ext cx="310896" cy="310896"/>
          </a:xfrm>
          <a:prstGeom prst="ellipse">
            <a:avLst/>
          </a:prstGeom>
          <a:solidFill>
            <a:srgbClr val="E0702B"/>
          </a:solidFill>
          <a:ln w="12700">
            <a:solidFill>
              <a:srgbClr val="E0702B"/>
            </a:solidFill>
            <a:prstDash val="solid"/>
          </a:ln>
        </p:spPr>
        <p:txBody>
          <a:bodyPr/>
          <a:p/>
        </p:txBody>
      </p:sp>
      <p:sp>
        <p:nvSpPr>
          <p:cNvPr id="26" name="Text 23"/>
          <p:cNvSpPr/>
          <p:nvPr/>
        </p:nvSpPr>
        <p:spPr>
          <a:xfrm>
            <a:off x="530352" y="4453128"/>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27" name="Text 24"/>
          <p:cNvSpPr/>
          <p:nvPr/>
        </p:nvSpPr>
        <p:spPr>
          <a:xfrm>
            <a:off x="941832" y="4443984"/>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Very strong camber bends the airflow downward aggressively, allowing a large lift coefficient at low Reynolds numbers.</a:t>
            </a:r>
            <a:endParaRPr lang="en-US" sz="1120" dirty="0"/>
          </a:p>
        </p:txBody>
      </p:sp>
      <p:sp>
        <p:nvSpPr>
          <p:cNvPr id="28" name="Shape 25"/>
          <p:cNvSpPr/>
          <p:nvPr/>
        </p:nvSpPr>
        <p:spPr>
          <a:xfrm>
            <a:off x="530352" y="5129784"/>
            <a:ext cx="310896" cy="310896"/>
          </a:xfrm>
          <a:prstGeom prst="ellipse">
            <a:avLst/>
          </a:prstGeom>
          <a:solidFill>
            <a:srgbClr val="E0702B"/>
          </a:solidFill>
          <a:ln w="12700">
            <a:solidFill>
              <a:srgbClr val="E0702B"/>
            </a:solidFill>
            <a:prstDash val="solid"/>
          </a:ln>
        </p:spPr>
        <p:txBody>
          <a:bodyPr/>
          <a:p/>
        </p:txBody>
      </p:sp>
      <p:sp>
        <p:nvSpPr>
          <p:cNvPr id="29" name="Text 26"/>
          <p:cNvSpPr/>
          <p:nvPr/>
        </p:nvSpPr>
        <p:spPr>
          <a:xfrm>
            <a:off x="530352" y="5129784"/>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30" name="Text 27"/>
          <p:cNvSpPr/>
          <p:nvPr/>
        </p:nvSpPr>
        <p:spPr>
          <a:xfrm>
            <a:off x="941832" y="5120640"/>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The concave lower surface helps the section’s low-speed job but makes the rib and covering shape harder to preserve.</a:t>
            </a:r>
            <a:endParaRPr lang="en-US" sz="1120" dirty="0"/>
          </a:p>
        </p:txBody>
      </p:sp>
      <p:sp>
        <p:nvSpPr>
          <p:cNvPr id="31" name="Shape 28"/>
          <p:cNvSpPr/>
          <p:nvPr/>
        </p:nvSpPr>
        <p:spPr>
          <a:xfrm>
            <a:off x="530352" y="5806440"/>
            <a:ext cx="310896" cy="310896"/>
          </a:xfrm>
          <a:prstGeom prst="ellipse">
            <a:avLst/>
          </a:prstGeom>
          <a:solidFill>
            <a:srgbClr val="E0702B"/>
          </a:solidFill>
          <a:ln w="12700">
            <a:solidFill>
              <a:srgbClr val="E0702B"/>
            </a:solidFill>
            <a:prstDash val="solid"/>
          </a:ln>
        </p:spPr>
        <p:txBody>
          <a:bodyPr/>
          <a:p/>
        </p:txBody>
      </p:sp>
      <p:sp>
        <p:nvSpPr>
          <p:cNvPr id="32" name="Text 29"/>
          <p:cNvSpPr/>
          <p:nvPr/>
        </p:nvSpPr>
        <p:spPr>
          <a:xfrm>
            <a:off x="530352" y="5806440"/>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33" name="Text 30"/>
          <p:cNvSpPr/>
          <p:nvPr/>
        </p:nvSpPr>
        <p:spPr>
          <a:xfrm>
            <a:off x="941832" y="5797296"/>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High camber usually brings a stronger nose-down pitching moment, so the tail and center of gravity must be designed to balance it.</a:t>
            </a:r>
            <a:endParaRPr lang="en-US" sz="1120" dirty="0"/>
          </a:p>
        </p:txBody>
      </p:sp>
      <p:sp>
        <p:nvSpPr>
          <p:cNvPr id="34" name="Shape 31"/>
          <p:cNvSpPr/>
          <p:nvPr/>
        </p:nvSpPr>
        <p:spPr>
          <a:xfrm>
            <a:off x="585216" y="6629400"/>
            <a:ext cx="3840480" cy="1737360"/>
          </a:xfrm>
          <a:prstGeom prst="roundRect">
            <a:avLst>
              <a:gd name="adj" fmla="val 5263"/>
            </a:avLst>
          </a:prstGeom>
          <a:solidFill>
            <a:srgbClr val="F8FAFD"/>
          </a:solidFill>
          <a:ln w="10160">
            <a:solidFill>
              <a:srgbClr val="E5EAF2"/>
            </a:solidFill>
            <a:prstDash val="solid"/>
          </a:ln>
        </p:spPr>
        <p:txBody>
          <a:bodyPr/>
          <a:p/>
        </p:txBody>
      </p:sp>
      <p:sp>
        <p:nvSpPr>
          <p:cNvPr id="35" name="Text 32"/>
          <p:cNvSpPr/>
          <p:nvPr/>
        </p:nvSpPr>
        <p:spPr>
          <a:xfrm>
            <a:off x="731520" y="6720840"/>
            <a:ext cx="2468880" cy="155448"/>
          </a:xfrm>
          <a:prstGeom prst="rect">
            <a:avLst/>
          </a:prstGeom>
          <a:noFill/>
          <a:ln/>
        </p:spPr>
        <p:txBody>
          <a:bodyPr wrap="square" lIns="0" tIns="0" rIns="0" bIns="0" rtlCol="0" anchor="ctr">
            <a:normAutofit/>
          </a:bodyPr>
          <a:lstStyle/>
          <a:p>
            <a:pPr indent="0" marL="0">
              <a:buNone/>
            </a:pPr>
            <a:r>
              <a:rPr lang="en-US" sz="780" b="1" spc="50" kern="0" dirty="0">
                <a:solidFill>
                  <a:srgbClr val="59627A"/>
                </a:solidFill>
                <a:latin typeface="Arial" pitchFamily="34" charset="0"/>
                <a:ea typeface="Arial" pitchFamily="34" charset="-122"/>
                <a:cs typeface="Arial" pitchFamily="34" charset="-120"/>
              </a:rPr>
              <a:t>HIGH LIFT COMES WITH A TRIM COST</a:t>
            </a:r>
            <a:endParaRPr lang="en-US" sz="780" dirty="0"/>
          </a:p>
        </p:txBody>
      </p:sp>
      <p:sp>
        <p:nvSpPr>
          <p:cNvPr id="36" name="Shape 33"/>
          <p:cNvSpPr/>
          <p:nvPr/>
        </p:nvSpPr>
        <p:spPr>
          <a:xfrm>
            <a:off x="749808" y="7141464"/>
            <a:ext cx="1444020" cy="0"/>
          </a:xfrm>
          <a:prstGeom prst="line">
            <a:avLst/>
          </a:prstGeom>
          <a:noFill/>
          <a:ln w="15240">
            <a:solidFill>
              <a:srgbClr val="3478D4"/>
            </a:solidFill>
            <a:prstDash val="solid"/>
          </a:ln>
        </p:spPr>
        <p:txBody>
          <a:bodyPr/>
          <a:p/>
        </p:txBody>
      </p:sp>
      <p:sp>
        <p:nvSpPr>
          <p:cNvPr id="37" name="Shape 34"/>
          <p:cNvSpPr/>
          <p:nvPr/>
        </p:nvSpPr>
        <p:spPr>
          <a:xfrm>
            <a:off x="2400117" y="7141464"/>
            <a:ext cx="1650309" cy="182880"/>
          </a:xfrm>
          <a:prstGeom prst="line">
            <a:avLst/>
          </a:prstGeom>
          <a:noFill/>
          <a:ln w="15240">
            <a:solidFill>
              <a:srgbClr val="3478D4"/>
            </a:solidFill>
            <a:prstDash val="solid"/>
            <a:tailEnd type="triangle"/>
          </a:ln>
        </p:spPr>
        <p:txBody>
          <a:bodyPr/>
          <a:p/>
        </p:txBody>
      </p:sp>
      <p:sp>
        <p:nvSpPr>
          <p:cNvPr id="38" name="Shape 35"/>
          <p:cNvSpPr/>
          <p:nvPr/>
        </p:nvSpPr>
        <p:spPr>
          <a:xfrm>
            <a:off x="749808" y="7242048"/>
            <a:ext cx="1444020" cy="0"/>
          </a:xfrm>
          <a:prstGeom prst="line">
            <a:avLst/>
          </a:prstGeom>
          <a:noFill/>
          <a:ln w="15240">
            <a:solidFill>
              <a:srgbClr val="3478D4"/>
            </a:solidFill>
            <a:prstDash val="solid"/>
          </a:ln>
        </p:spPr>
        <p:txBody>
          <a:bodyPr/>
          <a:p/>
        </p:txBody>
      </p:sp>
      <p:sp>
        <p:nvSpPr>
          <p:cNvPr id="39" name="Shape 36"/>
          <p:cNvSpPr/>
          <p:nvPr/>
        </p:nvSpPr>
        <p:spPr>
          <a:xfrm>
            <a:off x="2400117" y="7242048"/>
            <a:ext cx="1650309" cy="182880"/>
          </a:xfrm>
          <a:prstGeom prst="line">
            <a:avLst/>
          </a:prstGeom>
          <a:noFill/>
          <a:ln w="15240">
            <a:solidFill>
              <a:srgbClr val="3478D4"/>
            </a:solidFill>
            <a:prstDash val="solid"/>
            <a:tailEnd type="triangle"/>
          </a:ln>
        </p:spPr>
        <p:txBody>
          <a:bodyPr/>
          <a:p/>
        </p:txBody>
      </p:sp>
      <p:sp>
        <p:nvSpPr>
          <p:cNvPr id="40" name="Shape 37"/>
          <p:cNvSpPr/>
          <p:nvPr/>
        </p:nvSpPr>
        <p:spPr>
          <a:xfrm>
            <a:off x="749808" y="7342632"/>
            <a:ext cx="1444020" cy="0"/>
          </a:xfrm>
          <a:prstGeom prst="line">
            <a:avLst/>
          </a:prstGeom>
          <a:noFill/>
          <a:ln w="15240">
            <a:solidFill>
              <a:srgbClr val="3478D4"/>
            </a:solidFill>
            <a:prstDash val="solid"/>
          </a:ln>
        </p:spPr>
        <p:txBody>
          <a:bodyPr/>
          <a:p/>
        </p:txBody>
      </p:sp>
      <p:sp>
        <p:nvSpPr>
          <p:cNvPr id="41" name="Shape 38"/>
          <p:cNvSpPr/>
          <p:nvPr/>
        </p:nvSpPr>
        <p:spPr>
          <a:xfrm>
            <a:off x="2400117" y="7342632"/>
            <a:ext cx="1650309" cy="182880"/>
          </a:xfrm>
          <a:prstGeom prst="line">
            <a:avLst/>
          </a:prstGeom>
          <a:noFill/>
          <a:ln w="15240">
            <a:solidFill>
              <a:srgbClr val="3478D4"/>
            </a:solidFill>
            <a:prstDash val="solid"/>
            <a:tailEnd type="triangle"/>
          </a:ln>
        </p:spPr>
        <p:txBody>
          <a:bodyPr/>
          <a:p/>
        </p:txBody>
      </p:sp>
      <p:sp>
        <p:nvSpPr>
          <p:cNvPr id="42" name="Shape 39"/>
          <p:cNvSpPr/>
          <p:nvPr/>
        </p:nvSpPr>
        <p:spPr>
          <a:xfrm>
            <a:off x="749808" y="7443216"/>
            <a:ext cx="1444020" cy="0"/>
          </a:xfrm>
          <a:prstGeom prst="line">
            <a:avLst/>
          </a:prstGeom>
          <a:noFill/>
          <a:ln w="15240">
            <a:solidFill>
              <a:srgbClr val="3478D4"/>
            </a:solidFill>
            <a:prstDash val="solid"/>
          </a:ln>
        </p:spPr>
        <p:txBody>
          <a:bodyPr/>
          <a:p/>
        </p:txBody>
      </p:sp>
      <p:sp>
        <p:nvSpPr>
          <p:cNvPr id="43" name="Shape 40"/>
          <p:cNvSpPr/>
          <p:nvPr/>
        </p:nvSpPr>
        <p:spPr>
          <a:xfrm>
            <a:off x="2400117" y="7443216"/>
            <a:ext cx="1650309" cy="182880"/>
          </a:xfrm>
          <a:prstGeom prst="line">
            <a:avLst/>
          </a:prstGeom>
          <a:noFill/>
          <a:ln w="15240">
            <a:solidFill>
              <a:srgbClr val="3478D4"/>
            </a:solidFill>
            <a:prstDash val="solid"/>
            <a:tailEnd type="triangle"/>
          </a:ln>
        </p:spPr>
        <p:txBody>
          <a:bodyPr/>
          <a:p/>
        </p:txBody>
      </p:sp>
      <p:sp>
        <p:nvSpPr>
          <p:cNvPr id="44" name="Shape 41"/>
          <p:cNvSpPr/>
          <p:nvPr/>
        </p:nvSpPr>
        <p:spPr>
          <a:xfrm>
            <a:off x="749808" y="7543800"/>
            <a:ext cx="1444020" cy="0"/>
          </a:xfrm>
          <a:prstGeom prst="line">
            <a:avLst/>
          </a:prstGeom>
          <a:noFill/>
          <a:ln w="15240">
            <a:solidFill>
              <a:srgbClr val="3478D4"/>
            </a:solidFill>
            <a:prstDash val="solid"/>
          </a:ln>
        </p:spPr>
        <p:txBody>
          <a:bodyPr/>
          <a:p/>
        </p:txBody>
      </p:sp>
      <p:sp>
        <p:nvSpPr>
          <p:cNvPr id="45" name="Shape 42"/>
          <p:cNvSpPr/>
          <p:nvPr/>
        </p:nvSpPr>
        <p:spPr>
          <a:xfrm>
            <a:off x="2400117" y="7543800"/>
            <a:ext cx="1650309" cy="182880"/>
          </a:xfrm>
          <a:prstGeom prst="line">
            <a:avLst/>
          </a:prstGeom>
          <a:noFill/>
          <a:ln w="15240">
            <a:solidFill>
              <a:srgbClr val="3478D4"/>
            </a:solidFill>
            <a:prstDash val="solid"/>
            <a:tailEnd type="triangle"/>
          </a:ln>
        </p:spPr>
        <p:txBody>
          <a:bodyPr/>
          <a:p/>
        </p:txBody>
      </p:sp>
      <p:pic>
        <p:nvPicPr>
          <p:cNvPr id="46" name="Image 1" descr="/mnt/data/airfoil_project/assets/s1223_clean.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40000">
            <a:off x="1389888" y="7232904"/>
            <a:ext cx="2331720" cy="502920"/>
          </a:xfrm>
          <a:prstGeom prst="rect">
            <a:avLst/>
          </a:prstGeom>
        </p:spPr>
      </p:pic>
      <p:sp>
        <p:nvSpPr>
          <p:cNvPr id="47" name="Shape 43"/>
          <p:cNvSpPr/>
          <p:nvPr/>
        </p:nvSpPr>
        <p:spPr>
          <a:xfrm>
            <a:off x="2276856" y="7040880"/>
            <a:ext cx="320040" cy="694944"/>
          </a:xfrm>
          <a:prstGeom prst="upArrow">
            <a:avLst/>
          </a:prstGeom>
          <a:solidFill>
            <a:srgbClr val="E0702B"/>
          </a:solidFill>
          <a:ln w="12700">
            <a:solidFill>
              <a:srgbClr val="E0702B"/>
            </a:solidFill>
            <a:prstDash val="solid"/>
          </a:ln>
        </p:spPr>
        <p:txBody>
          <a:bodyPr/>
          <a:p/>
        </p:txBody>
      </p:sp>
      <p:sp>
        <p:nvSpPr>
          <p:cNvPr id="48" name="Text 44"/>
          <p:cNvSpPr/>
          <p:nvPr/>
        </p:nvSpPr>
        <p:spPr>
          <a:xfrm>
            <a:off x="2139696" y="6858000"/>
            <a:ext cx="594360" cy="164592"/>
          </a:xfrm>
          <a:prstGeom prst="rect">
            <a:avLst/>
          </a:prstGeom>
          <a:noFill/>
          <a:ln/>
        </p:spPr>
        <p:txBody>
          <a:bodyPr wrap="square" lIns="0" tIns="0" rIns="0" bIns="0" rtlCol="0" anchor="ctr">
            <a:normAutofit/>
          </a:bodyPr>
          <a:lstStyle/>
          <a:p>
            <a:pPr algn="ctr" indent="0" marL="0">
              <a:buNone/>
            </a:pPr>
            <a:r>
              <a:rPr lang="en-US" sz="900" b="1" dirty="0">
                <a:solidFill>
                  <a:srgbClr val="E0702B"/>
                </a:solidFill>
                <a:latin typeface="Arial" pitchFamily="34" charset="0"/>
                <a:ea typeface="Arial" pitchFamily="34" charset="-122"/>
                <a:cs typeface="Arial" pitchFamily="34" charset="-120"/>
              </a:rPr>
              <a:t>large lift</a:t>
            </a:r>
            <a:endParaRPr lang="en-US" sz="900" dirty="0"/>
          </a:p>
        </p:txBody>
      </p:sp>
      <p:sp>
        <p:nvSpPr>
          <p:cNvPr id="49" name="Shape 45"/>
          <p:cNvSpPr/>
          <p:nvPr/>
        </p:nvSpPr>
        <p:spPr>
          <a:xfrm rot="6600000">
            <a:off x="3529584" y="7342632"/>
            <a:ext cx="502920" cy="502920"/>
          </a:xfrm>
          <a:prstGeom prst="circularArrow">
            <a:avLst/>
          </a:prstGeom>
          <a:solidFill>
            <a:srgbClr val="C83E3E">
              <a:alpha val="95000"/>
            </a:srgbClr>
          </a:solidFill>
          <a:ln w="12700">
            <a:solidFill>
              <a:srgbClr val="C83E3E"/>
            </a:solidFill>
            <a:prstDash val="solid"/>
          </a:ln>
        </p:spPr>
        <p:txBody>
          <a:bodyPr/>
          <a:p/>
        </p:txBody>
      </p:sp>
      <p:sp>
        <p:nvSpPr>
          <p:cNvPr id="50" name="Text 46"/>
          <p:cNvSpPr/>
          <p:nvPr/>
        </p:nvSpPr>
        <p:spPr>
          <a:xfrm>
            <a:off x="3054096" y="7872984"/>
            <a:ext cx="1143000" cy="201168"/>
          </a:xfrm>
          <a:prstGeom prst="rect">
            <a:avLst/>
          </a:prstGeom>
          <a:noFill/>
          <a:ln/>
        </p:spPr>
        <p:txBody>
          <a:bodyPr wrap="square" lIns="0" tIns="0" rIns="0" bIns="0" rtlCol="0" anchor="ctr">
            <a:normAutofit/>
          </a:bodyPr>
          <a:lstStyle/>
          <a:p>
            <a:pPr algn="ctr" indent="0" marL="0">
              <a:buNone/>
            </a:pPr>
            <a:r>
              <a:rPr lang="en-US" sz="860" b="1" dirty="0">
                <a:solidFill>
                  <a:srgbClr val="C83E3E"/>
                </a:solidFill>
                <a:latin typeface="Arial" pitchFamily="34" charset="0"/>
                <a:ea typeface="Arial" pitchFamily="34" charset="-122"/>
                <a:cs typeface="Arial" pitchFamily="34" charset="-120"/>
              </a:rPr>
              <a:t>nose-down pitching moment</a:t>
            </a:r>
            <a:endParaRPr lang="en-US" sz="860" dirty="0"/>
          </a:p>
        </p:txBody>
      </p:sp>
      <p:sp>
        <p:nvSpPr>
          <p:cNvPr id="51" name="Text 47"/>
          <p:cNvSpPr/>
          <p:nvPr/>
        </p:nvSpPr>
        <p:spPr>
          <a:xfrm>
            <a:off x="813816" y="8119872"/>
            <a:ext cx="3383280" cy="155448"/>
          </a:xfrm>
          <a:prstGeom prst="rect">
            <a:avLst/>
          </a:prstGeom>
          <a:noFill/>
          <a:ln/>
        </p:spPr>
        <p:txBody>
          <a:bodyPr wrap="square" lIns="0" tIns="0" rIns="0" bIns="0" rtlCol="0" anchor="ctr">
            <a:normAutofit/>
          </a:bodyPr>
          <a:lstStyle/>
          <a:p>
            <a:pPr algn="ctr" indent="0" marL="0">
              <a:buNone/>
            </a:pPr>
            <a:r>
              <a:rPr lang="en-US" sz="900" dirty="0">
                <a:solidFill>
                  <a:srgbClr val="1A2342"/>
                </a:solidFill>
                <a:latin typeface="Arial" pitchFamily="34" charset="0"/>
                <a:ea typeface="Arial" pitchFamily="34" charset="-122"/>
                <a:cs typeface="Arial" pitchFamily="34" charset="-120"/>
              </a:rPr>
              <a:t>The tail and center of gravity must balance that moment.</a:t>
            </a:r>
            <a:endParaRPr lang="en-US" sz="900" dirty="0"/>
          </a:p>
        </p:txBody>
      </p:sp>
      <p:sp>
        <p:nvSpPr>
          <p:cNvPr id="52" name="Shape 48"/>
          <p:cNvSpPr/>
          <p:nvPr/>
        </p:nvSpPr>
        <p:spPr>
          <a:xfrm>
            <a:off x="4828032" y="4005072"/>
            <a:ext cx="2596896" cy="1143000"/>
          </a:xfrm>
          <a:prstGeom prst="roundRect">
            <a:avLst>
              <a:gd name="adj" fmla="val 8000"/>
            </a:avLst>
          </a:prstGeom>
          <a:solidFill>
            <a:srgbClr val="FFFFFF"/>
          </a:solidFill>
          <a:ln w="10160">
            <a:solidFill>
              <a:srgbClr val="D9DFEA"/>
            </a:solidFill>
            <a:prstDash val="solid"/>
          </a:ln>
        </p:spPr>
        <p:txBody>
          <a:bodyPr/>
          <a:p/>
        </p:txBody>
      </p:sp>
      <p:sp>
        <p:nvSpPr>
          <p:cNvPr id="53" name="Shape 49"/>
          <p:cNvSpPr/>
          <p:nvPr/>
        </p:nvSpPr>
        <p:spPr>
          <a:xfrm>
            <a:off x="4965192" y="4142232"/>
            <a:ext cx="45720" cy="173736"/>
          </a:xfrm>
          <a:prstGeom prst="rect">
            <a:avLst/>
          </a:prstGeom>
          <a:solidFill>
            <a:srgbClr val="E0702B"/>
          </a:solidFill>
          <a:ln w="12700">
            <a:solidFill>
              <a:srgbClr val="E0702B">
                <a:alpha val="0"/>
              </a:srgbClr>
            </a:solidFill>
            <a:prstDash val="solid"/>
          </a:ln>
        </p:spPr>
        <p:txBody>
          <a:bodyPr/>
          <a:p/>
        </p:txBody>
      </p:sp>
      <p:sp>
        <p:nvSpPr>
          <p:cNvPr id="54" name="Text 50"/>
          <p:cNvSpPr/>
          <p:nvPr/>
        </p:nvSpPr>
        <p:spPr>
          <a:xfrm>
            <a:off x="5074920" y="4114800"/>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BEST FOR</a:t>
            </a:r>
            <a:endParaRPr lang="en-US" sz="950" dirty="0"/>
          </a:p>
        </p:txBody>
      </p:sp>
      <p:sp>
        <p:nvSpPr>
          <p:cNvPr id="55" name="Shape 51"/>
          <p:cNvSpPr/>
          <p:nvPr/>
        </p:nvSpPr>
        <p:spPr>
          <a:xfrm>
            <a:off x="4992624" y="4434840"/>
            <a:ext cx="91440" cy="91440"/>
          </a:xfrm>
          <a:prstGeom prst="ellipse">
            <a:avLst/>
          </a:prstGeom>
          <a:solidFill>
            <a:srgbClr val="E0702B"/>
          </a:solidFill>
          <a:ln w="12700">
            <a:solidFill>
              <a:srgbClr val="E0702B"/>
            </a:solidFill>
            <a:prstDash val="solid"/>
          </a:ln>
        </p:spPr>
        <p:txBody>
          <a:bodyPr/>
          <a:p/>
        </p:txBody>
      </p:sp>
      <p:sp>
        <p:nvSpPr>
          <p:cNvPr id="56" name="Text 52"/>
          <p:cNvSpPr/>
          <p:nvPr/>
        </p:nvSpPr>
        <p:spPr>
          <a:xfrm>
            <a:off x="5157216" y="4370832"/>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Slow flyers and STOL models</a:t>
            </a:r>
            <a:endParaRPr lang="en-US" sz="920" dirty="0"/>
          </a:p>
        </p:txBody>
      </p:sp>
      <p:sp>
        <p:nvSpPr>
          <p:cNvPr id="57" name="Shape 53"/>
          <p:cNvSpPr/>
          <p:nvPr/>
        </p:nvSpPr>
        <p:spPr>
          <a:xfrm>
            <a:off x="4992624" y="4654296"/>
            <a:ext cx="91440" cy="91440"/>
          </a:xfrm>
          <a:prstGeom prst="ellipse">
            <a:avLst/>
          </a:prstGeom>
          <a:solidFill>
            <a:srgbClr val="E0702B"/>
          </a:solidFill>
          <a:ln w="12700">
            <a:solidFill>
              <a:srgbClr val="E0702B"/>
            </a:solidFill>
            <a:prstDash val="solid"/>
          </a:ln>
        </p:spPr>
        <p:txBody>
          <a:bodyPr/>
          <a:p/>
        </p:txBody>
      </p:sp>
      <p:sp>
        <p:nvSpPr>
          <p:cNvPr id="58" name="Text 54"/>
          <p:cNvSpPr/>
          <p:nvPr/>
        </p:nvSpPr>
        <p:spPr>
          <a:xfrm>
            <a:off x="5157216" y="4590288"/>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Payload or lift demonstrations</a:t>
            </a:r>
            <a:endParaRPr lang="en-US" sz="920" dirty="0"/>
          </a:p>
        </p:txBody>
      </p:sp>
      <p:sp>
        <p:nvSpPr>
          <p:cNvPr id="59" name="Shape 55"/>
          <p:cNvSpPr/>
          <p:nvPr/>
        </p:nvSpPr>
        <p:spPr>
          <a:xfrm>
            <a:off x="4992624" y="4873752"/>
            <a:ext cx="91440" cy="91440"/>
          </a:xfrm>
          <a:prstGeom prst="ellipse">
            <a:avLst/>
          </a:prstGeom>
          <a:solidFill>
            <a:srgbClr val="E0702B"/>
          </a:solidFill>
          <a:ln w="12700">
            <a:solidFill>
              <a:srgbClr val="E0702B"/>
            </a:solidFill>
            <a:prstDash val="solid"/>
          </a:ln>
        </p:spPr>
        <p:txBody>
          <a:bodyPr/>
          <a:p/>
        </p:txBody>
      </p:sp>
      <p:sp>
        <p:nvSpPr>
          <p:cNvPr id="60" name="Text 56"/>
          <p:cNvSpPr/>
          <p:nvPr/>
        </p:nvSpPr>
        <p:spPr>
          <a:xfrm>
            <a:off x="5157216" y="4809744"/>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Models with short takeoff goals</a:t>
            </a:r>
            <a:endParaRPr lang="en-US" sz="920" dirty="0"/>
          </a:p>
        </p:txBody>
      </p:sp>
      <p:sp>
        <p:nvSpPr>
          <p:cNvPr id="61" name="Shape 57"/>
          <p:cNvSpPr/>
          <p:nvPr/>
        </p:nvSpPr>
        <p:spPr>
          <a:xfrm>
            <a:off x="4828032" y="5266944"/>
            <a:ext cx="2596896" cy="1353312"/>
          </a:xfrm>
          <a:prstGeom prst="roundRect">
            <a:avLst>
              <a:gd name="adj" fmla="val 6757"/>
            </a:avLst>
          </a:prstGeom>
          <a:solidFill>
            <a:srgbClr val="FFFFFF"/>
          </a:solidFill>
          <a:ln w="10160">
            <a:solidFill>
              <a:srgbClr val="D9DFEA"/>
            </a:solidFill>
            <a:prstDash val="solid"/>
          </a:ln>
        </p:spPr>
        <p:txBody>
          <a:bodyPr/>
          <a:p/>
        </p:txBody>
      </p:sp>
      <p:sp>
        <p:nvSpPr>
          <p:cNvPr id="62" name="Shape 58"/>
          <p:cNvSpPr/>
          <p:nvPr/>
        </p:nvSpPr>
        <p:spPr>
          <a:xfrm>
            <a:off x="4965192" y="5404104"/>
            <a:ext cx="45720" cy="173736"/>
          </a:xfrm>
          <a:prstGeom prst="rect">
            <a:avLst/>
          </a:prstGeom>
          <a:solidFill>
            <a:srgbClr val="E0702B"/>
          </a:solidFill>
          <a:ln w="12700">
            <a:solidFill>
              <a:srgbClr val="E0702B">
                <a:alpha val="0"/>
              </a:srgbClr>
            </a:solidFill>
            <a:prstDash val="solid"/>
          </a:ln>
        </p:spPr>
        <p:txBody>
          <a:bodyPr/>
          <a:p/>
        </p:txBody>
      </p:sp>
      <p:sp>
        <p:nvSpPr>
          <p:cNvPr id="63" name="Text 59"/>
          <p:cNvSpPr/>
          <p:nvPr/>
        </p:nvSpPr>
        <p:spPr>
          <a:xfrm>
            <a:off x="5074920" y="5376672"/>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BUILD NOTES</a:t>
            </a:r>
            <a:endParaRPr lang="en-US" sz="950" dirty="0"/>
          </a:p>
        </p:txBody>
      </p:sp>
      <p:sp>
        <p:nvSpPr>
          <p:cNvPr id="64" name="Shape 60"/>
          <p:cNvSpPr/>
          <p:nvPr/>
        </p:nvSpPr>
        <p:spPr>
          <a:xfrm>
            <a:off x="4992624" y="5687568"/>
            <a:ext cx="91440" cy="91440"/>
          </a:xfrm>
          <a:prstGeom prst="ellipse">
            <a:avLst/>
          </a:prstGeom>
          <a:solidFill>
            <a:srgbClr val="E0702B"/>
          </a:solidFill>
          <a:ln w="12700">
            <a:solidFill>
              <a:srgbClr val="E0702B"/>
            </a:solidFill>
            <a:prstDash val="solid"/>
          </a:ln>
        </p:spPr>
        <p:txBody>
          <a:bodyPr/>
          <a:p/>
        </p:txBody>
      </p:sp>
      <p:sp>
        <p:nvSpPr>
          <p:cNvPr id="65" name="Text 61"/>
          <p:cNvSpPr/>
          <p:nvPr/>
        </p:nvSpPr>
        <p:spPr>
          <a:xfrm>
            <a:off x="5157216" y="5623560"/>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Cut the undercamber accurately; a flat shortcut changes the airfoil.</a:t>
            </a:r>
            <a:endParaRPr lang="en-US" sz="900" dirty="0"/>
          </a:p>
        </p:txBody>
      </p:sp>
      <p:sp>
        <p:nvSpPr>
          <p:cNvPr id="66" name="Shape 62"/>
          <p:cNvSpPr/>
          <p:nvPr/>
        </p:nvSpPr>
        <p:spPr>
          <a:xfrm>
            <a:off x="4992624" y="5974080"/>
            <a:ext cx="91440" cy="91440"/>
          </a:xfrm>
          <a:prstGeom prst="ellipse">
            <a:avLst/>
          </a:prstGeom>
          <a:solidFill>
            <a:srgbClr val="E0702B"/>
          </a:solidFill>
          <a:ln w="12700">
            <a:solidFill>
              <a:srgbClr val="E0702B"/>
            </a:solidFill>
            <a:prstDash val="solid"/>
          </a:ln>
        </p:spPr>
        <p:txBody>
          <a:bodyPr/>
          <a:p/>
        </p:txBody>
      </p:sp>
      <p:sp>
        <p:nvSpPr>
          <p:cNvPr id="67" name="Text 63"/>
          <p:cNvSpPr/>
          <p:nvPr/>
        </p:nvSpPr>
        <p:spPr>
          <a:xfrm>
            <a:off x="5157216" y="5910072"/>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Support film covering so it does not bridge across the curve.</a:t>
            </a:r>
            <a:endParaRPr lang="en-US" sz="900" dirty="0"/>
          </a:p>
        </p:txBody>
      </p:sp>
      <p:sp>
        <p:nvSpPr>
          <p:cNvPr id="68" name="Shape 64"/>
          <p:cNvSpPr/>
          <p:nvPr/>
        </p:nvSpPr>
        <p:spPr>
          <a:xfrm>
            <a:off x="4992624" y="6260592"/>
            <a:ext cx="91440" cy="91440"/>
          </a:xfrm>
          <a:prstGeom prst="ellipse">
            <a:avLst/>
          </a:prstGeom>
          <a:solidFill>
            <a:srgbClr val="E0702B"/>
          </a:solidFill>
          <a:ln w="12700">
            <a:solidFill>
              <a:srgbClr val="E0702B"/>
            </a:solidFill>
            <a:prstDash val="solid"/>
          </a:ln>
        </p:spPr>
        <p:txBody>
          <a:bodyPr/>
          <a:p/>
        </p:txBody>
      </p:sp>
      <p:sp>
        <p:nvSpPr>
          <p:cNvPr id="69" name="Text 65"/>
          <p:cNvSpPr/>
          <p:nvPr/>
        </p:nvSpPr>
        <p:spPr>
          <a:xfrm>
            <a:off x="5157216" y="6196584"/>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Make the thin trailing edge stiff enough to stay straight.</a:t>
            </a:r>
            <a:endParaRPr lang="en-US" sz="900" dirty="0"/>
          </a:p>
        </p:txBody>
      </p:sp>
      <p:sp>
        <p:nvSpPr>
          <p:cNvPr id="70" name="Shape 66"/>
          <p:cNvSpPr/>
          <p:nvPr/>
        </p:nvSpPr>
        <p:spPr>
          <a:xfrm>
            <a:off x="4828032" y="6739128"/>
            <a:ext cx="2596896" cy="1097280"/>
          </a:xfrm>
          <a:prstGeom prst="roundRect">
            <a:avLst>
              <a:gd name="adj" fmla="val 8333"/>
            </a:avLst>
          </a:prstGeom>
          <a:solidFill>
            <a:srgbClr val="FFFFFF"/>
          </a:solidFill>
          <a:ln w="10160">
            <a:solidFill>
              <a:srgbClr val="D9DFEA"/>
            </a:solidFill>
            <a:prstDash val="solid"/>
          </a:ln>
        </p:spPr>
        <p:txBody>
          <a:bodyPr/>
          <a:p/>
        </p:txBody>
      </p:sp>
      <p:sp>
        <p:nvSpPr>
          <p:cNvPr id="71" name="Shape 67"/>
          <p:cNvSpPr/>
          <p:nvPr/>
        </p:nvSpPr>
        <p:spPr>
          <a:xfrm>
            <a:off x="4965192" y="6876288"/>
            <a:ext cx="45720" cy="173736"/>
          </a:xfrm>
          <a:prstGeom prst="rect">
            <a:avLst/>
          </a:prstGeom>
          <a:solidFill>
            <a:srgbClr val="C83E3E"/>
          </a:solidFill>
          <a:ln w="12700">
            <a:solidFill>
              <a:srgbClr val="C83E3E">
                <a:alpha val="0"/>
              </a:srgbClr>
            </a:solidFill>
            <a:prstDash val="solid"/>
          </a:ln>
        </p:spPr>
        <p:txBody>
          <a:bodyPr/>
          <a:p/>
        </p:txBody>
      </p:sp>
      <p:sp>
        <p:nvSpPr>
          <p:cNvPr id="72" name="Text 68"/>
          <p:cNvSpPr/>
          <p:nvPr/>
        </p:nvSpPr>
        <p:spPr>
          <a:xfrm>
            <a:off x="5074920" y="6848856"/>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WATCH-OUTS</a:t>
            </a:r>
            <a:endParaRPr lang="en-US" sz="950" dirty="0"/>
          </a:p>
        </p:txBody>
      </p:sp>
      <p:sp>
        <p:nvSpPr>
          <p:cNvPr id="73" name="Shape 69"/>
          <p:cNvSpPr/>
          <p:nvPr/>
        </p:nvSpPr>
        <p:spPr>
          <a:xfrm>
            <a:off x="4992624" y="7159752"/>
            <a:ext cx="91440" cy="91440"/>
          </a:xfrm>
          <a:prstGeom prst="ellipse">
            <a:avLst/>
          </a:prstGeom>
          <a:solidFill>
            <a:srgbClr val="C83E3E"/>
          </a:solidFill>
          <a:ln w="12700">
            <a:solidFill>
              <a:srgbClr val="C83E3E"/>
            </a:solidFill>
            <a:prstDash val="solid"/>
          </a:ln>
        </p:spPr>
        <p:txBody>
          <a:bodyPr/>
          <a:p/>
        </p:txBody>
      </p:sp>
      <p:sp>
        <p:nvSpPr>
          <p:cNvPr id="74" name="Text 70"/>
          <p:cNvSpPr/>
          <p:nvPr/>
        </p:nvSpPr>
        <p:spPr>
          <a:xfrm>
            <a:off x="5157216" y="7095744"/>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High drag at speed.</a:t>
            </a:r>
            <a:endParaRPr lang="en-US" sz="880" dirty="0"/>
          </a:p>
        </p:txBody>
      </p:sp>
      <p:sp>
        <p:nvSpPr>
          <p:cNvPr id="75" name="Shape 71"/>
          <p:cNvSpPr/>
          <p:nvPr/>
        </p:nvSpPr>
        <p:spPr>
          <a:xfrm>
            <a:off x="4992624" y="7367016"/>
            <a:ext cx="91440" cy="91440"/>
          </a:xfrm>
          <a:prstGeom prst="ellipse">
            <a:avLst/>
          </a:prstGeom>
          <a:solidFill>
            <a:srgbClr val="C83E3E"/>
          </a:solidFill>
          <a:ln w="12700">
            <a:solidFill>
              <a:srgbClr val="C83E3E"/>
            </a:solidFill>
            <a:prstDash val="solid"/>
          </a:ln>
        </p:spPr>
        <p:txBody>
          <a:bodyPr/>
          <a:p/>
        </p:txBody>
      </p:sp>
      <p:sp>
        <p:nvSpPr>
          <p:cNvPr id="76" name="Text 72"/>
          <p:cNvSpPr/>
          <p:nvPr/>
        </p:nvSpPr>
        <p:spPr>
          <a:xfrm>
            <a:off x="5157216" y="7303008"/>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Poor inverted performance.</a:t>
            </a:r>
            <a:endParaRPr lang="en-US" sz="880" dirty="0"/>
          </a:p>
        </p:txBody>
      </p:sp>
      <p:sp>
        <p:nvSpPr>
          <p:cNvPr id="77" name="Shape 73"/>
          <p:cNvSpPr/>
          <p:nvPr/>
        </p:nvSpPr>
        <p:spPr>
          <a:xfrm>
            <a:off x="4992624" y="7574280"/>
            <a:ext cx="91440" cy="91440"/>
          </a:xfrm>
          <a:prstGeom prst="ellipse">
            <a:avLst/>
          </a:prstGeom>
          <a:solidFill>
            <a:srgbClr val="C83E3E"/>
          </a:solidFill>
          <a:ln w="12700">
            <a:solidFill>
              <a:srgbClr val="C83E3E"/>
            </a:solidFill>
            <a:prstDash val="solid"/>
          </a:ln>
        </p:spPr>
        <p:txBody>
          <a:bodyPr/>
          <a:p/>
        </p:txBody>
      </p:sp>
      <p:sp>
        <p:nvSpPr>
          <p:cNvPr id="78" name="Text 74"/>
          <p:cNvSpPr/>
          <p:nvPr/>
        </p:nvSpPr>
        <p:spPr>
          <a:xfrm>
            <a:off x="5157216" y="7510272"/>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High lift does not mean stall-proof.</a:t>
            </a:r>
            <a:endParaRPr lang="en-US" sz="880" dirty="0"/>
          </a:p>
        </p:txBody>
      </p:sp>
      <p:sp>
        <p:nvSpPr>
          <p:cNvPr id="79" name="Shape 75"/>
          <p:cNvSpPr/>
          <p:nvPr/>
        </p:nvSpPr>
        <p:spPr>
          <a:xfrm>
            <a:off x="4828032" y="7955280"/>
            <a:ext cx="2596896" cy="859536"/>
          </a:xfrm>
          <a:prstGeom prst="roundRect">
            <a:avLst>
              <a:gd name="adj" fmla="val 10638"/>
            </a:avLst>
          </a:prstGeom>
          <a:solidFill>
            <a:srgbClr val="FFFFFF"/>
          </a:solidFill>
          <a:ln w="10160">
            <a:solidFill>
              <a:srgbClr val="D9DFEA"/>
            </a:solidFill>
            <a:prstDash val="solid"/>
          </a:ln>
        </p:spPr>
        <p:txBody>
          <a:bodyPr/>
          <a:p/>
        </p:txBody>
      </p:sp>
      <p:sp>
        <p:nvSpPr>
          <p:cNvPr id="80" name="Text 76"/>
          <p:cNvSpPr/>
          <p:nvPr/>
        </p:nvSpPr>
        <p:spPr>
          <a:xfrm>
            <a:off x="4965192" y="8046720"/>
            <a:ext cx="2322576" cy="146304"/>
          </a:xfrm>
          <a:prstGeom prst="rect">
            <a:avLst/>
          </a:prstGeom>
          <a:noFill/>
          <a:ln/>
        </p:spPr>
        <p:txBody>
          <a:bodyPr wrap="square" lIns="0" tIns="0" rIns="0" bIns="0" rtlCol="0" anchor="ctr">
            <a:normAutofit/>
          </a:bodyPr>
          <a:lstStyle/>
          <a:p>
            <a:pPr indent="0" marL="0">
              <a:buNone/>
            </a:pPr>
            <a:r>
              <a:rPr lang="en-US" sz="780" b="1" spc="50" kern="0" dirty="0">
                <a:solidFill>
                  <a:srgbClr val="111A42"/>
                </a:solidFill>
                <a:latin typeface="Arial" pitchFamily="34" charset="0"/>
                <a:ea typeface="Arial" pitchFamily="34" charset="-122"/>
                <a:cs typeface="Arial" pitchFamily="34" charset="-120"/>
              </a:rPr>
              <a:t>ROUGH R/C TENDENCIES (0–5)</a:t>
            </a:r>
            <a:endParaRPr lang="en-US" sz="780" dirty="0"/>
          </a:p>
        </p:txBody>
      </p:sp>
      <p:sp>
        <p:nvSpPr>
          <p:cNvPr id="81" name="Text 77"/>
          <p:cNvSpPr/>
          <p:nvPr/>
        </p:nvSpPr>
        <p:spPr>
          <a:xfrm>
            <a:off x="4965192" y="8229600"/>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Slow lift</a:t>
            </a:r>
            <a:endParaRPr lang="en-US" sz="780" dirty="0"/>
          </a:p>
        </p:txBody>
      </p:sp>
      <p:sp>
        <p:nvSpPr>
          <p:cNvPr id="82" name="Shape 78"/>
          <p:cNvSpPr/>
          <p:nvPr/>
        </p:nvSpPr>
        <p:spPr>
          <a:xfrm>
            <a:off x="5952744" y="8257032"/>
            <a:ext cx="173736" cy="109728"/>
          </a:xfrm>
          <a:prstGeom prst="roundRect">
            <a:avLst>
              <a:gd name="adj" fmla="val 25000"/>
            </a:avLst>
          </a:prstGeom>
          <a:solidFill>
            <a:srgbClr val="E0702B"/>
          </a:solidFill>
          <a:ln w="12700">
            <a:solidFill>
              <a:srgbClr val="E0702B">
                <a:alpha val="0"/>
              </a:srgbClr>
            </a:solidFill>
            <a:prstDash val="solid"/>
          </a:ln>
        </p:spPr>
        <p:txBody>
          <a:bodyPr/>
          <a:p/>
        </p:txBody>
      </p:sp>
      <p:sp>
        <p:nvSpPr>
          <p:cNvPr id="83" name="Shape 79"/>
          <p:cNvSpPr/>
          <p:nvPr/>
        </p:nvSpPr>
        <p:spPr>
          <a:xfrm>
            <a:off x="6172200" y="8257032"/>
            <a:ext cx="173736" cy="109728"/>
          </a:xfrm>
          <a:prstGeom prst="roundRect">
            <a:avLst>
              <a:gd name="adj" fmla="val 25000"/>
            </a:avLst>
          </a:prstGeom>
          <a:solidFill>
            <a:srgbClr val="E0702B"/>
          </a:solidFill>
          <a:ln w="12700">
            <a:solidFill>
              <a:srgbClr val="E0702B">
                <a:alpha val="0"/>
              </a:srgbClr>
            </a:solidFill>
            <a:prstDash val="solid"/>
          </a:ln>
        </p:spPr>
        <p:txBody>
          <a:bodyPr/>
          <a:p/>
        </p:txBody>
      </p:sp>
      <p:sp>
        <p:nvSpPr>
          <p:cNvPr id="84" name="Shape 80"/>
          <p:cNvSpPr/>
          <p:nvPr/>
        </p:nvSpPr>
        <p:spPr>
          <a:xfrm>
            <a:off x="6391656" y="8257032"/>
            <a:ext cx="173736" cy="109728"/>
          </a:xfrm>
          <a:prstGeom prst="roundRect">
            <a:avLst>
              <a:gd name="adj" fmla="val 25000"/>
            </a:avLst>
          </a:prstGeom>
          <a:solidFill>
            <a:srgbClr val="E0702B"/>
          </a:solidFill>
          <a:ln w="12700">
            <a:solidFill>
              <a:srgbClr val="E0702B">
                <a:alpha val="0"/>
              </a:srgbClr>
            </a:solidFill>
            <a:prstDash val="solid"/>
          </a:ln>
        </p:spPr>
        <p:txBody>
          <a:bodyPr/>
          <a:p/>
        </p:txBody>
      </p:sp>
      <p:sp>
        <p:nvSpPr>
          <p:cNvPr id="85" name="Shape 81"/>
          <p:cNvSpPr/>
          <p:nvPr/>
        </p:nvSpPr>
        <p:spPr>
          <a:xfrm>
            <a:off x="6611112" y="8257032"/>
            <a:ext cx="173736" cy="109728"/>
          </a:xfrm>
          <a:prstGeom prst="roundRect">
            <a:avLst>
              <a:gd name="adj" fmla="val 25000"/>
            </a:avLst>
          </a:prstGeom>
          <a:solidFill>
            <a:srgbClr val="E0702B"/>
          </a:solidFill>
          <a:ln w="12700">
            <a:solidFill>
              <a:srgbClr val="E0702B">
                <a:alpha val="0"/>
              </a:srgbClr>
            </a:solidFill>
            <a:prstDash val="solid"/>
          </a:ln>
        </p:spPr>
        <p:txBody>
          <a:bodyPr/>
          <a:p/>
        </p:txBody>
      </p:sp>
      <p:sp>
        <p:nvSpPr>
          <p:cNvPr id="86" name="Shape 82"/>
          <p:cNvSpPr/>
          <p:nvPr/>
        </p:nvSpPr>
        <p:spPr>
          <a:xfrm>
            <a:off x="6830568" y="8257032"/>
            <a:ext cx="173736" cy="109728"/>
          </a:xfrm>
          <a:prstGeom prst="roundRect">
            <a:avLst>
              <a:gd name="adj" fmla="val 25000"/>
            </a:avLst>
          </a:prstGeom>
          <a:solidFill>
            <a:srgbClr val="E0702B"/>
          </a:solidFill>
          <a:ln w="12700">
            <a:solidFill>
              <a:srgbClr val="E0702B">
                <a:alpha val="0"/>
              </a:srgbClr>
            </a:solidFill>
            <a:prstDash val="solid"/>
          </a:ln>
        </p:spPr>
        <p:txBody>
          <a:bodyPr/>
          <a:p/>
        </p:txBody>
      </p:sp>
      <p:sp>
        <p:nvSpPr>
          <p:cNvPr id="87" name="Text 83"/>
          <p:cNvSpPr/>
          <p:nvPr/>
        </p:nvSpPr>
        <p:spPr>
          <a:xfrm>
            <a:off x="4965192" y="8375904"/>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Speed</a:t>
            </a:r>
            <a:endParaRPr lang="en-US" sz="780" dirty="0"/>
          </a:p>
        </p:txBody>
      </p:sp>
      <p:sp>
        <p:nvSpPr>
          <p:cNvPr id="88" name="Shape 84"/>
          <p:cNvSpPr/>
          <p:nvPr/>
        </p:nvSpPr>
        <p:spPr>
          <a:xfrm>
            <a:off x="5952744" y="8403336"/>
            <a:ext cx="173736" cy="109728"/>
          </a:xfrm>
          <a:prstGeom prst="roundRect">
            <a:avLst>
              <a:gd name="adj" fmla="val 25000"/>
            </a:avLst>
          </a:prstGeom>
          <a:solidFill>
            <a:srgbClr val="E0702B"/>
          </a:solidFill>
          <a:ln w="12700">
            <a:solidFill>
              <a:srgbClr val="E0702B">
                <a:alpha val="0"/>
              </a:srgbClr>
            </a:solidFill>
            <a:prstDash val="solid"/>
          </a:ln>
        </p:spPr>
        <p:txBody>
          <a:bodyPr/>
          <a:p/>
        </p:txBody>
      </p:sp>
      <p:sp>
        <p:nvSpPr>
          <p:cNvPr id="89" name="Shape 85"/>
          <p:cNvSpPr/>
          <p:nvPr/>
        </p:nvSpPr>
        <p:spPr>
          <a:xfrm>
            <a:off x="6172200"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0" name="Shape 86"/>
          <p:cNvSpPr/>
          <p:nvPr/>
        </p:nvSpPr>
        <p:spPr>
          <a:xfrm>
            <a:off x="6391656"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1" name="Shape 87"/>
          <p:cNvSpPr/>
          <p:nvPr/>
        </p:nvSpPr>
        <p:spPr>
          <a:xfrm>
            <a:off x="6611112"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2" name="Shape 88"/>
          <p:cNvSpPr/>
          <p:nvPr/>
        </p:nvSpPr>
        <p:spPr>
          <a:xfrm>
            <a:off x="6830568"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3" name="Text 89"/>
          <p:cNvSpPr/>
          <p:nvPr/>
        </p:nvSpPr>
        <p:spPr>
          <a:xfrm>
            <a:off x="4965192" y="8522208"/>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Inverted</a:t>
            </a:r>
            <a:endParaRPr lang="en-US" sz="780" dirty="0"/>
          </a:p>
        </p:txBody>
      </p:sp>
      <p:sp>
        <p:nvSpPr>
          <p:cNvPr id="94" name="Shape 90"/>
          <p:cNvSpPr/>
          <p:nvPr/>
        </p:nvSpPr>
        <p:spPr>
          <a:xfrm>
            <a:off x="5952744" y="8549640"/>
            <a:ext cx="173736" cy="109728"/>
          </a:xfrm>
          <a:prstGeom prst="roundRect">
            <a:avLst>
              <a:gd name="adj" fmla="val 25000"/>
            </a:avLst>
          </a:prstGeom>
          <a:solidFill>
            <a:srgbClr val="E0702B"/>
          </a:solidFill>
          <a:ln w="12700">
            <a:solidFill>
              <a:srgbClr val="E0702B">
                <a:alpha val="0"/>
              </a:srgbClr>
            </a:solidFill>
            <a:prstDash val="solid"/>
          </a:ln>
        </p:spPr>
        <p:txBody>
          <a:bodyPr/>
          <a:p/>
        </p:txBody>
      </p:sp>
      <p:sp>
        <p:nvSpPr>
          <p:cNvPr id="95" name="Shape 91"/>
          <p:cNvSpPr/>
          <p:nvPr/>
        </p:nvSpPr>
        <p:spPr>
          <a:xfrm>
            <a:off x="6172200"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6" name="Shape 92"/>
          <p:cNvSpPr/>
          <p:nvPr/>
        </p:nvSpPr>
        <p:spPr>
          <a:xfrm>
            <a:off x="6391656"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7" name="Shape 93"/>
          <p:cNvSpPr/>
          <p:nvPr/>
        </p:nvSpPr>
        <p:spPr>
          <a:xfrm>
            <a:off x="6611112"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8" name="Shape 94"/>
          <p:cNvSpPr/>
          <p:nvPr/>
        </p:nvSpPr>
        <p:spPr>
          <a:xfrm>
            <a:off x="6830568"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99" name="Text 95"/>
          <p:cNvSpPr/>
          <p:nvPr/>
        </p:nvSpPr>
        <p:spPr>
          <a:xfrm>
            <a:off x="4965192" y="8686800"/>
            <a:ext cx="2322576" cy="91440"/>
          </a:xfrm>
          <a:prstGeom prst="rect">
            <a:avLst/>
          </a:prstGeom>
          <a:noFill/>
          <a:ln/>
        </p:spPr>
        <p:txBody>
          <a:bodyPr wrap="square" lIns="0" tIns="0" rIns="0" bIns="0" rtlCol="0" anchor="t">
            <a:normAutofit/>
          </a:bodyPr>
          <a:lstStyle/>
          <a:p>
            <a:pPr indent="0" marL="0">
              <a:buNone/>
            </a:pPr>
            <a:r>
              <a:rPr lang="en-US" sz="570" i="1" dirty="0">
                <a:solidFill>
                  <a:srgbClr val="59627A"/>
                </a:solidFill>
                <a:latin typeface="Arial" pitchFamily="34" charset="0"/>
                <a:ea typeface="Arial" pitchFamily="34" charset="-122"/>
                <a:cs typeface="Arial" pitchFamily="34" charset="-120"/>
              </a:rPr>
              <a:t>Not test data; wing loading and Reynolds number matter.</a:t>
            </a:r>
            <a:endParaRPr lang="en-US" sz="570" dirty="0"/>
          </a:p>
        </p:txBody>
      </p:sp>
      <p:sp>
        <p:nvSpPr>
          <p:cNvPr id="100" name="Shape 96"/>
          <p:cNvSpPr/>
          <p:nvPr/>
        </p:nvSpPr>
        <p:spPr>
          <a:xfrm>
            <a:off x="329184" y="8942832"/>
            <a:ext cx="7114032" cy="0"/>
          </a:xfrm>
          <a:prstGeom prst="line">
            <a:avLst/>
          </a:prstGeom>
          <a:noFill/>
          <a:ln w="10160">
            <a:solidFill>
              <a:srgbClr val="D8DEE9"/>
            </a:solidFill>
            <a:prstDash val="solid"/>
          </a:ln>
        </p:spPr>
        <p:txBody>
          <a:bodyPr/>
          <a:p/>
        </p:txBody>
      </p:sp>
      <p:sp>
        <p:nvSpPr>
          <p:cNvPr id="101" name="Text 97"/>
          <p:cNvSpPr/>
          <p:nvPr/>
        </p:nvSpPr>
        <p:spPr>
          <a:xfrm>
            <a:off x="347472" y="8979408"/>
            <a:ext cx="6812280" cy="164592"/>
          </a:xfrm>
          <a:prstGeom prst="rect">
            <a:avLst/>
          </a:prstGeom>
          <a:noFill/>
          <a:ln/>
        </p:spPr>
        <p:txBody>
          <a:bodyPr wrap="square" lIns="0" tIns="0" rIns="0" bIns="0" rtlCol="0" anchor="t">
            <a:normAutofit/>
          </a:bodyPr>
          <a:lstStyle/>
          <a:p>
            <a:pPr indent="0" marL="0">
              <a:buNone/>
            </a:pPr>
            <a:r>
              <a:rPr lang="en-US" sz="680" dirty="0">
                <a:solidFill>
                  <a:srgbClr val="6C758C"/>
                </a:solidFill>
                <a:latin typeface="Arial" pitchFamily="34" charset="0"/>
                <a:ea typeface="Arial" pitchFamily="34" charset="-122"/>
                <a:cs typeface="Arial" pitchFamily="34" charset="-120"/>
              </a:rPr>
              <a:t>Geometry: UIUC Airfoil Coordinates Database (s1223.dat). Descriptions are practical R/C tendencies, not a substitute for wind-tunnel or XFOIL data at your model’s Reynolds number.</a:t>
            </a:r>
            <a:endParaRPr lang="en-US" sz="680" dirty="0"/>
          </a:p>
        </p:txBody>
      </p:sp>
      <p:sp>
        <p:nvSpPr>
          <p:cNvPr id="102" name="TextBox 101"/>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7772400" cy="896112"/>
          </a:xfrm>
          <a:prstGeom prst="rect">
            <a:avLst/>
          </a:prstGeom>
          <a:solidFill>
            <a:srgbClr val="111A42"/>
          </a:solidFill>
          <a:ln w="12700">
            <a:solidFill>
              <a:srgbClr val="111A42"/>
            </a:solidFill>
            <a:prstDash val="solid"/>
          </a:ln>
        </p:spPr>
        <p:txBody>
          <a:bodyPr/>
          <a:p/>
        </p:txBody>
      </p:sp>
      <p:sp>
        <p:nvSpPr>
          <p:cNvPr id="3" name="Shape 1"/>
          <p:cNvSpPr/>
          <p:nvPr/>
        </p:nvSpPr>
        <p:spPr>
          <a:xfrm>
            <a:off x="0" y="896112"/>
            <a:ext cx="7772400" cy="54864"/>
          </a:xfrm>
          <a:prstGeom prst="rect">
            <a:avLst/>
          </a:prstGeom>
          <a:solidFill>
            <a:srgbClr val="A23DB6"/>
          </a:solidFill>
          <a:ln w="12700">
            <a:solidFill>
              <a:srgbClr val="A23DB6"/>
            </a:solidFill>
            <a:prstDash val="solid"/>
          </a:ln>
        </p:spPr>
        <p:txBody>
          <a:bodyPr/>
          <a:p/>
        </p:txBody>
      </p:sp>
      <p:sp>
        <p:nvSpPr>
          <p:cNvPr id="4" name="Text 2"/>
          <p:cNvSpPr/>
          <p:nvPr/>
        </p:nvSpPr>
        <p:spPr>
          <a:xfrm>
            <a:off x="347472" y="109728"/>
            <a:ext cx="2286000" cy="173736"/>
          </a:xfrm>
          <a:prstGeom prst="rect">
            <a:avLst/>
          </a:prstGeom>
          <a:noFill/>
          <a:ln/>
        </p:spPr>
        <p:txBody>
          <a:bodyPr wrap="square" lIns="0" tIns="0" rIns="0" bIns="0" rtlCol="0" anchor="ctr">
            <a:normAutofit/>
          </a:bodyPr>
          <a:lstStyle/>
          <a:p>
            <a:pPr indent="0" marL="0">
              <a:buNone/>
            </a:pPr>
            <a:r>
              <a:rPr lang="en-US" sz="850" b="1" spc="100" kern="0" dirty="0">
                <a:solidFill>
                  <a:srgbClr val="AFC3F3"/>
                </a:solidFill>
                <a:latin typeface="Arial" pitchFamily="34" charset="0"/>
                <a:ea typeface="Arial" pitchFamily="34" charset="-122"/>
                <a:cs typeface="Arial" pitchFamily="34" charset="-120"/>
              </a:rPr>
              <a:t>AIRFOIL FAMILY 4 OF 5</a:t>
            </a:r>
            <a:endParaRPr lang="en-US" sz="850" dirty="0"/>
          </a:p>
        </p:txBody>
      </p:sp>
      <p:sp>
        <p:nvSpPr>
          <p:cNvPr id="5" name="Text 3"/>
          <p:cNvSpPr/>
          <p:nvPr/>
        </p:nvSpPr>
        <p:spPr>
          <a:xfrm>
            <a:off x="347472" y="274320"/>
            <a:ext cx="7086600" cy="329184"/>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NACA 0012: the same shape top and bottom</a:t>
            </a:r>
            <a:endParaRPr lang="en-US" sz="2300" dirty="0"/>
          </a:p>
        </p:txBody>
      </p:sp>
      <p:sp>
        <p:nvSpPr>
          <p:cNvPr id="6" name="Text 4"/>
          <p:cNvSpPr/>
          <p:nvPr/>
        </p:nvSpPr>
        <p:spPr>
          <a:xfrm>
            <a:off x="347472" y="621792"/>
            <a:ext cx="7086600" cy="182880"/>
          </a:xfrm>
          <a:prstGeom prst="rect">
            <a:avLst/>
          </a:prstGeom>
          <a:noFill/>
          <a:ln/>
        </p:spPr>
        <p:txBody>
          <a:bodyPr wrap="square" lIns="0" tIns="0" rIns="0" bIns="0" rtlCol="0" anchor="ctr">
            <a:normAutofit/>
          </a:bodyPr>
          <a:lstStyle/>
          <a:p>
            <a:pPr indent="0" marL="0">
              <a:buNone/>
            </a:pPr>
            <a:r>
              <a:rPr lang="en-US" sz="1050" dirty="0">
                <a:solidFill>
                  <a:srgbClr val="D7DEF0"/>
                </a:solidFill>
                <a:latin typeface="Arial" pitchFamily="34" charset="0"/>
                <a:ea typeface="Arial" pitchFamily="34" charset="-122"/>
                <a:cs typeface="Arial" pitchFamily="34" charset="-120"/>
              </a:rPr>
              <a:t>A 12%-thick symmetric section for aerobatics, tails, and predictable reversed flight</a:t>
            </a:r>
            <a:endParaRPr lang="en-US" sz="1050" dirty="0"/>
          </a:p>
        </p:txBody>
      </p:sp>
      <p:sp>
        <p:nvSpPr>
          <p:cNvPr id="7" name="Shape 5"/>
          <p:cNvSpPr/>
          <p:nvPr/>
        </p:nvSpPr>
        <p:spPr>
          <a:xfrm>
            <a:off x="329184" y="1115568"/>
            <a:ext cx="7095744" cy="1901952"/>
          </a:xfrm>
          <a:prstGeom prst="roundRect">
            <a:avLst>
              <a:gd name="adj" fmla="val 4808"/>
            </a:avLst>
          </a:prstGeom>
          <a:solidFill>
            <a:srgbClr val="FFFFFF"/>
          </a:solidFill>
          <a:ln w="10160">
            <a:solidFill>
              <a:srgbClr val="DDE2EC"/>
            </a:solidFill>
            <a:prstDash val="solid"/>
          </a:ln>
        </p:spPr>
        <p:txBody>
          <a:bodyPr/>
          <a:p/>
        </p:txBody>
      </p:sp>
      <p:sp>
        <p:nvSpPr>
          <p:cNvPr id="8" name="Shape 6"/>
          <p:cNvSpPr/>
          <p:nvPr/>
        </p:nvSpPr>
        <p:spPr>
          <a:xfrm>
            <a:off x="329184" y="1115568"/>
            <a:ext cx="73152" cy="1901952"/>
          </a:xfrm>
          <a:prstGeom prst="rect">
            <a:avLst/>
          </a:prstGeom>
          <a:solidFill>
            <a:srgbClr val="A23DB6"/>
          </a:solidFill>
          <a:ln w="12700">
            <a:solidFill>
              <a:srgbClr val="A23DB6"/>
            </a:solidFill>
            <a:prstDash val="solid"/>
          </a:ln>
        </p:spPr>
        <p:txBody>
          <a:bodyPr/>
          <a:p/>
        </p:txBody>
      </p:sp>
      <p:pic>
        <p:nvPicPr>
          <p:cNvPr id="9" name="Image 0" descr="/mnt/data/airfoil_project/assets/naca_001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3776" y="1225296"/>
            <a:ext cx="6729984" cy="1664208"/>
          </a:xfrm>
          <a:prstGeom prst="rect">
            <a:avLst/>
          </a:prstGeom>
        </p:spPr>
      </p:pic>
      <p:sp>
        <p:nvSpPr>
          <p:cNvPr id="10" name="Shape 7"/>
          <p:cNvSpPr/>
          <p:nvPr/>
        </p:nvSpPr>
        <p:spPr>
          <a:xfrm>
            <a:off x="32918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1" name="Text 8"/>
          <p:cNvSpPr/>
          <p:nvPr/>
        </p:nvSpPr>
        <p:spPr>
          <a:xfrm>
            <a:off x="43891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MAX THICKNESS</a:t>
            </a:r>
            <a:endParaRPr lang="en-US" sz="820" dirty="0"/>
          </a:p>
        </p:txBody>
      </p:sp>
      <p:sp>
        <p:nvSpPr>
          <p:cNvPr id="12" name="Text 9"/>
          <p:cNvSpPr/>
          <p:nvPr/>
        </p:nvSpPr>
        <p:spPr>
          <a:xfrm>
            <a:off x="43891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A23DB6"/>
                </a:solidFill>
                <a:latin typeface="Arial" pitchFamily="34" charset="0"/>
                <a:ea typeface="Arial" pitchFamily="34" charset="-122"/>
                <a:cs typeface="Arial" pitchFamily="34" charset="-120"/>
              </a:rPr>
              <a:t>12.0%</a:t>
            </a:r>
            <a:endParaRPr lang="en-US" sz="1800" dirty="0"/>
          </a:p>
        </p:txBody>
      </p:sp>
      <p:sp>
        <p:nvSpPr>
          <p:cNvPr id="13" name="Text 10"/>
          <p:cNvSpPr/>
          <p:nvPr/>
        </p:nvSpPr>
        <p:spPr>
          <a:xfrm>
            <a:off x="43891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the “12” in its name</a:t>
            </a:r>
            <a:endParaRPr lang="en-US" sz="720" dirty="0"/>
          </a:p>
        </p:txBody>
      </p:sp>
      <p:sp>
        <p:nvSpPr>
          <p:cNvPr id="14" name="Shape 11"/>
          <p:cNvSpPr/>
          <p:nvPr/>
        </p:nvSpPr>
        <p:spPr>
          <a:xfrm>
            <a:off x="275234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5" name="Text 12"/>
          <p:cNvSpPr/>
          <p:nvPr/>
        </p:nvSpPr>
        <p:spPr>
          <a:xfrm>
            <a:off x="286207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MAX CAMBER</a:t>
            </a:r>
            <a:endParaRPr lang="en-US" sz="820" dirty="0"/>
          </a:p>
        </p:txBody>
      </p:sp>
      <p:sp>
        <p:nvSpPr>
          <p:cNvPr id="16" name="Text 13"/>
          <p:cNvSpPr/>
          <p:nvPr/>
        </p:nvSpPr>
        <p:spPr>
          <a:xfrm>
            <a:off x="286207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A23DB6"/>
                </a:solidFill>
                <a:latin typeface="Arial" pitchFamily="34" charset="0"/>
                <a:ea typeface="Arial" pitchFamily="34" charset="-122"/>
                <a:cs typeface="Arial" pitchFamily="34" charset="-120"/>
              </a:rPr>
              <a:t>0%</a:t>
            </a:r>
            <a:endParaRPr lang="en-US" sz="1800" dirty="0"/>
          </a:p>
        </p:txBody>
      </p:sp>
      <p:sp>
        <p:nvSpPr>
          <p:cNvPr id="17" name="Text 14"/>
          <p:cNvSpPr/>
          <p:nvPr/>
        </p:nvSpPr>
        <p:spPr>
          <a:xfrm>
            <a:off x="286207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the two leading zeros</a:t>
            </a:r>
            <a:endParaRPr lang="en-US" sz="720" dirty="0"/>
          </a:p>
        </p:txBody>
      </p:sp>
      <p:sp>
        <p:nvSpPr>
          <p:cNvPr id="18" name="Shape 15"/>
          <p:cNvSpPr/>
          <p:nvPr/>
        </p:nvSpPr>
        <p:spPr>
          <a:xfrm>
            <a:off x="517550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9" name="Text 16"/>
          <p:cNvSpPr/>
          <p:nvPr/>
        </p:nvSpPr>
        <p:spPr>
          <a:xfrm>
            <a:off x="528523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ZERO-ANGLE LIFT</a:t>
            </a:r>
            <a:endParaRPr lang="en-US" sz="820" dirty="0"/>
          </a:p>
        </p:txBody>
      </p:sp>
      <p:sp>
        <p:nvSpPr>
          <p:cNvPr id="20" name="Text 17"/>
          <p:cNvSpPr/>
          <p:nvPr/>
        </p:nvSpPr>
        <p:spPr>
          <a:xfrm>
            <a:off x="528523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A23DB6"/>
                </a:solidFill>
                <a:latin typeface="Arial" pitchFamily="34" charset="0"/>
                <a:ea typeface="Arial" pitchFamily="34" charset="-122"/>
                <a:cs typeface="Arial" pitchFamily="34" charset="-120"/>
              </a:rPr>
              <a:t>about 0</a:t>
            </a:r>
            <a:endParaRPr lang="en-US" sz="1800" dirty="0"/>
          </a:p>
        </p:txBody>
      </p:sp>
      <p:sp>
        <p:nvSpPr>
          <p:cNvPr id="21" name="Text 18"/>
          <p:cNvSpPr/>
          <p:nvPr/>
        </p:nvSpPr>
        <p:spPr>
          <a:xfrm>
            <a:off x="528523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for an ideal 2-D section</a:t>
            </a:r>
            <a:endParaRPr lang="en-US" sz="720" dirty="0"/>
          </a:p>
        </p:txBody>
      </p:sp>
      <p:sp>
        <p:nvSpPr>
          <p:cNvPr id="22" name="Shape 19"/>
          <p:cNvSpPr/>
          <p:nvPr/>
        </p:nvSpPr>
        <p:spPr>
          <a:xfrm>
            <a:off x="329184" y="4005072"/>
            <a:ext cx="4343400" cy="4809744"/>
          </a:xfrm>
          <a:prstGeom prst="roundRect">
            <a:avLst>
              <a:gd name="adj" fmla="val 2105"/>
            </a:avLst>
          </a:prstGeom>
          <a:solidFill>
            <a:srgbClr val="FFFFFF"/>
          </a:solidFill>
          <a:ln w="10160">
            <a:solidFill>
              <a:srgbClr val="D9DFEA"/>
            </a:solidFill>
            <a:prstDash val="solid"/>
          </a:ln>
        </p:spPr>
        <p:txBody>
          <a:bodyPr/>
          <a:p/>
        </p:txBody>
      </p:sp>
      <p:sp>
        <p:nvSpPr>
          <p:cNvPr id="23" name="Shape 20"/>
          <p:cNvSpPr/>
          <p:nvPr/>
        </p:nvSpPr>
        <p:spPr>
          <a:xfrm>
            <a:off x="512064" y="4160520"/>
            <a:ext cx="45720" cy="173736"/>
          </a:xfrm>
          <a:prstGeom prst="rect">
            <a:avLst/>
          </a:prstGeom>
          <a:solidFill>
            <a:srgbClr val="A23DB6"/>
          </a:solidFill>
          <a:ln w="12700">
            <a:solidFill>
              <a:srgbClr val="A23DB6">
                <a:alpha val="0"/>
              </a:srgbClr>
            </a:solidFill>
            <a:prstDash val="solid"/>
          </a:ln>
        </p:spPr>
        <p:txBody>
          <a:bodyPr/>
          <a:p/>
        </p:txBody>
      </p:sp>
      <p:sp>
        <p:nvSpPr>
          <p:cNvPr id="24" name="Text 21"/>
          <p:cNvSpPr/>
          <p:nvPr/>
        </p:nvSpPr>
        <p:spPr>
          <a:xfrm>
            <a:off x="621792" y="4133088"/>
            <a:ext cx="3867912"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WHY IT FLIES THIS WAY</a:t>
            </a:r>
            <a:endParaRPr lang="en-US" sz="950" dirty="0"/>
          </a:p>
        </p:txBody>
      </p:sp>
      <p:sp>
        <p:nvSpPr>
          <p:cNvPr id="25" name="Shape 22"/>
          <p:cNvSpPr/>
          <p:nvPr/>
        </p:nvSpPr>
        <p:spPr>
          <a:xfrm>
            <a:off x="530352" y="4453128"/>
            <a:ext cx="310896" cy="310896"/>
          </a:xfrm>
          <a:prstGeom prst="ellipse">
            <a:avLst/>
          </a:prstGeom>
          <a:solidFill>
            <a:srgbClr val="A23DB6"/>
          </a:solidFill>
          <a:ln w="12700">
            <a:solidFill>
              <a:srgbClr val="A23DB6"/>
            </a:solidFill>
            <a:prstDash val="solid"/>
          </a:ln>
        </p:spPr>
        <p:txBody>
          <a:bodyPr/>
          <a:p/>
        </p:txBody>
      </p:sp>
      <p:sp>
        <p:nvSpPr>
          <p:cNvPr id="26" name="Text 23"/>
          <p:cNvSpPr/>
          <p:nvPr/>
        </p:nvSpPr>
        <p:spPr>
          <a:xfrm>
            <a:off x="530352" y="4453128"/>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27" name="Text 24"/>
          <p:cNvSpPr/>
          <p:nvPr/>
        </p:nvSpPr>
        <p:spPr>
          <a:xfrm>
            <a:off x="941832" y="4443984"/>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With no camber, the ideal section produces nearly zero lift at zero angle of attack.</a:t>
            </a:r>
            <a:endParaRPr lang="en-US" sz="1120" dirty="0"/>
          </a:p>
        </p:txBody>
      </p:sp>
      <p:sp>
        <p:nvSpPr>
          <p:cNvPr id="28" name="Shape 25"/>
          <p:cNvSpPr/>
          <p:nvPr/>
        </p:nvSpPr>
        <p:spPr>
          <a:xfrm>
            <a:off x="530352" y="5129784"/>
            <a:ext cx="310896" cy="310896"/>
          </a:xfrm>
          <a:prstGeom prst="ellipse">
            <a:avLst/>
          </a:prstGeom>
          <a:solidFill>
            <a:srgbClr val="A23DB6"/>
          </a:solidFill>
          <a:ln w="12700">
            <a:solidFill>
              <a:srgbClr val="A23DB6"/>
            </a:solidFill>
            <a:prstDash val="solid"/>
          </a:ln>
        </p:spPr>
        <p:txBody>
          <a:bodyPr/>
          <a:p/>
        </p:txBody>
      </p:sp>
      <p:sp>
        <p:nvSpPr>
          <p:cNvPr id="29" name="Text 26"/>
          <p:cNvSpPr/>
          <p:nvPr/>
        </p:nvSpPr>
        <p:spPr>
          <a:xfrm>
            <a:off x="530352" y="5129784"/>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30" name="Text 27"/>
          <p:cNvSpPr/>
          <p:nvPr/>
        </p:nvSpPr>
        <p:spPr>
          <a:xfrm>
            <a:off x="941832" y="5120640"/>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A positive angle gives positive lift; the same negative angle gives nearly the same lift in the opposite direction.</a:t>
            </a:r>
            <a:endParaRPr lang="en-US" sz="1120" dirty="0"/>
          </a:p>
        </p:txBody>
      </p:sp>
      <p:sp>
        <p:nvSpPr>
          <p:cNvPr id="31" name="Shape 28"/>
          <p:cNvSpPr/>
          <p:nvPr/>
        </p:nvSpPr>
        <p:spPr>
          <a:xfrm>
            <a:off x="530352" y="5806440"/>
            <a:ext cx="310896" cy="310896"/>
          </a:xfrm>
          <a:prstGeom prst="ellipse">
            <a:avLst/>
          </a:prstGeom>
          <a:solidFill>
            <a:srgbClr val="A23DB6"/>
          </a:solidFill>
          <a:ln w="12700">
            <a:solidFill>
              <a:srgbClr val="A23DB6"/>
            </a:solidFill>
            <a:prstDash val="solid"/>
          </a:ln>
        </p:spPr>
        <p:txBody>
          <a:bodyPr/>
          <a:p/>
        </p:txBody>
      </p:sp>
      <p:sp>
        <p:nvSpPr>
          <p:cNvPr id="32" name="Text 29"/>
          <p:cNvSpPr/>
          <p:nvPr/>
        </p:nvSpPr>
        <p:spPr>
          <a:xfrm>
            <a:off x="530352" y="5806440"/>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33" name="Text 30"/>
          <p:cNvSpPr/>
          <p:nvPr/>
        </p:nvSpPr>
        <p:spPr>
          <a:xfrm>
            <a:off x="941832" y="5797296"/>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The 12% thickness provides useful spar depth without favoring upright flight over inverted flight.</a:t>
            </a:r>
            <a:endParaRPr lang="en-US" sz="1120" dirty="0"/>
          </a:p>
        </p:txBody>
      </p:sp>
      <p:sp>
        <p:nvSpPr>
          <p:cNvPr id="34" name="Shape 31"/>
          <p:cNvSpPr/>
          <p:nvPr/>
        </p:nvSpPr>
        <p:spPr>
          <a:xfrm>
            <a:off x="585216" y="6629400"/>
            <a:ext cx="3840480" cy="1737360"/>
          </a:xfrm>
          <a:prstGeom prst="roundRect">
            <a:avLst>
              <a:gd name="adj" fmla="val 5263"/>
            </a:avLst>
          </a:prstGeom>
          <a:solidFill>
            <a:srgbClr val="F8FAFD"/>
          </a:solidFill>
          <a:ln w="10160">
            <a:solidFill>
              <a:srgbClr val="E5EAF2"/>
            </a:solidFill>
            <a:prstDash val="solid"/>
          </a:ln>
        </p:spPr>
        <p:txBody>
          <a:bodyPr/>
          <a:p/>
        </p:txBody>
      </p:sp>
      <p:sp>
        <p:nvSpPr>
          <p:cNvPr id="35" name="Text 32"/>
          <p:cNvSpPr/>
          <p:nvPr/>
        </p:nvSpPr>
        <p:spPr>
          <a:xfrm>
            <a:off x="731520" y="6720840"/>
            <a:ext cx="1828800" cy="155448"/>
          </a:xfrm>
          <a:prstGeom prst="rect">
            <a:avLst/>
          </a:prstGeom>
          <a:noFill/>
          <a:ln/>
        </p:spPr>
        <p:txBody>
          <a:bodyPr wrap="square" lIns="0" tIns="0" rIns="0" bIns="0" rtlCol="0" anchor="ctr">
            <a:normAutofit/>
          </a:bodyPr>
          <a:lstStyle/>
          <a:p>
            <a:pPr indent="0" marL="0">
              <a:buNone/>
            </a:pPr>
            <a:r>
              <a:rPr lang="en-US" sz="780" b="1" spc="50" kern="0" dirty="0">
                <a:solidFill>
                  <a:srgbClr val="59627A"/>
                </a:solidFill>
                <a:latin typeface="Arial" pitchFamily="34" charset="0"/>
                <a:ea typeface="Arial" pitchFamily="34" charset="-122"/>
                <a:cs typeface="Arial" pitchFamily="34" charset="-120"/>
              </a:rPr>
              <a:t>UPRIGHT AND INVERTED</a:t>
            </a:r>
            <a:endParaRPr lang="en-US" sz="780" dirty="0"/>
          </a:p>
        </p:txBody>
      </p:sp>
      <p:pic>
        <p:nvPicPr>
          <p:cNvPr id="36" name="Image 1" descr="/mnt/data/airfoil_project/assets/naca_0012_clean.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300000">
            <a:off x="841248" y="7068312"/>
            <a:ext cx="1417320" cy="338328"/>
          </a:xfrm>
          <a:prstGeom prst="rect">
            <a:avLst/>
          </a:prstGeom>
        </p:spPr>
      </p:pic>
      <p:pic>
        <p:nvPicPr>
          <p:cNvPr id="37" name="Image 2" descr="/mnt/data/airfoil_project/assets/naca_0012_clean.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1100000">
            <a:off x="2734056" y="7498080"/>
            <a:ext cx="1417320" cy="338328"/>
          </a:xfrm>
          <a:prstGeom prst="rect">
            <a:avLst/>
          </a:prstGeom>
        </p:spPr>
      </p:pic>
      <p:sp>
        <p:nvSpPr>
          <p:cNvPr id="38" name="Shape 33"/>
          <p:cNvSpPr/>
          <p:nvPr/>
        </p:nvSpPr>
        <p:spPr>
          <a:xfrm>
            <a:off x="1389888" y="7059168"/>
            <a:ext cx="320040" cy="694944"/>
          </a:xfrm>
          <a:prstGeom prst="upArrow">
            <a:avLst/>
          </a:prstGeom>
          <a:solidFill>
            <a:srgbClr val="A23DB6"/>
          </a:solidFill>
          <a:ln w="12700">
            <a:solidFill>
              <a:srgbClr val="A23DB6"/>
            </a:solidFill>
            <a:prstDash val="solid"/>
          </a:ln>
        </p:spPr>
        <p:txBody>
          <a:bodyPr/>
          <a:p/>
        </p:txBody>
      </p:sp>
      <p:sp>
        <p:nvSpPr>
          <p:cNvPr id="39" name="Text 34"/>
          <p:cNvSpPr/>
          <p:nvPr/>
        </p:nvSpPr>
        <p:spPr>
          <a:xfrm>
            <a:off x="1252728" y="6876288"/>
            <a:ext cx="594360" cy="164592"/>
          </a:xfrm>
          <a:prstGeom prst="rect">
            <a:avLst/>
          </a:prstGeom>
          <a:noFill/>
          <a:ln/>
        </p:spPr>
        <p:txBody>
          <a:bodyPr wrap="square" lIns="0" tIns="0" rIns="0" bIns="0" rtlCol="0" anchor="ctr">
            <a:normAutofit/>
          </a:bodyPr>
          <a:lstStyle/>
          <a:p>
            <a:pPr algn="ctr" indent="0" marL="0">
              <a:buNone/>
            </a:pPr>
            <a:r>
              <a:rPr lang="en-US" sz="900" b="1" dirty="0">
                <a:solidFill>
                  <a:srgbClr val="A23DB6"/>
                </a:solidFill>
                <a:latin typeface="Arial" pitchFamily="34" charset="0"/>
                <a:ea typeface="Arial" pitchFamily="34" charset="-122"/>
                <a:cs typeface="Arial" pitchFamily="34" charset="-120"/>
              </a:rPr>
              <a:t>lift</a:t>
            </a:r>
            <a:endParaRPr lang="en-US" sz="900" dirty="0"/>
          </a:p>
        </p:txBody>
      </p:sp>
      <p:sp>
        <p:nvSpPr>
          <p:cNvPr id="40" name="Shape 35"/>
          <p:cNvSpPr/>
          <p:nvPr/>
        </p:nvSpPr>
        <p:spPr>
          <a:xfrm>
            <a:off x="3282696" y="7498080"/>
            <a:ext cx="320040" cy="640080"/>
          </a:xfrm>
          <a:prstGeom prst="downArrow">
            <a:avLst/>
          </a:prstGeom>
          <a:solidFill>
            <a:srgbClr val="A23DB6"/>
          </a:solidFill>
          <a:ln w="12700">
            <a:solidFill>
              <a:srgbClr val="A23DB6"/>
            </a:solidFill>
            <a:prstDash val="solid"/>
          </a:ln>
        </p:spPr>
        <p:txBody>
          <a:bodyPr/>
          <a:p/>
        </p:txBody>
      </p:sp>
      <p:sp>
        <p:nvSpPr>
          <p:cNvPr id="41" name="Text 36"/>
          <p:cNvSpPr/>
          <p:nvPr/>
        </p:nvSpPr>
        <p:spPr>
          <a:xfrm>
            <a:off x="2843784" y="8092440"/>
            <a:ext cx="1234440" cy="164592"/>
          </a:xfrm>
          <a:prstGeom prst="rect">
            <a:avLst/>
          </a:prstGeom>
          <a:noFill/>
          <a:ln/>
        </p:spPr>
        <p:txBody>
          <a:bodyPr wrap="square" lIns="0" tIns="0" rIns="0" bIns="0" rtlCol="0" anchor="ctr">
            <a:normAutofit/>
          </a:bodyPr>
          <a:lstStyle/>
          <a:p>
            <a:pPr algn="ctr" indent="0" marL="0">
              <a:buNone/>
            </a:pPr>
            <a:r>
              <a:rPr lang="en-US" sz="830" b="1" dirty="0">
                <a:solidFill>
                  <a:srgbClr val="A23DB6"/>
                </a:solidFill>
                <a:latin typeface="Arial" pitchFamily="34" charset="0"/>
                <a:ea typeface="Arial" pitchFamily="34" charset="-122"/>
                <a:cs typeface="Arial" pitchFamily="34" charset="-120"/>
              </a:rPr>
              <a:t>lift relative to airplane</a:t>
            </a:r>
            <a:endParaRPr lang="en-US" sz="830" dirty="0"/>
          </a:p>
        </p:txBody>
      </p:sp>
      <p:sp>
        <p:nvSpPr>
          <p:cNvPr id="42" name="Text 37"/>
          <p:cNvSpPr/>
          <p:nvPr/>
        </p:nvSpPr>
        <p:spPr>
          <a:xfrm>
            <a:off x="859536" y="8101584"/>
            <a:ext cx="1645920" cy="173736"/>
          </a:xfrm>
          <a:prstGeom prst="rect">
            <a:avLst/>
          </a:prstGeom>
          <a:noFill/>
          <a:ln/>
        </p:spPr>
        <p:txBody>
          <a:bodyPr wrap="square" lIns="0" tIns="0" rIns="0" bIns="0" rtlCol="0" anchor="ctr">
            <a:normAutofit/>
          </a:bodyPr>
          <a:lstStyle/>
          <a:p>
            <a:pPr algn="ctr" indent="0" marL="0">
              <a:buNone/>
            </a:pPr>
            <a:r>
              <a:rPr lang="en-US" sz="870" dirty="0">
                <a:solidFill>
                  <a:srgbClr val="1A2342"/>
                </a:solidFill>
                <a:latin typeface="Arial" pitchFamily="34" charset="0"/>
                <a:ea typeface="Arial" pitchFamily="34" charset="-122"/>
                <a:cs typeface="Arial" pitchFamily="34" charset="-120"/>
              </a:rPr>
              <a:t>Same profile; reverse the angle of attack and the lift reverses.</a:t>
            </a:r>
            <a:endParaRPr lang="en-US" sz="870" dirty="0"/>
          </a:p>
        </p:txBody>
      </p:sp>
      <p:sp>
        <p:nvSpPr>
          <p:cNvPr id="43" name="Shape 38"/>
          <p:cNvSpPr/>
          <p:nvPr/>
        </p:nvSpPr>
        <p:spPr>
          <a:xfrm>
            <a:off x="4828032" y="4005072"/>
            <a:ext cx="2596896" cy="1143000"/>
          </a:xfrm>
          <a:prstGeom prst="roundRect">
            <a:avLst>
              <a:gd name="adj" fmla="val 8000"/>
            </a:avLst>
          </a:prstGeom>
          <a:solidFill>
            <a:srgbClr val="FFFFFF"/>
          </a:solidFill>
          <a:ln w="10160">
            <a:solidFill>
              <a:srgbClr val="D9DFEA"/>
            </a:solidFill>
            <a:prstDash val="solid"/>
          </a:ln>
        </p:spPr>
        <p:txBody>
          <a:bodyPr/>
          <a:p/>
        </p:txBody>
      </p:sp>
      <p:sp>
        <p:nvSpPr>
          <p:cNvPr id="44" name="Shape 39"/>
          <p:cNvSpPr/>
          <p:nvPr/>
        </p:nvSpPr>
        <p:spPr>
          <a:xfrm>
            <a:off x="4965192" y="4142232"/>
            <a:ext cx="45720" cy="173736"/>
          </a:xfrm>
          <a:prstGeom prst="rect">
            <a:avLst/>
          </a:prstGeom>
          <a:solidFill>
            <a:srgbClr val="A23DB6"/>
          </a:solidFill>
          <a:ln w="12700">
            <a:solidFill>
              <a:srgbClr val="A23DB6">
                <a:alpha val="0"/>
              </a:srgbClr>
            </a:solidFill>
            <a:prstDash val="solid"/>
          </a:ln>
        </p:spPr>
        <p:txBody>
          <a:bodyPr/>
          <a:p/>
        </p:txBody>
      </p:sp>
      <p:sp>
        <p:nvSpPr>
          <p:cNvPr id="45" name="Text 40"/>
          <p:cNvSpPr/>
          <p:nvPr/>
        </p:nvSpPr>
        <p:spPr>
          <a:xfrm>
            <a:off x="5074920" y="4114800"/>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BEST FOR</a:t>
            </a:r>
            <a:endParaRPr lang="en-US" sz="950" dirty="0"/>
          </a:p>
        </p:txBody>
      </p:sp>
      <p:sp>
        <p:nvSpPr>
          <p:cNvPr id="46" name="Shape 41"/>
          <p:cNvSpPr/>
          <p:nvPr/>
        </p:nvSpPr>
        <p:spPr>
          <a:xfrm>
            <a:off x="4992624" y="4434840"/>
            <a:ext cx="91440" cy="91440"/>
          </a:xfrm>
          <a:prstGeom prst="ellipse">
            <a:avLst/>
          </a:prstGeom>
          <a:solidFill>
            <a:srgbClr val="A23DB6"/>
          </a:solidFill>
          <a:ln w="12700">
            <a:solidFill>
              <a:srgbClr val="A23DB6"/>
            </a:solidFill>
            <a:prstDash val="solid"/>
          </a:ln>
        </p:spPr>
        <p:txBody>
          <a:bodyPr/>
          <a:p/>
        </p:txBody>
      </p:sp>
      <p:sp>
        <p:nvSpPr>
          <p:cNvPr id="47" name="Text 42"/>
          <p:cNvSpPr/>
          <p:nvPr/>
        </p:nvSpPr>
        <p:spPr>
          <a:xfrm>
            <a:off x="5157216" y="4370832"/>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Aerobatic and pattern models</a:t>
            </a:r>
            <a:endParaRPr lang="en-US" sz="920" dirty="0"/>
          </a:p>
        </p:txBody>
      </p:sp>
      <p:sp>
        <p:nvSpPr>
          <p:cNvPr id="48" name="Shape 43"/>
          <p:cNvSpPr/>
          <p:nvPr/>
        </p:nvSpPr>
        <p:spPr>
          <a:xfrm>
            <a:off x="4992624" y="4654296"/>
            <a:ext cx="91440" cy="91440"/>
          </a:xfrm>
          <a:prstGeom prst="ellipse">
            <a:avLst/>
          </a:prstGeom>
          <a:solidFill>
            <a:srgbClr val="A23DB6"/>
          </a:solidFill>
          <a:ln w="12700">
            <a:solidFill>
              <a:srgbClr val="A23DB6"/>
            </a:solidFill>
            <a:prstDash val="solid"/>
          </a:ln>
        </p:spPr>
        <p:txBody>
          <a:bodyPr/>
          <a:p/>
        </p:txBody>
      </p:sp>
      <p:sp>
        <p:nvSpPr>
          <p:cNvPr id="49" name="Text 44"/>
          <p:cNvSpPr/>
          <p:nvPr/>
        </p:nvSpPr>
        <p:spPr>
          <a:xfrm>
            <a:off x="5157216" y="4590288"/>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Horizontal tails and fins</a:t>
            </a:r>
            <a:endParaRPr lang="en-US" sz="920" dirty="0"/>
          </a:p>
        </p:txBody>
      </p:sp>
      <p:sp>
        <p:nvSpPr>
          <p:cNvPr id="50" name="Shape 45"/>
          <p:cNvSpPr/>
          <p:nvPr/>
        </p:nvSpPr>
        <p:spPr>
          <a:xfrm>
            <a:off x="4992624" y="4873752"/>
            <a:ext cx="91440" cy="91440"/>
          </a:xfrm>
          <a:prstGeom prst="ellipse">
            <a:avLst/>
          </a:prstGeom>
          <a:solidFill>
            <a:srgbClr val="A23DB6"/>
          </a:solidFill>
          <a:ln w="12700">
            <a:solidFill>
              <a:srgbClr val="A23DB6"/>
            </a:solidFill>
            <a:prstDash val="solid"/>
          </a:ln>
        </p:spPr>
        <p:txBody>
          <a:bodyPr/>
          <a:p/>
        </p:txBody>
      </p:sp>
      <p:sp>
        <p:nvSpPr>
          <p:cNvPr id="51" name="Text 46"/>
          <p:cNvSpPr/>
          <p:nvPr/>
        </p:nvSpPr>
        <p:spPr>
          <a:xfrm>
            <a:off x="5157216" y="4809744"/>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Aircraft that fly inverted often</a:t>
            </a:r>
            <a:endParaRPr lang="en-US" sz="920" dirty="0"/>
          </a:p>
        </p:txBody>
      </p:sp>
      <p:sp>
        <p:nvSpPr>
          <p:cNvPr id="52" name="Shape 47"/>
          <p:cNvSpPr/>
          <p:nvPr/>
        </p:nvSpPr>
        <p:spPr>
          <a:xfrm>
            <a:off x="4828032" y="5266944"/>
            <a:ext cx="2596896" cy="1353312"/>
          </a:xfrm>
          <a:prstGeom prst="roundRect">
            <a:avLst>
              <a:gd name="adj" fmla="val 6757"/>
            </a:avLst>
          </a:prstGeom>
          <a:solidFill>
            <a:srgbClr val="FFFFFF"/>
          </a:solidFill>
          <a:ln w="10160">
            <a:solidFill>
              <a:srgbClr val="D9DFEA"/>
            </a:solidFill>
            <a:prstDash val="solid"/>
          </a:ln>
        </p:spPr>
        <p:txBody>
          <a:bodyPr/>
          <a:p/>
        </p:txBody>
      </p:sp>
      <p:sp>
        <p:nvSpPr>
          <p:cNvPr id="53" name="Shape 48"/>
          <p:cNvSpPr/>
          <p:nvPr/>
        </p:nvSpPr>
        <p:spPr>
          <a:xfrm>
            <a:off x="4965192" y="5404104"/>
            <a:ext cx="45720" cy="173736"/>
          </a:xfrm>
          <a:prstGeom prst="rect">
            <a:avLst/>
          </a:prstGeom>
          <a:solidFill>
            <a:srgbClr val="A23DB6"/>
          </a:solidFill>
          <a:ln w="12700">
            <a:solidFill>
              <a:srgbClr val="A23DB6">
                <a:alpha val="0"/>
              </a:srgbClr>
            </a:solidFill>
            <a:prstDash val="solid"/>
          </a:ln>
        </p:spPr>
        <p:txBody>
          <a:bodyPr/>
          <a:p/>
        </p:txBody>
      </p:sp>
      <p:sp>
        <p:nvSpPr>
          <p:cNvPr id="54" name="Text 49"/>
          <p:cNvSpPr/>
          <p:nvPr/>
        </p:nvSpPr>
        <p:spPr>
          <a:xfrm>
            <a:off x="5074920" y="5376672"/>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BUILD NOTES</a:t>
            </a:r>
            <a:endParaRPr lang="en-US" sz="950" dirty="0"/>
          </a:p>
        </p:txBody>
      </p:sp>
      <p:sp>
        <p:nvSpPr>
          <p:cNvPr id="55" name="Shape 50"/>
          <p:cNvSpPr/>
          <p:nvPr/>
        </p:nvSpPr>
        <p:spPr>
          <a:xfrm>
            <a:off x="4992624" y="5687568"/>
            <a:ext cx="91440" cy="91440"/>
          </a:xfrm>
          <a:prstGeom prst="ellipse">
            <a:avLst/>
          </a:prstGeom>
          <a:solidFill>
            <a:srgbClr val="A23DB6"/>
          </a:solidFill>
          <a:ln w="12700">
            <a:solidFill>
              <a:srgbClr val="A23DB6"/>
            </a:solidFill>
            <a:prstDash val="solid"/>
          </a:ln>
        </p:spPr>
        <p:txBody>
          <a:bodyPr/>
          <a:p/>
        </p:txBody>
      </p:sp>
      <p:sp>
        <p:nvSpPr>
          <p:cNvPr id="56" name="Text 51"/>
          <p:cNvSpPr/>
          <p:nvPr/>
        </p:nvSpPr>
        <p:spPr>
          <a:xfrm>
            <a:off x="5157216" y="5623560"/>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There is no flat bottom, so use jig tabs or a split-shell method.</a:t>
            </a:r>
            <a:endParaRPr lang="en-US" sz="900" dirty="0"/>
          </a:p>
        </p:txBody>
      </p:sp>
      <p:sp>
        <p:nvSpPr>
          <p:cNvPr id="57" name="Shape 52"/>
          <p:cNvSpPr/>
          <p:nvPr/>
        </p:nvSpPr>
        <p:spPr>
          <a:xfrm>
            <a:off x="4992624" y="5974080"/>
            <a:ext cx="91440" cy="91440"/>
          </a:xfrm>
          <a:prstGeom prst="ellipse">
            <a:avLst/>
          </a:prstGeom>
          <a:solidFill>
            <a:srgbClr val="A23DB6"/>
          </a:solidFill>
          <a:ln w="12700">
            <a:solidFill>
              <a:srgbClr val="A23DB6"/>
            </a:solidFill>
            <a:prstDash val="solid"/>
          </a:ln>
        </p:spPr>
        <p:txBody>
          <a:bodyPr/>
          <a:p/>
        </p:txBody>
      </p:sp>
      <p:sp>
        <p:nvSpPr>
          <p:cNvPr id="58" name="Text 53"/>
          <p:cNvSpPr/>
          <p:nvPr/>
        </p:nvSpPr>
        <p:spPr>
          <a:xfrm>
            <a:off x="5157216" y="5910072"/>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Mirror the ribs carefully; tiny asymmetry creates unwanted trim.</a:t>
            </a:r>
            <a:endParaRPr lang="en-US" sz="900" dirty="0"/>
          </a:p>
        </p:txBody>
      </p:sp>
      <p:sp>
        <p:nvSpPr>
          <p:cNvPr id="59" name="Shape 54"/>
          <p:cNvSpPr/>
          <p:nvPr/>
        </p:nvSpPr>
        <p:spPr>
          <a:xfrm>
            <a:off x="4992624" y="6260592"/>
            <a:ext cx="91440" cy="91440"/>
          </a:xfrm>
          <a:prstGeom prst="ellipse">
            <a:avLst/>
          </a:prstGeom>
          <a:solidFill>
            <a:srgbClr val="A23DB6"/>
          </a:solidFill>
          <a:ln w="12700">
            <a:solidFill>
              <a:srgbClr val="A23DB6"/>
            </a:solidFill>
            <a:prstDash val="solid"/>
          </a:ln>
        </p:spPr>
        <p:txBody>
          <a:bodyPr/>
          <a:p/>
        </p:txBody>
      </p:sp>
      <p:sp>
        <p:nvSpPr>
          <p:cNvPr id="60" name="Text 55"/>
          <p:cNvSpPr/>
          <p:nvPr/>
        </p:nvSpPr>
        <p:spPr>
          <a:xfrm>
            <a:off x="5157216" y="6196584"/>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Keep the leading edge radius equal on both sides.</a:t>
            </a:r>
            <a:endParaRPr lang="en-US" sz="900" dirty="0"/>
          </a:p>
        </p:txBody>
      </p:sp>
      <p:sp>
        <p:nvSpPr>
          <p:cNvPr id="61" name="Shape 56"/>
          <p:cNvSpPr/>
          <p:nvPr/>
        </p:nvSpPr>
        <p:spPr>
          <a:xfrm>
            <a:off x="4828032" y="6739128"/>
            <a:ext cx="2596896" cy="1097280"/>
          </a:xfrm>
          <a:prstGeom prst="roundRect">
            <a:avLst>
              <a:gd name="adj" fmla="val 8333"/>
            </a:avLst>
          </a:prstGeom>
          <a:solidFill>
            <a:srgbClr val="FFFFFF"/>
          </a:solidFill>
          <a:ln w="10160">
            <a:solidFill>
              <a:srgbClr val="D9DFEA"/>
            </a:solidFill>
            <a:prstDash val="solid"/>
          </a:ln>
        </p:spPr>
        <p:txBody>
          <a:bodyPr/>
          <a:p/>
        </p:txBody>
      </p:sp>
      <p:sp>
        <p:nvSpPr>
          <p:cNvPr id="62" name="Shape 57"/>
          <p:cNvSpPr/>
          <p:nvPr/>
        </p:nvSpPr>
        <p:spPr>
          <a:xfrm>
            <a:off x="4965192" y="6876288"/>
            <a:ext cx="45720" cy="173736"/>
          </a:xfrm>
          <a:prstGeom prst="rect">
            <a:avLst/>
          </a:prstGeom>
          <a:solidFill>
            <a:srgbClr val="C83E3E"/>
          </a:solidFill>
          <a:ln w="12700">
            <a:solidFill>
              <a:srgbClr val="C83E3E">
                <a:alpha val="0"/>
              </a:srgbClr>
            </a:solidFill>
            <a:prstDash val="solid"/>
          </a:ln>
        </p:spPr>
        <p:txBody>
          <a:bodyPr/>
          <a:p/>
        </p:txBody>
      </p:sp>
      <p:sp>
        <p:nvSpPr>
          <p:cNvPr id="63" name="Text 58"/>
          <p:cNvSpPr/>
          <p:nvPr/>
        </p:nvSpPr>
        <p:spPr>
          <a:xfrm>
            <a:off x="5074920" y="6848856"/>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WATCH-OUTS</a:t>
            </a:r>
            <a:endParaRPr lang="en-US" sz="950" dirty="0"/>
          </a:p>
        </p:txBody>
      </p:sp>
      <p:sp>
        <p:nvSpPr>
          <p:cNvPr id="64" name="Shape 59"/>
          <p:cNvSpPr/>
          <p:nvPr/>
        </p:nvSpPr>
        <p:spPr>
          <a:xfrm>
            <a:off x="4992624" y="7159752"/>
            <a:ext cx="91440" cy="91440"/>
          </a:xfrm>
          <a:prstGeom prst="ellipse">
            <a:avLst/>
          </a:prstGeom>
          <a:solidFill>
            <a:srgbClr val="C83E3E"/>
          </a:solidFill>
          <a:ln w="12700">
            <a:solidFill>
              <a:srgbClr val="C83E3E"/>
            </a:solidFill>
            <a:prstDash val="solid"/>
          </a:ln>
        </p:spPr>
        <p:txBody>
          <a:bodyPr/>
          <a:p/>
        </p:txBody>
      </p:sp>
      <p:sp>
        <p:nvSpPr>
          <p:cNvPr id="65" name="Text 60"/>
          <p:cNvSpPr/>
          <p:nvPr/>
        </p:nvSpPr>
        <p:spPr>
          <a:xfrm>
            <a:off x="5157216" y="7095744"/>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It still needs angle of attack to support weight.</a:t>
            </a:r>
            <a:endParaRPr lang="en-US" sz="880" dirty="0"/>
          </a:p>
        </p:txBody>
      </p:sp>
      <p:sp>
        <p:nvSpPr>
          <p:cNvPr id="66" name="Shape 61"/>
          <p:cNvSpPr/>
          <p:nvPr/>
        </p:nvSpPr>
        <p:spPr>
          <a:xfrm>
            <a:off x="4992624" y="7367016"/>
            <a:ext cx="91440" cy="91440"/>
          </a:xfrm>
          <a:prstGeom prst="ellipse">
            <a:avLst/>
          </a:prstGeom>
          <a:solidFill>
            <a:srgbClr val="C83E3E"/>
          </a:solidFill>
          <a:ln w="12700">
            <a:solidFill>
              <a:srgbClr val="C83E3E"/>
            </a:solidFill>
            <a:prstDash val="solid"/>
          </a:ln>
        </p:spPr>
        <p:txBody>
          <a:bodyPr/>
          <a:p/>
        </p:txBody>
      </p:sp>
      <p:sp>
        <p:nvSpPr>
          <p:cNvPr id="67" name="Text 62"/>
          <p:cNvSpPr/>
          <p:nvPr/>
        </p:nvSpPr>
        <p:spPr>
          <a:xfrm>
            <a:off x="5157216" y="7303008"/>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Symmetric does not automatically mean low drag.</a:t>
            </a:r>
            <a:endParaRPr lang="en-US" sz="880" dirty="0"/>
          </a:p>
        </p:txBody>
      </p:sp>
      <p:sp>
        <p:nvSpPr>
          <p:cNvPr id="68" name="Shape 63"/>
          <p:cNvSpPr/>
          <p:nvPr/>
        </p:nvSpPr>
        <p:spPr>
          <a:xfrm>
            <a:off x="4992624" y="7574280"/>
            <a:ext cx="91440" cy="91440"/>
          </a:xfrm>
          <a:prstGeom prst="ellipse">
            <a:avLst/>
          </a:prstGeom>
          <a:solidFill>
            <a:srgbClr val="C83E3E"/>
          </a:solidFill>
          <a:ln w="12700">
            <a:solidFill>
              <a:srgbClr val="C83E3E"/>
            </a:solidFill>
            <a:prstDash val="solid"/>
          </a:ln>
        </p:spPr>
        <p:txBody>
          <a:bodyPr/>
          <a:p/>
        </p:txBody>
      </p:sp>
      <p:sp>
        <p:nvSpPr>
          <p:cNvPr id="69" name="Text 64"/>
          <p:cNvSpPr/>
          <p:nvPr/>
        </p:nvSpPr>
        <p:spPr>
          <a:xfrm>
            <a:off x="5157216" y="7510272"/>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High wing loading still raises stall speed.</a:t>
            </a:r>
            <a:endParaRPr lang="en-US" sz="880" dirty="0"/>
          </a:p>
        </p:txBody>
      </p:sp>
      <p:sp>
        <p:nvSpPr>
          <p:cNvPr id="70" name="Shape 65"/>
          <p:cNvSpPr/>
          <p:nvPr/>
        </p:nvSpPr>
        <p:spPr>
          <a:xfrm>
            <a:off x="4828032" y="7955280"/>
            <a:ext cx="2596896" cy="859536"/>
          </a:xfrm>
          <a:prstGeom prst="roundRect">
            <a:avLst>
              <a:gd name="adj" fmla="val 10638"/>
            </a:avLst>
          </a:prstGeom>
          <a:solidFill>
            <a:srgbClr val="FFFFFF"/>
          </a:solidFill>
          <a:ln w="10160">
            <a:solidFill>
              <a:srgbClr val="D9DFEA"/>
            </a:solidFill>
            <a:prstDash val="solid"/>
          </a:ln>
        </p:spPr>
        <p:txBody>
          <a:bodyPr/>
          <a:p/>
        </p:txBody>
      </p:sp>
      <p:sp>
        <p:nvSpPr>
          <p:cNvPr id="71" name="Text 66"/>
          <p:cNvSpPr/>
          <p:nvPr/>
        </p:nvSpPr>
        <p:spPr>
          <a:xfrm>
            <a:off x="4965192" y="8046720"/>
            <a:ext cx="2322576" cy="146304"/>
          </a:xfrm>
          <a:prstGeom prst="rect">
            <a:avLst/>
          </a:prstGeom>
          <a:noFill/>
          <a:ln/>
        </p:spPr>
        <p:txBody>
          <a:bodyPr wrap="square" lIns="0" tIns="0" rIns="0" bIns="0" rtlCol="0" anchor="ctr">
            <a:normAutofit/>
          </a:bodyPr>
          <a:lstStyle/>
          <a:p>
            <a:pPr indent="0" marL="0">
              <a:buNone/>
            </a:pPr>
            <a:r>
              <a:rPr lang="en-US" sz="780" b="1" spc="50" kern="0" dirty="0">
                <a:solidFill>
                  <a:srgbClr val="111A42"/>
                </a:solidFill>
                <a:latin typeface="Arial" pitchFamily="34" charset="0"/>
                <a:ea typeface="Arial" pitchFamily="34" charset="-122"/>
                <a:cs typeface="Arial" pitchFamily="34" charset="-120"/>
              </a:rPr>
              <a:t>ROUGH R/C TENDENCIES (0–5)</a:t>
            </a:r>
            <a:endParaRPr lang="en-US" sz="780" dirty="0"/>
          </a:p>
        </p:txBody>
      </p:sp>
      <p:sp>
        <p:nvSpPr>
          <p:cNvPr id="72" name="Text 67"/>
          <p:cNvSpPr/>
          <p:nvPr/>
        </p:nvSpPr>
        <p:spPr>
          <a:xfrm>
            <a:off x="4965192" y="8229600"/>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Slow lift</a:t>
            </a:r>
            <a:endParaRPr lang="en-US" sz="780" dirty="0"/>
          </a:p>
        </p:txBody>
      </p:sp>
      <p:sp>
        <p:nvSpPr>
          <p:cNvPr id="73" name="Shape 68"/>
          <p:cNvSpPr/>
          <p:nvPr/>
        </p:nvSpPr>
        <p:spPr>
          <a:xfrm>
            <a:off x="5952744" y="8257032"/>
            <a:ext cx="173736" cy="109728"/>
          </a:xfrm>
          <a:prstGeom prst="roundRect">
            <a:avLst>
              <a:gd name="adj" fmla="val 25000"/>
            </a:avLst>
          </a:prstGeom>
          <a:solidFill>
            <a:srgbClr val="A23DB6"/>
          </a:solidFill>
          <a:ln w="12700">
            <a:solidFill>
              <a:srgbClr val="A23DB6">
                <a:alpha val="0"/>
              </a:srgbClr>
            </a:solidFill>
            <a:prstDash val="solid"/>
          </a:ln>
        </p:spPr>
        <p:txBody>
          <a:bodyPr/>
          <a:p/>
        </p:txBody>
      </p:sp>
      <p:sp>
        <p:nvSpPr>
          <p:cNvPr id="74" name="Shape 69"/>
          <p:cNvSpPr/>
          <p:nvPr/>
        </p:nvSpPr>
        <p:spPr>
          <a:xfrm>
            <a:off x="6172200" y="8257032"/>
            <a:ext cx="173736" cy="109728"/>
          </a:xfrm>
          <a:prstGeom prst="roundRect">
            <a:avLst>
              <a:gd name="adj" fmla="val 25000"/>
            </a:avLst>
          </a:prstGeom>
          <a:solidFill>
            <a:srgbClr val="A23DB6"/>
          </a:solidFill>
          <a:ln w="12700">
            <a:solidFill>
              <a:srgbClr val="A23DB6">
                <a:alpha val="0"/>
              </a:srgbClr>
            </a:solidFill>
            <a:prstDash val="solid"/>
          </a:ln>
        </p:spPr>
        <p:txBody>
          <a:bodyPr/>
          <a:p/>
        </p:txBody>
      </p:sp>
      <p:sp>
        <p:nvSpPr>
          <p:cNvPr id="75" name="Shape 70"/>
          <p:cNvSpPr/>
          <p:nvPr/>
        </p:nvSpPr>
        <p:spPr>
          <a:xfrm>
            <a:off x="6391656" y="8257032"/>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76" name="Shape 71"/>
          <p:cNvSpPr/>
          <p:nvPr/>
        </p:nvSpPr>
        <p:spPr>
          <a:xfrm>
            <a:off x="6611112" y="8257032"/>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77" name="Shape 72"/>
          <p:cNvSpPr/>
          <p:nvPr/>
        </p:nvSpPr>
        <p:spPr>
          <a:xfrm>
            <a:off x="6830568" y="8257032"/>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78" name="Text 73"/>
          <p:cNvSpPr/>
          <p:nvPr/>
        </p:nvSpPr>
        <p:spPr>
          <a:xfrm>
            <a:off x="4965192" y="8375904"/>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Speed</a:t>
            </a:r>
            <a:endParaRPr lang="en-US" sz="780" dirty="0"/>
          </a:p>
        </p:txBody>
      </p:sp>
      <p:sp>
        <p:nvSpPr>
          <p:cNvPr id="79" name="Shape 74"/>
          <p:cNvSpPr/>
          <p:nvPr/>
        </p:nvSpPr>
        <p:spPr>
          <a:xfrm>
            <a:off x="5952744" y="8403336"/>
            <a:ext cx="173736" cy="109728"/>
          </a:xfrm>
          <a:prstGeom prst="roundRect">
            <a:avLst>
              <a:gd name="adj" fmla="val 25000"/>
            </a:avLst>
          </a:prstGeom>
          <a:solidFill>
            <a:srgbClr val="A23DB6"/>
          </a:solidFill>
          <a:ln w="12700">
            <a:solidFill>
              <a:srgbClr val="A23DB6">
                <a:alpha val="0"/>
              </a:srgbClr>
            </a:solidFill>
            <a:prstDash val="solid"/>
          </a:ln>
        </p:spPr>
        <p:txBody>
          <a:bodyPr/>
          <a:p/>
        </p:txBody>
      </p:sp>
      <p:sp>
        <p:nvSpPr>
          <p:cNvPr id="80" name="Shape 75"/>
          <p:cNvSpPr/>
          <p:nvPr/>
        </p:nvSpPr>
        <p:spPr>
          <a:xfrm>
            <a:off x="6172200" y="8403336"/>
            <a:ext cx="173736" cy="109728"/>
          </a:xfrm>
          <a:prstGeom prst="roundRect">
            <a:avLst>
              <a:gd name="adj" fmla="val 25000"/>
            </a:avLst>
          </a:prstGeom>
          <a:solidFill>
            <a:srgbClr val="A23DB6"/>
          </a:solidFill>
          <a:ln w="12700">
            <a:solidFill>
              <a:srgbClr val="A23DB6">
                <a:alpha val="0"/>
              </a:srgbClr>
            </a:solidFill>
            <a:prstDash val="solid"/>
          </a:ln>
        </p:spPr>
        <p:txBody>
          <a:bodyPr/>
          <a:p/>
        </p:txBody>
      </p:sp>
      <p:sp>
        <p:nvSpPr>
          <p:cNvPr id="81" name="Shape 76"/>
          <p:cNvSpPr/>
          <p:nvPr/>
        </p:nvSpPr>
        <p:spPr>
          <a:xfrm>
            <a:off x="6391656" y="8403336"/>
            <a:ext cx="173736" cy="109728"/>
          </a:xfrm>
          <a:prstGeom prst="roundRect">
            <a:avLst>
              <a:gd name="adj" fmla="val 25000"/>
            </a:avLst>
          </a:prstGeom>
          <a:solidFill>
            <a:srgbClr val="A23DB6"/>
          </a:solidFill>
          <a:ln w="12700">
            <a:solidFill>
              <a:srgbClr val="A23DB6">
                <a:alpha val="0"/>
              </a:srgbClr>
            </a:solidFill>
            <a:prstDash val="solid"/>
          </a:ln>
        </p:spPr>
        <p:txBody>
          <a:bodyPr/>
          <a:p/>
        </p:txBody>
      </p:sp>
      <p:sp>
        <p:nvSpPr>
          <p:cNvPr id="82" name="Shape 77"/>
          <p:cNvSpPr/>
          <p:nvPr/>
        </p:nvSpPr>
        <p:spPr>
          <a:xfrm>
            <a:off x="6611112" y="8403336"/>
            <a:ext cx="173736" cy="109728"/>
          </a:xfrm>
          <a:prstGeom prst="roundRect">
            <a:avLst>
              <a:gd name="adj" fmla="val 25000"/>
            </a:avLst>
          </a:prstGeom>
          <a:solidFill>
            <a:srgbClr val="A23DB6"/>
          </a:solidFill>
          <a:ln w="12700">
            <a:solidFill>
              <a:srgbClr val="A23DB6">
                <a:alpha val="0"/>
              </a:srgbClr>
            </a:solidFill>
            <a:prstDash val="solid"/>
          </a:ln>
        </p:spPr>
        <p:txBody>
          <a:bodyPr/>
          <a:p/>
        </p:txBody>
      </p:sp>
      <p:sp>
        <p:nvSpPr>
          <p:cNvPr id="83" name="Shape 78"/>
          <p:cNvSpPr/>
          <p:nvPr/>
        </p:nvSpPr>
        <p:spPr>
          <a:xfrm>
            <a:off x="6830568"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84" name="Text 79"/>
          <p:cNvSpPr/>
          <p:nvPr/>
        </p:nvSpPr>
        <p:spPr>
          <a:xfrm>
            <a:off x="4965192" y="8522208"/>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Inverted</a:t>
            </a:r>
            <a:endParaRPr lang="en-US" sz="780" dirty="0"/>
          </a:p>
        </p:txBody>
      </p:sp>
      <p:sp>
        <p:nvSpPr>
          <p:cNvPr id="85" name="Shape 80"/>
          <p:cNvSpPr/>
          <p:nvPr/>
        </p:nvSpPr>
        <p:spPr>
          <a:xfrm>
            <a:off x="5952744" y="8549640"/>
            <a:ext cx="173736" cy="109728"/>
          </a:xfrm>
          <a:prstGeom prst="roundRect">
            <a:avLst>
              <a:gd name="adj" fmla="val 25000"/>
            </a:avLst>
          </a:prstGeom>
          <a:solidFill>
            <a:srgbClr val="A23DB6"/>
          </a:solidFill>
          <a:ln w="12700">
            <a:solidFill>
              <a:srgbClr val="A23DB6">
                <a:alpha val="0"/>
              </a:srgbClr>
            </a:solidFill>
            <a:prstDash val="solid"/>
          </a:ln>
        </p:spPr>
        <p:txBody>
          <a:bodyPr/>
          <a:p/>
        </p:txBody>
      </p:sp>
      <p:sp>
        <p:nvSpPr>
          <p:cNvPr id="86" name="Shape 81"/>
          <p:cNvSpPr/>
          <p:nvPr/>
        </p:nvSpPr>
        <p:spPr>
          <a:xfrm>
            <a:off x="6172200" y="8549640"/>
            <a:ext cx="173736" cy="109728"/>
          </a:xfrm>
          <a:prstGeom prst="roundRect">
            <a:avLst>
              <a:gd name="adj" fmla="val 25000"/>
            </a:avLst>
          </a:prstGeom>
          <a:solidFill>
            <a:srgbClr val="A23DB6"/>
          </a:solidFill>
          <a:ln w="12700">
            <a:solidFill>
              <a:srgbClr val="A23DB6">
                <a:alpha val="0"/>
              </a:srgbClr>
            </a:solidFill>
            <a:prstDash val="solid"/>
          </a:ln>
        </p:spPr>
        <p:txBody>
          <a:bodyPr/>
          <a:p/>
        </p:txBody>
      </p:sp>
      <p:sp>
        <p:nvSpPr>
          <p:cNvPr id="87" name="Shape 82"/>
          <p:cNvSpPr/>
          <p:nvPr/>
        </p:nvSpPr>
        <p:spPr>
          <a:xfrm>
            <a:off x="6391656" y="8549640"/>
            <a:ext cx="173736" cy="109728"/>
          </a:xfrm>
          <a:prstGeom prst="roundRect">
            <a:avLst>
              <a:gd name="adj" fmla="val 25000"/>
            </a:avLst>
          </a:prstGeom>
          <a:solidFill>
            <a:srgbClr val="A23DB6"/>
          </a:solidFill>
          <a:ln w="12700">
            <a:solidFill>
              <a:srgbClr val="A23DB6">
                <a:alpha val="0"/>
              </a:srgbClr>
            </a:solidFill>
            <a:prstDash val="solid"/>
          </a:ln>
        </p:spPr>
        <p:txBody>
          <a:bodyPr/>
          <a:p/>
        </p:txBody>
      </p:sp>
      <p:sp>
        <p:nvSpPr>
          <p:cNvPr id="88" name="Shape 83"/>
          <p:cNvSpPr/>
          <p:nvPr/>
        </p:nvSpPr>
        <p:spPr>
          <a:xfrm>
            <a:off x="6611112" y="8549640"/>
            <a:ext cx="173736" cy="109728"/>
          </a:xfrm>
          <a:prstGeom prst="roundRect">
            <a:avLst>
              <a:gd name="adj" fmla="val 25000"/>
            </a:avLst>
          </a:prstGeom>
          <a:solidFill>
            <a:srgbClr val="A23DB6"/>
          </a:solidFill>
          <a:ln w="12700">
            <a:solidFill>
              <a:srgbClr val="A23DB6">
                <a:alpha val="0"/>
              </a:srgbClr>
            </a:solidFill>
            <a:prstDash val="solid"/>
          </a:ln>
        </p:spPr>
        <p:txBody>
          <a:bodyPr/>
          <a:p/>
        </p:txBody>
      </p:sp>
      <p:sp>
        <p:nvSpPr>
          <p:cNvPr id="89" name="Shape 84"/>
          <p:cNvSpPr/>
          <p:nvPr/>
        </p:nvSpPr>
        <p:spPr>
          <a:xfrm>
            <a:off x="6830568" y="8549640"/>
            <a:ext cx="173736" cy="109728"/>
          </a:xfrm>
          <a:prstGeom prst="roundRect">
            <a:avLst>
              <a:gd name="adj" fmla="val 25000"/>
            </a:avLst>
          </a:prstGeom>
          <a:solidFill>
            <a:srgbClr val="A23DB6"/>
          </a:solidFill>
          <a:ln w="12700">
            <a:solidFill>
              <a:srgbClr val="A23DB6">
                <a:alpha val="0"/>
              </a:srgbClr>
            </a:solidFill>
            <a:prstDash val="solid"/>
          </a:ln>
        </p:spPr>
        <p:txBody>
          <a:bodyPr/>
          <a:p/>
        </p:txBody>
      </p:sp>
      <p:sp>
        <p:nvSpPr>
          <p:cNvPr id="90" name="Text 85"/>
          <p:cNvSpPr/>
          <p:nvPr/>
        </p:nvSpPr>
        <p:spPr>
          <a:xfrm>
            <a:off x="4965192" y="8686800"/>
            <a:ext cx="2322576" cy="91440"/>
          </a:xfrm>
          <a:prstGeom prst="rect">
            <a:avLst/>
          </a:prstGeom>
          <a:noFill/>
          <a:ln/>
        </p:spPr>
        <p:txBody>
          <a:bodyPr wrap="square" lIns="0" tIns="0" rIns="0" bIns="0" rtlCol="0" anchor="t">
            <a:normAutofit/>
          </a:bodyPr>
          <a:lstStyle/>
          <a:p>
            <a:pPr indent="0" marL="0">
              <a:buNone/>
            </a:pPr>
            <a:r>
              <a:rPr lang="en-US" sz="570" i="1" dirty="0">
                <a:solidFill>
                  <a:srgbClr val="59627A"/>
                </a:solidFill>
                <a:latin typeface="Arial" pitchFamily="34" charset="0"/>
                <a:ea typeface="Arial" pitchFamily="34" charset="-122"/>
                <a:cs typeface="Arial" pitchFamily="34" charset="-120"/>
              </a:rPr>
              <a:t>Not test data; wing loading and Reynolds number matter.</a:t>
            </a:r>
            <a:endParaRPr lang="en-US" sz="570" dirty="0"/>
          </a:p>
        </p:txBody>
      </p:sp>
      <p:sp>
        <p:nvSpPr>
          <p:cNvPr id="91" name="Shape 86"/>
          <p:cNvSpPr/>
          <p:nvPr/>
        </p:nvSpPr>
        <p:spPr>
          <a:xfrm>
            <a:off x="329184" y="8942832"/>
            <a:ext cx="7114032" cy="0"/>
          </a:xfrm>
          <a:prstGeom prst="line">
            <a:avLst/>
          </a:prstGeom>
          <a:noFill/>
          <a:ln w="10160">
            <a:solidFill>
              <a:srgbClr val="D8DEE9"/>
            </a:solidFill>
            <a:prstDash val="solid"/>
          </a:ln>
        </p:spPr>
        <p:txBody>
          <a:bodyPr/>
          <a:p/>
        </p:txBody>
      </p:sp>
      <p:sp>
        <p:nvSpPr>
          <p:cNvPr id="92" name="Text 87"/>
          <p:cNvSpPr/>
          <p:nvPr/>
        </p:nvSpPr>
        <p:spPr>
          <a:xfrm>
            <a:off x="347472" y="8979408"/>
            <a:ext cx="6812280" cy="164592"/>
          </a:xfrm>
          <a:prstGeom prst="rect">
            <a:avLst/>
          </a:prstGeom>
          <a:noFill/>
          <a:ln/>
        </p:spPr>
        <p:txBody>
          <a:bodyPr wrap="square" lIns="0" tIns="0" rIns="0" bIns="0" rtlCol="0" anchor="t">
            <a:normAutofit/>
          </a:bodyPr>
          <a:lstStyle/>
          <a:p>
            <a:pPr indent="0" marL="0">
              <a:buNone/>
            </a:pPr>
            <a:r>
              <a:rPr lang="en-US" sz="680" dirty="0">
                <a:solidFill>
                  <a:srgbClr val="6C758C"/>
                </a:solidFill>
                <a:latin typeface="Arial" pitchFamily="34" charset="0"/>
                <a:ea typeface="Arial" pitchFamily="34" charset="-122"/>
                <a:cs typeface="Arial" pitchFamily="34" charset="-120"/>
              </a:rPr>
              <a:t>Geometry: UIUC Airfoil Coordinates Database (n0012.dat). Descriptions are practical R/C tendencies, not a substitute for wind-tunnel or XFOIL data at your model’s Reynolds number.</a:t>
            </a:r>
            <a:endParaRPr lang="en-US" sz="680" dirty="0"/>
          </a:p>
        </p:txBody>
      </p:sp>
      <p:sp>
        <p:nvSpPr>
          <p:cNvPr id="93" name="TextBox 92"/>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7772400" cy="896112"/>
          </a:xfrm>
          <a:prstGeom prst="rect">
            <a:avLst/>
          </a:prstGeom>
          <a:solidFill>
            <a:srgbClr val="111A42"/>
          </a:solidFill>
          <a:ln w="12700">
            <a:solidFill>
              <a:srgbClr val="111A42"/>
            </a:solidFill>
            <a:prstDash val="solid"/>
          </a:ln>
        </p:spPr>
        <p:txBody>
          <a:bodyPr/>
          <a:p/>
        </p:txBody>
      </p:sp>
      <p:sp>
        <p:nvSpPr>
          <p:cNvPr id="3" name="Shape 1"/>
          <p:cNvSpPr/>
          <p:nvPr/>
        </p:nvSpPr>
        <p:spPr>
          <a:xfrm>
            <a:off x="0" y="896112"/>
            <a:ext cx="7772400" cy="54864"/>
          </a:xfrm>
          <a:prstGeom prst="rect">
            <a:avLst/>
          </a:prstGeom>
          <a:solidFill>
            <a:srgbClr val="138C8C"/>
          </a:solidFill>
          <a:ln w="12700">
            <a:solidFill>
              <a:srgbClr val="138C8C"/>
            </a:solidFill>
            <a:prstDash val="solid"/>
          </a:ln>
        </p:spPr>
        <p:txBody>
          <a:bodyPr/>
          <a:p/>
        </p:txBody>
      </p:sp>
      <p:sp>
        <p:nvSpPr>
          <p:cNvPr id="4" name="Text 2"/>
          <p:cNvSpPr/>
          <p:nvPr/>
        </p:nvSpPr>
        <p:spPr>
          <a:xfrm>
            <a:off x="347472" y="109728"/>
            <a:ext cx="2286000" cy="173736"/>
          </a:xfrm>
          <a:prstGeom prst="rect">
            <a:avLst/>
          </a:prstGeom>
          <a:noFill/>
          <a:ln/>
        </p:spPr>
        <p:txBody>
          <a:bodyPr wrap="square" lIns="0" tIns="0" rIns="0" bIns="0" rtlCol="0" anchor="ctr">
            <a:normAutofit/>
          </a:bodyPr>
          <a:lstStyle/>
          <a:p>
            <a:pPr indent="0" marL="0">
              <a:buNone/>
            </a:pPr>
            <a:r>
              <a:rPr lang="en-US" sz="850" b="1" spc="100" kern="0" dirty="0">
                <a:solidFill>
                  <a:srgbClr val="AFC3F3"/>
                </a:solidFill>
                <a:latin typeface="Arial" pitchFamily="34" charset="0"/>
                <a:ea typeface="Arial" pitchFamily="34" charset="-122"/>
                <a:cs typeface="Arial" pitchFamily="34" charset="-120"/>
              </a:rPr>
              <a:t>AIRFOIL FAMILY 5 OF 5</a:t>
            </a:r>
            <a:endParaRPr lang="en-US" sz="850" dirty="0"/>
          </a:p>
        </p:txBody>
      </p:sp>
      <p:sp>
        <p:nvSpPr>
          <p:cNvPr id="5" name="Text 3"/>
          <p:cNvSpPr/>
          <p:nvPr/>
        </p:nvSpPr>
        <p:spPr>
          <a:xfrm>
            <a:off x="347472" y="274320"/>
            <a:ext cx="7086600" cy="329184"/>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Eppler airfoils: a toolbox, not one shape</a:t>
            </a:r>
            <a:endParaRPr lang="en-US" sz="2300" dirty="0"/>
          </a:p>
        </p:txBody>
      </p:sp>
      <p:sp>
        <p:nvSpPr>
          <p:cNvPr id="6" name="Text 4"/>
          <p:cNvSpPr/>
          <p:nvPr/>
        </p:nvSpPr>
        <p:spPr>
          <a:xfrm>
            <a:off x="347472" y="621792"/>
            <a:ext cx="7086600" cy="182880"/>
          </a:xfrm>
          <a:prstGeom prst="rect">
            <a:avLst/>
          </a:prstGeom>
          <a:noFill/>
          <a:ln/>
        </p:spPr>
        <p:txBody>
          <a:bodyPr wrap="square" lIns="0" tIns="0" rIns="0" bIns="0" rtlCol="0" anchor="ctr">
            <a:normAutofit/>
          </a:bodyPr>
          <a:lstStyle/>
          <a:p>
            <a:pPr indent="0" marL="0">
              <a:buNone/>
            </a:pPr>
            <a:r>
              <a:rPr lang="en-US" sz="1050" dirty="0">
                <a:solidFill>
                  <a:srgbClr val="D7DEF0"/>
                </a:solidFill>
                <a:latin typeface="Arial" pitchFamily="34" charset="0"/>
                <a:ea typeface="Arial" pitchFamily="34" charset="-122"/>
                <a:cs typeface="Arial" pitchFamily="34" charset="-120"/>
              </a:rPr>
              <a:t>E387 is a low-Re example; other Eppler numbers were designed for very different missions</a:t>
            </a:r>
            <a:endParaRPr lang="en-US" sz="1050" dirty="0"/>
          </a:p>
        </p:txBody>
      </p:sp>
      <p:sp>
        <p:nvSpPr>
          <p:cNvPr id="7" name="Shape 5"/>
          <p:cNvSpPr/>
          <p:nvPr/>
        </p:nvSpPr>
        <p:spPr>
          <a:xfrm>
            <a:off x="329184" y="1115568"/>
            <a:ext cx="7095744" cy="1901952"/>
          </a:xfrm>
          <a:prstGeom prst="roundRect">
            <a:avLst>
              <a:gd name="adj" fmla="val 4808"/>
            </a:avLst>
          </a:prstGeom>
          <a:solidFill>
            <a:srgbClr val="FFFFFF"/>
          </a:solidFill>
          <a:ln w="10160">
            <a:solidFill>
              <a:srgbClr val="DDE2EC"/>
            </a:solidFill>
            <a:prstDash val="solid"/>
          </a:ln>
        </p:spPr>
        <p:txBody>
          <a:bodyPr/>
          <a:p/>
        </p:txBody>
      </p:sp>
      <p:sp>
        <p:nvSpPr>
          <p:cNvPr id="8" name="Shape 6"/>
          <p:cNvSpPr/>
          <p:nvPr/>
        </p:nvSpPr>
        <p:spPr>
          <a:xfrm>
            <a:off x="329184" y="1115568"/>
            <a:ext cx="73152" cy="1901952"/>
          </a:xfrm>
          <a:prstGeom prst="rect">
            <a:avLst/>
          </a:prstGeom>
          <a:solidFill>
            <a:srgbClr val="138C8C"/>
          </a:solidFill>
          <a:ln w="12700">
            <a:solidFill>
              <a:srgbClr val="138C8C"/>
            </a:solidFill>
            <a:prstDash val="solid"/>
          </a:ln>
        </p:spPr>
        <p:txBody>
          <a:bodyPr/>
          <a:p/>
        </p:txBody>
      </p:sp>
      <p:pic>
        <p:nvPicPr>
          <p:cNvPr id="9" name="Image 0" descr="/mnt/data/airfoil_project/assets/e387.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3776" y="1225296"/>
            <a:ext cx="6729984" cy="1664208"/>
          </a:xfrm>
          <a:prstGeom prst="rect">
            <a:avLst/>
          </a:prstGeom>
        </p:spPr>
      </p:pic>
      <p:sp>
        <p:nvSpPr>
          <p:cNvPr id="10" name="Shape 7"/>
          <p:cNvSpPr/>
          <p:nvPr/>
        </p:nvSpPr>
        <p:spPr>
          <a:xfrm>
            <a:off x="32918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1" name="Text 8"/>
          <p:cNvSpPr/>
          <p:nvPr/>
        </p:nvSpPr>
        <p:spPr>
          <a:xfrm>
            <a:off x="43891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E387 THICKNESS</a:t>
            </a:r>
            <a:endParaRPr lang="en-US" sz="820" dirty="0"/>
          </a:p>
        </p:txBody>
      </p:sp>
      <p:sp>
        <p:nvSpPr>
          <p:cNvPr id="12" name="Text 9"/>
          <p:cNvSpPr/>
          <p:nvPr/>
        </p:nvSpPr>
        <p:spPr>
          <a:xfrm>
            <a:off x="43891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138C8C"/>
                </a:solidFill>
                <a:latin typeface="Arial" pitchFamily="34" charset="0"/>
                <a:ea typeface="Arial" pitchFamily="34" charset="-122"/>
                <a:cs typeface="Arial" pitchFamily="34" charset="-120"/>
              </a:rPr>
              <a:t>9.1%</a:t>
            </a:r>
            <a:endParaRPr lang="en-US" sz="1800" dirty="0"/>
          </a:p>
        </p:txBody>
      </p:sp>
      <p:sp>
        <p:nvSpPr>
          <p:cNvPr id="13" name="Text 10"/>
          <p:cNvSpPr/>
          <p:nvPr/>
        </p:nvSpPr>
        <p:spPr>
          <a:xfrm>
            <a:off x="43891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near 31% chord</a:t>
            </a:r>
            <a:endParaRPr lang="en-US" sz="720" dirty="0"/>
          </a:p>
        </p:txBody>
      </p:sp>
      <p:sp>
        <p:nvSpPr>
          <p:cNvPr id="14" name="Shape 11"/>
          <p:cNvSpPr/>
          <p:nvPr/>
        </p:nvSpPr>
        <p:spPr>
          <a:xfrm>
            <a:off x="275234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5" name="Text 12"/>
          <p:cNvSpPr/>
          <p:nvPr/>
        </p:nvSpPr>
        <p:spPr>
          <a:xfrm>
            <a:off x="286207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E387 CAMBER</a:t>
            </a:r>
            <a:endParaRPr lang="en-US" sz="820" dirty="0"/>
          </a:p>
        </p:txBody>
      </p:sp>
      <p:sp>
        <p:nvSpPr>
          <p:cNvPr id="16" name="Text 13"/>
          <p:cNvSpPr/>
          <p:nvPr/>
        </p:nvSpPr>
        <p:spPr>
          <a:xfrm>
            <a:off x="286207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138C8C"/>
                </a:solidFill>
                <a:latin typeface="Arial" pitchFamily="34" charset="0"/>
                <a:ea typeface="Arial" pitchFamily="34" charset="-122"/>
                <a:cs typeface="Arial" pitchFamily="34" charset="-120"/>
              </a:rPr>
              <a:t>3.8%</a:t>
            </a:r>
            <a:endParaRPr lang="en-US" sz="1800" dirty="0"/>
          </a:p>
        </p:txBody>
      </p:sp>
      <p:sp>
        <p:nvSpPr>
          <p:cNvPr id="17" name="Text 14"/>
          <p:cNvSpPr/>
          <p:nvPr/>
        </p:nvSpPr>
        <p:spPr>
          <a:xfrm>
            <a:off x="286207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near 41% chord</a:t>
            </a:r>
            <a:endParaRPr lang="en-US" sz="720" dirty="0"/>
          </a:p>
        </p:txBody>
      </p:sp>
      <p:sp>
        <p:nvSpPr>
          <p:cNvPr id="18" name="Shape 15"/>
          <p:cNvSpPr/>
          <p:nvPr/>
        </p:nvSpPr>
        <p:spPr>
          <a:xfrm>
            <a:off x="5175504" y="3163824"/>
            <a:ext cx="2249424" cy="667512"/>
          </a:xfrm>
          <a:prstGeom prst="roundRect">
            <a:avLst>
              <a:gd name="adj" fmla="val 13699"/>
            </a:avLst>
          </a:prstGeom>
          <a:solidFill>
            <a:srgbClr val="FFFFFF"/>
          </a:solidFill>
          <a:ln w="10160">
            <a:solidFill>
              <a:srgbClr val="DDE2EC"/>
            </a:solidFill>
            <a:prstDash val="solid"/>
          </a:ln>
        </p:spPr>
        <p:txBody>
          <a:bodyPr/>
          <a:p/>
        </p:txBody>
      </p:sp>
      <p:sp>
        <p:nvSpPr>
          <p:cNvPr id="19" name="Text 16"/>
          <p:cNvSpPr/>
          <p:nvPr/>
        </p:nvSpPr>
        <p:spPr>
          <a:xfrm>
            <a:off x="5285232" y="3236976"/>
            <a:ext cx="2029968" cy="146304"/>
          </a:xfrm>
          <a:prstGeom prst="rect">
            <a:avLst/>
          </a:prstGeom>
          <a:noFill/>
          <a:ln/>
        </p:spPr>
        <p:txBody>
          <a:bodyPr wrap="square" lIns="0" tIns="0" rIns="0" bIns="0" rtlCol="0" anchor="ctr">
            <a:normAutofit/>
          </a:bodyPr>
          <a:lstStyle/>
          <a:p>
            <a:pPr indent="0" marL="0">
              <a:buNone/>
            </a:pPr>
            <a:r>
              <a:rPr lang="en-US" sz="820" b="1" spc="50" kern="0" dirty="0">
                <a:solidFill>
                  <a:srgbClr val="59627A"/>
                </a:solidFill>
                <a:latin typeface="Arial" pitchFamily="34" charset="0"/>
                <a:ea typeface="Arial" pitchFamily="34" charset="-122"/>
                <a:cs typeface="Arial" pitchFamily="34" charset="-120"/>
              </a:rPr>
              <a:t>FAMILY RANGE</a:t>
            </a:r>
            <a:endParaRPr lang="en-US" sz="820" dirty="0"/>
          </a:p>
        </p:txBody>
      </p:sp>
      <p:sp>
        <p:nvSpPr>
          <p:cNvPr id="20" name="Text 17"/>
          <p:cNvSpPr/>
          <p:nvPr/>
        </p:nvSpPr>
        <p:spPr>
          <a:xfrm>
            <a:off x="5285232" y="3383280"/>
            <a:ext cx="2029968" cy="265176"/>
          </a:xfrm>
          <a:prstGeom prst="rect">
            <a:avLst/>
          </a:prstGeom>
          <a:noFill/>
          <a:ln/>
        </p:spPr>
        <p:txBody>
          <a:bodyPr wrap="square" lIns="0" tIns="0" rIns="0" bIns="0" rtlCol="0" anchor="ctr">
            <a:normAutofit/>
          </a:bodyPr>
          <a:lstStyle/>
          <a:p>
            <a:pPr indent="0" marL="0">
              <a:buNone/>
            </a:pPr>
            <a:r>
              <a:rPr lang="en-US" sz="1800" b="1" dirty="0">
                <a:solidFill>
                  <a:srgbClr val="138C8C"/>
                </a:solidFill>
                <a:latin typeface="Arial" pitchFamily="34" charset="0"/>
                <a:ea typeface="Arial" pitchFamily="34" charset="-122"/>
                <a:cs typeface="Arial" pitchFamily="34" charset="-120"/>
              </a:rPr>
              <a:t>very wide</a:t>
            </a:r>
            <a:endParaRPr lang="en-US" sz="1800" dirty="0"/>
          </a:p>
        </p:txBody>
      </p:sp>
      <p:sp>
        <p:nvSpPr>
          <p:cNvPr id="21" name="Text 18"/>
          <p:cNvSpPr/>
          <p:nvPr/>
        </p:nvSpPr>
        <p:spPr>
          <a:xfrm>
            <a:off x="5285232" y="3648456"/>
            <a:ext cx="2029968" cy="109728"/>
          </a:xfrm>
          <a:prstGeom prst="rect">
            <a:avLst/>
          </a:prstGeom>
          <a:noFill/>
          <a:ln/>
        </p:spPr>
        <p:txBody>
          <a:bodyPr wrap="square" lIns="0" tIns="0" rIns="0" bIns="0" rtlCol="0" anchor="t">
            <a:normAutofit/>
          </a:bodyPr>
          <a:lstStyle/>
          <a:p>
            <a:pPr indent="0" marL="0">
              <a:buNone/>
            </a:pPr>
            <a:r>
              <a:rPr lang="en-US" sz="720" dirty="0">
                <a:solidFill>
                  <a:srgbClr val="59627A"/>
                </a:solidFill>
                <a:latin typeface="Arial" pitchFamily="34" charset="0"/>
                <a:ea typeface="Arial" pitchFamily="34" charset="-122"/>
                <a:cs typeface="Arial" pitchFamily="34" charset="-120"/>
              </a:rPr>
              <a:t>glider, high lift, aerobatic, and more</a:t>
            </a:r>
            <a:endParaRPr lang="en-US" sz="720" dirty="0"/>
          </a:p>
        </p:txBody>
      </p:sp>
      <p:sp>
        <p:nvSpPr>
          <p:cNvPr id="22" name="Shape 19"/>
          <p:cNvSpPr/>
          <p:nvPr/>
        </p:nvSpPr>
        <p:spPr>
          <a:xfrm>
            <a:off x="329184" y="4005072"/>
            <a:ext cx="4343400" cy="4809744"/>
          </a:xfrm>
          <a:prstGeom prst="roundRect">
            <a:avLst>
              <a:gd name="adj" fmla="val 2105"/>
            </a:avLst>
          </a:prstGeom>
          <a:solidFill>
            <a:srgbClr val="FFFFFF"/>
          </a:solidFill>
          <a:ln w="10160">
            <a:solidFill>
              <a:srgbClr val="D9DFEA"/>
            </a:solidFill>
            <a:prstDash val="solid"/>
          </a:ln>
        </p:spPr>
        <p:txBody>
          <a:bodyPr/>
          <a:p/>
        </p:txBody>
      </p:sp>
      <p:sp>
        <p:nvSpPr>
          <p:cNvPr id="23" name="Shape 20"/>
          <p:cNvSpPr/>
          <p:nvPr/>
        </p:nvSpPr>
        <p:spPr>
          <a:xfrm>
            <a:off x="512064" y="4160520"/>
            <a:ext cx="45720" cy="173736"/>
          </a:xfrm>
          <a:prstGeom prst="rect">
            <a:avLst/>
          </a:prstGeom>
          <a:solidFill>
            <a:srgbClr val="138C8C"/>
          </a:solidFill>
          <a:ln w="12700">
            <a:solidFill>
              <a:srgbClr val="138C8C">
                <a:alpha val="0"/>
              </a:srgbClr>
            </a:solidFill>
            <a:prstDash val="solid"/>
          </a:ln>
        </p:spPr>
        <p:txBody>
          <a:bodyPr/>
          <a:p/>
        </p:txBody>
      </p:sp>
      <p:sp>
        <p:nvSpPr>
          <p:cNvPr id="24" name="Text 21"/>
          <p:cNvSpPr/>
          <p:nvPr/>
        </p:nvSpPr>
        <p:spPr>
          <a:xfrm>
            <a:off x="621792" y="4133088"/>
            <a:ext cx="3867912"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WHY IT FLIES THIS WAY</a:t>
            </a:r>
            <a:endParaRPr lang="en-US" sz="950" dirty="0"/>
          </a:p>
        </p:txBody>
      </p:sp>
      <p:sp>
        <p:nvSpPr>
          <p:cNvPr id="25" name="Shape 22"/>
          <p:cNvSpPr/>
          <p:nvPr/>
        </p:nvSpPr>
        <p:spPr>
          <a:xfrm>
            <a:off x="530352" y="4453128"/>
            <a:ext cx="310896" cy="310896"/>
          </a:xfrm>
          <a:prstGeom prst="ellipse">
            <a:avLst/>
          </a:prstGeom>
          <a:solidFill>
            <a:srgbClr val="138C8C"/>
          </a:solidFill>
          <a:ln w="12700">
            <a:solidFill>
              <a:srgbClr val="138C8C"/>
            </a:solidFill>
            <a:prstDash val="solid"/>
          </a:ln>
        </p:spPr>
        <p:txBody>
          <a:bodyPr/>
          <a:p/>
        </p:txBody>
      </p:sp>
      <p:sp>
        <p:nvSpPr>
          <p:cNvPr id="26" name="Text 23"/>
          <p:cNvSpPr/>
          <p:nvPr/>
        </p:nvSpPr>
        <p:spPr>
          <a:xfrm>
            <a:off x="530352" y="4453128"/>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27" name="Text 24"/>
          <p:cNvSpPr/>
          <p:nvPr/>
        </p:nvSpPr>
        <p:spPr>
          <a:xfrm>
            <a:off x="941832" y="4443984"/>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“Eppler” is a design family, not a single airfoil. The number after the name is essential.</a:t>
            </a:r>
            <a:endParaRPr lang="en-US" sz="1120" dirty="0"/>
          </a:p>
        </p:txBody>
      </p:sp>
      <p:sp>
        <p:nvSpPr>
          <p:cNvPr id="28" name="Shape 25"/>
          <p:cNvSpPr/>
          <p:nvPr/>
        </p:nvSpPr>
        <p:spPr>
          <a:xfrm>
            <a:off x="530352" y="5129784"/>
            <a:ext cx="310896" cy="310896"/>
          </a:xfrm>
          <a:prstGeom prst="ellipse">
            <a:avLst/>
          </a:prstGeom>
          <a:solidFill>
            <a:srgbClr val="138C8C"/>
          </a:solidFill>
          <a:ln w="12700">
            <a:solidFill>
              <a:srgbClr val="138C8C"/>
            </a:solidFill>
            <a:prstDash val="solid"/>
          </a:ln>
        </p:spPr>
        <p:txBody>
          <a:bodyPr/>
          <a:p/>
        </p:txBody>
      </p:sp>
      <p:sp>
        <p:nvSpPr>
          <p:cNvPr id="29" name="Text 26"/>
          <p:cNvSpPr/>
          <p:nvPr/>
        </p:nvSpPr>
        <p:spPr>
          <a:xfrm>
            <a:off x="530352" y="5129784"/>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30" name="Text 27"/>
          <p:cNvSpPr/>
          <p:nvPr/>
        </p:nvSpPr>
        <p:spPr>
          <a:xfrm>
            <a:off x="941832" y="5120640"/>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E387 is relatively thin with moderate camber and is listed as a low-Reynolds-number profile, which suits efficient light models.</a:t>
            </a:r>
            <a:endParaRPr lang="en-US" sz="1120" dirty="0"/>
          </a:p>
        </p:txBody>
      </p:sp>
      <p:sp>
        <p:nvSpPr>
          <p:cNvPr id="31" name="Shape 28"/>
          <p:cNvSpPr/>
          <p:nvPr/>
        </p:nvSpPr>
        <p:spPr>
          <a:xfrm>
            <a:off x="530352" y="5806440"/>
            <a:ext cx="310896" cy="310896"/>
          </a:xfrm>
          <a:prstGeom prst="ellipse">
            <a:avLst/>
          </a:prstGeom>
          <a:solidFill>
            <a:srgbClr val="138C8C"/>
          </a:solidFill>
          <a:ln w="12700">
            <a:solidFill>
              <a:srgbClr val="138C8C"/>
            </a:solidFill>
            <a:prstDash val="solid"/>
          </a:ln>
        </p:spPr>
        <p:txBody>
          <a:bodyPr/>
          <a:p/>
        </p:txBody>
      </p:sp>
      <p:sp>
        <p:nvSpPr>
          <p:cNvPr id="32" name="Text 29"/>
          <p:cNvSpPr/>
          <p:nvPr/>
        </p:nvSpPr>
        <p:spPr>
          <a:xfrm>
            <a:off x="530352" y="5806440"/>
            <a:ext cx="310896"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33" name="Text 30"/>
          <p:cNvSpPr/>
          <p:nvPr/>
        </p:nvSpPr>
        <p:spPr>
          <a:xfrm>
            <a:off x="941832" y="5797296"/>
            <a:ext cx="3410712" cy="512064"/>
          </a:xfrm>
          <a:prstGeom prst="rect">
            <a:avLst/>
          </a:prstGeom>
          <a:noFill/>
          <a:ln/>
        </p:spPr>
        <p:txBody>
          <a:bodyPr wrap="square" lIns="0" tIns="0" rIns="0" bIns="0" rtlCol="0" anchor="t">
            <a:normAutofit/>
          </a:bodyPr>
          <a:lstStyle/>
          <a:p>
            <a:pPr indent="0" marL="0">
              <a:buNone/>
            </a:pPr>
            <a:r>
              <a:rPr lang="en-US" sz="1120" dirty="0">
                <a:solidFill>
                  <a:srgbClr val="1A2342"/>
                </a:solidFill>
                <a:latin typeface="Arial" pitchFamily="34" charset="0"/>
                <a:ea typeface="Arial" pitchFamily="34" charset="-122"/>
                <a:cs typeface="Arial" pitchFamily="34" charset="-120"/>
              </a:rPr>
              <a:t>E423 is deeply cambered for high lift, while E472 is symmetric for aerobatics - proof that the family name alone predicts very little.</a:t>
            </a:r>
            <a:endParaRPr lang="en-US" sz="1120" dirty="0"/>
          </a:p>
        </p:txBody>
      </p:sp>
      <p:sp>
        <p:nvSpPr>
          <p:cNvPr id="34" name="Shape 31"/>
          <p:cNvSpPr/>
          <p:nvPr/>
        </p:nvSpPr>
        <p:spPr>
          <a:xfrm>
            <a:off x="585216" y="6473952"/>
            <a:ext cx="3840480" cy="1892808"/>
          </a:xfrm>
          <a:prstGeom prst="roundRect">
            <a:avLst>
              <a:gd name="adj" fmla="val 4831"/>
            </a:avLst>
          </a:prstGeom>
          <a:solidFill>
            <a:srgbClr val="F8FAFD"/>
          </a:solidFill>
          <a:ln w="10160">
            <a:solidFill>
              <a:srgbClr val="E5EAF2"/>
            </a:solidFill>
            <a:prstDash val="solid"/>
          </a:ln>
        </p:spPr>
        <p:txBody>
          <a:bodyPr/>
          <a:p/>
        </p:txBody>
      </p:sp>
      <p:sp>
        <p:nvSpPr>
          <p:cNvPr id="35" name="Text 32"/>
          <p:cNvSpPr/>
          <p:nvPr/>
        </p:nvSpPr>
        <p:spPr>
          <a:xfrm>
            <a:off x="731520" y="6565392"/>
            <a:ext cx="2240280" cy="155448"/>
          </a:xfrm>
          <a:prstGeom prst="rect">
            <a:avLst/>
          </a:prstGeom>
          <a:noFill/>
          <a:ln/>
        </p:spPr>
        <p:txBody>
          <a:bodyPr wrap="square" lIns="0" tIns="0" rIns="0" bIns="0" rtlCol="0" anchor="ctr">
            <a:normAutofit/>
          </a:bodyPr>
          <a:lstStyle/>
          <a:p>
            <a:pPr indent="0" marL="0">
              <a:buNone/>
            </a:pPr>
            <a:r>
              <a:rPr lang="en-US" sz="780" b="1" spc="50" kern="0" dirty="0">
                <a:solidFill>
                  <a:srgbClr val="59627A"/>
                </a:solidFill>
                <a:latin typeface="Arial" pitchFamily="34" charset="0"/>
                <a:ea typeface="Arial" pitchFamily="34" charset="-122"/>
                <a:cs typeface="Arial" pitchFamily="34" charset="-120"/>
              </a:rPr>
              <a:t>ONE NAME, VERY DIFFERENT JOBS</a:t>
            </a:r>
            <a:endParaRPr lang="en-US" sz="780" dirty="0"/>
          </a:p>
        </p:txBody>
      </p:sp>
      <p:pic>
        <p:nvPicPr>
          <p:cNvPr id="36" name="Image 1" descr="/mnt/data/airfoil_project/assets/eppler_family.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2376" y="6729984"/>
            <a:ext cx="3566160" cy="1417320"/>
          </a:xfrm>
          <a:prstGeom prst="rect">
            <a:avLst/>
          </a:prstGeom>
        </p:spPr>
      </p:pic>
      <p:sp>
        <p:nvSpPr>
          <p:cNvPr id="37" name="Text 33"/>
          <p:cNvSpPr/>
          <p:nvPr/>
        </p:nvSpPr>
        <p:spPr>
          <a:xfrm>
            <a:off x="786384" y="8147304"/>
            <a:ext cx="3438144" cy="146304"/>
          </a:xfrm>
          <a:prstGeom prst="rect">
            <a:avLst/>
          </a:prstGeom>
          <a:noFill/>
          <a:ln/>
        </p:spPr>
        <p:txBody>
          <a:bodyPr wrap="square" lIns="0" tIns="0" rIns="0" bIns="0" rtlCol="0" anchor="ctr">
            <a:normAutofit/>
          </a:bodyPr>
          <a:lstStyle/>
          <a:p>
            <a:pPr algn="ctr" indent="0" marL="0">
              <a:buNone/>
            </a:pPr>
            <a:r>
              <a:rPr lang="en-US" sz="900" b="1" dirty="0">
                <a:solidFill>
                  <a:srgbClr val="111A42"/>
                </a:solidFill>
                <a:latin typeface="Arial" pitchFamily="34" charset="0"/>
                <a:ea typeface="Arial" pitchFamily="34" charset="-122"/>
                <a:cs typeface="Arial" pitchFamily="34" charset="-120"/>
              </a:rPr>
              <a:t>Always specify the number - “Eppler” by itself is incomplete.</a:t>
            </a:r>
            <a:endParaRPr lang="en-US" sz="900" dirty="0"/>
          </a:p>
        </p:txBody>
      </p:sp>
      <p:sp>
        <p:nvSpPr>
          <p:cNvPr id="38" name="Shape 34"/>
          <p:cNvSpPr/>
          <p:nvPr/>
        </p:nvSpPr>
        <p:spPr>
          <a:xfrm>
            <a:off x="4828032" y="4005072"/>
            <a:ext cx="2596896" cy="1143000"/>
          </a:xfrm>
          <a:prstGeom prst="roundRect">
            <a:avLst>
              <a:gd name="adj" fmla="val 8000"/>
            </a:avLst>
          </a:prstGeom>
          <a:solidFill>
            <a:srgbClr val="FFFFFF"/>
          </a:solidFill>
          <a:ln w="10160">
            <a:solidFill>
              <a:srgbClr val="D9DFEA"/>
            </a:solidFill>
            <a:prstDash val="solid"/>
          </a:ln>
        </p:spPr>
        <p:txBody>
          <a:bodyPr/>
          <a:p/>
        </p:txBody>
      </p:sp>
      <p:sp>
        <p:nvSpPr>
          <p:cNvPr id="39" name="Shape 35"/>
          <p:cNvSpPr/>
          <p:nvPr/>
        </p:nvSpPr>
        <p:spPr>
          <a:xfrm>
            <a:off x="4965192" y="4142232"/>
            <a:ext cx="45720" cy="173736"/>
          </a:xfrm>
          <a:prstGeom prst="rect">
            <a:avLst/>
          </a:prstGeom>
          <a:solidFill>
            <a:srgbClr val="138C8C"/>
          </a:solidFill>
          <a:ln w="12700">
            <a:solidFill>
              <a:srgbClr val="138C8C">
                <a:alpha val="0"/>
              </a:srgbClr>
            </a:solidFill>
            <a:prstDash val="solid"/>
          </a:ln>
        </p:spPr>
        <p:txBody>
          <a:bodyPr/>
          <a:p/>
        </p:txBody>
      </p:sp>
      <p:sp>
        <p:nvSpPr>
          <p:cNvPr id="40" name="Text 36"/>
          <p:cNvSpPr/>
          <p:nvPr/>
        </p:nvSpPr>
        <p:spPr>
          <a:xfrm>
            <a:off x="5074920" y="4114800"/>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BEST FOR</a:t>
            </a:r>
            <a:endParaRPr lang="en-US" sz="950" dirty="0"/>
          </a:p>
        </p:txBody>
      </p:sp>
      <p:sp>
        <p:nvSpPr>
          <p:cNvPr id="41" name="Shape 37"/>
          <p:cNvSpPr/>
          <p:nvPr/>
        </p:nvSpPr>
        <p:spPr>
          <a:xfrm>
            <a:off x="4992624" y="4434840"/>
            <a:ext cx="91440" cy="91440"/>
          </a:xfrm>
          <a:prstGeom prst="ellipse">
            <a:avLst/>
          </a:prstGeom>
          <a:solidFill>
            <a:srgbClr val="138C8C"/>
          </a:solidFill>
          <a:ln w="12700">
            <a:solidFill>
              <a:srgbClr val="138C8C"/>
            </a:solidFill>
            <a:prstDash val="solid"/>
          </a:ln>
        </p:spPr>
        <p:txBody>
          <a:bodyPr/>
          <a:p/>
        </p:txBody>
      </p:sp>
      <p:sp>
        <p:nvSpPr>
          <p:cNvPr id="42" name="Text 38"/>
          <p:cNvSpPr/>
          <p:nvPr/>
        </p:nvSpPr>
        <p:spPr>
          <a:xfrm>
            <a:off x="5157216" y="4370832"/>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E387: gliders and efficient models</a:t>
            </a:r>
            <a:endParaRPr lang="en-US" sz="920" dirty="0"/>
          </a:p>
        </p:txBody>
      </p:sp>
      <p:sp>
        <p:nvSpPr>
          <p:cNvPr id="43" name="Shape 39"/>
          <p:cNvSpPr/>
          <p:nvPr/>
        </p:nvSpPr>
        <p:spPr>
          <a:xfrm>
            <a:off x="4992624" y="4654296"/>
            <a:ext cx="91440" cy="91440"/>
          </a:xfrm>
          <a:prstGeom prst="ellipse">
            <a:avLst/>
          </a:prstGeom>
          <a:solidFill>
            <a:srgbClr val="138C8C"/>
          </a:solidFill>
          <a:ln w="12700">
            <a:solidFill>
              <a:srgbClr val="138C8C"/>
            </a:solidFill>
            <a:prstDash val="solid"/>
          </a:ln>
        </p:spPr>
        <p:txBody>
          <a:bodyPr/>
          <a:p/>
        </p:txBody>
      </p:sp>
      <p:sp>
        <p:nvSpPr>
          <p:cNvPr id="44" name="Text 40"/>
          <p:cNvSpPr/>
          <p:nvPr/>
        </p:nvSpPr>
        <p:spPr>
          <a:xfrm>
            <a:off x="5157216" y="4590288"/>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E423: specialized high lift</a:t>
            </a:r>
            <a:endParaRPr lang="en-US" sz="920" dirty="0"/>
          </a:p>
        </p:txBody>
      </p:sp>
      <p:sp>
        <p:nvSpPr>
          <p:cNvPr id="45" name="Shape 41"/>
          <p:cNvSpPr/>
          <p:nvPr/>
        </p:nvSpPr>
        <p:spPr>
          <a:xfrm>
            <a:off x="4992624" y="4873752"/>
            <a:ext cx="91440" cy="91440"/>
          </a:xfrm>
          <a:prstGeom prst="ellipse">
            <a:avLst/>
          </a:prstGeom>
          <a:solidFill>
            <a:srgbClr val="138C8C"/>
          </a:solidFill>
          <a:ln w="12700">
            <a:solidFill>
              <a:srgbClr val="138C8C"/>
            </a:solidFill>
            <a:prstDash val="solid"/>
          </a:ln>
        </p:spPr>
        <p:txBody>
          <a:bodyPr/>
          <a:p/>
        </p:txBody>
      </p:sp>
      <p:sp>
        <p:nvSpPr>
          <p:cNvPr id="46" name="Text 42"/>
          <p:cNvSpPr/>
          <p:nvPr/>
        </p:nvSpPr>
        <p:spPr>
          <a:xfrm>
            <a:off x="5157216" y="4809744"/>
            <a:ext cx="2103120" cy="219456"/>
          </a:xfrm>
          <a:prstGeom prst="rect">
            <a:avLst/>
          </a:prstGeom>
          <a:noFill/>
          <a:ln/>
        </p:spPr>
        <p:txBody>
          <a:bodyPr wrap="square" lIns="0" tIns="0" rIns="0" bIns="0" rtlCol="0" anchor="t">
            <a:normAutofit/>
          </a:bodyPr>
          <a:lstStyle/>
          <a:p>
            <a:pPr indent="0" marL="0">
              <a:buNone/>
            </a:pPr>
            <a:r>
              <a:rPr lang="en-US" sz="920" dirty="0">
                <a:solidFill>
                  <a:srgbClr val="1A2342"/>
                </a:solidFill>
                <a:latin typeface="Arial" pitchFamily="34" charset="0"/>
                <a:ea typeface="Arial" pitchFamily="34" charset="-122"/>
                <a:cs typeface="Arial" pitchFamily="34" charset="-120"/>
              </a:rPr>
              <a:t>E472: aerobatic applications</a:t>
            </a:r>
            <a:endParaRPr lang="en-US" sz="920" dirty="0"/>
          </a:p>
        </p:txBody>
      </p:sp>
      <p:sp>
        <p:nvSpPr>
          <p:cNvPr id="47" name="Shape 43"/>
          <p:cNvSpPr/>
          <p:nvPr/>
        </p:nvSpPr>
        <p:spPr>
          <a:xfrm>
            <a:off x="4828032" y="5266944"/>
            <a:ext cx="2596896" cy="1353312"/>
          </a:xfrm>
          <a:prstGeom prst="roundRect">
            <a:avLst>
              <a:gd name="adj" fmla="val 6757"/>
            </a:avLst>
          </a:prstGeom>
          <a:solidFill>
            <a:srgbClr val="FFFFFF"/>
          </a:solidFill>
          <a:ln w="10160">
            <a:solidFill>
              <a:srgbClr val="D9DFEA"/>
            </a:solidFill>
            <a:prstDash val="solid"/>
          </a:ln>
        </p:spPr>
        <p:txBody>
          <a:bodyPr/>
          <a:p/>
        </p:txBody>
      </p:sp>
      <p:sp>
        <p:nvSpPr>
          <p:cNvPr id="48" name="Shape 44"/>
          <p:cNvSpPr/>
          <p:nvPr/>
        </p:nvSpPr>
        <p:spPr>
          <a:xfrm>
            <a:off x="4965192" y="5404104"/>
            <a:ext cx="45720" cy="173736"/>
          </a:xfrm>
          <a:prstGeom prst="rect">
            <a:avLst/>
          </a:prstGeom>
          <a:solidFill>
            <a:srgbClr val="138C8C"/>
          </a:solidFill>
          <a:ln w="12700">
            <a:solidFill>
              <a:srgbClr val="138C8C">
                <a:alpha val="0"/>
              </a:srgbClr>
            </a:solidFill>
            <a:prstDash val="solid"/>
          </a:ln>
        </p:spPr>
        <p:txBody>
          <a:bodyPr/>
          <a:p/>
        </p:txBody>
      </p:sp>
      <p:sp>
        <p:nvSpPr>
          <p:cNvPr id="49" name="Text 45"/>
          <p:cNvSpPr/>
          <p:nvPr/>
        </p:nvSpPr>
        <p:spPr>
          <a:xfrm>
            <a:off x="5074920" y="5376672"/>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BUILD NOTES</a:t>
            </a:r>
            <a:endParaRPr lang="en-US" sz="950" dirty="0"/>
          </a:p>
        </p:txBody>
      </p:sp>
      <p:sp>
        <p:nvSpPr>
          <p:cNvPr id="50" name="Shape 46"/>
          <p:cNvSpPr/>
          <p:nvPr/>
        </p:nvSpPr>
        <p:spPr>
          <a:xfrm>
            <a:off x="4992624" y="5687568"/>
            <a:ext cx="91440" cy="91440"/>
          </a:xfrm>
          <a:prstGeom prst="ellipse">
            <a:avLst/>
          </a:prstGeom>
          <a:solidFill>
            <a:srgbClr val="138C8C"/>
          </a:solidFill>
          <a:ln w="12700">
            <a:solidFill>
              <a:srgbClr val="138C8C"/>
            </a:solidFill>
            <a:prstDash val="solid"/>
          </a:ln>
        </p:spPr>
        <p:txBody>
          <a:bodyPr/>
          <a:p/>
        </p:txBody>
      </p:sp>
      <p:sp>
        <p:nvSpPr>
          <p:cNvPr id="51" name="Text 47"/>
          <p:cNvSpPr/>
          <p:nvPr/>
        </p:nvSpPr>
        <p:spPr>
          <a:xfrm>
            <a:off x="5157216" y="5623560"/>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Choose the exact Eppler number for the mission.</a:t>
            </a:r>
            <a:endParaRPr lang="en-US" sz="900" dirty="0"/>
          </a:p>
        </p:txBody>
      </p:sp>
      <p:sp>
        <p:nvSpPr>
          <p:cNvPr id="52" name="Shape 48"/>
          <p:cNvSpPr/>
          <p:nvPr/>
        </p:nvSpPr>
        <p:spPr>
          <a:xfrm>
            <a:off x="4992624" y="5974080"/>
            <a:ext cx="91440" cy="91440"/>
          </a:xfrm>
          <a:prstGeom prst="ellipse">
            <a:avLst/>
          </a:prstGeom>
          <a:solidFill>
            <a:srgbClr val="138C8C"/>
          </a:solidFill>
          <a:ln w="12700">
            <a:solidFill>
              <a:srgbClr val="138C8C"/>
            </a:solidFill>
            <a:prstDash val="solid"/>
          </a:ln>
        </p:spPr>
        <p:txBody>
          <a:bodyPr/>
          <a:p/>
        </p:txBody>
      </p:sp>
      <p:sp>
        <p:nvSpPr>
          <p:cNvPr id="53" name="Text 49"/>
          <p:cNvSpPr/>
          <p:nvPr/>
        </p:nvSpPr>
        <p:spPr>
          <a:xfrm>
            <a:off x="5157216" y="5910072"/>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Accurate ribs and a smooth surface matter more on efficient sections.</a:t>
            </a:r>
            <a:endParaRPr lang="en-US" sz="900" dirty="0"/>
          </a:p>
        </p:txBody>
      </p:sp>
      <p:sp>
        <p:nvSpPr>
          <p:cNvPr id="54" name="Shape 50"/>
          <p:cNvSpPr/>
          <p:nvPr/>
        </p:nvSpPr>
        <p:spPr>
          <a:xfrm>
            <a:off x="4992624" y="6260592"/>
            <a:ext cx="91440" cy="91440"/>
          </a:xfrm>
          <a:prstGeom prst="ellipse">
            <a:avLst/>
          </a:prstGeom>
          <a:solidFill>
            <a:srgbClr val="138C8C"/>
          </a:solidFill>
          <a:ln w="12700">
            <a:solidFill>
              <a:srgbClr val="138C8C"/>
            </a:solidFill>
            <a:prstDash val="solid"/>
          </a:ln>
        </p:spPr>
        <p:txBody>
          <a:bodyPr/>
          <a:p/>
        </p:txBody>
      </p:sp>
      <p:sp>
        <p:nvSpPr>
          <p:cNvPr id="55" name="Text 51"/>
          <p:cNvSpPr/>
          <p:nvPr/>
        </p:nvSpPr>
        <p:spPr>
          <a:xfrm>
            <a:off x="5157216" y="6196584"/>
            <a:ext cx="2103120" cy="286512"/>
          </a:xfrm>
          <a:prstGeom prst="rect">
            <a:avLst/>
          </a:prstGeom>
          <a:noFill/>
          <a:ln/>
        </p:spPr>
        <p:txBody>
          <a:bodyPr wrap="square" lIns="0" tIns="0" rIns="0" bIns="0" rtlCol="0" anchor="t">
            <a:normAutofit/>
          </a:bodyPr>
          <a:lstStyle/>
          <a:p>
            <a:pPr indent="0" marL="0">
              <a:buNone/>
            </a:pPr>
            <a:r>
              <a:rPr lang="en-US" sz="900" dirty="0">
                <a:solidFill>
                  <a:srgbClr val="1A2342"/>
                </a:solidFill>
                <a:latin typeface="Arial" pitchFamily="34" charset="0"/>
                <a:ea typeface="Arial" pitchFamily="34" charset="-122"/>
                <a:cs typeface="Arial" pitchFamily="34" charset="-120"/>
              </a:rPr>
              <a:t>Match the airfoil to the model’s expected Reynolds number.</a:t>
            </a:r>
            <a:endParaRPr lang="en-US" sz="900" dirty="0"/>
          </a:p>
        </p:txBody>
      </p:sp>
      <p:sp>
        <p:nvSpPr>
          <p:cNvPr id="56" name="Shape 52"/>
          <p:cNvSpPr/>
          <p:nvPr/>
        </p:nvSpPr>
        <p:spPr>
          <a:xfrm>
            <a:off x="4828032" y="6739128"/>
            <a:ext cx="2596896" cy="1097280"/>
          </a:xfrm>
          <a:prstGeom prst="roundRect">
            <a:avLst>
              <a:gd name="adj" fmla="val 8333"/>
            </a:avLst>
          </a:prstGeom>
          <a:solidFill>
            <a:srgbClr val="FFFFFF"/>
          </a:solidFill>
          <a:ln w="10160">
            <a:solidFill>
              <a:srgbClr val="D9DFEA"/>
            </a:solidFill>
            <a:prstDash val="solid"/>
          </a:ln>
        </p:spPr>
        <p:txBody>
          <a:bodyPr/>
          <a:p/>
        </p:txBody>
      </p:sp>
      <p:sp>
        <p:nvSpPr>
          <p:cNvPr id="57" name="Shape 53"/>
          <p:cNvSpPr/>
          <p:nvPr/>
        </p:nvSpPr>
        <p:spPr>
          <a:xfrm>
            <a:off x="4965192" y="6876288"/>
            <a:ext cx="45720" cy="173736"/>
          </a:xfrm>
          <a:prstGeom prst="rect">
            <a:avLst/>
          </a:prstGeom>
          <a:solidFill>
            <a:srgbClr val="C83E3E"/>
          </a:solidFill>
          <a:ln w="12700">
            <a:solidFill>
              <a:srgbClr val="C83E3E">
                <a:alpha val="0"/>
              </a:srgbClr>
            </a:solidFill>
            <a:prstDash val="solid"/>
          </a:ln>
        </p:spPr>
        <p:txBody>
          <a:bodyPr/>
          <a:p/>
        </p:txBody>
      </p:sp>
      <p:sp>
        <p:nvSpPr>
          <p:cNvPr id="58" name="Text 54"/>
          <p:cNvSpPr/>
          <p:nvPr/>
        </p:nvSpPr>
        <p:spPr>
          <a:xfrm>
            <a:off x="5074920" y="6848856"/>
            <a:ext cx="2212848"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WATCH-OUTS</a:t>
            </a:r>
            <a:endParaRPr lang="en-US" sz="950" dirty="0"/>
          </a:p>
        </p:txBody>
      </p:sp>
      <p:sp>
        <p:nvSpPr>
          <p:cNvPr id="59" name="Shape 55"/>
          <p:cNvSpPr/>
          <p:nvPr/>
        </p:nvSpPr>
        <p:spPr>
          <a:xfrm>
            <a:off x="4992624" y="7159752"/>
            <a:ext cx="91440" cy="91440"/>
          </a:xfrm>
          <a:prstGeom prst="ellipse">
            <a:avLst/>
          </a:prstGeom>
          <a:solidFill>
            <a:srgbClr val="C83E3E"/>
          </a:solidFill>
          <a:ln w="12700">
            <a:solidFill>
              <a:srgbClr val="C83E3E"/>
            </a:solidFill>
            <a:prstDash val="solid"/>
          </a:ln>
        </p:spPr>
        <p:txBody>
          <a:bodyPr/>
          <a:p/>
        </p:txBody>
      </p:sp>
      <p:sp>
        <p:nvSpPr>
          <p:cNvPr id="60" name="Text 56"/>
          <p:cNvSpPr/>
          <p:nvPr/>
        </p:nvSpPr>
        <p:spPr>
          <a:xfrm>
            <a:off x="5157216" y="7095744"/>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Do not specify only “Eppler.”</a:t>
            </a:r>
            <a:endParaRPr lang="en-US" sz="880" dirty="0"/>
          </a:p>
        </p:txBody>
      </p:sp>
      <p:sp>
        <p:nvSpPr>
          <p:cNvPr id="61" name="Shape 57"/>
          <p:cNvSpPr/>
          <p:nvPr/>
        </p:nvSpPr>
        <p:spPr>
          <a:xfrm>
            <a:off x="4992624" y="7367016"/>
            <a:ext cx="91440" cy="91440"/>
          </a:xfrm>
          <a:prstGeom prst="ellipse">
            <a:avLst/>
          </a:prstGeom>
          <a:solidFill>
            <a:srgbClr val="C83E3E"/>
          </a:solidFill>
          <a:ln w="12700">
            <a:solidFill>
              <a:srgbClr val="C83E3E"/>
            </a:solidFill>
            <a:prstDash val="solid"/>
          </a:ln>
        </p:spPr>
        <p:txBody>
          <a:bodyPr/>
          <a:p/>
        </p:txBody>
      </p:sp>
      <p:sp>
        <p:nvSpPr>
          <p:cNvPr id="62" name="Text 58"/>
          <p:cNvSpPr/>
          <p:nvPr/>
        </p:nvSpPr>
        <p:spPr>
          <a:xfrm>
            <a:off x="5157216" y="7303008"/>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Roughness and dents can spoil low-drag behavior.</a:t>
            </a:r>
            <a:endParaRPr lang="en-US" sz="880" dirty="0"/>
          </a:p>
        </p:txBody>
      </p:sp>
      <p:sp>
        <p:nvSpPr>
          <p:cNvPr id="63" name="Shape 59"/>
          <p:cNvSpPr/>
          <p:nvPr/>
        </p:nvSpPr>
        <p:spPr>
          <a:xfrm>
            <a:off x="4992624" y="7574280"/>
            <a:ext cx="91440" cy="91440"/>
          </a:xfrm>
          <a:prstGeom prst="ellipse">
            <a:avLst/>
          </a:prstGeom>
          <a:solidFill>
            <a:srgbClr val="C83E3E"/>
          </a:solidFill>
          <a:ln w="12700">
            <a:solidFill>
              <a:srgbClr val="C83E3E"/>
            </a:solidFill>
            <a:prstDash val="solid"/>
          </a:ln>
        </p:spPr>
        <p:txBody>
          <a:bodyPr/>
          <a:p/>
        </p:txBody>
      </p:sp>
      <p:sp>
        <p:nvSpPr>
          <p:cNvPr id="64" name="Text 60"/>
          <p:cNvSpPr/>
          <p:nvPr/>
        </p:nvSpPr>
        <p:spPr>
          <a:xfrm>
            <a:off x="5157216" y="7510272"/>
            <a:ext cx="2103120" cy="207264"/>
          </a:xfrm>
          <a:prstGeom prst="rect">
            <a:avLst/>
          </a:prstGeom>
          <a:noFill/>
          <a:ln/>
        </p:spPr>
        <p:txBody>
          <a:bodyPr wrap="square" lIns="0" tIns="0" rIns="0" bIns="0" rtlCol="0" anchor="t">
            <a:normAutofit/>
          </a:bodyPr>
          <a:lstStyle/>
          <a:p>
            <a:pPr indent="0" marL="0">
              <a:buNone/>
            </a:pPr>
            <a:r>
              <a:rPr lang="en-US" sz="880" dirty="0">
                <a:solidFill>
                  <a:srgbClr val="1A2342"/>
                </a:solidFill>
                <a:latin typeface="Arial" pitchFamily="34" charset="0"/>
                <a:ea typeface="Arial" pitchFamily="34" charset="-122"/>
                <a:cs typeface="Arial" pitchFamily="34" charset="-120"/>
              </a:rPr>
              <a:t>A profile tested at the wrong Reynolds number can mislead.</a:t>
            </a:r>
            <a:endParaRPr lang="en-US" sz="880" dirty="0"/>
          </a:p>
        </p:txBody>
      </p:sp>
      <p:sp>
        <p:nvSpPr>
          <p:cNvPr id="65" name="Shape 61"/>
          <p:cNvSpPr/>
          <p:nvPr/>
        </p:nvSpPr>
        <p:spPr>
          <a:xfrm>
            <a:off x="4828032" y="7955280"/>
            <a:ext cx="2596896" cy="859536"/>
          </a:xfrm>
          <a:prstGeom prst="roundRect">
            <a:avLst>
              <a:gd name="adj" fmla="val 10638"/>
            </a:avLst>
          </a:prstGeom>
          <a:solidFill>
            <a:srgbClr val="FFFFFF"/>
          </a:solidFill>
          <a:ln w="10160">
            <a:solidFill>
              <a:srgbClr val="D9DFEA"/>
            </a:solidFill>
            <a:prstDash val="solid"/>
          </a:ln>
        </p:spPr>
        <p:txBody>
          <a:bodyPr/>
          <a:p/>
        </p:txBody>
      </p:sp>
      <p:sp>
        <p:nvSpPr>
          <p:cNvPr id="66" name="Text 62"/>
          <p:cNvSpPr/>
          <p:nvPr/>
        </p:nvSpPr>
        <p:spPr>
          <a:xfrm>
            <a:off x="4965192" y="8046720"/>
            <a:ext cx="2322576" cy="146304"/>
          </a:xfrm>
          <a:prstGeom prst="rect">
            <a:avLst/>
          </a:prstGeom>
          <a:noFill/>
          <a:ln/>
        </p:spPr>
        <p:txBody>
          <a:bodyPr wrap="square" lIns="0" tIns="0" rIns="0" bIns="0" rtlCol="0" anchor="ctr">
            <a:normAutofit/>
          </a:bodyPr>
          <a:lstStyle/>
          <a:p>
            <a:pPr indent="0" marL="0">
              <a:buNone/>
            </a:pPr>
            <a:r>
              <a:rPr lang="en-US" sz="780" b="1" spc="50" kern="0" dirty="0">
                <a:solidFill>
                  <a:srgbClr val="111A42"/>
                </a:solidFill>
                <a:latin typeface="Arial" pitchFamily="34" charset="0"/>
                <a:ea typeface="Arial" pitchFamily="34" charset="-122"/>
                <a:cs typeface="Arial" pitchFamily="34" charset="-120"/>
              </a:rPr>
              <a:t>ROUGH R/C TENDENCIES (0–5)</a:t>
            </a:r>
            <a:endParaRPr lang="en-US" sz="780" dirty="0"/>
          </a:p>
        </p:txBody>
      </p:sp>
      <p:sp>
        <p:nvSpPr>
          <p:cNvPr id="67" name="Text 63"/>
          <p:cNvSpPr/>
          <p:nvPr/>
        </p:nvSpPr>
        <p:spPr>
          <a:xfrm>
            <a:off x="4965192" y="8229600"/>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E387 slow eff.</a:t>
            </a:r>
            <a:endParaRPr lang="en-US" sz="780" dirty="0"/>
          </a:p>
        </p:txBody>
      </p:sp>
      <p:sp>
        <p:nvSpPr>
          <p:cNvPr id="68" name="Shape 64"/>
          <p:cNvSpPr/>
          <p:nvPr/>
        </p:nvSpPr>
        <p:spPr>
          <a:xfrm>
            <a:off x="5952744" y="8257032"/>
            <a:ext cx="173736" cy="109728"/>
          </a:xfrm>
          <a:prstGeom prst="roundRect">
            <a:avLst>
              <a:gd name="adj" fmla="val 25000"/>
            </a:avLst>
          </a:prstGeom>
          <a:solidFill>
            <a:srgbClr val="138C8C"/>
          </a:solidFill>
          <a:ln w="12700">
            <a:solidFill>
              <a:srgbClr val="138C8C">
                <a:alpha val="0"/>
              </a:srgbClr>
            </a:solidFill>
            <a:prstDash val="solid"/>
          </a:ln>
        </p:spPr>
        <p:txBody>
          <a:bodyPr/>
          <a:p/>
        </p:txBody>
      </p:sp>
      <p:sp>
        <p:nvSpPr>
          <p:cNvPr id="69" name="Shape 65"/>
          <p:cNvSpPr/>
          <p:nvPr/>
        </p:nvSpPr>
        <p:spPr>
          <a:xfrm>
            <a:off x="6172200" y="8257032"/>
            <a:ext cx="173736" cy="109728"/>
          </a:xfrm>
          <a:prstGeom prst="roundRect">
            <a:avLst>
              <a:gd name="adj" fmla="val 25000"/>
            </a:avLst>
          </a:prstGeom>
          <a:solidFill>
            <a:srgbClr val="138C8C"/>
          </a:solidFill>
          <a:ln w="12700">
            <a:solidFill>
              <a:srgbClr val="138C8C">
                <a:alpha val="0"/>
              </a:srgbClr>
            </a:solidFill>
            <a:prstDash val="solid"/>
          </a:ln>
        </p:spPr>
        <p:txBody>
          <a:bodyPr/>
          <a:p/>
        </p:txBody>
      </p:sp>
      <p:sp>
        <p:nvSpPr>
          <p:cNvPr id="70" name="Shape 66"/>
          <p:cNvSpPr/>
          <p:nvPr/>
        </p:nvSpPr>
        <p:spPr>
          <a:xfrm>
            <a:off x="6391656" y="8257032"/>
            <a:ext cx="173736" cy="109728"/>
          </a:xfrm>
          <a:prstGeom prst="roundRect">
            <a:avLst>
              <a:gd name="adj" fmla="val 25000"/>
            </a:avLst>
          </a:prstGeom>
          <a:solidFill>
            <a:srgbClr val="138C8C"/>
          </a:solidFill>
          <a:ln w="12700">
            <a:solidFill>
              <a:srgbClr val="138C8C">
                <a:alpha val="0"/>
              </a:srgbClr>
            </a:solidFill>
            <a:prstDash val="solid"/>
          </a:ln>
        </p:spPr>
        <p:txBody>
          <a:bodyPr/>
          <a:p/>
        </p:txBody>
      </p:sp>
      <p:sp>
        <p:nvSpPr>
          <p:cNvPr id="71" name="Shape 67"/>
          <p:cNvSpPr/>
          <p:nvPr/>
        </p:nvSpPr>
        <p:spPr>
          <a:xfrm>
            <a:off x="6611112" y="8257032"/>
            <a:ext cx="173736" cy="109728"/>
          </a:xfrm>
          <a:prstGeom prst="roundRect">
            <a:avLst>
              <a:gd name="adj" fmla="val 25000"/>
            </a:avLst>
          </a:prstGeom>
          <a:solidFill>
            <a:srgbClr val="138C8C"/>
          </a:solidFill>
          <a:ln w="12700">
            <a:solidFill>
              <a:srgbClr val="138C8C">
                <a:alpha val="0"/>
              </a:srgbClr>
            </a:solidFill>
            <a:prstDash val="solid"/>
          </a:ln>
        </p:spPr>
        <p:txBody>
          <a:bodyPr/>
          <a:p/>
        </p:txBody>
      </p:sp>
      <p:sp>
        <p:nvSpPr>
          <p:cNvPr id="72" name="Shape 68"/>
          <p:cNvSpPr/>
          <p:nvPr/>
        </p:nvSpPr>
        <p:spPr>
          <a:xfrm>
            <a:off x="6830568" y="8257032"/>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73" name="Text 69"/>
          <p:cNvSpPr/>
          <p:nvPr/>
        </p:nvSpPr>
        <p:spPr>
          <a:xfrm>
            <a:off x="4965192" y="8375904"/>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E387 speed</a:t>
            </a:r>
            <a:endParaRPr lang="en-US" sz="780" dirty="0"/>
          </a:p>
        </p:txBody>
      </p:sp>
      <p:sp>
        <p:nvSpPr>
          <p:cNvPr id="74" name="Shape 70"/>
          <p:cNvSpPr/>
          <p:nvPr/>
        </p:nvSpPr>
        <p:spPr>
          <a:xfrm>
            <a:off x="5952744" y="8403336"/>
            <a:ext cx="173736" cy="109728"/>
          </a:xfrm>
          <a:prstGeom prst="roundRect">
            <a:avLst>
              <a:gd name="adj" fmla="val 25000"/>
            </a:avLst>
          </a:prstGeom>
          <a:solidFill>
            <a:srgbClr val="138C8C"/>
          </a:solidFill>
          <a:ln w="12700">
            <a:solidFill>
              <a:srgbClr val="138C8C">
                <a:alpha val="0"/>
              </a:srgbClr>
            </a:solidFill>
            <a:prstDash val="solid"/>
          </a:ln>
        </p:spPr>
        <p:txBody>
          <a:bodyPr/>
          <a:p/>
        </p:txBody>
      </p:sp>
      <p:sp>
        <p:nvSpPr>
          <p:cNvPr id="75" name="Shape 71"/>
          <p:cNvSpPr/>
          <p:nvPr/>
        </p:nvSpPr>
        <p:spPr>
          <a:xfrm>
            <a:off x="6172200" y="8403336"/>
            <a:ext cx="173736" cy="109728"/>
          </a:xfrm>
          <a:prstGeom prst="roundRect">
            <a:avLst>
              <a:gd name="adj" fmla="val 25000"/>
            </a:avLst>
          </a:prstGeom>
          <a:solidFill>
            <a:srgbClr val="138C8C"/>
          </a:solidFill>
          <a:ln w="12700">
            <a:solidFill>
              <a:srgbClr val="138C8C">
                <a:alpha val="0"/>
              </a:srgbClr>
            </a:solidFill>
            <a:prstDash val="solid"/>
          </a:ln>
        </p:spPr>
        <p:txBody>
          <a:bodyPr/>
          <a:p/>
        </p:txBody>
      </p:sp>
      <p:sp>
        <p:nvSpPr>
          <p:cNvPr id="76" name="Shape 72"/>
          <p:cNvSpPr/>
          <p:nvPr/>
        </p:nvSpPr>
        <p:spPr>
          <a:xfrm>
            <a:off x="6391656" y="8403336"/>
            <a:ext cx="173736" cy="109728"/>
          </a:xfrm>
          <a:prstGeom prst="roundRect">
            <a:avLst>
              <a:gd name="adj" fmla="val 25000"/>
            </a:avLst>
          </a:prstGeom>
          <a:solidFill>
            <a:srgbClr val="138C8C"/>
          </a:solidFill>
          <a:ln w="12700">
            <a:solidFill>
              <a:srgbClr val="138C8C">
                <a:alpha val="0"/>
              </a:srgbClr>
            </a:solidFill>
            <a:prstDash val="solid"/>
          </a:ln>
        </p:spPr>
        <p:txBody>
          <a:bodyPr/>
          <a:p/>
        </p:txBody>
      </p:sp>
      <p:sp>
        <p:nvSpPr>
          <p:cNvPr id="77" name="Shape 73"/>
          <p:cNvSpPr/>
          <p:nvPr/>
        </p:nvSpPr>
        <p:spPr>
          <a:xfrm>
            <a:off x="6611112"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78" name="Shape 74"/>
          <p:cNvSpPr/>
          <p:nvPr/>
        </p:nvSpPr>
        <p:spPr>
          <a:xfrm>
            <a:off x="6830568" y="8403336"/>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79" name="Text 75"/>
          <p:cNvSpPr/>
          <p:nvPr/>
        </p:nvSpPr>
        <p:spPr>
          <a:xfrm>
            <a:off x="4965192" y="8522208"/>
            <a:ext cx="960120" cy="173736"/>
          </a:xfrm>
          <a:prstGeom prst="rect">
            <a:avLst/>
          </a:prstGeom>
          <a:noFill/>
          <a:ln/>
        </p:spPr>
        <p:txBody>
          <a:bodyPr wrap="square" lIns="0" tIns="0" rIns="0" bIns="0" rtlCol="0" anchor="ctr">
            <a:normAutofit/>
          </a:bodyPr>
          <a:lstStyle/>
          <a:p>
            <a:pPr indent="0" marL="0">
              <a:buNone/>
            </a:pPr>
            <a:r>
              <a:rPr lang="en-US" sz="780" dirty="0">
                <a:solidFill>
                  <a:srgbClr val="59627A"/>
                </a:solidFill>
                <a:latin typeface="Arial" pitchFamily="34" charset="0"/>
                <a:ea typeface="Arial" pitchFamily="34" charset="-122"/>
                <a:cs typeface="Arial" pitchFamily="34" charset="-120"/>
              </a:rPr>
              <a:t>Build ease</a:t>
            </a:r>
            <a:endParaRPr lang="en-US" sz="780" dirty="0"/>
          </a:p>
        </p:txBody>
      </p:sp>
      <p:sp>
        <p:nvSpPr>
          <p:cNvPr id="80" name="Shape 76"/>
          <p:cNvSpPr/>
          <p:nvPr/>
        </p:nvSpPr>
        <p:spPr>
          <a:xfrm>
            <a:off x="5952744" y="8549640"/>
            <a:ext cx="173736" cy="109728"/>
          </a:xfrm>
          <a:prstGeom prst="roundRect">
            <a:avLst>
              <a:gd name="adj" fmla="val 25000"/>
            </a:avLst>
          </a:prstGeom>
          <a:solidFill>
            <a:srgbClr val="138C8C"/>
          </a:solidFill>
          <a:ln w="12700">
            <a:solidFill>
              <a:srgbClr val="138C8C">
                <a:alpha val="0"/>
              </a:srgbClr>
            </a:solidFill>
            <a:prstDash val="solid"/>
          </a:ln>
        </p:spPr>
        <p:txBody>
          <a:bodyPr/>
          <a:p/>
        </p:txBody>
      </p:sp>
      <p:sp>
        <p:nvSpPr>
          <p:cNvPr id="81" name="Shape 77"/>
          <p:cNvSpPr/>
          <p:nvPr/>
        </p:nvSpPr>
        <p:spPr>
          <a:xfrm>
            <a:off x="6172200" y="8549640"/>
            <a:ext cx="173736" cy="109728"/>
          </a:xfrm>
          <a:prstGeom prst="roundRect">
            <a:avLst>
              <a:gd name="adj" fmla="val 25000"/>
            </a:avLst>
          </a:prstGeom>
          <a:solidFill>
            <a:srgbClr val="138C8C"/>
          </a:solidFill>
          <a:ln w="12700">
            <a:solidFill>
              <a:srgbClr val="138C8C">
                <a:alpha val="0"/>
              </a:srgbClr>
            </a:solidFill>
            <a:prstDash val="solid"/>
          </a:ln>
        </p:spPr>
        <p:txBody>
          <a:bodyPr/>
          <a:p/>
        </p:txBody>
      </p:sp>
      <p:sp>
        <p:nvSpPr>
          <p:cNvPr id="82" name="Shape 78"/>
          <p:cNvSpPr/>
          <p:nvPr/>
        </p:nvSpPr>
        <p:spPr>
          <a:xfrm>
            <a:off x="6391656"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83" name="Shape 79"/>
          <p:cNvSpPr/>
          <p:nvPr/>
        </p:nvSpPr>
        <p:spPr>
          <a:xfrm>
            <a:off x="6611112"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84" name="Shape 80"/>
          <p:cNvSpPr/>
          <p:nvPr/>
        </p:nvSpPr>
        <p:spPr>
          <a:xfrm>
            <a:off x="6830568" y="8549640"/>
            <a:ext cx="173736" cy="109728"/>
          </a:xfrm>
          <a:prstGeom prst="roundRect">
            <a:avLst>
              <a:gd name="adj" fmla="val 25000"/>
            </a:avLst>
          </a:prstGeom>
          <a:solidFill>
            <a:srgbClr val="E1E6EF"/>
          </a:solidFill>
          <a:ln w="12700">
            <a:solidFill>
              <a:srgbClr val="E1E6EF">
                <a:alpha val="0"/>
              </a:srgbClr>
            </a:solidFill>
            <a:prstDash val="solid"/>
          </a:ln>
        </p:spPr>
        <p:txBody>
          <a:bodyPr/>
          <a:p/>
        </p:txBody>
      </p:sp>
      <p:sp>
        <p:nvSpPr>
          <p:cNvPr id="85" name="Text 81"/>
          <p:cNvSpPr/>
          <p:nvPr/>
        </p:nvSpPr>
        <p:spPr>
          <a:xfrm>
            <a:off x="4965192" y="8686800"/>
            <a:ext cx="2322576" cy="91440"/>
          </a:xfrm>
          <a:prstGeom prst="rect">
            <a:avLst/>
          </a:prstGeom>
          <a:noFill/>
          <a:ln/>
        </p:spPr>
        <p:txBody>
          <a:bodyPr wrap="square" lIns="0" tIns="0" rIns="0" bIns="0" rtlCol="0" anchor="t">
            <a:normAutofit/>
          </a:bodyPr>
          <a:lstStyle/>
          <a:p>
            <a:pPr indent="0" marL="0">
              <a:buNone/>
            </a:pPr>
            <a:r>
              <a:rPr lang="en-US" sz="570" i="1" dirty="0">
                <a:solidFill>
                  <a:srgbClr val="59627A"/>
                </a:solidFill>
                <a:latin typeface="Arial" pitchFamily="34" charset="0"/>
                <a:ea typeface="Arial" pitchFamily="34" charset="-122"/>
                <a:cs typeface="Arial" pitchFamily="34" charset="-120"/>
              </a:rPr>
              <a:t>Not test data; wing loading and Reynolds number matter.</a:t>
            </a:r>
            <a:endParaRPr lang="en-US" sz="570" dirty="0"/>
          </a:p>
        </p:txBody>
      </p:sp>
      <p:sp>
        <p:nvSpPr>
          <p:cNvPr id="86" name="Shape 82"/>
          <p:cNvSpPr/>
          <p:nvPr/>
        </p:nvSpPr>
        <p:spPr>
          <a:xfrm>
            <a:off x="329184" y="8942832"/>
            <a:ext cx="7114032" cy="0"/>
          </a:xfrm>
          <a:prstGeom prst="line">
            <a:avLst/>
          </a:prstGeom>
          <a:noFill/>
          <a:ln w="10160">
            <a:solidFill>
              <a:srgbClr val="D8DEE9"/>
            </a:solidFill>
            <a:prstDash val="solid"/>
          </a:ln>
        </p:spPr>
        <p:txBody>
          <a:bodyPr/>
          <a:p/>
        </p:txBody>
      </p:sp>
      <p:sp>
        <p:nvSpPr>
          <p:cNvPr id="87" name="Text 83"/>
          <p:cNvSpPr/>
          <p:nvPr/>
        </p:nvSpPr>
        <p:spPr>
          <a:xfrm>
            <a:off x="347472" y="8979408"/>
            <a:ext cx="6812280" cy="164592"/>
          </a:xfrm>
          <a:prstGeom prst="rect">
            <a:avLst/>
          </a:prstGeom>
          <a:noFill/>
          <a:ln/>
        </p:spPr>
        <p:txBody>
          <a:bodyPr wrap="square" lIns="0" tIns="0" rIns="0" bIns="0" rtlCol="0" anchor="t">
            <a:normAutofit/>
          </a:bodyPr>
          <a:lstStyle/>
          <a:p>
            <a:pPr indent="0" marL="0">
              <a:buNone/>
            </a:pPr>
            <a:r>
              <a:rPr lang="en-US" sz="680" dirty="0">
                <a:solidFill>
                  <a:srgbClr val="6C758C"/>
                </a:solidFill>
                <a:latin typeface="Arial" pitchFamily="34" charset="0"/>
                <a:ea typeface="Arial" pitchFamily="34" charset="-122"/>
                <a:cs typeface="Arial" pitchFamily="34" charset="-120"/>
              </a:rPr>
              <a:t>Geometry: UIUC Airfoil Coordinates Database (e387.dat). Descriptions are practical R/C tendencies, not a substitute for wind-tunnel or XFOIL data at your model’s Reynolds number.</a:t>
            </a:r>
            <a:endParaRPr lang="en-US" sz="680" dirty="0"/>
          </a:p>
        </p:txBody>
      </p:sp>
      <p:sp>
        <p:nvSpPr>
          <p:cNvPr id="88" name="TextBox 87"/>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7772400" cy="896112"/>
          </a:xfrm>
          <a:prstGeom prst="rect">
            <a:avLst/>
          </a:prstGeom>
          <a:solidFill>
            <a:srgbClr val="111A42"/>
          </a:solidFill>
          <a:ln w="12700">
            <a:solidFill>
              <a:srgbClr val="111A42"/>
            </a:solidFill>
            <a:prstDash val="solid"/>
          </a:ln>
        </p:spPr>
        <p:txBody>
          <a:bodyPr/>
          <a:p/>
        </p:txBody>
      </p:sp>
      <p:sp>
        <p:nvSpPr>
          <p:cNvPr id="3" name="Shape 1"/>
          <p:cNvSpPr/>
          <p:nvPr/>
        </p:nvSpPr>
        <p:spPr>
          <a:xfrm>
            <a:off x="0" y="896112"/>
            <a:ext cx="7772400" cy="54864"/>
          </a:xfrm>
          <a:prstGeom prst="rect">
            <a:avLst/>
          </a:prstGeom>
          <a:solidFill>
            <a:srgbClr val="E5A81A"/>
          </a:solidFill>
          <a:ln w="12700">
            <a:solidFill>
              <a:srgbClr val="E5A81A"/>
            </a:solidFill>
            <a:prstDash val="solid"/>
          </a:ln>
        </p:spPr>
        <p:txBody>
          <a:bodyPr/>
          <a:p/>
        </p:txBody>
      </p:sp>
      <p:sp>
        <p:nvSpPr>
          <p:cNvPr id="4" name="Text 2"/>
          <p:cNvSpPr/>
          <p:nvPr/>
        </p:nvSpPr>
        <p:spPr>
          <a:xfrm>
            <a:off x="347472" y="109728"/>
            <a:ext cx="2286000" cy="173736"/>
          </a:xfrm>
          <a:prstGeom prst="rect">
            <a:avLst/>
          </a:prstGeom>
          <a:noFill/>
          <a:ln/>
        </p:spPr>
        <p:txBody>
          <a:bodyPr wrap="square" lIns="0" tIns="0" rIns="0" bIns="0" rtlCol="0" anchor="ctr">
            <a:normAutofit/>
          </a:bodyPr>
          <a:lstStyle/>
          <a:p>
            <a:pPr indent="0" marL="0">
              <a:buNone/>
            </a:pPr>
            <a:r>
              <a:rPr lang="en-US" sz="850" b="1" spc="100" kern="0" dirty="0">
                <a:solidFill>
                  <a:srgbClr val="F1D58A"/>
                </a:solidFill>
                <a:latin typeface="Arial" pitchFamily="34" charset="0"/>
                <a:ea typeface="Arial" pitchFamily="34" charset="-122"/>
                <a:cs typeface="Arial" pitchFamily="34" charset="-120"/>
              </a:rPr>
              <a:t>R/C DESIGN EQUATIONS</a:t>
            </a:r>
            <a:endParaRPr lang="en-US" sz="850" dirty="0"/>
          </a:p>
        </p:txBody>
      </p:sp>
      <p:sp>
        <p:nvSpPr>
          <p:cNvPr id="5" name="Text 3"/>
          <p:cNvSpPr/>
          <p:nvPr/>
        </p:nvSpPr>
        <p:spPr>
          <a:xfrm>
            <a:off x="347472" y="274320"/>
            <a:ext cx="7086600" cy="329184"/>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The equations that connect shape to flight</a:t>
            </a:r>
            <a:endParaRPr lang="en-US" sz="2300" dirty="0"/>
          </a:p>
        </p:txBody>
      </p:sp>
      <p:sp>
        <p:nvSpPr>
          <p:cNvPr id="6" name="Text 4"/>
          <p:cNvSpPr/>
          <p:nvPr/>
        </p:nvSpPr>
        <p:spPr>
          <a:xfrm>
            <a:off x="347472" y="621792"/>
            <a:ext cx="7086600" cy="182880"/>
          </a:xfrm>
          <a:prstGeom prst="rect">
            <a:avLst/>
          </a:prstGeom>
          <a:noFill/>
          <a:ln/>
        </p:spPr>
        <p:txBody>
          <a:bodyPr wrap="square" lIns="0" tIns="0" rIns="0" bIns="0" rtlCol="0" anchor="ctr">
            <a:normAutofit/>
          </a:bodyPr>
          <a:lstStyle/>
          <a:p>
            <a:pPr indent="0" marL="0">
              <a:buNone/>
            </a:pPr>
            <a:r>
              <a:rPr lang="en-US" sz="970" dirty="0">
                <a:solidFill>
                  <a:srgbClr val="D7DEF0"/>
                </a:solidFill>
                <a:latin typeface="Arial" pitchFamily="34" charset="0"/>
                <a:ea typeface="Arial" pitchFamily="34" charset="-122"/>
                <a:cs typeface="Arial" pitchFamily="34" charset="-120"/>
              </a:rPr>
              <a:t>Enough math to design intelligently — without pretending the model is simpler than it is</a:t>
            </a:r>
            <a:endParaRPr lang="en-US" sz="970" dirty="0"/>
          </a:p>
        </p:txBody>
      </p:sp>
      <p:sp>
        <p:nvSpPr>
          <p:cNvPr id="7" name="Shape 5"/>
          <p:cNvSpPr/>
          <p:nvPr/>
        </p:nvSpPr>
        <p:spPr>
          <a:xfrm>
            <a:off x="329184" y="1078992"/>
            <a:ext cx="7095744" cy="457200"/>
          </a:xfrm>
          <a:prstGeom prst="roundRect">
            <a:avLst>
              <a:gd name="adj" fmla="val 20000"/>
            </a:avLst>
          </a:prstGeom>
          <a:solidFill>
            <a:srgbClr val="FFF9E9"/>
          </a:solidFill>
          <a:ln w="10160">
            <a:solidFill>
              <a:srgbClr val="F2D68A"/>
            </a:solidFill>
            <a:prstDash val="solid"/>
          </a:ln>
        </p:spPr>
        <p:txBody>
          <a:bodyPr/>
          <a:p/>
        </p:txBody>
      </p:sp>
      <p:sp>
        <p:nvSpPr>
          <p:cNvPr id="8" name="Text 6"/>
          <p:cNvSpPr/>
          <p:nvPr/>
        </p:nvSpPr>
        <p:spPr>
          <a:xfrm>
            <a:off x="493776" y="1170432"/>
            <a:ext cx="6766560" cy="256032"/>
          </a:xfrm>
          <a:prstGeom prst="rect">
            <a:avLst/>
          </a:prstGeom>
          <a:noFill/>
          <a:ln/>
        </p:spPr>
        <p:txBody>
          <a:bodyPr wrap="square" lIns="0" tIns="0" rIns="0" bIns="0" rtlCol="0" anchor="ctr">
            <a:normAutofit/>
          </a:bodyPr>
          <a:lstStyle/>
          <a:p>
            <a:pPr algn="ctr" indent="0" marL="0">
              <a:buNone/>
            </a:pPr>
            <a:r>
              <a:rPr lang="en-US" sz="950" b="1" dirty="0">
                <a:solidFill>
                  <a:srgbClr val="111A42"/>
                </a:solidFill>
                <a:latin typeface="Arial" pitchFamily="34" charset="0"/>
                <a:ea typeface="Arial" pitchFamily="34" charset="-122"/>
                <a:cs typeface="Arial" pitchFamily="34" charset="-120"/>
              </a:rPr>
              <a:t>Core idea: in level flight L ≈ W. Speed appears squared, so small speed changes matter a lot. </a:t>
            </a:r>
            <a:r>
              <a:rPr lang="en-US" sz="950" b="1" dirty="0">
                <a:solidFill>
                  <a:srgbClr val="111A42"/>
                </a:solidFill>
                <a:latin typeface="Arial" pitchFamily="34" charset="0"/>
                <a:ea typeface="Arial" pitchFamily="34" charset="-122"/>
                <a:cs typeface="Arial" pitchFamily="34" charset="-120"/>
              </a:rPr>
              <a:t>C</a:t>
            </a:r>
            <a:r>
              <a:rPr lang="en-US" sz="950" b="1" dirty="0" baseline="-25000">
                <a:solidFill>
                  <a:srgbClr val="111A42"/>
                </a:solidFill>
                <a:latin typeface="Arial" pitchFamily="34" charset="0"/>
                <a:ea typeface="Arial" pitchFamily="34" charset="-122"/>
                <a:cs typeface="Arial" pitchFamily="34" charset="-120"/>
              </a:rPr>
              <a:t>L</a:t>
            </a:r>
            <a:r>
              <a:rPr lang="en-US" sz="950" b="1" dirty="0">
                <a:solidFill>
                  <a:srgbClr val="111A42"/>
                </a:solidFill>
                <a:latin typeface="Arial" pitchFamily="34" charset="0"/>
                <a:ea typeface="Arial" pitchFamily="34" charset="-122"/>
                <a:cs typeface="Arial" pitchFamily="34" charset="-120"/>
              </a:rPr>
              <a:t> and </a:t>
            </a:r>
            <a:r>
              <a:rPr lang="en-US" sz="950" b="1" dirty="0">
                <a:solidFill>
                  <a:srgbClr val="111A42"/>
                </a:solidFill>
                <a:latin typeface="Arial" pitchFamily="34" charset="0"/>
                <a:ea typeface="Arial" pitchFamily="34" charset="-122"/>
                <a:cs typeface="Arial" pitchFamily="34" charset="-120"/>
              </a:rPr>
              <a:t>C</a:t>
            </a:r>
            <a:r>
              <a:rPr lang="en-US" sz="950" b="1" dirty="0" baseline="-25000">
                <a:solidFill>
                  <a:srgbClr val="111A42"/>
                </a:solidFill>
                <a:latin typeface="Arial" pitchFamily="34" charset="0"/>
                <a:ea typeface="Arial" pitchFamily="34" charset="-122"/>
                <a:cs typeface="Arial" pitchFamily="34" charset="-120"/>
              </a:rPr>
              <a:t>D</a:t>
            </a:r>
            <a:r>
              <a:rPr lang="en-US" sz="950" b="1" dirty="0">
                <a:solidFill>
                  <a:srgbClr val="111A42"/>
                </a:solidFill>
                <a:latin typeface="Arial" pitchFamily="34" charset="0"/>
                <a:ea typeface="Arial" pitchFamily="34" charset="-122"/>
                <a:cs typeface="Arial" pitchFamily="34" charset="-120"/>
              </a:rPr>
              <a:t> change with angle of attack, airfoil, Reynolds number, and surface finish.</a:t>
            </a:r>
            <a:endParaRPr lang="en-US" sz="950" dirty="0"/>
          </a:p>
        </p:txBody>
      </p:sp>
      <p:sp>
        <p:nvSpPr>
          <p:cNvPr id="9" name="Shape 7"/>
          <p:cNvSpPr/>
          <p:nvPr/>
        </p:nvSpPr>
        <p:spPr>
          <a:xfrm>
            <a:off x="329184" y="1691640"/>
            <a:ext cx="2231136" cy="1417320"/>
          </a:xfrm>
          <a:prstGeom prst="roundRect">
            <a:avLst>
              <a:gd name="adj" fmla="val 6452"/>
            </a:avLst>
          </a:prstGeom>
          <a:solidFill>
            <a:srgbClr val="FFFFFF"/>
          </a:solidFill>
          <a:ln w="10160">
            <a:solidFill>
              <a:srgbClr val="DDE2EC"/>
            </a:solidFill>
            <a:prstDash val="solid"/>
          </a:ln>
        </p:spPr>
        <p:txBody>
          <a:bodyPr/>
          <a:p/>
        </p:txBody>
      </p:sp>
      <p:sp>
        <p:nvSpPr>
          <p:cNvPr id="10" name="Shape 8"/>
          <p:cNvSpPr/>
          <p:nvPr/>
        </p:nvSpPr>
        <p:spPr>
          <a:xfrm>
            <a:off x="329184" y="1691640"/>
            <a:ext cx="54864" cy="1417320"/>
          </a:xfrm>
          <a:prstGeom prst="rect">
            <a:avLst/>
          </a:prstGeom>
          <a:solidFill>
            <a:srgbClr val="246BCE"/>
          </a:solidFill>
          <a:ln w="12700">
            <a:solidFill>
              <a:srgbClr val="246BCE"/>
            </a:solidFill>
            <a:prstDash val="solid"/>
          </a:ln>
        </p:spPr>
        <p:txBody>
          <a:bodyPr/>
          <a:p/>
        </p:txBody>
      </p:sp>
      <p:sp>
        <p:nvSpPr>
          <p:cNvPr id="11" name="Text 9"/>
          <p:cNvSpPr/>
          <p:nvPr/>
        </p:nvSpPr>
        <p:spPr>
          <a:xfrm>
            <a:off x="475488" y="1801368"/>
            <a:ext cx="1956816" cy="164592"/>
          </a:xfrm>
          <a:prstGeom prst="rect">
            <a:avLst/>
          </a:prstGeom>
          <a:noFill/>
          <a:ln/>
        </p:spPr>
        <p:txBody>
          <a:bodyPr wrap="square" lIns="0" tIns="0" rIns="0" bIns="0" rtlCol="0" anchor="ctr">
            <a:normAutofit/>
          </a:bodyPr>
          <a:lstStyle/>
          <a:p>
            <a:pPr indent="0" marL="0">
              <a:buNone/>
            </a:pPr>
            <a:r>
              <a:rPr lang="en-US" sz="830" b="1" spc="45" kern="0" dirty="0">
                <a:solidFill>
                  <a:srgbClr val="59627A"/>
                </a:solidFill>
                <a:latin typeface="Arial" pitchFamily="34" charset="0"/>
                <a:ea typeface="Arial" pitchFamily="34" charset="-122"/>
                <a:cs typeface="Arial" pitchFamily="34" charset="-120"/>
              </a:rPr>
              <a:t>DYNAMIC PRESSURE</a:t>
            </a:r>
            <a:endParaRPr lang="en-US" sz="830" dirty="0"/>
          </a:p>
        </p:txBody>
      </p:sp>
      <p:sp>
        <p:nvSpPr>
          <p:cNvPr id="12" name="Text 10"/>
          <p:cNvSpPr/>
          <p:nvPr/>
        </p:nvSpPr>
        <p:spPr>
          <a:xfrm>
            <a:off x="475488" y="2002536"/>
            <a:ext cx="1956816" cy="320040"/>
          </a:xfrm>
          <a:prstGeom prst="rect">
            <a:avLst/>
          </a:prstGeom>
          <a:noFill/>
          <a:ln/>
        </p:spPr>
        <p:txBody>
          <a:bodyPr wrap="square" lIns="0" tIns="0" rIns="0" bIns="0" rtlCol="0" anchor="ctr">
            <a:normAutofit/>
          </a:bodyPr>
          <a:lstStyle/>
          <a:p>
            <a:pPr algn="ctr" indent="0" marL="0">
              <a:buNone/>
            </a:pPr>
            <a:r>
              <a:rPr lang="en-US" sz="1800" b="1" dirty="0">
                <a:solidFill>
                  <a:srgbClr val="246BCE"/>
                </a:solidFill>
                <a:latin typeface="Arial" pitchFamily="34" charset="0"/>
                <a:ea typeface="Arial" pitchFamily="34" charset="-122"/>
                <a:cs typeface="Arial" pitchFamily="34" charset="-120"/>
              </a:rPr>
              <a:t>q = ½ ρ V²</a:t>
            </a:r>
            <a:endParaRPr lang="en-US" sz="1800" dirty="0"/>
          </a:p>
        </p:txBody>
      </p:sp>
      <p:sp>
        <p:nvSpPr>
          <p:cNvPr id="13" name="Text 11"/>
          <p:cNvSpPr/>
          <p:nvPr/>
        </p:nvSpPr>
        <p:spPr>
          <a:xfrm>
            <a:off x="475488" y="2368296"/>
            <a:ext cx="1956816" cy="429768"/>
          </a:xfrm>
          <a:prstGeom prst="rect">
            <a:avLst/>
          </a:prstGeom>
          <a:noFill/>
          <a:ln/>
        </p:spPr>
        <p:txBody>
          <a:bodyPr wrap="square" lIns="0" tIns="0" rIns="0" bIns="0" rtlCol="0" anchor="t">
            <a:normAutofit/>
          </a:bodyPr>
          <a:lstStyle/>
          <a:p>
            <a:pPr indent="0" marL="0">
              <a:buNone/>
            </a:pPr>
            <a:r>
              <a:rPr lang="en-US" sz="930" dirty="0">
                <a:solidFill>
                  <a:srgbClr val="1A2342"/>
                </a:solidFill>
                <a:latin typeface="Arial" pitchFamily="34" charset="0"/>
                <a:ea typeface="Arial" pitchFamily="34" charset="-122"/>
                <a:cs typeface="Arial" pitchFamily="34" charset="-120"/>
              </a:rPr>
              <a:t>q is the air’s “push strength.” ρ is air density and V is speed.</a:t>
            </a:r>
            <a:endParaRPr lang="en-US" sz="930" dirty="0"/>
          </a:p>
        </p:txBody>
      </p:sp>
      <p:sp>
        <p:nvSpPr>
          <p:cNvPr id="14" name="Text 12"/>
          <p:cNvSpPr/>
          <p:nvPr/>
        </p:nvSpPr>
        <p:spPr>
          <a:xfrm>
            <a:off x="475488" y="2816352"/>
            <a:ext cx="1956816" cy="182880"/>
          </a:xfrm>
          <a:prstGeom prst="rect">
            <a:avLst/>
          </a:prstGeom>
          <a:noFill/>
          <a:ln/>
        </p:spPr>
        <p:txBody>
          <a:bodyPr wrap="square" lIns="0" tIns="0" rIns="0" bIns="0" rtlCol="0" anchor="t">
            <a:normAutofit/>
          </a:bodyPr>
          <a:lstStyle/>
          <a:p>
            <a:pPr indent="0" marL="0">
              <a:buNone/>
            </a:pPr>
            <a:r>
              <a:rPr lang="en-US" sz="810" b="1" dirty="0">
                <a:solidFill>
                  <a:srgbClr val="111A42"/>
                </a:solidFill>
                <a:latin typeface="Arial" pitchFamily="34" charset="0"/>
                <a:ea typeface="Arial" pitchFamily="34" charset="-122"/>
                <a:cs typeface="Arial" pitchFamily="34" charset="-120"/>
              </a:rPr>
              <a:t>Double speed → four times q.</a:t>
            </a:r>
            <a:endParaRPr lang="en-US" sz="810" dirty="0"/>
          </a:p>
        </p:txBody>
      </p:sp>
      <p:sp>
        <p:nvSpPr>
          <p:cNvPr id="15" name="Shape 13"/>
          <p:cNvSpPr/>
          <p:nvPr/>
        </p:nvSpPr>
        <p:spPr>
          <a:xfrm>
            <a:off x="2761488" y="1691640"/>
            <a:ext cx="2231136" cy="1417320"/>
          </a:xfrm>
          <a:prstGeom prst="roundRect">
            <a:avLst>
              <a:gd name="adj" fmla="val 6452"/>
            </a:avLst>
          </a:prstGeom>
          <a:solidFill>
            <a:srgbClr val="FFFFFF"/>
          </a:solidFill>
          <a:ln w="10160">
            <a:solidFill>
              <a:srgbClr val="DDE2EC"/>
            </a:solidFill>
            <a:prstDash val="solid"/>
          </a:ln>
        </p:spPr>
        <p:txBody>
          <a:bodyPr/>
          <a:p/>
        </p:txBody>
      </p:sp>
      <p:sp>
        <p:nvSpPr>
          <p:cNvPr id="16" name="Shape 14"/>
          <p:cNvSpPr/>
          <p:nvPr/>
        </p:nvSpPr>
        <p:spPr>
          <a:xfrm>
            <a:off x="2761488" y="1691640"/>
            <a:ext cx="54864" cy="1417320"/>
          </a:xfrm>
          <a:prstGeom prst="rect">
            <a:avLst/>
          </a:prstGeom>
          <a:solidFill>
            <a:srgbClr val="2F8F5B"/>
          </a:solidFill>
          <a:ln w="12700">
            <a:solidFill>
              <a:srgbClr val="2F8F5B"/>
            </a:solidFill>
            <a:prstDash val="solid"/>
          </a:ln>
        </p:spPr>
        <p:txBody>
          <a:bodyPr/>
          <a:p/>
        </p:txBody>
      </p:sp>
      <p:sp>
        <p:nvSpPr>
          <p:cNvPr id="17" name="Text 15"/>
          <p:cNvSpPr/>
          <p:nvPr/>
        </p:nvSpPr>
        <p:spPr>
          <a:xfrm>
            <a:off x="2907792" y="1801368"/>
            <a:ext cx="1956816" cy="164592"/>
          </a:xfrm>
          <a:prstGeom prst="rect">
            <a:avLst/>
          </a:prstGeom>
          <a:noFill/>
          <a:ln/>
        </p:spPr>
        <p:txBody>
          <a:bodyPr wrap="square" lIns="0" tIns="0" rIns="0" bIns="0" rtlCol="0" anchor="ctr">
            <a:normAutofit/>
          </a:bodyPr>
          <a:lstStyle/>
          <a:p>
            <a:pPr indent="0" marL="0">
              <a:buNone/>
            </a:pPr>
            <a:r>
              <a:rPr lang="en-US" sz="830" b="1" spc="45" kern="0" dirty="0">
                <a:solidFill>
                  <a:srgbClr val="59627A"/>
                </a:solidFill>
                <a:latin typeface="Arial" pitchFamily="34" charset="0"/>
                <a:ea typeface="Arial" pitchFamily="34" charset="-122"/>
                <a:cs typeface="Arial" pitchFamily="34" charset="-120"/>
              </a:rPr>
              <a:t>LIFT</a:t>
            </a:r>
            <a:endParaRPr lang="en-US" sz="830" dirty="0"/>
          </a:p>
        </p:txBody>
      </p:sp>
      <p:sp>
        <p:nvSpPr>
          <p:cNvPr id="18" name="Text 16"/>
          <p:cNvSpPr/>
          <p:nvPr/>
        </p:nvSpPr>
        <p:spPr>
          <a:xfrm>
            <a:off x="2907792" y="2002536"/>
            <a:ext cx="1956816" cy="320040"/>
          </a:xfrm>
          <a:prstGeom prst="rect">
            <a:avLst/>
          </a:prstGeom>
          <a:noFill/>
          <a:ln/>
        </p:spPr>
        <p:txBody>
          <a:bodyPr wrap="square" lIns="0" tIns="0" rIns="0" bIns="0" rtlCol="0" anchor="ctr">
            <a:normAutofit/>
          </a:bodyPr>
          <a:lstStyle/>
          <a:p>
            <a:pPr algn="ctr" indent="0" marL="0">
              <a:buNone/>
            </a:pPr>
            <a:r>
              <a:rPr lang="en-US" sz="1800" b="1" dirty="0">
                <a:solidFill>
                  <a:srgbClr val="2F8F5B"/>
                </a:solidFill>
                <a:latin typeface="Arial" pitchFamily="34" charset="0"/>
                <a:ea typeface="Arial" pitchFamily="34" charset="-122"/>
                <a:cs typeface="Arial" pitchFamily="34" charset="-120"/>
              </a:rPr>
              <a:t>L = q S </a:t>
            </a:r>
            <a:r>
              <a:rPr lang="en-US" sz="1800" b="1" dirty="0">
                <a:solidFill>
                  <a:srgbClr val="2F8F5B"/>
                </a:solidFill>
                <a:latin typeface="Arial" pitchFamily="34" charset="0"/>
                <a:ea typeface="Arial" pitchFamily="34" charset="-122"/>
                <a:cs typeface="Arial" pitchFamily="34" charset="-120"/>
              </a:rPr>
              <a:t>C</a:t>
            </a:r>
            <a:r>
              <a:rPr lang="en-US" sz="1800" b="1" dirty="0" baseline="-25000">
                <a:solidFill>
                  <a:srgbClr val="2F8F5B"/>
                </a:solidFill>
                <a:latin typeface="Arial" pitchFamily="34" charset="0"/>
                <a:ea typeface="Arial" pitchFamily="34" charset="-122"/>
                <a:cs typeface="Arial" pitchFamily="34" charset="-120"/>
              </a:rPr>
              <a:t>L</a:t>
            </a:r>
            <a:endParaRPr lang="en-US" sz="1800" dirty="0"/>
          </a:p>
        </p:txBody>
      </p:sp>
      <p:sp>
        <p:nvSpPr>
          <p:cNvPr id="19" name="Text 17"/>
          <p:cNvSpPr/>
          <p:nvPr/>
        </p:nvSpPr>
        <p:spPr>
          <a:xfrm>
            <a:off x="2907792" y="2368296"/>
            <a:ext cx="1956816" cy="429768"/>
          </a:xfrm>
          <a:prstGeom prst="rect">
            <a:avLst/>
          </a:prstGeom>
          <a:noFill/>
          <a:ln/>
        </p:spPr>
        <p:txBody>
          <a:bodyPr wrap="square" lIns="0" tIns="0" rIns="0" bIns="0" rtlCol="0" anchor="t">
            <a:normAutofit/>
          </a:bodyPr>
          <a:lstStyle/>
          <a:p>
            <a:pPr indent="0" marL="0">
              <a:buNone/>
            </a:pPr>
            <a:r>
              <a:rPr lang="en-US" sz="930" dirty="0">
                <a:solidFill>
                  <a:srgbClr val="1A2342"/>
                </a:solidFill>
                <a:latin typeface="Arial" pitchFamily="34" charset="0"/>
                <a:ea typeface="Arial" pitchFamily="34" charset="-122"/>
                <a:cs typeface="Arial" pitchFamily="34" charset="-120"/>
              </a:rPr>
              <a:t>S is wing area. </a:t>
            </a:r>
            <a:r>
              <a:rPr lang="en-US" sz="930" dirty="0">
                <a:solidFill>
                  <a:srgbClr val="1A2342"/>
                </a:solidFill>
                <a:latin typeface="Arial" pitchFamily="34" charset="0"/>
                <a:ea typeface="Arial" pitchFamily="34" charset="-122"/>
                <a:cs typeface="Arial" pitchFamily="34" charset="-120"/>
              </a:rPr>
              <a:t>C</a:t>
            </a:r>
            <a:r>
              <a:rPr lang="en-US" sz="930" dirty="0" baseline="-25000">
                <a:solidFill>
                  <a:srgbClr val="1A2342"/>
                </a:solidFill>
                <a:latin typeface="Arial" pitchFamily="34" charset="0"/>
                <a:ea typeface="Arial" pitchFamily="34" charset="-122"/>
                <a:cs typeface="Arial" pitchFamily="34" charset="-120"/>
              </a:rPr>
              <a:t>L</a:t>
            </a:r>
            <a:r>
              <a:rPr lang="en-US" sz="930" dirty="0">
                <a:solidFill>
                  <a:srgbClr val="1A2342"/>
                </a:solidFill>
                <a:latin typeface="Arial" pitchFamily="34" charset="0"/>
                <a:ea typeface="Arial" pitchFamily="34" charset="-122"/>
                <a:cs typeface="Arial" pitchFamily="34" charset="-120"/>
              </a:rPr>
              <a:t> packages the effects of shape and angle of attack.</a:t>
            </a:r>
            <a:endParaRPr lang="en-US" sz="930" dirty="0"/>
          </a:p>
        </p:txBody>
      </p:sp>
      <p:sp>
        <p:nvSpPr>
          <p:cNvPr id="20" name="Text 18"/>
          <p:cNvSpPr/>
          <p:nvPr/>
        </p:nvSpPr>
        <p:spPr>
          <a:xfrm>
            <a:off x="2907792" y="2816352"/>
            <a:ext cx="1956816" cy="182880"/>
          </a:xfrm>
          <a:prstGeom prst="rect">
            <a:avLst/>
          </a:prstGeom>
          <a:noFill/>
          <a:ln/>
        </p:spPr>
        <p:txBody>
          <a:bodyPr wrap="square" lIns="0" tIns="0" rIns="0" bIns="0" rtlCol="0" anchor="t">
            <a:normAutofit/>
          </a:bodyPr>
          <a:lstStyle/>
          <a:p>
            <a:pPr indent="0" marL="0">
              <a:buNone/>
            </a:pPr>
            <a:r>
              <a:rPr lang="en-US" sz="810" b="1" dirty="0">
                <a:solidFill>
                  <a:srgbClr val="111A42"/>
                </a:solidFill>
                <a:latin typeface="Arial" pitchFamily="34" charset="0"/>
                <a:ea typeface="Arial" pitchFamily="34" charset="-122"/>
                <a:cs typeface="Arial" pitchFamily="34" charset="-120"/>
              </a:rPr>
              <a:t>Level flight needs L about equal to weight.</a:t>
            </a:r>
            <a:endParaRPr lang="en-US" sz="810" dirty="0"/>
          </a:p>
        </p:txBody>
      </p:sp>
      <p:sp>
        <p:nvSpPr>
          <p:cNvPr id="21" name="Shape 19"/>
          <p:cNvSpPr/>
          <p:nvPr/>
        </p:nvSpPr>
        <p:spPr>
          <a:xfrm>
            <a:off x="5193792" y="1691640"/>
            <a:ext cx="2231136" cy="1417320"/>
          </a:xfrm>
          <a:prstGeom prst="roundRect">
            <a:avLst>
              <a:gd name="adj" fmla="val 6452"/>
            </a:avLst>
          </a:prstGeom>
          <a:solidFill>
            <a:srgbClr val="FFFFFF"/>
          </a:solidFill>
          <a:ln w="10160">
            <a:solidFill>
              <a:srgbClr val="DDE2EC"/>
            </a:solidFill>
            <a:prstDash val="solid"/>
          </a:ln>
        </p:spPr>
        <p:txBody>
          <a:bodyPr/>
          <a:p/>
        </p:txBody>
      </p:sp>
      <p:sp>
        <p:nvSpPr>
          <p:cNvPr id="22" name="Shape 20"/>
          <p:cNvSpPr/>
          <p:nvPr/>
        </p:nvSpPr>
        <p:spPr>
          <a:xfrm>
            <a:off x="5193792" y="1691640"/>
            <a:ext cx="54864" cy="1417320"/>
          </a:xfrm>
          <a:prstGeom prst="rect">
            <a:avLst/>
          </a:prstGeom>
          <a:solidFill>
            <a:srgbClr val="C83E3E"/>
          </a:solidFill>
          <a:ln w="12700">
            <a:solidFill>
              <a:srgbClr val="C83E3E"/>
            </a:solidFill>
            <a:prstDash val="solid"/>
          </a:ln>
        </p:spPr>
        <p:txBody>
          <a:bodyPr/>
          <a:p/>
        </p:txBody>
      </p:sp>
      <p:sp>
        <p:nvSpPr>
          <p:cNvPr id="23" name="Text 21"/>
          <p:cNvSpPr/>
          <p:nvPr/>
        </p:nvSpPr>
        <p:spPr>
          <a:xfrm>
            <a:off x="5340096" y="1801368"/>
            <a:ext cx="1956816" cy="164592"/>
          </a:xfrm>
          <a:prstGeom prst="rect">
            <a:avLst/>
          </a:prstGeom>
          <a:noFill/>
          <a:ln/>
        </p:spPr>
        <p:txBody>
          <a:bodyPr wrap="square" lIns="0" tIns="0" rIns="0" bIns="0" rtlCol="0" anchor="ctr">
            <a:normAutofit/>
          </a:bodyPr>
          <a:lstStyle/>
          <a:p>
            <a:pPr indent="0" marL="0">
              <a:buNone/>
            </a:pPr>
            <a:r>
              <a:rPr lang="en-US" sz="830" b="1" spc="45" kern="0" dirty="0">
                <a:solidFill>
                  <a:srgbClr val="59627A"/>
                </a:solidFill>
                <a:latin typeface="Arial" pitchFamily="34" charset="0"/>
                <a:ea typeface="Arial" pitchFamily="34" charset="-122"/>
                <a:cs typeface="Arial" pitchFamily="34" charset="-120"/>
              </a:rPr>
              <a:t>DRAG</a:t>
            </a:r>
            <a:endParaRPr lang="en-US" sz="830" dirty="0"/>
          </a:p>
        </p:txBody>
      </p:sp>
      <p:sp>
        <p:nvSpPr>
          <p:cNvPr id="24" name="Text 22"/>
          <p:cNvSpPr/>
          <p:nvPr/>
        </p:nvSpPr>
        <p:spPr>
          <a:xfrm>
            <a:off x="5340096" y="2002536"/>
            <a:ext cx="1956816" cy="320040"/>
          </a:xfrm>
          <a:prstGeom prst="rect">
            <a:avLst/>
          </a:prstGeom>
          <a:noFill/>
          <a:ln/>
        </p:spPr>
        <p:txBody>
          <a:bodyPr wrap="square" lIns="0" tIns="0" rIns="0" bIns="0" rtlCol="0" anchor="ctr">
            <a:normAutofit/>
          </a:bodyPr>
          <a:lstStyle/>
          <a:p>
            <a:pPr algn="ctr" indent="0" marL="0">
              <a:buNone/>
            </a:pPr>
            <a:r>
              <a:rPr lang="en-US" sz="1800" b="1" dirty="0">
                <a:solidFill>
                  <a:srgbClr val="C83E3E"/>
                </a:solidFill>
                <a:latin typeface="Arial" pitchFamily="34" charset="0"/>
                <a:ea typeface="Arial" pitchFamily="34" charset="-122"/>
                <a:cs typeface="Arial" pitchFamily="34" charset="-120"/>
              </a:rPr>
              <a:t>D = q S </a:t>
            </a:r>
            <a:r>
              <a:rPr lang="en-US" sz="1800" b="1" dirty="0">
                <a:solidFill>
                  <a:srgbClr val="C83E3E"/>
                </a:solidFill>
                <a:latin typeface="Arial" pitchFamily="34" charset="0"/>
                <a:ea typeface="Arial" pitchFamily="34" charset="-122"/>
                <a:cs typeface="Arial" pitchFamily="34" charset="-120"/>
              </a:rPr>
              <a:t>C</a:t>
            </a:r>
            <a:r>
              <a:rPr lang="en-US" sz="1800" b="1" dirty="0" baseline="-25000">
                <a:solidFill>
                  <a:srgbClr val="C83E3E"/>
                </a:solidFill>
                <a:latin typeface="Arial" pitchFamily="34" charset="0"/>
                <a:ea typeface="Arial" pitchFamily="34" charset="-122"/>
                <a:cs typeface="Arial" pitchFamily="34" charset="-120"/>
              </a:rPr>
              <a:t>D</a:t>
            </a:r>
            <a:endParaRPr lang="en-US" sz="1800" dirty="0"/>
          </a:p>
        </p:txBody>
      </p:sp>
      <p:sp>
        <p:nvSpPr>
          <p:cNvPr id="25" name="Text 23"/>
          <p:cNvSpPr/>
          <p:nvPr/>
        </p:nvSpPr>
        <p:spPr>
          <a:xfrm>
            <a:off x="5340096" y="2368296"/>
            <a:ext cx="1956816" cy="429768"/>
          </a:xfrm>
          <a:prstGeom prst="rect">
            <a:avLst/>
          </a:prstGeom>
          <a:noFill/>
          <a:ln/>
        </p:spPr>
        <p:txBody>
          <a:bodyPr wrap="square" lIns="0" tIns="0" rIns="0" bIns="0" rtlCol="0" anchor="t">
            <a:normAutofit/>
          </a:bodyPr>
          <a:lstStyle/>
          <a:p>
            <a:pPr indent="0" marL="0">
              <a:buNone/>
            </a:pPr>
            <a:r>
              <a:rPr lang="en-US" sz="930" dirty="0">
                <a:solidFill>
                  <a:srgbClr val="1A2342"/>
                </a:solidFill>
                <a:latin typeface="Arial" pitchFamily="34" charset="0"/>
                <a:ea typeface="Arial" pitchFamily="34" charset="-122"/>
                <a:cs typeface="Arial" pitchFamily="34" charset="-120"/>
              </a:rPr>
              <a:t>C</a:t>
            </a:r>
            <a:r>
              <a:rPr lang="en-US" sz="930" dirty="0" baseline="-25000">
                <a:solidFill>
                  <a:srgbClr val="1A2342"/>
                </a:solidFill>
                <a:latin typeface="Arial" pitchFamily="34" charset="0"/>
                <a:ea typeface="Arial" pitchFamily="34" charset="-122"/>
                <a:cs typeface="Arial" pitchFamily="34" charset="-120"/>
              </a:rPr>
              <a:t>D</a:t>
            </a:r>
            <a:r>
              <a:rPr lang="en-US" sz="930" dirty="0">
                <a:solidFill>
                  <a:srgbClr val="1A2342"/>
                </a:solidFill>
                <a:latin typeface="Arial" pitchFamily="34" charset="0"/>
                <a:ea typeface="Arial" pitchFamily="34" charset="-122"/>
                <a:cs typeface="Arial" pitchFamily="34" charset="-120"/>
              </a:rPr>
              <a:t> is the drag coefficient. It rises when the wing is rough, badly shaped, or near stall.</a:t>
            </a:r>
            <a:endParaRPr lang="en-US" sz="930" dirty="0"/>
          </a:p>
        </p:txBody>
      </p:sp>
      <p:sp>
        <p:nvSpPr>
          <p:cNvPr id="26" name="Text 24"/>
          <p:cNvSpPr/>
          <p:nvPr/>
        </p:nvSpPr>
        <p:spPr>
          <a:xfrm>
            <a:off x="5340096" y="2816352"/>
            <a:ext cx="1956816" cy="182880"/>
          </a:xfrm>
          <a:prstGeom prst="rect">
            <a:avLst/>
          </a:prstGeom>
          <a:noFill/>
          <a:ln/>
        </p:spPr>
        <p:txBody>
          <a:bodyPr wrap="square" lIns="0" tIns="0" rIns="0" bIns="0" rtlCol="0" anchor="t">
            <a:normAutofit/>
          </a:bodyPr>
          <a:lstStyle/>
          <a:p>
            <a:pPr indent="0" marL="0">
              <a:buNone/>
            </a:pPr>
            <a:r>
              <a:rPr lang="en-US" sz="810" b="1" dirty="0">
                <a:solidFill>
                  <a:srgbClr val="111A42"/>
                </a:solidFill>
                <a:latin typeface="Arial" pitchFamily="34" charset="0"/>
                <a:ea typeface="Arial" pitchFamily="34" charset="-122"/>
                <a:cs typeface="Arial" pitchFamily="34" charset="-120"/>
              </a:rPr>
              <a:t>More lift usually costs some drag.</a:t>
            </a:r>
            <a:endParaRPr lang="en-US" sz="810" dirty="0"/>
          </a:p>
        </p:txBody>
      </p:sp>
      <p:sp>
        <p:nvSpPr>
          <p:cNvPr id="27" name="Shape 25"/>
          <p:cNvSpPr/>
          <p:nvPr/>
        </p:nvSpPr>
        <p:spPr>
          <a:xfrm>
            <a:off x="329184" y="3264408"/>
            <a:ext cx="2231136" cy="1600200"/>
          </a:xfrm>
          <a:prstGeom prst="roundRect">
            <a:avLst>
              <a:gd name="adj" fmla="val 5714"/>
            </a:avLst>
          </a:prstGeom>
          <a:solidFill>
            <a:srgbClr val="FFFFFF"/>
          </a:solidFill>
          <a:ln w="10160">
            <a:solidFill>
              <a:srgbClr val="DDE2EC"/>
            </a:solidFill>
            <a:prstDash val="solid"/>
          </a:ln>
        </p:spPr>
        <p:txBody>
          <a:bodyPr/>
          <a:p/>
        </p:txBody>
      </p:sp>
      <p:sp>
        <p:nvSpPr>
          <p:cNvPr id="28" name="Shape 26"/>
          <p:cNvSpPr/>
          <p:nvPr/>
        </p:nvSpPr>
        <p:spPr>
          <a:xfrm>
            <a:off x="329184" y="3264408"/>
            <a:ext cx="54864" cy="1600200"/>
          </a:xfrm>
          <a:prstGeom prst="rect">
            <a:avLst/>
          </a:prstGeom>
          <a:solidFill>
            <a:srgbClr val="E0702B"/>
          </a:solidFill>
          <a:ln w="12700">
            <a:solidFill>
              <a:srgbClr val="E0702B"/>
            </a:solidFill>
            <a:prstDash val="solid"/>
          </a:ln>
        </p:spPr>
        <p:txBody>
          <a:bodyPr/>
          <a:p/>
        </p:txBody>
      </p:sp>
      <p:sp>
        <p:nvSpPr>
          <p:cNvPr id="29" name="Text 27"/>
          <p:cNvSpPr/>
          <p:nvPr/>
        </p:nvSpPr>
        <p:spPr>
          <a:xfrm>
            <a:off x="475488" y="3374136"/>
            <a:ext cx="1956816" cy="164592"/>
          </a:xfrm>
          <a:prstGeom prst="rect">
            <a:avLst/>
          </a:prstGeom>
          <a:noFill/>
          <a:ln/>
        </p:spPr>
        <p:txBody>
          <a:bodyPr wrap="square" lIns="0" tIns="0" rIns="0" bIns="0" rtlCol="0" anchor="ctr">
            <a:normAutofit/>
          </a:bodyPr>
          <a:lstStyle/>
          <a:p>
            <a:pPr indent="0" marL="0">
              <a:buNone/>
            </a:pPr>
            <a:r>
              <a:rPr lang="en-US" sz="830" b="1" spc="45" kern="0" dirty="0">
                <a:solidFill>
                  <a:srgbClr val="59627A"/>
                </a:solidFill>
                <a:latin typeface="Arial" pitchFamily="34" charset="0"/>
                <a:ea typeface="Arial" pitchFamily="34" charset="-122"/>
                <a:cs typeface="Arial" pitchFamily="34" charset="-120"/>
              </a:rPr>
              <a:t>STALL SPEED</a:t>
            </a:r>
            <a:endParaRPr lang="en-US" sz="830" dirty="0"/>
          </a:p>
        </p:txBody>
      </p:sp>
      <p:sp>
        <p:nvSpPr>
          <p:cNvPr id="30" name="Text 28"/>
          <p:cNvSpPr/>
          <p:nvPr/>
        </p:nvSpPr>
        <p:spPr>
          <a:xfrm>
            <a:off x="475488" y="3575304"/>
            <a:ext cx="1956816" cy="320040"/>
          </a:xfrm>
          <a:prstGeom prst="rect">
            <a:avLst/>
          </a:prstGeom>
          <a:noFill/>
          <a:ln/>
        </p:spPr>
        <p:txBody>
          <a:bodyPr wrap="square" lIns="0" tIns="0" rIns="0" bIns="0" rtlCol="0" anchor="ctr">
            <a:normAutofit/>
          </a:bodyPr>
          <a:lstStyle/>
          <a:p>
            <a:pPr algn="ctr" indent="0" marL="0">
              <a:buNone/>
            </a:pPr>
            <a:r>
              <a:rPr lang="en-US" sz="1800" b="1" dirty="0">
                <a:solidFill>
                  <a:srgbClr val="E0702B"/>
                </a:solidFill>
                <a:latin typeface="Arial" pitchFamily="34" charset="0"/>
                <a:ea typeface="Arial" pitchFamily="34" charset="-122"/>
                <a:cs typeface="Arial" pitchFamily="34" charset="-120"/>
              </a:rPr>
              <a:t>V</a:t>
            </a:r>
            <a:r>
              <a:rPr lang="en-US" sz="1800" b="1" dirty="0" baseline="-25000">
                <a:solidFill>
                  <a:srgbClr val="E0702B"/>
                </a:solidFill>
                <a:latin typeface="Arial" pitchFamily="34" charset="0"/>
                <a:ea typeface="Arial" pitchFamily="34" charset="-122"/>
                <a:cs typeface="Arial" pitchFamily="34" charset="-120"/>
              </a:rPr>
              <a:t>stall</a:t>
            </a:r>
            <a:r>
              <a:rPr lang="en-US" sz="1800" b="1" dirty="0">
                <a:solidFill>
                  <a:srgbClr val="E0702B"/>
                </a:solidFill>
                <a:latin typeface="Arial" pitchFamily="34" charset="0"/>
                <a:ea typeface="Arial" pitchFamily="34" charset="-122"/>
                <a:cs typeface="Arial" pitchFamily="34" charset="-120"/>
              </a:rPr>
              <a:t> = √(2W / ρS</a:t>
            </a:r>
            <a:r>
              <a:rPr lang="en-US" sz="1800" b="1" dirty="0">
                <a:solidFill>
                  <a:srgbClr val="E0702B"/>
                </a:solidFill>
                <a:latin typeface="Arial" pitchFamily="34" charset="0"/>
                <a:ea typeface="Arial" pitchFamily="34" charset="-122"/>
                <a:cs typeface="Arial" pitchFamily="34" charset="-120"/>
              </a:rPr>
              <a:t>C</a:t>
            </a:r>
            <a:r>
              <a:rPr lang="en-US" sz="1800" b="1" dirty="0" baseline="-25000">
                <a:solidFill>
                  <a:srgbClr val="E0702B"/>
                </a:solidFill>
                <a:latin typeface="Arial" pitchFamily="34" charset="0"/>
                <a:ea typeface="Arial" pitchFamily="34" charset="-122"/>
                <a:cs typeface="Arial" pitchFamily="34" charset="-120"/>
              </a:rPr>
              <a:t>Lmax</a:t>
            </a:r>
            <a:r>
              <a:rPr lang="en-US" sz="1800" b="1" dirty="0">
                <a:solidFill>
                  <a:srgbClr val="E0702B"/>
                </a:solidFill>
                <a:latin typeface="Arial" pitchFamily="34" charset="0"/>
                <a:ea typeface="Arial" pitchFamily="34" charset="-122"/>
                <a:cs typeface="Arial" pitchFamily="34" charset="-120"/>
              </a:rPr>
              <a:t>)</a:t>
            </a:r>
            <a:endParaRPr lang="en-US" sz="1800" dirty="0"/>
          </a:p>
        </p:txBody>
      </p:sp>
      <p:sp>
        <p:nvSpPr>
          <p:cNvPr id="31" name="Text 29"/>
          <p:cNvSpPr/>
          <p:nvPr/>
        </p:nvSpPr>
        <p:spPr>
          <a:xfrm>
            <a:off x="475488" y="3941064"/>
            <a:ext cx="1956816" cy="429768"/>
          </a:xfrm>
          <a:prstGeom prst="rect">
            <a:avLst/>
          </a:prstGeom>
          <a:noFill/>
          <a:ln/>
        </p:spPr>
        <p:txBody>
          <a:bodyPr wrap="square" lIns="0" tIns="0" rIns="0" bIns="0" rtlCol="0" anchor="t">
            <a:normAutofit/>
          </a:bodyPr>
          <a:lstStyle/>
          <a:p>
            <a:pPr indent="0" marL="0">
              <a:buNone/>
            </a:pPr>
            <a:r>
              <a:rPr lang="en-US" sz="930" dirty="0">
                <a:solidFill>
                  <a:srgbClr val="1A2342"/>
                </a:solidFill>
                <a:latin typeface="Arial" pitchFamily="34" charset="0"/>
                <a:ea typeface="Arial" pitchFamily="34" charset="-122"/>
                <a:cs typeface="Arial" pitchFamily="34" charset="-120"/>
              </a:rPr>
              <a:t>W is weight and </a:t>
            </a:r>
            <a:r>
              <a:rPr lang="en-US" sz="930" dirty="0">
                <a:solidFill>
                  <a:srgbClr val="1A2342"/>
                </a:solidFill>
                <a:latin typeface="Arial" pitchFamily="34" charset="0"/>
                <a:ea typeface="Arial" pitchFamily="34" charset="-122"/>
                <a:cs typeface="Arial" pitchFamily="34" charset="-120"/>
              </a:rPr>
              <a:t>C</a:t>
            </a:r>
            <a:r>
              <a:rPr lang="en-US" sz="930" dirty="0" baseline="-25000">
                <a:solidFill>
                  <a:srgbClr val="1A2342"/>
                </a:solidFill>
                <a:latin typeface="Arial" pitchFamily="34" charset="0"/>
                <a:ea typeface="Arial" pitchFamily="34" charset="-122"/>
                <a:cs typeface="Arial" pitchFamily="34" charset="-120"/>
              </a:rPr>
              <a:t>Lmax</a:t>
            </a:r>
            <a:r>
              <a:rPr lang="en-US" sz="930" dirty="0">
                <a:solidFill>
                  <a:srgbClr val="1A2342"/>
                </a:solidFill>
                <a:latin typeface="Arial" pitchFamily="34" charset="0"/>
                <a:ea typeface="Arial" pitchFamily="34" charset="-122"/>
                <a:cs typeface="Arial" pitchFamily="34" charset="-120"/>
              </a:rPr>
              <a:t> is the largest lift coefficient before stall.</a:t>
            </a:r>
            <a:endParaRPr lang="en-US" sz="930" dirty="0"/>
          </a:p>
        </p:txBody>
      </p:sp>
      <p:sp>
        <p:nvSpPr>
          <p:cNvPr id="32" name="Text 30"/>
          <p:cNvSpPr/>
          <p:nvPr/>
        </p:nvSpPr>
        <p:spPr>
          <a:xfrm>
            <a:off x="475488" y="4572000"/>
            <a:ext cx="1956816" cy="182880"/>
          </a:xfrm>
          <a:prstGeom prst="rect">
            <a:avLst/>
          </a:prstGeom>
          <a:noFill/>
          <a:ln/>
        </p:spPr>
        <p:txBody>
          <a:bodyPr wrap="square" lIns="0" tIns="0" rIns="0" bIns="0" rtlCol="0" anchor="t">
            <a:normAutofit/>
          </a:bodyPr>
          <a:lstStyle/>
          <a:p>
            <a:pPr indent="0" marL="0">
              <a:buNone/>
            </a:pPr>
            <a:r>
              <a:rPr lang="en-US" sz="810" b="1" dirty="0">
                <a:solidFill>
                  <a:srgbClr val="111A42"/>
                </a:solidFill>
                <a:latin typeface="Arial" pitchFamily="34" charset="0"/>
                <a:ea typeface="Arial" pitchFamily="34" charset="-122"/>
                <a:cs typeface="Arial" pitchFamily="34" charset="-120"/>
              </a:rPr>
              <a:t>Lighter + larger wing + higher </a:t>
            </a:r>
            <a:r>
              <a:rPr lang="en-US" sz="810" b="1" dirty="0">
                <a:solidFill>
                  <a:srgbClr val="111A42"/>
                </a:solidFill>
                <a:latin typeface="Arial" pitchFamily="34" charset="0"/>
                <a:ea typeface="Arial" pitchFamily="34" charset="-122"/>
                <a:cs typeface="Arial" pitchFamily="34" charset="-120"/>
              </a:rPr>
              <a:t>C</a:t>
            </a:r>
            <a:r>
              <a:rPr lang="en-US" sz="810" b="1" dirty="0" baseline="-25000">
                <a:solidFill>
                  <a:srgbClr val="111A42"/>
                </a:solidFill>
                <a:latin typeface="Arial" pitchFamily="34" charset="0"/>
                <a:ea typeface="Arial" pitchFamily="34" charset="-122"/>
                <a:cs typeface="Arial" pitchFamily="34" charset="-120"/>
              </a:rPr>
              <a:t>Lmax</a:t>
            </a:r>
            <a:r>
              <a:rPr lang="en-US" sz="810" b="1" dirty="0">
                <a:solidFill>
                  <a:srgbClr val="111A42"/>
                </a:solidFill>
                <a:latin typeface="Arial" pitchFamily="34" charset="0"/>
                <a:ea typeface="Arial" pitchFamily="34" charset="-122"/>
                <a:cs typeface="Arial" pitchFamily="34" charset="-120"/>
              </a:rPr>
              <a:t> = slower stall.</a:t>
            </a:r>
            <a:endParaRPr lang="en-US" sz="810" dirty="0"/>
          </a:p>
        </p:txBody>
      </p:sp>
      <p:sp>
        <p:nvSpPr>
          <p:cNvPr id="33" name="Shape 31"/>
          <p:cNvSpPr/>
          <p:nvPr/>
        </p:nvSpPr>
        <p:spPr>
          <a:xfrm>
            <a:off x="2761488" y="3264408"/>
            <a:ext cx="2231136" cy="1600200"/>
          </a:xfrm>
          <a:prstGeom prst="roundRect">
            <a:avLst>
              <a:gd name="adj" fmla="val 5714"/>
            </a:avLst>
          </a:prstGeom>
          <a:solidFill>
            <a:srgbClr val="FFFFFF"/>
          </a:solidFill>
          <a:ln w="10160">
            <a:solidFill>
              <a:srgbClr val="DDE2EC"/>
            </a:solidFill>
            <a:prstDash val="solid"/>
          </a:ln>
        </p:spPr>
        <p:txBody>
          <a:bodyPr/>
          <a:p/>
        </p:txBody>
      </p:sp>
      <p:sp>
        <p:nvSpPr>
          <p:cNvPr id="34" name="Shape 32"/>
          <p:cNvSpPr/>
          <p:nvPr/>
        </p:nvSpPr>
        <p:spPr>
          <a:xfrm>
            <a:off x="2761488" y="3264408"/>
            <a:ext cx="54864" cy="1600200"/>
          </a:xfrm>
          <a:prstGeom prst="rect">
            <a:avLst/>
          </a:prstGeom>
          <a:solidFill>
            <a:srgbClr val="138C8C"/>
          </a:solidFill>
          <a:ln w="12700">
            <a:solidFill>
              <a:srgbClr val="138C8C"/>
            </a:solidFill>
            <a:prstDash val="solid"/>
          </a:ln>
        </p:spPr>
        <p:txBody>
          <a:bodyPr/>
          <a:p/>
        </p:txBody>
      </p:sp>
      <p:sp>
        <p:nvSpPr>
          <p:cNvPr id="35" name="Text 33"/>
          <p:cNvSpPr/>
          <p:nvPr/>
        </p:nvSpPr>
        <p:spPr>
          <a:xfrm>
            <a:off x="2907792" y="3374136"/>
            <a:ext cx="1956816" cy="164592"/>
          </a:xfrm>
          <a:prstGeom prst="rect">
            <a:avLst/>
          </a:prstGeom>
          <a:noFill/>
          <a:ln/>
        </p:spPr>
        <p:txBody>
          <a:bodyPr wrap="square" lIns="0" tIns="0" rIns="0" bIns="0" rtlCol="0" anchor="ctr">
            <a:normAutofit/>
          </a:bodyPr>
          <a:lstStyle/>
          <a:p>
            <a:pPr indent="0" marL="0">
              <a:buNone/>
            </a:pPr>
            <a:r>
              <a:rPr lang="en-US" sz="830" b="1" spc="45" kern="0" dirty="0">
                <a:solidFill>
                  <a:srgbClr val="59627A"/>
                </a:solidFill>
                <a:latin typeface="Arial" pitchFamily="34" charset="0"/>
                <a:ea typeface="Arial" pitchFamily="34" charset="-122"/>
                <a:cs typeface="Arial" pitchFamily="34" charset="-120"/>
              </a:rPr>
              <a:t>REYNOLDS NUMBER</a:t>
            </a:r>
            <a:endParaRPr lang="en-US" sz="830" dirty="0"/>
          </a:p>
        </p:txBody>
      </p:sp>
      <p:sp>
        <p:nvSpPr>
          <p:cNvPr id="36" name="Text 34"/>
          <p:cNvSpPr/>
          <p:nvPr/>
        </p:nvSpPr>
        <p:spPr>
          <a:xfrm>
            <a:off x="2907792" y="3575304"/>
            <a:ext cx="1956816" cy="320040"/>
          </a:xfrm>
          <a:prstGeom prst="rect">
            <a:avLst/>
          </a:prstGeom>
          <a:noFill/>
          <a:ln/>
        </p:spPr>
        <p:txBody>
          <a:bodyPr wrap="square" lIns="0" tIns="0" rIns="0" bIns="0" rtlCol="0" anchor="ctr">
            <a:normAutofit/>
          </a:bodyPr>
          <a:lstStyle/>
          <a:p>
            <a:pPr algn="ctr" indent="0" marL="0">
              <a:buNone/>
            </a:pPr>
            <a:r>
              <a:rPr lang="en-US" sz="1800" b="1" dirty="0">
                <a:solidFill>
                  <a:srgbClr val="138C8C"/>
                </a:solidFill>
                <a:latin typeface="Arial" pitchFamily="34" charset="0"/>
                <a:ea typeface="Arial" pitchFamily="34" charset="-122"/>
                <a:cs typeface="Arial" pitchFamily="34" charset="-120"/>
              </a:rPr>
              <a:t>Re = ρ V c / μ</a:t>
            </a:r>
            <a:endParaRPr lang="en-US" sz="1800" dirty="0"/>
          </a:p>
        </p:txBody>
      </p:sp>
      <p:sp>
        <p:nvSpPr>
          <p:cNvPr id="37" name="Text 35"/>
          <p:cNvSpPr/>
          <p:nvPr/>
        </p:nvSpPr>
        <p:spPr>
          <a:xfrm>
            <a:off x="2907792" y="3941064"/>
            <a:ext cx="1956816" cy="429768"/>
          </a:xfrm>
          <a:prstGeom prst="rect">
            <a:avLst/>
          </a:prstGeom>
          <a:noFill/>
          <a:ln/>
        </p:spPr>
        <p:txBody>
          <a:bodyPr wrap="square" lIns="0" tIns="0" rIns="0" bIns="0" rtlCol="0" anchor="t">
            <a:normAutofit/>
          </a:bodyPr>
          <a:lstStyle/>
          <a:p>
            <a:pPr indent="0" marL="0">
              <a:buNone/>
            </a:pPr>
            <a:r>
              <a:rPr lang="en-US" sz="930" dirty="0">
                <a:solidFill>
                  <a:srgbClr val="1A2342"/>
                </a:solidFill>
                <a:latin typeface="Arial" pitchFamily="34" charset="0"/>
                <a:ea typeface="Arial" pitchFamily="34" charset="-122"/>
                <a:cs typeface="Arial" pitchFamily="34" charset="-120"/>
              </a:rPr>
              <a:t>c is chord and μ is air viscosity. Re tells you how “sticky” the airflow acts.</a:t>
            </a:r>
            <a:endParaRPr lang="en-US" sz="930" dirty="0"/>
          </a:p>
        </p:txBody>
      </p:sp>
      <p:sp>
        <p:nvSpPr>
          <p:cNvPr id="38" name="Text 36"/>
          <p:cNvSpPr/>
          <p:nvPr/>
        </p:nvSpPr>
        <p:spPr>
          <a:xfrm>
            <a:off x="2907792" y="4572000"/>
            <a:ext cx="1956816" cy="182880"/>
          </a:xfrm>
          <a:prstGeom prst="rect">
            <a:avLst/>
          </a:prstGeom>
          <a:noFill/>
          <a:ln/>
        </p:spPr>
        <p:txBody>
          <a:bodyPr wrap="square" lIns="0" tIns="0" rIns="0" bIns="0" rtlCol="0" anchor="t">
            <a:normAutofit/>
          </a:bodyPr>
          <a:lstStyle/>
          <a:p>
            <a:pPr indent="0" marL="0">
              <a:buNone/>
            </a:pPr>
            <a:r>
              <a:rPr lang="en-US" sz="810" b="1" dirty="0">
                <a:solidFill>
                  <a:srgbClr val="111A42"/>
                </a:solidFill>
                <a:latin typeface="Arial" pitchFamily="34" charset="0"/>
                <a:ea typeface="Arial" pitchFamily="34" charset="-122"/>
                <a:cs typeface="Arial" pitchFamily="34" charset="-120"/>
              </a:rPr>
              <a:t>Small, slow R/C wings usually have low Re.</a:t>
            </a:r>
            <a:endParaRPr lang="en-US" sz="810" dirty="0"/>
          </a:p>
        </p:txBody>
      </p:sp>
      <p:sp>
        <p:nvSpPr>
          <p:cNvPr id="39" name="Shape 37"/>
          <p:cNvSpPr/>
          <p:nvPr/>
        </p:nvSpPr>
        <p:spPr>
          <a:xfrm>
            <a:off x="5193792" y="3264408"/>
            <a:ext cx="2231136" cy="1600200"/>
          </a:xfrm>
          <a:prstGeom prst="roundRect">
            <a:avLst>
              <a:gd name="adj" fmla="val 5714"/>
            </a:avLst>
          </a:prstGeom>
          <a:solidFill>
            <a:srgbClr val="FFFFFF"/>
          </a:solidFill>
          <a:ln w="10160">
            <a:solidFill>
              <a:srgbClr val="DDE2EC"/>
            </a:solidFill>
            <a:prstDash val="solid"/>
          </a:ln>
        </p:spPr>
        <p:txBody>
          <a:bodyPr/>
          <a:p/>
        </p:txBody>
      </p:sp>
      <p:sp>
        <p:nvSpPr>
          <p:cNvPr id="40" name="Shape 38"/>
          <p:cNvSpPr/>
          <p:nvPr/>
        </p:nvSpPr>
        <p:spPr>
          <a:xfrm>
            <a:off x="5193792" y="3264408"/>
            <a:ext cx="54864" cy="1600200"/>
          </a:xfrm>
          <a:prstGeom prst="rect">
            <a:avLst/>
          </a:prstGeom>
          <a:solidFill>
            <a:srgbClr val="A23DB6"/>
          </a:solidFill>
          <a:ln w="12700">
            <a:solidFill>
              <a:srgbClr val="A23DB6"/>
            </a:solidFill>
            <a:prstDash val="solid"/>
          </a:ln>
        </p:spPr>
        <p:txBody>
          <a:bodyPr/>
          <a:p/>
        </p:txBody>
      </p:sp>
      <p:sp>
        <p:nvSpPr>
          <p:cNvPr id="41" name="Text 39"/>
          <p:cNvSpPr/>
          <p:nvPr/>
        </p:nvSpPr>
        <p:spPr>
          <a:xfrm>
            <a:off x="5340096" y="3374136"/>
            <a:ext cx="1956816" cy="164592"/>
          </a:xfrm>
          <a:prstGeom prst="rect">
            <a:avLst/>
          </a:prstGeom>
          <a:noFill/>
          <a:ln/>
        </p:spPr>
        <p:txBody>
          <a:bodyPr wrap="square" lIns="0" tIns="0" rIns="0" bIns="0" rtlCol="0" anchor="ctr">
            <a:normAutofit/>
          </a:bodyPr>
          <a:lstStyle/>
          <a:p>
            <a:pPr indent="0" marL="0">
              <a:buNone/>
            </a:pPr>
            <a:r>
              <a:rPr lang="en-US" sz="830" b="1" spc="45" kern="0" dirty="0">
                <a:solidFill>
                  <a:srgbClr val="59627A"/>
                </a:solidFill>
                <a:latin typeface="Arial" pitchFamily="34" charset="0"/>
                <a:ea typeface="Arial" pitchFamily="34" charset="-122"/>
                <a:cs typeface="Arial" pitchFamily="34" charset="-120"/>
              </a:rPr>
              <a:t>WING GEOMETRY</a:t>
            </a:r>
            <a:endParaRPr lang="en-US" sz="830" dirty="0"/>
          </a:p>
        </p:txBody>
      </p:sp>
      <p:sp>
        <p:nvSpPr>
          <p:cNvPr id="42" name="Text 40"/>
          <p:cNvSpPr/>
          <p:nvPr/>
        </p:nvSpPr>
        <p:spPr>
          <a:xfrm>
            <a:off x="5340096" y="3575304"/>
            <a:ext cx="1956816" cy="320040"/>
          </a:xfrm>
          <a:prstGeom prst="rect">
            <a:avLst/>
          </a:prstGeom>
          <a:noFill/>
          <a:ln/>
        </p:spPr>
        <p:txBody>
          <a:bodyPr wrap="square" lIns="0" tIns="0" rIns="0" bIns="0" rtlCol="0" anchor="ctr">
            <a:normAutofit/>
          </a:bodyPr>
          <a:lstStyle/>
          <a:p>
            <a:pPr algn="ctr" indent="0" marL="0">
              <a:buNone/>
            </a:pPr>
            <a:r>
              <a:rPr lang="en-US" sz="1800" b="1" dirty="0">
                <a:solidFill>
                  <a:srgbClr val="A23DB6"/>
                </a:solidFill>
                <a:latin typeface="Arial" pitchFamily="34" charset="0"/>
                <a:ea typeface="Arial" pitchFamily="34" charset="-122"/>
                <a:cs typeface="Arial" pitchFamily="34" charset="-120"/>
              </a:rPr>
              <a:t>AR = b² / S   and   W/S</a:t>
            </a:r>
            <a:endParaRPr lang="en-US" sz="1800" dirty="0"/>
          </a:p>
        </p:txBody>
      </p:sp>
      <p:sp>
        <p:nvSpPr>
          <p:cNvPr id="43" name="Text 41"/>
          <p:cNvSpPr/>
          <p:nvPr/>
        </p:nvSpPr>
        <p:spPr>
          <a:xfrm>
            <a:off x="5340096" y="3941064"/>
            <a:ext cx="1956816" cy="429768"/>
          </a:xfrm>
          <a:prstGeom prst="rect">
            <a:avLst/>
          </a:prstGeom>
          <a:noFill/>
          <a:ln/>
        </p:spPr>
        <p:txBody>
          <a:bodyPr wrap="square" lIns="0" tIns="0" rIns="0" bIns="0" rtlCol="0" anchor="t">
            <a:normAutofit/>
          </a:bodyPr>
          <a:lstStyle/>
          <a:p>
            <a:pPr indent="0" marL="0">
              <a:buNone/>
            </a:pPr>
            <a:r>
              <a:rPr lang="en-US" sz="930" dirty="0">
                <a:solidFill>
                  <a:srgbClr val="1A2342"/>
                </a:solidFill>
                <a:latin typeface="Arial" pitchFamily="34" charset="0"/>
                <a:ea typeface="Arial" pitchFamily="34" charset="-122"/>
                <a:cs typeface="Arial" pitchFamily="34" charset="-120"/>
              </a:rPr>
              <a:t>AR is aspect ratio; b is span. W/S is wing loading.</a:t>
            </a:r>
            <a:endParaRPr lang="en-US" sz="930" dirty="0"/>
          </a:p>
        </p:txBody>
      </p:sp>
      <p:sp>
        <p:nvSpPr>
          <p:cNvPr id="44" name="Text 42"/>
          <p:cNvSpPr/>
          <p:nvPr/>
        </p:nvSpPr>
        <p:spPr>
          <a:xfrm>
            <a:off x="5340096" y="4572000"/>
            <a:ext cx="1956816" cy="182880"/>
          </a:xfrm>
          <a:prstGeom prst="rect">
            <a:avLst/>
          </a:prstGeom>
          <a:noFill/>
          <a:ln/>
        </p:spPr>
        <p:txBody>
          <a:bodyPr wrap="square" lIns="0" tIns="0" rIns="0" bIns="0" rtlCol="0" anchor="t">
            <a:normAutofit/>
          </a:bodyPr>
          <a:lstStyle/>
          <a:p>
            <a:pPr indent="0" marL="0">
              <a:buNone/>
            </a:pPr>
            <a:r>
              <a:rPr lang="en-US" sz="810" b="1" dirty="0">
                <a:solidFill>
                  <a:srgbClr val="111A42"/>
                </a:solidFill>
                <a:latin typeface="Arial" pitchFamily="34" charset="0"/>
                <a:ea typeface="Arial" pitchFamily="34" charset="-122"/>
                <a:cs typeface="Arial" pitchFamily="34" charset="-120"/>
              </a:rPr>
              <a:t>Long wings reduce induced drag; low wing loading helps slow flight.</a:t>
            </a:r>
            <a:endParaRPr lang="en-US" sz="810" dirty="0"/>
          </a:p>
        </p:txBody>
      </p:sp>
      <p:sp>
        <p:nvSpPr>
          <p:cNvPr id="45" name="Shape 43"/>
          <p:cNvSpPr/>
          <p:nvPr/>
        </p:nvSpPr>
        <p:spPr>
          <a:xfrm>
            <a:off x="329184" y="5047488"/>
            <a:ext cx="7095744" cy="3749040"/>
          </a:xfrm>
          <a:prstGeom prst="roundRect">
            <a:avLst>
              <a:gd name="adj" fmla="val 2439"/>
            </a:avLst>
          </a:prstGeom>
          <a:solidFill>
            <a:srgbClr val="FFFFFF"/>
          </a:solidFill>
          <a:ln w="10160">
            <a:solidFill>
              <a:srgbClr val="DDE2EC"/>
            </a:solidFill>
            <a:prstDash val="solid"/>
          </a:ln>
        </p:spPr>
        <p:txBody>
          <a:bodyPr/>
          <a:p/>
        </p:txBody>
      </p:sp>
      <p:sp>
        <p:nvSpPr>
          <p:cNvPr id="46" name="Shape 44"/>
          <p:cNvSpPr/>
          <p:nvPr/>
        </p:nvSpPr>
        <p:spPr>
          <a:xfrm>
            <a:off x="512064" y="5221224"/>
            <a:ext cx="45720" cy="173736"/>
          </a:xfrm>
          <a:prstGeom prst="rect">
            <a:avLst/>
          </a:prstGeom>
          <a:solidFill>
            <a:srgbClr val="E5A81A"/>
          </a:solidFill>
          <a:ln w="12700">
            <a:solidFill>
              <a:srgbClr val="E5A81A">
                <a:alpha val="0"/>
              </a:srgbClr>
            </a:solidFill>
            <a:prstDash val="solid"/>
          </a:ln>
        </p:spPr>
        <p:txBody>
          <a:bodyPr/>
          <a:p/>
        </p:txBody>
      </p:sp>
      <p:sp>
        <p:nvSpPr>
          <p:cNvPr id="47" name="Text 45"/>
          <p:cNvSpPr/>
          <p:nvPr/>
        </p:nvSpPr>
        <p:spPr>
          <a:xfrm>
            <a:off x="621792" y="5193792"/>
            <a:ext cx="6473952" cy="228600"/>
          </a:xfrm>
          <a:prstGeom prst="rect">
            <a:avLst/>
          </a:prstGeom>
          <a:noFill/>
          <a:ln/>
        </p:spPr>
        <p:txBody>
          <a:bodyPr wrap="square" lIns="0" tIns="0" rIns="0" bIns="0" rtlCol="0" anchor="ctr">
            <a:normAutofit/>
          </a:bodyPr>
          <a:lstStyle/>
          <a:p>
            <a:pPr indent="0" marL="0">
              <a:buNone/>
            </a:pPr>
            <a:r>
              <a:rPr lang="en-US" sz="950" b="1" spc="70" kern="0" dirty="0">
                <a:solidFill>
                  <a:srgbClr val="111A42"/>
                </a:solidFill>
                <a:latin typeface="Arial" pitchFamily="34" charset="0"/>
                <a:ea typeface="Arial" pitchFamily="34" charset="-122"/>
                <a:cs typeface="Arial" pitchFamily="34" charset="-120"/>
              </a:rPr>
              <a:t>WORKED EXAMPLE: A 1.5 KG SPORT MODEL</a:t>
            </a:r>
            <a:endParaRPr lang="en-US" sz="950" dirty="0"/>
          </a:p>
        </p:txBody>
      </p:sp>
      <p:sp>
        <p:nvSpPr>
          <p:cNvPr id="48" name="Text 46"/>
          <p:cNvSpPr/>
          <p:nvPr/>
        </p:nvSpPr>
        <p:spPr>
          <a:xfrm>
            <a:off x="512064" y="5486400"/>
            <a:ext cx="6583680" cy="402336"/>
          </a:xfrm>
          <a:prstGeom prst="rect">
            <a:avLst/>
          </a:prstGeom>
          <a:noFill/>
          <a:ln/>
        </p:spPr>
        <p:txBody>
          <a:bodyPr wrap="square" lIns="0" tIns="0" rIns="0" bIns="0" rtlCol="0" anchor="t">
            <a:normAutofit/>
          </a:bodyPr>
          <a:lstStyle/>
          <a:p>
            <a:pPr indent="0" marL="0">
              <a:buNone/>
            </a:pPr>
            <a:r>
              <a:rPr lang="en-US" sz="970" dirty="0">
                <a:solidFill>
                  <a:srgbClr val="1A2342"/>
                </a:solidFill>
                <a:latin typeface="Arial" pitchFamily="34" charset="0"/>
                <a:ea typeface="Arial" pitchFamily="34" charset="-122"/>
                <a:cs typeface="Arial" pitchFamily="34" charset="-120"/>
              </a:rPr>
              <a:t>Given: wing area S = 0.35 m², average chord c = 0.25 m, span b = 1.40 m, speed V = 12 m/s, </a:t>
            </a:r>
            <a:r>
              <a:rPr lang="en-US" sz="970" dirty="0">
                <a:solidFill>
                  <a:srgbClr val="1A2342"/>
                </a:solidFill>
                <a:latin typeface="Arial" pitchFamily="34" charset="0"/>
                <a:ea typeface="Arial" pitchFamily="34" charset="-122"/>
                <a:cs typeface="Arial" pitchFamily="34" charset="-120"/>
              </a:rPr>
              <a:t>C</a:t>
            </a:r>
            <a:r>
              <a:rPr lang="en-US" sz="970" dirty="0" baseline="-25000">
                <a:solidFill>
                  <a:srgbClr val="1A2342"/>
                </a:solidFill>
                <a:latin typeface="Arial" pitchFamily="34" charset="0"/>
                <a:ea typeface="Arial" pitchFamily="34" charset="-122"/>
                <a:cs typeface="Arial" pitchFamily="34" charset="-120"/>
              </a:rPr>
              <a:t>L</a:t>
            </a:r>
            <a:r>
              <a:rPr lang="en-US" sz="970" dirty="0">
                <a:solidFill>
                  <a:srgbClr val="1A2342"/>
                </a:solidFill>
                <a:latin typeface="Arial" pitchFamily="34" charset="0"/>
                <a:ea typeface="Arial" pitchFamily="34" charset="-122"/>
                <a:cs typeface="Arial" pitchFamily="34" charset="-120"/>
              </a:rPr>
              <a:t> = 0.60, </a:t>
            </a:r>
            <a:r>
              <a:rPr lang="en-US" sz="970" dirty="0">
                <a:solidFill>
                  <a:srgbClr val="1A2342"/>
                </a:solidFill>
                <a:latin typeface="Arial" pitchFamily="34" charset="0"/>
                <a:ea typeface="Arial" pitchFamily="34" charset="-122"/>
                <a:cs typeface="Arial" pitchFamily="34" charset="-120"/>
              </a:rPr>
              <a:t>C</a:t>
            </a:r>
            <a:r>
              <a:rPr lang="en-US" sz="970" dirty="0" baseline="-25000">
                <a:solidFill>
                  <a:srgbClr val="1A2342"/>
                </a:solidFill>
                <a:latin typeface="Arial" pitchFamily="34" charset="0"/>
                <a:ea typeface="Arial" pitchFamily="34" charset="-122"/>
                <a:cs typeface="Arial" pitchFamily="34" charset="-120"/>
              </a:rPr>
              <a:t>Lmax</a:t>
            </a:r>
            <a:r>
              <a:rPr lang="en-US" sz="970" dirty="0">
                <a:solidFill>
                  <a:srgbClr val="1A2342"/>
                </a:solidFill>
                <a:latin typeface="Arial" pitchFamily="34" charset="0"/>
                <a:ea typeface="Arial" pitchFamily="34" charset="-122"/>
                <a:cs typeface="Arial" pitchFamily="34" charset="-120"/>
              </a:rPr>
              <a:t> = 1.20. Use ρ = 1.225 kg/m³ and μ = 1.81 × 10⁻⁵ Pa·s.</a:t>
            </a:r>
            <a:endParaRPr lang="en-US" sz="970" dirty="0"/>
          </a:p>
        </p:txBody>
      </p:sp>
      <p:sp>
        <p:nvSpPr>
          <p:cNvPr id="49" name="Shape 47"/>
          <p:cNvSpPr/>
          <p:nvPr/>
        </p:nvSpPr>
        <p:spPr>
          <a:xfrm>
            <a:off x="1426464" y="6144768"/>
            <a:ext cx="310896" cy="1645920"/>
          </a:xfrm>
          <a:prstGeom prst="ellipse">
            <a:avLst/>
          </a:prstGeom>
          <a:solidFill>
            <a:srgbClr val="DDE5F4"/>
          </a:solidFill>
          <a:ln w="15240">
            <a:solidFill>
              <a:srgbClr val="111A42"/>
            </a:solidFill>
            <a:prstDash val="solid"/>
          </a:ln>
        </p:spPr>
        <p:txBody>
          <a:bodyPr/>
          <a:p/>
        </p:txBody>
      </p:sp>
      <p:sp>
        <p:nvSpPr>
          <p:cNvPr id="50" name="Shape 48"/>
          <p:cNvSpPr/>
          <p:nvPr/>
        </p:nvSpPr>
        <p:spPr>
          <a:xfrm rot="10800000">
            <a:off x="713232" y="6656832"/>
            <a:ext cx="1755648" cy="502920"/>
          </a:xfrm>
          <a:prstGeom prst="trapezoid">
            <a:avLst/>
          </a:prstGeom>
          <a:solidFill>
            <a:srgbClr val="BFD1F0"/>
          </a:solidFill>
          <a:ln w="15240">
            <a:solidFill>
              <a:srgbClr val="111A42"/>
            </a:solidFill>
            <a:prstDash val="solid"/>
          </a:ln>
        </p:spPr>
        <p:txBody>
          <a:bodyPr/>
          <a:p/>
        </p:txBody>
      </p:sp>
      <p:sp>
        <p:nvSpPr>
          <p:cNvPr id="51" name="Shape 49"/>
          <p:cNvSpPr/>
          <p:nvPr/>
        </p:nvSpPr>
        <p:spPr>
          <a:xfrm rot="10800000">
            <a:off x="1243584" y="7507224"/>
            <a:ext cx="676656" cy="256032"/>
          </a:xfrm>
          <a:prstGeom prst="trapezoid">
            <a:avLst/>
          </a:prstGeom>
          <a:solidFill>
            <a:srgbClr val="BFD1F0"/>
          </a:solidFill>
          <a:ln w="12700">
            <a:solidFill>
              <a:srgbClr val="111A42"/>
            </a:solidFill>
            <a:prstDash val="solid"/>
          </a:ln>
        </p:spPr>
        <p:txBody>
          <a:bodyPr/>
          <a:p/>
        </p:txBody>
      </p:sp>
      <p:sp>
        <p:nvSpPr>
          <p:cNvPr id="52" name="Shape 50"/>
          <p:cNvSpPr/>
          <p:nvPr/>
        </p:nvSpPr>
        <p:spPr>
          <a:xfrm>
            <a:off x="713232" y="6510528"/>
            <a:ext cx="1755648" cy="0"/>
          </a:xfrm>
          <a:prstGeom prst="line">
            <a:avLst/>
          </a:prstGeom>
          <a:noFill/>
          <a:ln w="25400">
            <a:solidFill>
              <a:srgbClr val="E5A81A"/>
            </a:solidFill>
            <a:prstDash val="solid"/>
            <a:headEnd type="triangle"/>
            <a:tailEnd type="triangle"/>
          </a:ln>
        </p:spPr>
        <p:txBody>
          <a:bodyPr/>
          <a:p/>
        </p:txBody>
      </p:sp>
      <p:sp>
        <p:nvSpPr>
          <p:cNvPr id="53" name="Text 51"/>
          <p:cNvSpPr/>
          <p:nvPr/>
        </p:nvSpPr>
        <p:spPr>
          <a:xfrm>
            <a:off x="1143000" y="6291072"/>
            <a:ext cx="914400" cy="164592"/>
          </a:xfrm>
          <a:prstGeom prst="rect">
            <a:avLst/>
          </a:prstGeom>
          <a:noFill/>
          <a:ln/>
        </p:spPr>
        <p:txBody>
          <a:bodyPr wrap="square" lIns="0" tIns="0" rIns="0" bIns="0" rtlCol="0" anchor="ctr">
            <a:normAutofit/>
          </a:bodyPr>
          <a:lstStyle/>
          <a:p>
            <a:pPr algn="ctr" indent="0" marL="0">
              <a:buNone/>
            </a:pPr>
            <a:r>
              <a:rPr lang="en-US" sz="850" b="1" dirty="0">
                <a:solidFill>
                  <a:srgbClr val="E5A81A"/>
                </a:solidFill>
                <a:latin typeface="Arial" pitchFamily="34" charset="0"/>
                <a:ea typeface="Arial" pitchFamily="34" charset="-122"/>
                <a:cs typeface="Arial" pitchFamily="34" charset="-120"/>
              </a:rPr>
              <a:t>b = 1.40 m</a:t>
            </a:r>
            <a:endParaRPr lang="en-US" sz="850" dirty="0"/>
          </a:p>
        </p:txBody>
      </p:sp>
      <p:sp>
        <p:nvSpPr>
          <p:cNvPr id="54" name="Text 52"/>
          <p:cNvSpPr/>
          <p:nvPr/>
        </p:nvSpPr>
        <p:spPr>
          <a:xfrm>
            <a:off x="1051560" y="7845552"/>
            <a:ext cx="1097280" cy="182880"/>
          </a:xfrm>
          <a:prstGeom prst="rect">
            <a:avLst/>
          </a:prstGeom>
          <a:noFill/>
          <a:ln/>
        </p:spPr>
        <p:txBody>
          <a:bodyPr wrap="square" lIns="0" tIns="0" rIns="0" bIns="0" rtlCol="0" anchor="ctr">
            <a:normAutofit/>
          </a:bodyPr>
          <a:lstStyle/>
          <a:p>
            <a:pPr algn="ctr" indent="0" marL="0">
              <a:buNone/>
            </a:pPr>
            <a:r>
              <a:rPr lang="en-US" sz="900" b="1" dirty="0">
                <a:solidFill>
                  <a:srgbClr val="111A42"/>
                </a:solidFill>
                <a:latin typeface="Arial" pitchFamily="34" charset="0"/>
                <a:ea typeface="Arial" pitchFamily="34" charset="-122"/>
                <a:cs typeface="Arial" pitchFamily="34" charset="-120"/>
              </a:rPr>
              <a:t>S = 0.35 m²</a:t>
            </a:r>
            <a:endParaRPr lang="en-US" sz="900" dirty="0"/>
          </a:p>
        </p:txBody>
      </p:sp>
      <p:sp>
        <p:nvSpPr>
          <p:cNvPr id="55" name="Shape 53"/>
          <p:cNvSpPr/>
          <p:nvPr/>
        </p:nvSpPr>
        <p:spPr>
          <a:xfrm>
            <a:off x="2761488" y="6025896"/>
            <a:ext cx="201168" cy="201168"/>
          </a:xfrm>
          <a:prstGeom prst="ellipse">
            <a:avLst/>
          </a:prstGeom>
          <a:solidFill>
            <a:srgbClr val="E5A81A"/>
          </a:solidFill>
          <a:ln w="12700">
            <a:solidFill>
              <a:srgbClr val="E5A81A"/>
            </a:solidFill>
            <a:prstDash val="solid"/>
          </a:ln>
        </p:spPr>
        <p:txBody>
          <a:bodyPr/>
          <a:p/>
        </p:txBody>
      </p:sp>
      <p:sp>
        <p:nvSpPr>
          <p:cNvPr id="56" name="Text 54"/>
          <p:cNvSpPr/>
          <p:nvPr/>
        </p:nvSpPr>
        <p:spPr>
          <a:xfrm>
            <a:off x="3054096" y="6007608"/>
            <a:ext cx="1353312" cy="201168"/>
          </a:xfrm>
          <a:prstGeom prst="rect">
            <a:avLst/>
          </a:prstGeom>
          <a:noFill/>
          <a:ln/>
        </p:spPr>
        <p:txBody>
          <a:bodyPr wrap="square" lIns="0" tIns="0" rIns="0" bIns="0" rtlCol="0" anchor="ctr">
            <a:normAutofit/>
          </a:bodyPr>
          <a:lstStyle/>
          <a:p>
            <a:pPr indent="0" marL="0">
              <a:buNone/>
            </a:pPr>
            <a:r>
              <a:rPr lang="en-US" sz="830" b="1" dirty="0">
                <a:solidFill>
                  <a:srgbClr val="59627A"/>
                </a:solidFill>
                <a:latin typeface="Arial" pitchFamily="34" charset="0"/>
                <a:ea typeface="Arial" pitchFamily="34" charset="-122"/>
                <a:cs typeface="Arial" pitchFamily="34" charset="-120"/>
              </a:rPr>
              <a:t>1. Weight</a:t>
            </a:r>
            <a:endParaRPr lang="en-US" sz="830" dirty="0"/>
          </a:p>
        </p:txBody>
      </p:sp>
      <p:sp>
        <p:nvSpPr>
          <p:cNvPr id="57" name="Text 55"/>
          <p:cNvSpPr/>
          <p:nvPr/>
        </p:nvSpPr>
        <p:spPr>
          <a:xfrm>
            <a:off x="4361688" y="6007608"/>
            <a:ext cx="2788920" cy="201168"/>
          </a:xfrm>
          <a:prstGeom prst="rect">
            <a:avLst/>
          </a:prstGeom>
          <a:noFill/>
          <a:ln/>
        </p:spPr>
        <p:txBody>
          <a:bodyPr wrap="square" lIns="0" tIns="0" rIns="0" bIns="0" rtlCol="0" anchor="ctr">
            <a:normAutofit/>
          </a:bodyPr>
          <a:lstStyle/>
          <a:p>
            <a:pPr indent="0" marL="0">
              <a:buNone/>
            </a:pPr>
            <a:r>
              <a:rPr lang="en-US" sz="980" dirty="0">
                <a:solidFill>
                  <a:srgbClr val="1A2342"/>
                </a:solidFill>
                <a:latin typeface="Arial" pitchFamily="34" charset="0"/>
                <a:ea typeface="Arial" pitchFamily="34" charset="-122"/>
                <a:cs typeface="Arial" pitchFamily="34" charset="-120"/>
              </a:rPr>
              <a:t>W = mg = 1.5 × 9.81 = 14.7 N</a:t>
            </a:r>
            <a:endParaRPr lang="en-US" sz="980" dirty="0"/>
          </a:p>
        </p:txBody>
      </p:sp>
      <p:sp>
        <p:nvSpPr>
          <p:cNvPr id="58" name="Shape 56"/>
          <p:cNvSpPr/>
          <p:nvPr/>
        </p:nvSpPr>
        <p:spPr>
          <a:xfrm>
            <a:off x="2761488" y="6428232"/>
            <a:ext cx="201168" cy="201168"/>
          </a:xfrm>
          <a:prstGeom prst="ellipse">
            <a:avLst/>
          </a:prstGeom>
          <a:solidFill>
            <a:srgbClr val="E5A81A"/>
          </a:solidFill>
          <a:ln w="12700">
            <a:solidFill>
              <a:srgbClr val="E5A81A"/>
            </a:solidFill>
            <a:prstDash val="solid"/>
          </a:ln>
        </p:spPr>
        <p:txBody>
          <a:bodyPr/>
          <a:p/>
        </p:txBody>
      </p:sp>
      <p:sp>
        <p:nvSpPr>
          <p:cNvPr id="59" name="Text 57"/>
          <p:cNvSpPr/>
          <p:nvPr/>
        </p:nvSpPr>
        <p:spPr>
          <a:xfrm>
            <a:off x="3054096" y="6409944"/>
            <a:ext cx="1353312" cy="201168"/>
          </a:xfrm>
          <a:prstGeom prst="rect">
            <a:avLst/>
          </a:prstGeom>
          <a:noFill/>
          <a:ln/>
        </p:spPr>
        <p:txBody>
          <a:bodyPr wrap="square" lIns="0" tIns="0" rIns="0" bIns="0" rtlCol="0" anchor="ctr">
            <a:normAutofit/>
          </a:bodyPr>
          <a:lstStyle/>
          <a:p>
            <a:pPr indent="0" marL="0">
              <a:buNone/>
            </a:pPr>
            <a:r>
              <a:rPr lang="en-US" sz="830" b="1" dirty="0">
                <a:solidFill>
                  <a:srgbClr val="59627A"/>
                </a:solidFill>
                <a:latin typeface="Arial" pitchFamily="34" charset="0"/>
                <a:ea typeface="Arial" pitchFamily="34" charset="-122"/>
                <a:cs typeface="Arial" pitchFamily="34" charset="-120"/>
              </a:rPr>
              <a:t>2. Air push</a:t>
            </a:r>
            <a:endParaRPr lang="en-US" sz="830" dirty="0"/>
          </a:p>
        </p:txBody>
      </p:sp>
      <p:sp>
        <p:nvSpPr>
          <p:cNvPr id="60" name="Text 58"/>
          <p:cNvSpPr/>
          <p:nvPr/>
        </p:nvSpPr>
        <p:spPr>
          <a:xfrm>
            <a:off x="4361688" y="6409944"/>
            <a:ext cx="2788920" cy="201168"/>
          </a:xfrm>
          <a:prstGeom prst="rect">
            <a:avLst/>
          </a:prstGeom>
          <a:noFill/>
          <a:ln/>
        </p:spPr>
        <p:txBody>
          <a:bodyPr wrap="square" lIns="0" tIns="0" rIns="0" bIns="0" rtlCol="0" anchor="ctr">
            <a:normAutofit/>
          </a:bodyPr>
          <a:lstStyle/>
          <a:p>
            <a:pPr indent="0" marL="0">
              <a:buNone/>
            </a:pPr>
            <a:r>
              <a:rPr lang="en-US" sz="980" dirty="0">
                <a:solidFill>
                  <a:srgbClr val="1A2342"/>
                </a:solidFill>
                <a:latin typeface="Arial" pitchFamily="34" charset="0"/>
                <a:ea typeface="Arial" pitchFamily="34" charset="-122"/>
                <a:cs typeface="Arial" pitchFamily="34" charset="-120"/>
              </a:rPr>
              <a:t>q = ½ × 1.225 × 12² = 88 Pa</a:t>
            </a:r>
            <a:endParaRPr lang="en-US" sz="980" dirty="0"/>
          </a:p>
        </p:txBody>
      </p:sp>
      <p:sp>
        <p:nvSpPr>
          <p:cNvPr id="61" name="Shape 59"/>
          <p:cNvSpPr/>
          <p:nvPr/>
        </p:nvSpPr>
        <p:spPr>
          <a:xfrm>
            <a:off x="2761488" y="6830568"/>
            <a:ext cx="201168" cy="201168"/>
          </a:xfrm>
          <a:prstGeom prst="ellipse">
            <a:avLst/>
          </a:prstGeom>
          <a:solidFill>
            <a:srgbClr val="2F8F5B"/>
          </a:solidFill>
          <a:ln w="12700">
            <a:solidFill>
              <a:srgbClr val="2F8F5B"/>
            </a:solidFill>
            <a:prstDash val="solid"/>
          </a:ln>
        </p:spPr>
        <p:txBody>
          <a:bodyPr/>
          <a:p/>
        </p:txBody>
      </p:sp>
      <p:sp>
        <p:nvSpPr>
          <p:cNvPr id="62" name="Text 60"/>
          <p:cNvSpPr/>
          <p:nvPr/>
        </p:nvSpPr>
        <p:spPr>
          <a:xfrm>
            <a:off x="3054096" y="6812280"/>
            <a:ext cx="1353312" cy="201168"/>
          </a:xfrm>
          <a:prstGeom prst="rect">
            <a:avLst/>
          </a:prstGeom>
          <a:noFill/>
          <a:ln/>
        </p:spPr>
        <p:txBody>
          <a:bodyPr wrap="square" lIns="0" tIns="0" rIns="0" bIns="0" rtlCol="0" anchor="ctr">
            <a:normAutofit/>
          </a:bodyPr>
          <a:lstStyle/>
          <a:p>
            <a:pPr indent="0" marL="0">
              <a:buNone/>
            </a:pPr>
            <a:r>
              <a:rPr lang="en-US" sz="830" b="1" dirty="0">
                <a:solidFill>
                  <a:srgbClr val="59627A"/>
                </a:solidFill>
                <a:latin typeface="Arial" pitchFamily="34" charset="0"/>
                <a:ea typeface="Arial" pitchFamily="34" charset="-122"/>
                <a:cs typeface="Arial" pitchFamily="34" charset="-120"/>
              </a:rPr>
              <a:t>3. Lift</a:t>
            </a:r>
            <a:endParaRPr lang="en-US" sz="830" dirty="0"/>
          </a:p>
        </p:txBody>
      </p:sp>
      <p:sp>
        <p:nvSpPr>
          <p:cNvPr id="63" name="Text 61"/>
          <p:cNvSpPr/>
          <p:nvPr/>
        </p:nvSpPr>
        <p:spPr>
          <a:xfrm>
            <a:off x="4361688" y="6812280"/>
            <a:ext cx="2788920" cy="201168"/>
          </a:xfrm>
          <a:prstGeom prst="rect">
            <a:avLst/>
          </a:prstGeom>
          <a:noFill/>
          <a:ln/>
        </p:spPr>
        <p:txBody>
          <a:bodyPr wrap="square" lIns="0" tIns="0" rIns="0" bIns="0" rtlCol="0" anchor="ctr">
            <a:normAutofit/>
          </a:bodyPr>
          <a:lstStyle/>
          <a:p>
            <a:pPr indent="0" marL="0">
              <a:buNone/>
            </a:pPr>
            <a:r>
              <a:rPr lang="en-US" sz="980" b="1" dirty="0">
                <a:solidFill>
                  <a:srgbClr val="2F8F5B"/>
                </a:solidFill>
                <a:latin typeface="Arial" pitchFamily="34" charset="0"/>
                <a:ea typeface="Arial" pitchFamily="34" charset="-122"/>
                <a:cs typeface="Arial" pitchFamily="34" charset="-120"/>
              </a:rPr>
              <a:t>L = 88 × 0.35 × 0.60 = 18.5 N</a:t>
            </a:r>
            <a:endParaRPr lang="en-US" sz="980" dirty="0"/>
          </a:p>
        </p:txBody>
      </p:sp>
      <p:sp>
        <p:nvSpPr>
          <p:cNvPr id="64" name="Shape 62"/>
          <p:cNvSpPr/>
          <p:nvPr/>
        </p:nvSpPr>
        <p:spPr>
          <a:xfrm>
            <a:off x="2761488" y="7232904"/>
            <a:ext cx="201168" cy="201168"/>
          </a:xfrm>
          <a:prstGeom prst="ellipse">
            <a:avLst/>
          </a:prstGeom>
          <a:solidFill>
            <a:srgbClr val="E5A81A"/>
          </a:solidFill>
          <a:ln w="12700">
            <a:solidFill>
              <a:srgbClr val="E5A81A"/>
            </a:solidFill>
            <a:prstDash val="solid"/>
          </a:ln>
        </p:spPr>
        <p:txBody>
          <a:bodyPr/>
          <a:p/>
        </p:txBody>
      </p:sp>
      <p:sp>
        <p:nvSpPr>
          <p:cNvPr id="65" name="Text 63"/>
          <p:cNvSpPr/>
          <p:nvPr/>
        </p:nvSpPr>
        <p:spPr>
          <a:xfrm>
            <a:off x="3054096" y="7214616"/>
            <a:ext cx="1353312" cy="201168"/>
          </a:xfrm>
          <a:prstGeom prst="rect">
            <a:avLst/>
          </a:prstGeom>
          <a:noFill/>
          <a:ln/>
        </p:spPr>
        <p:txBody>
          <a:bodyPr wrap="square" lIns="0" tIns="0" rIns="0" bIns="0" rtlCol="0" anchor="ctr">
            <a:normAutofit/>
          </a:bodyPr>
          <a:lstStyle/>
          <a:p>
            <a:pPr indent="0" marL="0">
              <a:buNone/>
            </a:pPr>
            <a:r>
              <a:rPr lang="en-US" sz="830" b="1" dirty="0">
                <a:solidFill>
                  <a:srgbClr val="59627A"/>
                </a:solidFill>
                <a:latin typeface="Arial" pitchFamily="34" charset="0"/>
                <a:ea typeface="Arial" pitchFamily="34" charset="-122"/>
                <a:cs typeface="Arial" pitchFamily="34" charset="-120"/>
              </a:rPr>
              <a:t>4. Stall speed</a:t>
            </a:r>
            <a:endParaRPr lang="en-US" sz="830" dirty="0"/>
          </a:p>
        </p:txBody>
      </p:sp>
      <p:sp>
        <p:nvSpPr>
          <p:cNvPr id="66" name="Text 64"/>
          <p:cNvSpPr/>
          <p:nvPr/>
        </p:nvSpPr>
        <p:spPr>
          <a:xfrm>
            <a:off x="4361688" y="7214616"/>
            <a:ext cx="2788920" cy="201168"/>
          </a:xfrm>
          <a:prstGeom prst="rect">
            <a:avLst/>
          </a:prstGeom>
          <a:noFill/>
          <a:ln/>
        </p:spPr>
        <p:txBody>
          <a:bodyPr wrap="square" lIns="0" tIns="0" rIns="0" bIns="0" rtlCol="0" anchor="ctr">
            <a:normAutofit/>
          </a:bodyPr>
          <a:lstStyle/>
          <a:p>
            <a:pPr indent="0" marL="0">
              <a:buNone/>
            </a:pPr>
            <a:r>
              <a:rPr lang="en-US" sz="980" dirty="0">
                <a:solidFill>
                  <a:srgbClr val="1A2342"/>
                </a:solidFill>
                <a:latin typeface="Arial" pitchFamily="34" charset="0"/>
                <a:ea typeface="Arial" pitchFamily="34" charset="-122"/>
                <a:cs typeface="Arial" pitchFamily="34" charset="-120"/>
              </a:rPr>
              <a:t>V</a:t>
            </a:r>
            <a:r>
              <a:rPr lang="en-US" sz="980" dirty="0" baseline="-25000">
                <a:solidFill>
                  <a:srgbClr val="1A2342"/>
                </a:solidFill>
                <a:latin typeface="Arial" pitchFamily="34" charset="0"/>
                <a:ea typeface="Arial" pitchFamily="34" charset="-122"/>
                <a:cs typeface="Arial" pitchFamily="34" charset="-120"/>
              </a:rPr>
              <a:t>stall</a:t>
            </a:r>
            <a:r>
              <a:rPr lang="en-US" sz="980" dirty="0">
                <a:solidFill>
                  <a:srgbClr val="1A2342"/>
                </a:solidFill>
                <a:latin typeface="Arial" pitchFamily="34" charset="0"/>
                <a:ea typeface="Arial" pitchFamily="34" charset="-122"/>
                <a:cs typeface="Arial" pitchFamily="34" charset="-120"/>
              </a:rPr>
              <a:t> ≈ 7.6 m/s = 27 km/h</a:t>
            </a:r>
            <a:endParaRPr lang="en-US" sz="980" dirty="0"/>
          </a:p>
        </p:txBody>
      </p:sp>
      <p:sp>
        <p:nvSpPr>
          <p:cNvPr id="67" name="Shape 65"/>
          <p:cNvSpPr/>
          <p:nvPr/>
        </p:nvSpPr>
        <p:spPr>
          <a:xfrm>
            <a:off x="2761488" y="7635240"/>
            <a:ext cx="201168" cy="201168"/>
          </a:xfrm>
          <a:prstGeom prst="ellipse">
            <a:avLst/>
          </a:prstGeom>
          <a:solidFill>
            <a:srgbClr val="E5A81A"/>
          </a:solidFill>
          <a:ln w="12700">
            <a:solidFill>
              <a:srgbClr val="E5A81A"/>
            </a:solidFill>
            <a:prstDash val="solid"/>
          </a:ln>
        </p:spPr>
        <p:txBody>
          <a:bodyPr/>
          <a:p/>
        </p:txBody>
      </p:sp>
      <p:sp>
        <p:nvSpPr>
          <p:cNvPr id="68" name="Text 66"/>
          <p:cNvSpPr/>
          <p:nvPr/>
        </p:nvSpPr>
        <p:spPr>
          <a:xfrm>
            <a:off x="3054096" y="7616952"/>
            <a:ext cx="1353312" cy="201168"/>
          </a:xfrm>
          <a:prstGeom prst="rect">
            <a:avLst/>
          </a:prstGeom>
          <a:noFill/>
          <a:ln/>
        </p:spPr>
        <p:txBody>
          <a:bodyPr wrap="square" lIns="0" tIns="0" rIns="0" bIns="0" rtlCol="0" anchor="ctr">
            <a:normAutofit/>
          </a:bodyPr>
          <a:lstStyle/>
          <a:p>
            <a:pPr indent="0" marL="0">
              <a:buNone/>
            </a:pPr>
            <a:r>
              <a:rPr lang="en-US" sz="830" b="1" dirty="0">
                <a:solidFill>
                  <a:srgbClr val="59627A"/>
                </a:solidFill>
                <a:latin typeface="Arial" pitchFamily="34" charset="0"/>
                <a:ea typeface="Arial" pitchFamily="34" charset="-122"/>
                <a:cs typeface="Arial" pitchFamily="34" charset="-120"/>
              </a:rPr>
              <a:t>5. Reynolds number</a:t>
            </a:r>
            <a:endParaRPr lang="en-US" sz="830" dirty="0"/>
          </a:p>
        </p:txBody>
      </p:sp>
      <p:sp>
        <p:nvSpPr>
          <p:cNvPr id="69" name="Text 67"/>
          <p:cNvSpPr/>
          <p:nvPr/>
        </p:nvSpPr>
        <p:spPr>
          <a:xfrm>
            <a:off x="4361688" y="7616952"/>
            <a:ext cx="2788920" cy="201168"/>
          </a:xfrm>
          <a:prstGeom prst="rect">
            <a:avLst/>
          </a:prstGeom>
          <a:noFill/>
          <a:ln/>
        </p:spPr>
        <p:txBody>
          <a:bodyPr wrap="square" lIns="0" tIns="0" rIns="0" bIns="0" rtlCol="0" anchor="ctr">
            <a:normAutofit/>
          </a:bodyPr>
          <a:lstStyle/>
          <a:p>
            <a:pPr indent="0" marL="0">
              <a:buNone/>
            </a:pPr>
            <a:r>
              <a:rPr lang="en-US" sz="980" dirty="0">
                <a:solidFill>
                  <a:srgbClr val="1A2342"/>
                </a:solidFill>
                <a:latin typeface="Arial" pitchFamily="34" charset="0"/>
                <a:ea typeface="Arial" pitchFamily="34" charset="-122"/>
                <a:cs typeface="Arial" pitchFamily="34" charset="-120"/>
              </a:rPr>
              <a:t>Re ≈ 2.0 × 10⁵</a:t>
            </a:r>
            <a:endParaRPr lang="en-US" sz="980" dirty="0"/>
          </a:p>
        </p:txBody>
      </p:sp>
      <p:sp>
        <p:nvSpPr>
          <p:cNvPr id="70" name="Shape 68"/>
          <p:cNvSpPr/>
          <p:nvPr/>
        </p:nvSpPr>
        <p:spPr>
          <a:xfrm>
            <a:off x="2761488" y="8037576"/>
            <a:ext cx="201168" cy="201168"/>
          </a:xfrm>
          <a:prstGeom prst="ellipse">
            <a:avLst/>
          </a:prstGeom>
          <a:solidFill>
            <a:srgbClr val="E5A81A"/>
          </a:solidFill>
          <a:ln w="12700">
            <a:solidFill>
              <a:srgbClr val="E5A81A"/>
            </a:solidFill>
            <a:prstDash val="solid"/>
          </a:ln>
        </p:spPr>
        <p:txBody>
          <a:bodyPr/>
          <a:p/>
        </p:txBody>
      </p:sp>
      <p:sp>
        <p:nvSpPr>
          <p:cNvPr id="71" name="Text 69"/>
          <p:cNvSpPr/>
          <p:nvPr/>
        </p:nvSpPr>
        <p:spPr>
          <a:xfrm>
            <a:off x="3054096" y="8019288"/>
            <a:ext cx="1353312" cy="201168"/>
          </a:xfrm>
          <a:prstGeom prst="rect">
            <a:avLst/>
          </a:prstGeom>
          <a:noFill/>
          <a:ln/>
        </p:spPr>
        <p:txBody>
          <a:bodyPr wrap="square" lIns="0" tIns="0" rIns="0" bIns="0" rtlCol="0" anchor="ctr">
            <a:normAutofit/>
          </a:bodyPr>
          <a:lstStyle/>
          <a:p>
            <a:pPr indent="0" marL="0">
              <a:buNone/>
            </a:pPr>
            <a:r>
              <a:rPr lang="en-US" sz="830" b="1" dirty="0">
                <a:solidFill>
                  <a:srgbClr val="59627A"/>
                </a:solidFill>
                <a:latin typeface="Arial" pitchFamily="34" charset="0"/>
                <a:ea typeface="Arial" pitchFamily="34" charset="-122"/>
                <a:cs typeface="Arial" pitchFamily="34" charset="-120"/>
              </a:rPr>
              <a:t>6. Aspect ratio</a:t>
            </a:r>
            <a:endParaRPr lang="en-US" sz="830" dirty="0"/>
          </a:p>
        </p:txBody>
      </p:sp>
      <p:sp>
        <p:nvSpPr>
          <p:cNvPr id="72" name="Text 70"/>
          <p:cNvSpPr/>
          <p:nvPr/>
        </p:nvSpPr>
        <p:spPr>
          <a:xfrm>
            <a:off x="4361688" y="8019288"/>
            <a:ext cx="2788920" cy="201168"/>
          </a:xfrm>
          <a:prstGeom prst="rect">
            <a:avLst/>
          </a:prstGeom>
          <a:noFill/>
          <a:ln/>
        </p:spPr>
        <p:txBody>
          <a:bodyPr wrap="square" lIns="0" tIns="0" rIns="0" bIns="0" rtlCol="0" anchor="ctr">
            <a:normAutofit/>
          </a:bodyPr>
          <a:lstStyle/>
          <a:p>
            <a:pPr indent="0" marL="0">
              <a:buNone/>
            </a:pPr>
            <a:r>
              <a:rPr lang="en-US" sz="980" dirty="0">
                <a:solidFill>
                  <a:srgbClr val="1A2342"/>
                </a:solidFill>
                <a:latin typeface="Arial" pitchFamily="34" charset="0"/>
                <a:ea typeface="Arial" pitchFamily="34" charset="-122"/>
                <a:cs typeface="Arial" pitchFamily="34" charset="-120"/>
              </a:rPr>
              <a:t>AR = 1.40² / 0.35 = 5.6</a:t>
            </a:r>
            <a:endParaRPr lang="en-US" sz="980" dirty="0"/>
          </a:p>
        </p:txBody>
      </p:sp>
      <p:sp>
        <p:nvSpPr>
          <p:cNvPr id="73" name="Shape 71"/>
          <p:cNvSpPr/>
          <p:nvPr/>
        </p:nvSpPr>
        <p:spPr>
          <a:xfrm>
            <a:off x="2724912" y="8375904"/>
            <a:ext cx="4389120" cy="274320"/>
          </a:xfrm>
          <a:prstGeom prst="roundRect">
            <a:avLst>
              <a:gd name="adj" fmla="val 33333"/>
            </a:avLst>
          </a:prstGeom>
          <a:solidFill>
            <a:srgbClr val="EAF7EF"/>
          </a:solidFill>
          <a:ln w="10160">
            <a:solidFill>
              <a:srgbClr val="B7DEC6"/>
            </a:solidFill>
            <a:prstDash val="solid"/>
          </a:ln>
        </p:spPr>
        <p:txBody>
          <a:bodyPr/>
          <a:p/>
        </p:txBody>
      </p:sp>
      <p:sp>
        <p:nvSpPr>
          <p:cNvPr id="74" name="Text 72"/>
          <p:cNvSpPr/>
          <p:nvPr/>
        </p:nvSpPr>
        <p:spPr>
          <a:xfrm>
            <a:off x="2852928" y="8412480"/>
            <a:ext cx="4133088" cy="182880"/>
          </a:xfrm>
          <a:prstGeom prst="rect">
            <a:avLst/>
          </a:prstGeom>
          <a:noFill/>
          <a:ln/>
        </p:spPr>
        <p:txBody>
          <a:bodyPr wrap="square" lIns="0" tIns="0" rIns="0" bIns="0" rtlCol="0" anchor="ctr">
            <a:normAutofit/>
          </a:bodyPr>
          <a:lstStyle/>
          <a:p>
            <a:pPr algn="ctr" indent="0" marL="0">
              <a:buNone/>
            </a:pPr>
            <a:r>
              <a:rPr lang="en-US" sz="830" b="1" dirty="0">
                <a:solidFill>
                  <a:srgbClr val="205F3B"/>
                </a:solidFill>
                <a:latin typeface="Arial" pitchFamily="34" charset="0"/>
                <a:ea typeface="Arial" pitchFamily="34" charset="-122"/>
                <a:cs typeface="Arial" pitchFamily="34" charset="-120"/>
              </a:rPr>
              <a:t>18.5 N of lift is greater than 14.7 N of weight, so at that speed and </a:t>
            </a:r>
            <a:r>
              <a:rPr lang="en-US" sz="830" b="1" dirty="0">
                <a:solidFill>
                  <a:srgbClr val="205F3B"/>
                </a:solidFill>
                <a:latin typeface="Arial" pitchFamily="34" charset="0"/>
                <a:ea typeface="Arial" pitchFamily="34" charset="-122"/>
                <a:cs typeface="Arial" pitchFamily="34" charset="-120"/>
              </a:rPr>
              <a:t>C</a:t>
            </a:r>
            <a:r>
              <a:rPr lang="en-US" sz="830" b="1" dirty="0" baseline="-25000">
                <a:solidFill>
                  <a:srgbClr val="205F3B"/>
                </a:solidFill>
                <a:latin typeface="Arial" pitchFamily="34" charset="0"/>
                <a:ea typeface="Arial" pitchFamily="34" charset="-122"/>
                <a:cs typeface="Arial" pitchFamily="34" charset="-120"/>
              </a:rPr>
              <a:t>L</a:t>
            </a:r>
            <a:r>
              <a:rPr lang="en-US" sz="830" b="1" dirty="0">
                <a:solidFill>
                  <a:srgbClr val="205F3B"/>
                </a:solidFill>
                <a:latin typeface="Arial" pitchFamily="34" charset="0"/>
                <a:ea typeface="Arial" pitchFamily="34" charset="-122"/>
                <a:cs typeface="Arial" pitchFamily="34" charset="-120"/>
              </a:rPr>
              <a:t> the model would climb - or it could lower its angle of attack.</a:t>
            </a:r>
            <a:endParaRPr lang="en-US" sz="830" dirty="0"/>
          </a:p>
        </p:txBody>
      </p:sp>
      <p:sp>
        <p:nvSpPr>
          <p:cNvPr id="75" name="Shape 73"/>
          <p:cNvSpPr/>
          <p:nvPr/>
        </p:nvSpPr>
        <p:spPr>
          <a:xfrm>
            <a:off x="329184" y="8942832"/>
            <a:ext cx="7114032" cy="0"/>
          </a:xfrm>
          <a:prstGeom prst="line">
            <a:avLst/>
          </a:prstGeom>
          <a:noFill/>
          <a:ln w="10160">
            <a:solidFill>
              <a:srgbClr val="D8DEE9"/>
            </a:solidFill>
            <a:prstDash val="solid"/>
          </a:ln>
        </p:spPr>
        <p:txBody>
          <a:bodyPr/>
          <a:p/>
        </p:txBody>
      </p:sp>
      <p:sp>
        <p:nvSpPr>
          <p:cNvPr id="76" name="Text 74"/>
          <p:cNvSpPr/>
          <p:nvPr/>
        </p:nvSpPr>
        <p:spPr>
          <a:xfrm>
            <a:off x="347472" y="8979408"/>
            <a:ext cx="6812280" cy="164592"/>
          </a:xfrm>
          <a:prstGeom prst="rect">
            <a:avLst/>
          </a:prstGeom>
          <a:noFill/>
          <a:ln/>
        </p:spPr>
        <p:txBody>
          <a:bodyPr wrap="square" lIns="0" tIns="0" rIns="0" bIns="0" rtlCol="0" anchor="t">
            <a:normAutofit/>
          </a:bodyPr>
          <a:lstStyle/>
          <a:p>
            <a:pPr indent="0" marL="0">
              <a:buNone/>
            </a:pPr>
            <a:r>
              <a:rPr lang="en-US" sz="680" dirty="0">
                <a:solidFill>
                  <a:srgbClr val="6C758C"/>
                </a:solidFill>
                <a:latin typeface="Arial" pitchFamily="34" charset="0"/>
                <a:ea typeface="Arial" pitchFamily="34" charset="-122"/>
                <a:cs typeface="Arial" pitchFamily="34" charset="-120"/>
              </a:rPr>
              <a:t>Equations and definitions: NASA Glenn Research Center, Beginners Guide to Aeronautics (lift equation, drag equation, Reynolds number). Example uses sea-level standard density and is an estimate, not a flight-test result.</a:t>
            </a:r>
            <a:endParaRPr lang="en-US" sz="680" dirty="0"/>
          </a:p>
        </p:txBody>
      </p:sp>
      <p:sp>
        <p:nvSpPr>
          <p:cNvPr id="77" name="TextBox 76"/>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5486400" cy="164592"/>
          </a:xfrm>
          <a:prstGeom prst="rect">
            <a:avLst/>
          </a:prstGeom>
          <a:noFill/>
        </p:spPr>
        <p:txBody>
          <a:bodyPr wrap="square" lIns="0" rIns="0" tIns="0" bIns="0">
            <a:spAutoFit/>
          </a:bodyPr>
          <a:lstStyle/>
          <a:p>
            <a:pPr algn="l"/>
            <a:r>
              <a:rPr sz="900" b="1" i="0">
                <a:solidFill>
                  <a:srgbClr val="E2B93B"/>
                </a:solidFill>
                <a:latin typeface="Arial"/>
              </a:rPr>
              <a:t>R/C DESIGN EQUATIONS</a:t>
            </a:r>
          </a:p>
        </p:txBody>
      </p:sp>
      <p:sp>
        <p:nvSpPr>
          <p:cNvPr id="6" name="TextBox 5"/>
          <p:cNvSpPr txBox="1"/>
          <p:nvPr/>
        </p:nvSpPr>
        <p:spPr>
          <a:xfrm>
            <a:off x="347472" y="246888"/>
            <a:ext cx="7086600" cy="365760"/>
          </a:xfrm>
          <a:prstGeom prst="rect">
            <a:avLst/>
          </a:prstGeom>
          <a:noFill/>
        </p:spPr>
        <p:txBody>
          <a:bodyPr wrap="square" lIns="0" rIns="0" tIns="0" bIns="0">
            <a:spAutoFit/>
          </a:bodyPr>
          <a:lstStyle/>
          <a:p>
            <a:pPr algn="l"/>
            <a:r>
              <a:rPr sz="1900" b="1" i="0">
                <a:solidFill>
                  <a:srgbClr val="FFFFFF"/>
                </a:solidFill>
                <a:latin typeface="Arial"/>
              </a:rPr>
              <a:t>Where the equations come from</a:t>
            </a:r>
          </a:p>
        </p:txBody>
      </p:sp>
      <p:sp>
        <p:nvSpPr>
          <p:cNvPr id="7" name="TextBox 6"/>
          <p:cNvSpPr txBox="1"/>
          <p:nvPr/>
        </p:nvSpPr>
        <p:spPr>
          <a:xfrm>
            <a:off x="347472" y="621792"/>
            <a:ext cx="7040880" cy="182880"/>
          </a:xfrm>
          <a:prstGeom prst="rect">
            <a:avLst/>
          </a:prstGeom>
          <a:noFill/>
        </p:spPr>
        <p:txBody>
          <a:bodyPr wrap="square" lIns="0" rIns="0" tIns="0" bIns="0">
            <a:spAutoFit/>
          </a:bodyPr>
          <a:lstStyle/>
          <a:p>
            <a:pPr algn="l"/>
            <a:r>
              <a:rPr sz="950" b="0" i="0">
                <a:solidFill>
                  <a:srgbClr val="D8DDE8"/>
                </a:solidFill>
                <a:latin typeface="Arial"/>
              </a:rPr>
              <a:t>Nothing on the previous page is memorized magic — each result is a few lines of algebra away from L = W.</a:t>
            </a:r>
          </a:p>
        </p:txBody>
      </p:sp>
      <p:sp>
        <p:nvSpPr>
          <p:cNvPr id="8" name="Rounded Rectangle 7"/>
          <p:cNvSpPr/>
          <p:nvPr/>
        </p:nvSpPr>
        <p:spPr>
          <a:xfrm>
            <a:off x="347472" y="1188720"/>
            <a:ext cx="3474720" cy="507492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188720"/>
            <a:ext cx="54864" cy="5074920"/>
          </a:xfrm>
          <a:prstGeom prst="rect">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07592"/>
            <a:ext cx="3163824" cy="201168"/>
          </a:xfrm>
          <a:prstGeom prst="rect">
            <a:avLst/>
          </a:prstGeom>
          <a:noFill/>
        </p:spPr>
        <p:txBody>
          <a:bodyPr wrap="square" lIns="0" rIns="0" tIns="0" bIns="0">
            <a:spAutoFit/>
          </a:bodyPr>
          <a:lstStyle/>
          <a:p>
            <a:pPr algn="l"/>
            <a:r>
              <a:rPr sz="1000" b="1" i="0">
                <a:solidFill>
                  <a:srgbClr val="20263A"/>
                </a:solidFill>
                <a:latin typeface="Arial"/>
              </a:rPr>
              <a:t>STALL SPEED, DERIVED</a:t>
            </a:r>
          </a:p>
        </p:txBody>
      </p:sp>
      <p:sp>
        <p:nvSpPr>
          <p:cNvPr id="11" name="Oval 10"/>
          <p:cNvSpPr/>
          <p:nvPr/>
        </p:nvSpPr>
        <p:spPr>
          <a:xfrm>
            <a:off x="512064" y="1627632"/>
            <a:ext cx="237744" cy="237744"/>
          </a:xfrm>
          <a:prstGeom prst="ellipse">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 y="1668780"/>
            <a:ext cx="237744" cy="155448"/>
          </a:xfrm>
          <a:prstGeom prst="rect">
            <a:avLst/>
          </a:prstGeom>
          <a:noFill/>
        </p:spPr>
        <p:txBody>
          <a:bodyPr wrap="square" lIns="0" rIns="0" tIns="0" bIns="0">
            <a:spAutoFit/>
          </a:bodyPr>
          <a:lstStyle/>
          <a:p>
            <a:pPr algn="ctr"/>
            <a:r>
              <a:rPr sz="900" b="1" i="0">
                <a:solidFill>
                  <a:srgbClr val="FFFFFF"/>
                </a:solidFill>
                <a:latin typeface="Arial"/>
              </a:rPr>
              <a:t>1</a:t>
            </a:r>
          </a:p>
        </p:txBody>
      </p:sp>
      <p:sp>
        <p:nvSpPr>
          <p:cNvPr id="13" name="TextBox 12"/>
          <p:cNvSpPr txBox="1"/>
          <p:nvPr/>
        </p:nvSpPr>
        <p:spPr>
          <a:xfrm>
            <a:off x="859536" y="1609344"/>
            <a:ext cx="2788920" cy="219456"/>
          </a:xfrm>
          <a:prstGeom prst="rect">
            <a:avLst/>
          </a:prstGeom>
          <a:noFill/>
        </p:spPr>
        <p:txBody>
          <a:bodyPr wrap="square" lIns="0" rIns="0" tIns="0" bIns="0">
            <a:spAutoFit/>
          </a:bodyPr>
          <a:lstStyle/>
          <a:p>
            <a:pPr algn="l"/>
            <a:r>
              <a:rPr sz="1150" b="1">
                <a:solidFill>
                  <a:srgbClr val="20263A"/>
                </a:solidFill>
                <a:latin typeface="Arial"/>
              </a:rPr>
              <a:t>Level flight:  L = W</a:t>
            </a:r>
          </a:p>
        </p:txBody>
      </p:sp>
      <p:sp>
        <p:nvSpPr>
          <p:cNvPr id="14" name="TextBox 13"/>
          <p:cNvSpPr txBox="1"/>
          <p:nvPr/>
        </p:nvSpPr>
        <p:spPr>
          <a:xfrm>
            <a:off x="859536" y="1847088"/>
            <a:ext cx="2788920" cy="384048"/>
          </a:xfrm>
          <a:prstGeom prst="rect">
            <a:avLst/>
          </a:prstGeom>
          <a:noFill/>
        </p:spPr>
        <p:txBody>
          <a:bodyPr wrap="square" lIns="0" rIns="0" tIns="0" bIns="0">
            <a:spAutoFit/>
          </a:bodyPr>
          <a:lstStyle/>
          <a:p>
            <a:pPr algn="l"/>
            <a:r>
              <a:rPr sz="800" b="0" i="0">
                <a:solidFill>
                  <a:srgbClr val="5F687D"/>
                </a:solidFill>
                <a:latin typeface="Arial"/>
              </a:rPr>
              <a:t>The wing exactly supports the weight — the starting point for everything.</a:t>
            </a:r>
          </a:p>
        </p:txBody>
      </p:sp>
      <p:sp>
        <p:nvSpPr>
          <p:cNvPr id="15" name="Oval 14"/>
          <p:cNvSpPr/>
          <p:nvPr/>
        </p:nvSpPr>
        <p:spPr>
          <a:xfrm>
            <a:off x="512064" y="2340864"/>
            <a:ext cx="237744" cy="237744"/>
          </a:xfrm>
          <a:prstGeom prst="ellipse">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2382012"/>
            <a:ext cx="237744" cy="155448"/>
          </a:xfrm>
          <a:prstGeom prst="rect">
            <a:avLst/>
          </a:prstGeom>
          <a:noFill/>
        </p:spPr>
        <p:txBody>
          <a:bodyPr wrap="square" lIns="0" rIns="0" tIns="0" bIns="0">
            <a:spAutoFit/>
          </a:bodyPr>
          <a:lstStyle/>
          <a:p>
            <a:pPr algn="ctr"/>
            <a:r>
              <a:rPr sz="900" b="1" i="0">
                <a:solidFill>
                  <a:srgbClr val="FFFFFF"/>
                </a:solidFill>
                <a:latin typeface="Arial"/>
              </a:rPr>
              <a:t>2</a:t>
            </a:r>
          </a:p>
        </p:txBody>
      </p:sp>
      <p:sp>
        <p:nvSpPr>
          <p:cNvPr id="17" name="TextBox 16"/>
          <p:cNvSpPr txBox="1"/>
          <p:nvPr/>
        </p:nvSpPr>
        <p:spPr>
          <a:xfrm>
            <a:off x="859536" y="2322576"/>
            <a:ext cx="2788920" cy="219456"/>
          </a:xfrm>
          <a:prstGeom prst="rect">
            <a:avLst/>
          </a:prstGeom>
          <a:noFill/>
        </p:spPr>
        <p:txBody>
          <a:bodyPr wrap="square" lIns="0" rIns="0" tIns="0" bIns="0">
            <a:spAutoFit/>
          </a:bodyPr>
          <a:lstStyle/>
          <a:p>
            <a:pPr algn="l"/>
            <a:r>
              <a:rPr sz="1150" b="1">
                <a:solidFill>
                  <a:srgbClr val="20263A"/>
                </a:solidFill>
                <a:latin typeface="Arial"/>
              </a:rPr>
              <a:t>W = ½ ρ V² S C</a:t>
            </a:r>
            <a:r>
              <a:rPr sz="1150" b="1" baseline="-25000">
                <a:solidFill>
                  <a:srgbClr val="20263A"/>
                </a:solidFill>
                <a:latin typeface="Arial"/>
              </a:rPr>
              <a:t>L</a:t>
            </a:r>
          </a:p>
        </p:txBody>
      </p:sp>
      <p:sp>
        <p:nvSpPr>
          <p:cNvPr id="18" name="TextBox 17"/>
          <p:cNvSpPr txBox="1"/>
          <p:nvPr/>
        </p:nvSpPr>
        <p:spPr>
          <a:xfrm>
            <a:off x="859536" y="2560320"/>
            <a:ext cx="2788920" cy="384048"/>
          </a:xfrm>
          <a:prstGeom prst="rect">
            <a:avLst/>
          </a:prstGeom>
          <a:noFill/>
        </p:spPr>
        <p:txBody>
          <a:bodyPr wrap="square" lIns="0" rIns="0" tIns="0" bIns="0">
            <a:spAutoFit/>
          </a:bodyPr>
          <a:lstStyle/>
          <a:p>
            <a:pPr algn="l"/>
            <a:r>
              <a:rPr sz="800" b="0" i="0">
                <a:solidFill>
                  <a:srgbClr val="5F687D"/>
                </a:solidFill>
                <a:latin typeface="Arial"/>
              </a:rPr>
              <a:t>Substitute the lift equation for L.</a:t>
            </a:r>
          </a:p>
        </p:txBody>
      </p:sp>
      <p:sp>
        <p:nvSpPr>
          <p:cNvPr id="19" name="Oval 18"/>
          <p:cNvSpPr/>
          <p:nvPr/>
        </p:nvSpPr>
        <p:spPr>
          <a:xfrm>
            <a:off x="512064" y="3054096"/>
            <a:ext cx="237744" cy="237744"/>
          </a:xfrm>
          <a:prstGeom prst="ellipse">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 y="3095244"/>
            <a:ext cx="237744" cy="155448"/>
          </a:xfrm>
          <a:prstGeom prst="rect">
            <a:avLst/>
          </a:prstGeom>
          <a:noFill/>
        </p:spPr>
        <p:txBody>
          <a:bodyPr wrap="square" lIns="0" rIns="0" tIns="0" bIns="0">
            <a:spAutoFit/>
          </a:bodyPr>
          <a:lstStyle/>
          <a:p>
            <a:pPr algn="ctr"/>
            <a:r>
              <a:rPr sz="900" b="1" i="0">
                <a:solidFill>
                  <a:srgbClr val="FFFFFF"/>
                </a:solidFill>
                <a:latin typeface="Arial"/>
              </a:rPr>
              <a:t>3</a:t>
            </a:r>
          </a:p>
        </p:txBody>
      </p:sp>
      <p:sp>
        <p:nvSpPr>
          <p:cNvPr id="21" name="TextBox 20"/>
          <p:cNvSpPr txBox="1"/>
          <p:nvPr/>
        </p:nvSpPr>
        <p:spPr>
          <a:xfrm>
            <a:off x="859536" y="3035808"/>
            <a:ext cx="2788920" cy="219456"/>
          </a:xfrm>
          <a:prstGeom prst="rect">
            <a:avLst/>
          </a:prstGeom>
          <a:noFill/>
        </p:spPr>
        <p:txBody>
          <a:bodyPr wrap="square" lIns="0" rIns="0" tIns="0" bIns="0">
            <a:spAutoFit/>
          </a:bodyPr>
          <a:lstStyle/>
          <a:p>
            <a:pPr algn="l"/>
            <a:r>
              <a:rPr sz="1150" b="1">
                <a:solidFill>
                  <a:srgbClr val="20263A"/>
                </a:solidFill>
                <a:latin typeface="Arial"/>
              </a:rPr>
              <a:t>Slowest flight → C</a:t>
            </a:r>
            <a:r>
              <a:rPr sz="1150" b="1" baseline="-25000">
                <a:solidFill>
                  <a:srgbClr val="20263A"/>
                </a:solidFill>
                <a:latin typeface="Arial"/>
              </a:rPr>
              <a:t>L</a:t>
            </a:r>
            <a:r>
              <a:rPr sz="1150" b="1">
                <a:solidFill>
                  <a:srgbClr val="20263A"/>
                </a:solidFill>
                <a:latin typeface="Arial"/>
              </a:rPr>
              <a:t> = C</a:t>
            </a:r>
            <a:r>
              <a:rPr sz="1150" b="1" baseline="-25000">
                <a:solidFill>
                  <a:srgbClr val="20263A"/>
                </a:solidFill>
                <a:latin typeface="Arial"/>
              </a:rPr>
              <a:t>Lmax</a:t>
            </a:r>
          </a:p>
        </p:txBody>
      </p:sp>
      <p:sp>
        <p:nvSpPr>
          <p:cNvPr id="22" name="TextBox 21"/>
          <p:cNvSpPr txBox="1"/>
          <p:nvPr/>
        </p:nvSpPr>
        <p:spPr>
          <a:xfrm>
            <a:off x="859536" y="3273552"/>
            <a:ext cx="2788920" cy="384048"/>
          </a:xfrm>
          <a:prstGeom prst="rect">
            <a:avLst/>
          </a:prstGeom>
          <a:noFill/>
        </p:spPr>
        <p:txBody>
          <a:bodyPr wrap="square" lIns="0" rIns="0" tIns="0" bIns="0">
            <a:spAutoFit/>
          </a:bodyPr>
          <a:lstStyle/>
          <a:p>
            <a:pPr algn="l"/>
            <a:r>
              <a:rPr sz="800" b="0" i="0">
                <a:solidFill>
                  <a:srgbClr val="5F687D"/>
                </a:solidFill>
                <a:latin typeface="Arial"/>
              </a:rPr>
              <a:t>Flying slower means more lift coefficient; the most you can ask for is Cₗmax.</a:t>
            </a:r>
          </a:p>
        </p:txBody>
      </p:sp>
      <p:sp>
        <p:nvSpPr>
          <p:cNvPr id="23" name="Oval 22"/>
          <p:cNvSpPr/>
          <p:nvPr/>
        </p:nvSpPr>
        <p:spPr>
          <a:xfrm>
            <a:off x="512064" y="3767328"/>
            <a:ext cx="237744" cy="237744"/>
          </a:xfrm>
          <a:prstGeom prst="ellipse">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 y="3808476"/>
            <a:ext cx="237744" cy="155448"/>
          </a:xfrm>
          <a:prstGeom prst="rect">
            <a:avLst/>
          </a:prstGeom>
          <a:noFill/>
        </p:spPr>
        <p:txBody>
          <a:bodyPr wrap="square" lIns="0" rIns="0" tIns="0" bIns="0">
            <a:spAutoFit/>
          </a:bodyPr>
          <a:lstStyle/>
          <a:p>
            <a:pPr algn="ctr"/>
            <a:r>
              <a:rPr sz="900" b="1" i="0">
                <a:solidFill>
                  <a:srgbClr val="FFFFFF"/>
                </a:solidFill>
                <a:latin typeface="Arial"/>
              </a:rPr>
              <a:t>4</a:t>
            </a:r>
          </a:p>
        </p:txBody>
      </p:sp>
      <p:sp>
        <p:nvSpPr>
          <p:cNvPr id="25" name="TextBox 24"/>
          <p:cNvSpPr txBox="1"/>
          <p:nvPr/>
        </p:nvSpPr>
        <p:spPr>
          <a:xfrm>
            <a:off x="859536" y="3749040"/>
            <a:ext cx="2788920" cy="219456"/>
          </a:xfrm>
          <a:prstGeom prst="rect">
            <a:avLst/>
          </a:prstGeom>
          <a:noFill/>
        </p:spPr>
        <p:txBody>
          <a:bodyPr wrap="square" lIns="0" rIns="0" tIns="0" bIns="0">
            <a:spAutoFit/>
          </a:bodyPr>
          <a:lstStyle/>
          <a:p>
            <a:pPr algn="l"/>
            <a:r>
              <a:rPr sz="1150" b="1">
                <a:solidFill>
                  <a:srgbClr val="20263A"/>
                </a:solidFill>
                <a:latin typeface="Arial"/>
              </a:rPr>
              <a:t>V², isolated:  V² = 2W / (ρ S C</a:t>
            </a:r>
            <a:r>
              <a:rPr sz="1150" b="1" baseline="-25000">
                <a:solidFill>
                  <a:srgbClr val="20263A"/>
                </a:solidFill>
                <a:latin typeface="Arial"/>
              </a:rPr>
              <a:t>Lmax</a:t>
            </a:r>
            <a:r>
              <a:rPr sz="1150" b="1">
                <a:solidFill>
                  <a:srgbClr val="20263A"/>
                </a:solidFill>
                <a:latin typeface="Arial"/>
              </a:rPr>
              <a:t>)</a:t>
            </a:r>
          </a:p>
        </p:txBody>
      </p:sp>
      <p:sp>
        <p:nvSpPr>
          <p:cNvPr id="26" name="TextBox 25"/>
          <p:cNvSpPr txBox="1"/>
          <p:nvPr/>
        </p:nvSpPr>
        <p:spPr>
          <a:xfrm>
            <a:off x="859536" y="3986784"/>
            <a:ext cx="2788920" cy="384048"/>
          </a:xfrm>
          <a:prstGeom prst="rect">
            <a:avLst/>
          </a:prstGeom>
          <a:noFill/>
        </p:spPr>
        <p:txBody>
          <a:bodyPr wrap="square" lIns="0" rIns="0" tIns="0" bIns="0">
            <a:spAutoFit/>
          </a:bodyPr>
          <a:lstStyle/>
          <a:p>
            <a:pPr algn="l"/>
            <a:r>
              <a:rPr sz="800" b="0" i="0">
                <a:solidFill>
                  <a:srgbClr val="5F687D"/>
                </a:solidFill>
                <a:latin typeface="Arial"/>
              </a:rPr>
              <a:t>Multiply both sides by 2, divide by ρ S Cₗmax.</a:t>
            </a:r>
          </a:p>
        </p:txBody>
      </p:sp>
      <p:sp>
        <p:nvSpPr>
          <p:cNvPr id="27" name="Oval 26"/>
          <p:cNvSpPr/>
          <p:nvPr/>
        </p:nvSpPr>
        <p:spPr>
          <a:xfrm>
            <a:off x="512064" y="4480560"/>
            <a:ext cx="237744" cy="237744"/>
          </a:xfrm>
          <a:prstGeom prst="ellipse">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 y="4521708"/>
            <a:ext cx="237744" cy="155448"/>
          </a:xfrm>
          <a:prstGeom prst="rect">
            <a:avLst/>
          </a:prstGeom>
          <a:noFill/>
        </p:spPr>
        <p:txBody>
          <a:bodyPr wrap="square" lIns="0" rIns="0" tIns="0" bIns="0">
            <a:spAutoFit/>
          </a:bodyPr>
          <a:lstStyle/>
          <a:p>
            <a:pPr algn="ctr"/>
            <a:r>
              <a:rPr sz="900" b="1" i="0">
                <a:solidFill>
                  <a:srgbClr val="FFFFFF"/>
                </a:solidFill>
                <a:latin typeface="Arial"/>
              </a:rPr>
              <a:t>5</a:t>
            </a:r>
          </a:p>
        </p:txBody>
      </p:sp>
      <p:sp>
        <p:nvSpPr>
          <p:cNvPr id="29" name="TextBox 28"/>
          <p:cNvSpPr txBox="1"/>
          <p:nvPr/>
        </p:nvSpPr>
        <p:spPr>
          <a:xfrm>
            <a:off x="859536" y="4462272"/>
            <a:ext cx="2788920" cy="219456"/>
          </a:xfrm>
          <a:prstGeom prst="rect">
            <a:avLst/>
          </a:prstGeom>
          <a:noFill/>
        </p:spPr>
        <p:txBody>
          <a:bodyPr wrap="square" lIns="0" rIns="0" tIns="0" bIns="0">
            <a:spAutoFit/>
          </a:bodyPr>
          <a:lstStyle/>
          <a:p>
            <a:pPr algn="l"/>
            <a:r>
              <a:rPr sz="1150" b="1">
                <a:solidFill>
                  <a:srgbClr val="20263A"/>
                </a:solidFill>
                <a:latin typeface="Arial"/>
              </a:rPr>
              <a:t>Take the square root</a:t>
            </a:r>
          </a:p>
        </p:txBody>
      </p:sp>
      <p:sp>
        <p:nvSpPr>
          <p:cNvPr id="30" name="TextBox 29"/>
          <p:cNvSpPr txBox="1"/>
          <p:nvPr/>
        </p:nvSpPr>
        <p:spPr>
          <a:xfrm>
            <a:off x="859536" y="4700016"/>
            <a:ext cx="2788920" cy="384048"/>
          </a:xfrm>
          <a:prstGeom prst="rect">
            <a:avLst/>
          </a:prstGeom>
          <a:noFill/>
        </p:spPr>
        <p:txBody>
          <a:bodyPr wrap="square" lIns="0" rIns="0" tIns="0" bIns="0">
            <a:spAutoFit/>
          </a:bodyPr>
          <a:lstStyle/>
          <a:p>
            <a:pPr algn="l"/>
            <a:r>
              <a:rPr sz="800" b="0" i="0">
                <a:solidFill>
                  <a:srgbClr val="5F687D"/>
                </a:solidFill>
                <a:latin typeface="Arial"/>
              </a:rPr>
              <a:t>Speed must be positive — done.</a:t>
            </a:r>
          </a:p>
        </p:txBody>
      </p:sp>
      <p:sp>
        <p:nvSpPr>
          <p:cNvPr id="31" name="Rounded Rectangle 30"/>
          <p:cNvSpPr/>
          <p:nvPr/>
        </p:nvSpPr>
        <p:spPr>
          <a:xfrm>
            <a:off x="493776" y="5212080"/>
            <a:ext cx="3182112" cy="841247"/>
          </a:xfrm>
          <a:prstGeom prst="roundRect">
            <a:avLst>
              <a:gd name="adj" fmla="val 10000"/>
            </a:avLst>
          </a:prstGeom>
          <a:solidFill>
            <a:srgbClr val="EC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5321808"/>
            <a:ext cx="2926080" cy="274320"/>
          </a:xfrm>
          <a:prstGeom prst="rect">
            <a:avLst/>
          </a:prstGeom>
          <a:noFill/>
        </p:spPr>
        <p:txBody>
          <a:bodyPr wrap="square" lIns="0" rIns="0" tIns="0" bIns="0">
            <a:spAutoFit/>
          </a:bodyPr>
          <a:lstStyle/>
          <a:p>
            <a:pPr algn="ctr"/>
            <a:r>
              <a:rPr sz="1300" b="1">
                <a:solidFill>
                  <a:srgbClr val="2F8F5B"/>
                </a:solidFill>
                <a:latin typeface="Arial"/>
              </a:rPr>
              <a:t>V</a:t>
            </a:r>
            <a:r>
              <a:rPr sz="1300" b="1" baseline="-25000">
                <a:solidFill>
                  <a:srgbClr val="2F8F5B"/>
                </a:solidFill>
                <a:latin typeface="Arial"/>
              </a:rPr>
              <a:t>stall</a:t>
            </a:r>
            <a:r>
              <a:rPr sz="1300" b="1">
                <a:solidFill>
                  <a:srgbClr val="2F8F5B"/>
                </a:solidFill>
                <a:latin typeface="Arial"/>
              </a:rPr>
              <a:t> = √( 2W / ρ S C</a:t>
            </a:r>
            <a:r>
              <a:rPr sz="1300" b="1" baseline="-25000">
                <a:solidFill>
                  <a:srgbClr val="2F8F5B"/>
                </a:solidFill>
                <a:latin typeface="Arial"/>
              </a:rPr>
              <a:t>Lmax</a:t>
            </a:r>
            <a:r>
              <a:rPr sz="1300" b="1">
                <a:solidFill>
                  <a:srgbClr val="2F8F5B"/>
                </a:solidFill>
                <a:latin typeface="Arial"/>
              </a:rPr>
              <a:t> )</a:t>
            </a:r>
          </a:p>
        </p:txBody>
      </p:sp>
      <p:sp>
        <p:nvSpPr>
          <p:cNvPr id="33" name="Rounded Rectangle 32"/>
          <p:cNvSpPr/>
          <p:nvPr/>
        </p:nvSpPr>
        <p:spPr>
          <a:xfrm>
            <a:off x="3950208" y="1188720"/>
            <a:ext cx="3474720" cy="507492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950208" y="1188720"/>
            <a:ext cx="54864" cy="5074920"/>
          </a:xfrm>
          <a:prstGeom prst="rect">
            <a:avLst/>
          </a:prstGeom>
          <a:solidFill>
            <a:srgbClr val="C8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05656" y="1307592"/>
            <a:ext cx="3163824" cy="201168"/>
          </a:xfrm>
          <a:prstGeom prst="rect">
            <a:avLst/>
          </a:prstGeom>
          <a:noFill/>
        </p:spPr>
        <p:txBody>
          <a:bodyPr wrap="square" lIns="0" rIns="0" tIns="0" bIns="0">
            <a:spAutoFit/>
          </a:bodyPr>
          <a:lstStyle/>
          <a:p>
            <a:pPr algn="l"/>
            <a:r>
              <a:rPr sz="1000" b="1" i="0">
                <a:solidFill>
                  <a:srgbClr val="20263A"/>
                </a:solidFill>
                <a:latin typeface="Arial"/>
              </a:rPr>
              <a:t>LOAD FACTOR IN A BANK, DERIVED</a:t>
            </a:r>
          </a:p>
        </p:txBody>
      </p:sp>
      <p:sp>
        <p:nvSpPr>
          <p:cNvPr id="36" name="Oval 35"/>
          <p:cNvSpPr/>
          <p:nvPr/>
        </p:nvSpPr>
        <p:spPr>
          <a:xfrm>
            <a:off x="4114800" y="1627632"/>
            <a:ext cx="237744" cy="237744"/>
          </a:xfrm>
          <a:prstGeom prst="ellipse">
            <a:avLst/>
          </a:prstGeom>
          <a:solidFill>
            <a:srgbClr val="C8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0" y="1668780"/>
            <a:ext cx="237744" cy="155448"/>
          </a:xfrm>
          <a:prstGeom prst="rect">
            <a:avLst/>
          </a:prstGeom>
          <a:noFill/>
        </p:spPr>
        <p:txBody>
          <a:bodyPr wrap="square" lIns="0" rIns="0" tIns="0" bIns="0">
            <a:spAutoFit/>
          </a:bodyPr>
          <a:lstStyle/>
          <a:p>
            <a:pPr algn="ctr"/>
            <a:r>
              <a:rPr sz="900" b="1" i="0">
                <a:solidFill>
                  <a:srgbClr val="FFFFFF"/>
                </a:solidFill>
                <a:latin typeface="Arial"/>
              </a:rPr>
              <a:t>1</a:t>
            </a:r>
          </a:p>
        </p:txBody>
      </p:sp>
      <p:sp>
        <p:nvSpPr>
          <p:cNvPr id="38" name="TextBox 37"/>
          <p:cNvSpPr txBox="1"/>
          <p:nvPr/>
        </p:nvSpPr>
        <p:spPr>
          <a:xfrm>
            <a:off x="4462272" y="1609344"/>
            <a:ext cx="2788920" cy="219456"/>
          </a:xfrm>
          <a:prstGeom prst="rect">
            <a:avLst/>
          </a:prstGeom>
          <a:noFill/>
        </p:spPr>
        <p:txBody>
          <a:bodyPr wrap="square" lIns="0" rIns="0" tIns="0" bIns="0">
            <a:spAutoFit/>
          </a:bodyPr>
          <a:lstStyle/>
          <a:p>
            <a:pPr algn="l"/>
            <a:r>
              <a:rPr sz="1150" b="1">
                <a:solidFill>
                  <a:srgbClr val="20263A"/>
                </a:solidFill>
                <a:latin typeface="Arial"/>
              </a:rPr>
              <a:t>Bank angle φ tilts the lift</a:t>
            </a:r>
          </a:p>
        </p:txBody>
      </p:sp>
      <p:sp>
        <p:nvSpPr>
          <p:cNvPr id="39" name="TextBox 38"/>
          <p:cNvSpPr txBox="1"/>
          <p:nvPr/>
        </p:nvSpPr>
        <p:spPr>
          <a:xfrm>
            <a:off x="4462272" y="1847088"/>
            <a:ext cx="2788920" cy="384048"/>
          </a:xfrm>
          <a:prstGeom prst="rect">
            <a:avLst/>
          </a:prstGeom>
          <a:noFill/>
        </p:spPr>
        <p:txBody>
          <a:bodyPr wrap="square" lIns="0" rIns="0" tIns="0" bIns="0">
            <a:spAutoFit/>
          </a:bodyPr>
          <a:lstStyle/>
          <a:p>
            <a:pPr algn="l"/>
            <a:r>
              <a:rPr sz="800" b="0" i="0">
                <a:solidFill>
                  <a:srgbClr val="5F687D"/>
                </a:solidFill>
                <a:latin typeface="Arial"/>
              </a:rPr>
              <a:t>Lift stays perpendicular to the wings, so it leans with them.</a:t>
            </a:r>
          </a:p>
        </p:txBody>
      </p:sp>
      <p:sp>
        <p:nvSpPr>
          <p:cNvPr id="40" name="Oval 39"/>
          <p:cNvSpPr/>
          <p:nvPr/>
        </p:nvSpPr>
        <p:spPr>
          <a:xfrm>
            <a:off x="4114800" y="2340864"/>
            <a:ext cx="237744" cy="237744"/>
          </a:xfrm>
          <a:prstGeom prst="ellipse">
            <a:avLst/>
          </a:prstGeom>
          <a:solidFill>
            <a:srgbClr val="C8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800" y="2382012"/>
            <a:ext cx="237744" cy="155448"/>
          </a:xfrm>
          <a:prstGeom prst="rect">
            <a:avLst/>
          </a:prstGeom>
          <a:noFill/>
        </p:spPr>
        <p:txBody>
          <a:bodyPr wrap="square" lIns="0" rIns="0" tIns="0" bIns="0">
            <a:spAutoFit/>
          </a:bodyPr>
          <a:lstStyle/>
          <a:p>
            <a:pPr algn="ctr"/>
            <a:r>
              <a:rPr sz="900" b="1" i="0">
                <a:solidFill>
                  <a:srgbClr val="FFFFFF"/>
                </a:solidFill>
                <a:latin typeface="Arial"/>
              </a:rPr>
              <a:t>2</a:t>
            </a:r>
          </a:p>
        </p:txBody>
      </p:sp>
      <p:sp>
        <p:nvSpPr>
          <p:cNvPr id="42" name="TextBox 41"/>
          <p:cNvSpPr txBox="1"/>
          <p:nvPr/>
        </p:nvSpPr>
        <p:spPr>
          <a:xfrm>
            <a:off x="4462272" y="2322576"/>
            <a:ext cx="2788920" cy="219456"/>
          </a:xfrm>
          <a:prstGeom prst="rect">
            <a:avLst/>
          </a:prstGeom>
          <a:noFill/>
        </p:spPr>
        <p:txBody>
          <a:bodyPr wrap="square" lIns="0" rIns="0" tIns="0" bIns="0">
            <a:spAutoFit/>
          </a:bodyPr>
          <a:lstStyle/>
          <a:p>
            <a:pPr algn="l"/>
            <a:r>
              <a:rPr sz="1150" b="1">
                <a:solidFill>
                  <a:srgbClr val="20263A"/>
                </a:solidFill>
                <a:latin typeface="Arial"/>
              </a:rPr>
              <a:t>Vertical part:  L cos φ</a:t>
            </a:r>
          </a:p>
        </p:txBody>
      </p:sp>
      <p:sp>
        <p:nvSpPr>
          <p:cNvPr id="43" name="TextBox 42"/>
          <p:cNvSpPr txBox="1"/>
          <p:nvPr/>
        </p:nvSpPr>
        <p:spPr>
          <a:xfrm>
            <a:off x="4462272" y="2560320"/>
            <a:ext cx="2788920" cy="384048"/>
          </a:xfrm>
          <a:prstGeom prst="rect">
            <a:avLst/>
          </a:prstGeom>
          <a:noFill/>
        </p:spPr>
        <p:txBody>
          <a:bodyPr wrap="square" lIns="0" rIns="0" tIns="0" bIns="0">
            <a:spAutoFit/>
          </a:bodyPr>
          <a:lstStyle/>
          <a:p>
            <a:pPr algn="l"/>
            <a:r>
              <a:rPr sz="800" b="0" i="0">
                <a:solidFill>
                  <a:srgbClr val="5F687D"/>
                </a:solidFill>
                <a:latin typeface="Arial"/>
              </a:rPr>
              <a:t>Only this component fights gravity (see page 8).</a:t>
            </a:r>
          </a:p>
        </p:txBody>
      </p:sp>
      <p:sp>
        <p:nvSpPr>
          <p:cNvPr id="44" name="Oval 43"/>
          <p:cNvSpPr/>
          <p:nvPr/>
        </p:nvSpPr>
        <p:spPr>
          <a:xfrm>
            <a:off x="4114800" y="3054096"/>
            <a:ext cx="237744" cy="237744"/>
          </a:xfrm>
          <a:prstGeom prst="ellipse">
            <a:avLst/>
          </a:prstGeom>
          <a:solidFill>
            <a:srgbClr val="C8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0" y="3095244"/>
            <a:ext cx="237744" cy="155448"/>
          </a:xfrm>
          <a:prstGeom prst="rect">
            <a:avLst/>
          </a:prstGeom>
          <a:noFill/>
        </p:spPr>
        <p:txBody>
          <a:bodyPr wrap="square" lIns="0" rIns="0" tIns="0" bIns="0">
            <a:spAutoFit/>
          </a:bodyPr>
          <a:lstStyle/>
          <a:p>
            <a:pPr algn="ctr"/>
            <a:r>
              <a:rPr sz="900" b="1" i="0">
                <a:solidFill>
                  <a:srgbClr val="FFFFFF"/>
                </a:solidFill>
                <a:latin typeface="Arial"/>
              </a:rPr>
              <a:t>3</a:t>
            </a:r>
          </a:p>
        </p:txBody>
      </p:sp>
      <p:sp>
        <p:nvSpPr>
          <p:cNvPr id="46" name="TextBox 45"/>
          <p:cNvSpPr txBox="1"/>
          <p:nvPr/>
        </p:nvSpPr>
        <p:spPr>
          <a:xfrm>
            <a:off x="4462272" y="3035808"/>
            <a:ext cx="2788920" cy="219456"/>
          </a:xfrm>
          <a:prstGeom prst="rect">
            <a:avLst/>
          </a:prstGeom>
          <a:noFill/>
        </p:spPr>
        <p:txBody>
          <a:bodyPr wrap="square" lIns="0" rIns="0" tIns="0" bIns="0">
            <a:spAutoFit/>
          </a:bodyPr>
          <a:lstStyle/>
          <a:p>
            <a:pPr algn="l"/>
            <a:r>
              <a:rPr sz="1150" b="1">
                <a:solidFill>
                  <a:srgbClr val="20263A"/>
                </a:solidFill>
                <a:latin typeface="Arial"/>
              </a:rPr>
              <a:t>Steady height:  L cos φ = W</a:t>
            </a:r>
          </a:p>
        </p:txBody>
      </p:sp>
      <p:sp>
        <p:nvSpPr>
          <p:cNvPr id="47" name="TextBox 46"/>
          <p:cNvSpPr txBox="1"/>
          <p:nvPr/>
        </p:nvSpPr>
        <p:spPr>
          <a:xfrm>
            <a:off x="4462272" y="3273552"/>
            <a:ext cx="2788920" cy="384048"/>
          </a:xfrm>
          <a:prstGeom prst="rect">
            <a:avLst/>
          </a:prstGeom>
          <a:noFill/>
        </p:spPr>
        <p:txBody>
          <a:bodyPr wrap="square" lIns="0" rIns="0" tIns="0" bIns="0">
            <a:spAutoFit/>
          </a:bodyPr>
          <a:lstStyle/>
          <a:p>
            <a:pPr algn="l"/>
            <a:r>
              <a:rPr sz="800" b="0" i="0">
                <a:solidFill>
                  <a:srgbClr val="5F687D"/>
                </a:solidFill>
                <a:latin typeface="Arial"/>
              </a:rPr>
              <a:t>Not climbing, not sinking — vertical forces balance.</a:t>
            </a:r>
          </a:p>
        </p:txBody>
      </p:sp>
      <p:sp>
        <p:nvSpPr>
          <p:cNvPr id="48" name="Oval 47"/>
          <p:cNvSpPr/>
          <p:nvPr/>
        </p:nvSpPr>
        <p:spPr>
          <a:xfrm>
            <a:off x="4114800" y="3767328"/>
            <a:ext cx="237744" cy="237744"/>
          </a:xfrm>
          <a:prstGeom prst="ellipse">
            <a:avLst/>
          </a:prstGeom>
          <a:solidFill>
            <a:srgbClr val="C8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14800" y="3808476"/>
            <a:ext cx="237744" cy="155448"/>
          </a:xfrm>
          <a:prstGeom prst="rect">
            <a:avLst/>
          </a:prstGeom>
          <a:noFill/>
        </p:spPr>
        <p:txBody>
          <a:bodyPr wrap="square" lIns="0" rIns="0" tIns="0" bIns="0">
            <a:spAutoFit/>
          </a:bodyPr>
          <a:lstStyle/>
          <a:p>
            <a:pPr algn="ctr"/>
            <a:r>
              <a:rPr sz="900" b="1" i="0">
                <a:solidFill>
                  <a:srgbClr val="FFFFFF"/>
                </a:solidFill>
                <a:latin typeface="Arial"/>
              </a:rPr>
              <a:t>4</a:t>
            </a:r>
          </a:p>
        </p:txBody>
      </p:sp>
      <p:sp>
        <p:nvSpPr>
          <p:cNvPr id="50" name="TextBox 49"/>
          <p:cNvSpPr txBox="1"/>
          <p:nvPr/>
        </p:nvSpPr>
        <p:spPr>
          <a:xfrm>
            <a:off x="4462272" y="3749040"/>
            <a:ext cx="2788920" cy="219456"/>
          </a:xfrm>
          <a:prstGeom prst="rect">
            <a:avLst/>
          </a:prstGeom>
          <a:noFill/>
        </p:spPr>
        <p:txBody>
          <a:bodyPr wrap="square" lIns="0" rIns="0" tIns="0" bIns="0">
            <a:spAutoFit/>
          </a:bodyPr>
          <a:lstStyle/>
          <a:p>
            <a:pPr algn="l"/>
            <a:r>
              <a:rPr sz="1150" b="1">
                <a:solidFill>
                  <a:srgbClr val="20263A"/>
                </a:solidFill>
                <a:latin typeface="Arial"/>
              </a:rPr>
              <a:t>n ≡ L / W = 1 / cos φ</a:t>
            </a:r>
          </a:p>
        </p:txBody>
      </p:sp>
      <p:sp>
        <p:nvSpPr>
          <p:cNvPr id="51" name="TextBox 50"/>
          <p:cNvSpPr txBox="1"/>
          <p:nvPr/>
        </p:nvSpPr>
        <p:spPr>
          <a:xfrm>
            <a:off x="4462272" y="3986784"/>
            <a:ext cx="2788920" cy="384048"/>
          </a:xfrm>
          <a:prstGeom prst="rect">
            <a:avLst/>
          </a:prstGeom>
          <a:noFill/>
        </p:spPr>
        <p:txBody>
          <a:bodyPr wrap="square" lIns="0" rIns="0" tIns="0" bIns="0">
            <a:spAutoFit/>
          </a:bodyPr>
          <a:lstStyle/>
          <a:p>
            <a:pPr algn="l"/>
            <a:r>
              <a:rPr sz="800" b="0" i="0">
                <a:solidFill>
                  <a:srgbClr val="5F687D"/>
                </a:solidFill>
                <a:latin typeface="Arial"/>
              </a:rPr>
              <a:t>Define load factor n as lift over weight; divide step 3 by W cos φ.</a:t>
            </a:r>
          </a:p>
        </p:txBody>
      </p:sp>
      <p:sp>
        <p:nvSpPr>
          <p:cNvPr id="52" name="Oval 51"/>
          <p:cNvSpPr/>
          <p:nvPr/>
        </p:nvSpPr>
        <p:spPr>
          <a:xfrm>
            <a:off x="4114800" y="4480560"/>
            <a:ext cx="237744" cy="237744"/>
          </a:xfrm>
          <a:prstGeom prst="ellipse">
            <a:avLst/>
          </a:prstGeom>
          <a:solidFill>
            <a:srgbClr val="C8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114800" y="4521708"/>
            <a:ext cx="237744" cy="155448"/>
          </a:xfrm>
          <a:prstGeom prst="rect">
            <a:avLst/>
          </a:prstGeom>
          <a:noFill/>
        </p:spPr>
        <p:txBody>
          <a:bodyPr wrap="square" lIns="0" rIns="0" tIns="0" bIns="0">
            <a:spAutoFit/>
          </a:bodyPr>
          <a:lstStyle/>
          <a:p>
            <a:pPr algn="ctr"/>
            <a:r>
              <a:rPr sz="900" b="1" i="0">
                <a:solidFill>
                  <a:srgbClr val="FFFFFF"/>
                </a:solidFill>
                <a:latin typeface="Arial"/>
              </a:rPr>
              <a:t>5</a:t>
            </a:r>
          </a:p>
        </p:txBody>
      </p:sp>
      <p:sp>
        <p:nvSpPr>
          <p:cNvPr id="54" name="TextBox 53"/>
          <p:cNvSpPr txBox="1"/>
          <p:nvPr/>
        </p:nvSpPr>
        <p:spPr>
          <a:xfrm>
            <a:off x="4462272" y="4462272"/>
            <a:ext cx="2788920" cy="219456"/>
          </a:xfrm>
          <a:prstGeom prst="rect">
            <a:avLst/>
          </a:prstGeom>
          <a:noFill/>
        </p:spPr>
        <p:txBody>
          <a:bodyPr wrap="square" lIns="0" rIns="0" tIns="0" bIns="0">
            <a:spAutoFit/>
          </a:bodyPr>
          <a:lstStyle/>
          <a:p>
            <a:pPr algn="l"/>
            <a:r>
              <a:rPr sz="1150" b="1">
                <a:solidFill>
                  <a:srgbClr val="20263A"/>
                </a:solidFill>
                <a:latin typeface="Arial"/>
              </a:rPr>
              <a:t>V</a:t>
            </a:r>
            <a:r>
              <a:rPr sz="1150" b="1" baseline="-25000">
                <a:solidFill>
                  <a:srgbClr val="20263A"/>
                </a:solidFill>
                <a:latin typeface="Arial"/>
              </a:rPr>
              <a:t>stall</a:t>
            </a:r>
            <a:r>
              <a:rPr sz="1150" b="1">
                <a:solidFill>
                  <a:srgbClr val="20263A"/>
                </a:solidFill>
                <a:latin typeface="Arial"/>
              </a:rPr>
              <a:t> ∝ √L  →  multiply by √n</a:t>
            </a:r>
          </a:p>
        </p:txBody>
      </p:sp>
      <p:sp>
        <p:nvSpPr>
          <p:cNvPr id="55" name="TextBox 54"/>
          <p:cNvSpPr txBox="1"/>
          <p:nvPr/>
        </p:nvSpPr>
        <p:spPr>
          <a:xfrm>
            <a:off x="4462272" y="4700016"/>
            <a:ext cx="2788920" cy="384048"/>
          </a:xfrm>
          <a:prstGeom prst="rect">
            <a:avLst/>
          </a:prstGeom>
          <a:noFill/>
        </p:spPr>
        <p:txBody>
          <a:bodyPr wrap="square" lIns="0" rIns="0" tIns="0" bIns="0">
            <a:spAutoFit/>
          </a:bodyPr>
          <a:lstStyle/>
          <a:p>
            <a:pPr algn="l"/>
            <a:r>
              <a:rPr sz="800" b="0" i="0">
                <a:solidFill>
                  <a:srgbClr val="5F687D"/>
                </a:solidFill>
                <a:latin typeface="Arial"/>
              </a:rPr>
              <a:t>Stall speed scales with the square root of the lift demanded.</a:t>
            </a:r>
          </a:p>
        </p:txBody>
      </p:sp>
      <p:sp>
        <p:nvSpPr>
          <p:cNvPr id="56" name="Rounded Rectangle 55"/>
          <p:cNvSpPr/>
          <p:nvPr/>
        </p:nvSpPr>
        <p:spPr>
          <a:xfrm>
            <a:off x="4096512" y="5212080"/>
            <a:ext cx="3182112" cy="841247"/>
          </a:xfrm>
          <a:prstGeom prst="roundRect">
            <a:avLst>
              <a:gd name="adj" fmla="val 10000"/>
            </a:avLst>
          </a:prstGeom>
          <a:solidFill>
            <a:srgbClr val="EC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224528" y="5321808"/>
            <a:ext cx="2926080" cy="274320"/>
          </a:xfrm>
          <a:prstGeom prst="rect">
            <a:avLst/>
          </a:prstGeom>
          <a:noFill/>
        </p:spPr>
        <p:txBody>
          <a:bodyPr wrap="square" lIns="0" rIns="0" tIns="0" bIns="0">
            <a:spAutoFit/>
          </a:bodyPr>
          <a:lstStyle/>
          <a:p>
            <a:pPr algn="ctr"/>
            <a:r>
              <a:rPr sz="1300" b="1">
                <a:solidFill>
                  <a:srgbClr val="2F8F5B"/>
                </a:solidFill>
                <a:latin typeface="Arial"/>
              </a:rPr>
              <a:t>V</a:t>
            </a:r>
            <a:r>
              <a:rPr sz="1300" b="1" baseline="-25000">
                <a:solidFill>
                  <a:srgbClr val="2F8F5B"/>
                </a:solidFill>
                <a:latin typeface="Arial"/>
              </a:rPr>
              <a:t>s,turn</a:t>
            </a:r>
            <a:r>
              <a:rPr sz="1300" b="1">
                <a:solidFill>
                  <a:srgbClr val="2F8F5B"/>
                </a:solidFill>
                <a:latin typeface="Arial"/>
              </a:rPr>
              <a:t> = V</a:t>
            </a:r>
            <a:r>
              <a:rPr sz="1300" b="1" baseline="-25000">
                <a:solidFill>
                  <a:srgbClr val="2F8F5B"/>
                </a:solidFill>
                <a:latin typeface="Arial"/>
              </a:rPr>
              <a:t>s</a:t>
            </a:r>
            <a:r>
              <a:rPr sz="1300" b="1">
                <a:solidFill>
                  <a:srgbClr val="2F8F5B"/>
                </a:solidFill>
                <a:latin typeface="Arial"/>
              </a:rPr>
              <a:t> √n = V</a:t>
            </a:r>
            <a:r>
              <a:rPr sz="1300" b="1" baseline="-25000">
                <a:solidFill>
                  <a:srgbClr val="2F8F5B"/>
                </a:solidFill>
                <a:latin typeface="Arial"/>
              </a:rPr>
              <a:t>s</a:t>
            </a:r>
            <a:r>
              <a:rPr sz="1300" b="1">
                <a:solidFill>
                  <a:srgbClr val="2F8F5B"/>
                </a:solidFill>
                <a:latin typeface="Arial"/>
              </a:rPr>
              <a:t> / √(cos φ)</a:t>
            </a:r>
          </a:p>
        </p:txBody>
      </p:sp>
      <p:sp>
        <p:nvSpPr>
          <p:cNvPr id="58" name="Rounded Rectangle 57"/>
          <p:cNvSpPr/>
          <p:nvPr/>
        </p:nvSpPr>
        <p:spPr>
          <a:xfrm>
            <a:off x="347472" y="6492240"/>
            <a:ext cx="7077456" cy="777240"/>
          </a:xfrm>
          <a:prstGeom prst="roundRect">
            <a:avLst>
              <a:gd name="adj" fmla="val 10000"/>
            </a:avLst>
          </a:prstGeom>
          <a:solidFill>
            <a:srgbClr val="ECF7F0"/>
          </a:solidFill>
          <a:ln w="1270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75488" y="6729984"/>
            <a:ext cx="292608" cy="292608"/>
          </a:xfrm>
          <a:prstGeom prst="ellipse">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75488" y="6784848"/>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61" name="TextBox 60"/>
          <p:cNvSpPr txBox="1"/>
          <p:nvPr/>
        </p:nvSpPr>
        <p:spPr>
          <a:xfrm>
            <a:off x="868680" y="6620256"/>
            <a:ext cx="6400800" cy="548640"/>
          </a:xfrm>
          <a:prstGeom prst="rect">
            <a:avLst/>
          </a:prstGeom>
          <a:noFill/>
        </p:spPr>
        <p:txBody>
          <a:bodyPr wrap="square" lIns="0" rIns="0" tIns="0" bIns="0">
            <a:spAutoFit/>
          </a:bodyPr>
          <a:lstStyle/>
          <a:p>
            <a:pPr algn="l"/>
            <a:r>
              <a:rPr sz="950" b="0" i="0">
                <a:solidFill>
                  <a:srgbClr val="20263A"/>
                </a:solidFill>
                <a:latin typeface="Arial"/>
              </a:rPr>
              <a:t>When you can re-derive a formula, you own it: you know exactly which assumptions it hides (steady flight, constant density, rigid wing) and when it stops being true.</a:t>
            </a:r>
          </a:p>
        </p:txBody>
      </p:sp>
      <p:sp>
        <p:nvSpPr>
          <p:cNvPr id="62" name="Rounded Rectangle 61"/>
          <p:cNvSpPr/>
          <p:nvPr/>
        </p:nvSpPr>
        <p:spPr>
          <a:xfrm>
            <a:off x="347472" y="7452360"/>
            <a:ext cx="7077456" cy="868680"/>
          </a:xfrm>
          <a:prstGeom prst="roundRect">
            <a:avLst>
              <a:gd name="adj" fmla="val 10000"/>
            </a:avLst>
          </a:prstGeom>
          <a:solidFill>
            <a:srgbClr val="FDF6E3"/>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66344" y="7740396"/>
            <a:ext cx="292608" cy="292608"/>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66344" y="7790688"/>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65" name="TextBox 64"/>
          <p:cNvSpPr txBox="1"/>
          <p:nvPr/>
        </p:nvSpPr>
        <p:spPr>
          <a:xfrm>
            <a:off x="859536" y="7543800"/>
            <a:ext cx="914400" cy="146304"/>
          </a:xfrm>
          <a:prstGeom prst="rect">
            <a:avLst/>
          </a:prstGeom>
          <a:noFill/>
        </p:spPr>
        <p:txBody>
          <a:bodyPr wrap="square" lIns="0" rIns="0" tIns="0" bIns="0">
            <a:spAutoFit/>
          </a:bodyPr>
          <a:lstStyle/>
          <a:p>
            <a:pPr algn="l"/>
            <a:r>
              <a:rPr sz="800" b="1" i="0">
                <a:solidFill>
                  <a:srgbClr val="20263A"/>
                </a:solidFill>
                <a:latin typeface="Arial"/>
              </a:rPr>
              <a:t>YOUR TURN</a:t>
            </a:r>
          </a:p>
        </p:txBody>
      </p:sp>
      <p:sp>
        <p:nvSpPr>
          <p:cNvPr id="66" name="TextBox 65"/>
          <p:cNvSpPr txBox="1"/>
          <p:nvPr/>
        </p:nvSpPr>
        <p:spPr>
          <a:xfrm>
            <a:off x="859536" y="7699248"/>
            <a:ext cx="6391656" cy="539496"/>
          </a:xfrm>
          <a:prstGeom prst="rect">
            <a:avLst/>
          </a:prstGeom>
          <a:noFill/>
        </p:spPr>
        <p:txBody>
          <a:bodyPr wrap="square" lIns="0" rIns="0" tIns="0" bIns="0">
            <a:spAutoFit/>
          </a:bodyPr>
          <a:lstStyle/>
          <a:p>
            <a:pPr algn="l"/>
            <a:r>
              <a:rPr sz="850" b="0" i="0">
                <a:solidFill>
                  <a:srgbClr val="20263A"/>
                </a:solidFill>
                <a:latin typeface="Arial"/>
              </a:rPr>
              <a:t>Derive the general level-flight speed for any Cₗ (not just Cₗmax). Then compute the worked trainer’s speed at Cₗ = 0.4 with W = 14.7 N, S = 0.333 m². Check: you should get ≈ 13.4 m/s.</a:t>
            </a:r>
          </a:p>
        </p:txBody>
      </p:sp>
      <p:sp>
        <p:nvSpPr>
          <p:cNvPr id="67" name="TextBox 66"/>
          <p:cNvSpPr txBox="1"/>
          <p:nvPr/>
        </p:nvSpPr>
        <p:spPr>
          <a:xfrm>
            <a:off x="347472" y="8860536"/>
            <a:ext cx="6510528" cy="137160"/>
          </a:xfrm>
          <a:prstGeom prst="rect">
            <a:avLst/>
          </a:prstGeom>
          <a:noFill/>
        </p:spPr>
        <p:txBody>
          <a:bodyPr wrap="square" lIns="0" rIns="0" tIns="0" bIns="0">
            <a:spAutoFit/>
          </a:bodyPr>
          <a:lstStyle/>
          <a:p>
            <a:pPr algn="l"/>
            <a:r>
              <a:rPr sz="650" b="0" i="0">
                <a:solidFill>
                  <a:srgbClr val="5F687D"/>
                </a:solidFill>
                <a:latin typeface="Arial"/>
              </a:rPr>
              <a:t>Both derivations assume steady, unaccelerated flight at sea-level density.</a:t>
            </a:r>
          </a:p>
        </p:txBody>
      </p:sp>
      <p:sp>
        <p:nvSpPr>
          <p:cNvPr id="68" name="TextBox 67"/>
          <p:cNvSpPr txBox="1"/>
          <p:nvPr/>
        </p:nvSpPr>
        <p:spPr>
          <a:xfrm>
            <a:off x="7168896" y="8860536"/>
            <a:ext cx="320040" cy="146304"/>
          </a:xfrm>
          <a:prstGeom prst="rect">
            <a:avLst/>
          </a:prstGeom>
          <a:noFill/>
        </p:spPr>
        <p:txBody>
          <a:bodyPr wrap="square" lIns="0" rIns="0" tIns="0" bIns="0">
            <a:spAutoFit/>
          </a:bodyPr>
          <a:lstStyle/>
          <a:p>
            <a:pPr algn="r"/>
            <a:r>
              <a:rPr sz="700" b="0" i="0">
                <a:solidFill>
                  <a:srgbClr val="5F687D"/>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5486400" cy="164592"/>
          </a:xfrm>
          <a:prstGeom prst="rect">
            <a:avLst/>
          </a:prstGeom>
          <a:noFill/>
        </p:spPr>
        <p:txBody>
          <a:bodyPr wrap="square" lIns="0" rIns="0" tIns="0" bIns="0">
            <a:spAutoFit/>
          </a:bodyPr>
          <a:lstStyle/>
          <a:p>
            <a:pPr algn="l"/>
            <a:r>
              <a:rPr sz="900" b="1" i="0">
                <a:solidFill>
                  <a:srgbClr val="E2B93B"/>
                </a:solidFill>
                <a:latin typeface="Arial"/>
              </a:rPr>
              <a:t>R/C DESIGN EQUATIONS</a:t>
            </a:r>
          </a:p>
        </p:txBody>
      </p:sp>
      <p:sp>
        <p:nvSpPr>
          <p:cNvPr id="6" name="TextBox 5"/>
          <p:cNvSpPr txBox="1"/>
          <p:nvPr/>
        </p:nvSpPr>
        <p:spPr>
          <a:xfrm>
            <a:off x="347472" y="246888"/>
            <a:ext cx="7086600" cy="365760"/>
          </a:xfrm>
          <a:prstGeom prst="rect">
            <a:avLst/>
          </a:prstGeom>
          <a:noFill/>
        </p:spPr>
        <p:txBody>
          <a:bodyPr wrap="square" lIns="0" rIns="0" tIns="0" bIns="0">
            <a:spAutoFit/>
          </a:bodyPr>
          <a:lstStyle/>
          <a:p>
            <a:pPr algn="l"/>
            <a:r>
              <a:rPr sz="1900" b="1" i="0">
                <a:solidFill>
                  <a:srgbClr val="FFFFFF"/>
                </a:solidFill>
                <a:latin typeface="Arial"/>
              </a:rPr>
              <a:t>Induced drag: the price of making lift</a:t>
            </a:r>
          </a:p>
        </p:txBody>
      </p:sp>
      <p:sp>
        <p:nvSpPr>
          <p:cNvPr id="7" name="TextBox 6"/>
          <p:cNvSpPr txBox="1"/>
          <p:nvPr/>
        </p:nvSpPr>
        <p:spPr>
          <a:xfrm>
            <a:off x="347472" y="621792"/>
            <a:ext cx="7040880" cy="182880"/>
          </a:xfrm>
          <a:prstGeom prst="rect">
            <a:avLst/>
          </a:prstGeom>
          <a:noFill/>
        </p:spPr>
        <p:txBody>
          <a:bodyPr wrap="square" lIns="0" rIns="0" tIns="0" bIns="0">
            <a:spAutoFit/>
          </a:bodyPr>
          <a:lstStyle/>
          <a:p>
            <a:pPr algn="l"/>
            <a:r>
              <a:rPr sz="950" b="0" i="0">
                <a:solidFill>
                  <a:srgbClr val="D8DDE8"/>
                </a:solidFill>
                <a:latin typeface="Arial"/>
              </a:rPr>
              <a:t>The one equation missing from most beginner guides — and the reason gliders have long, skinny wings.</a:t>
            </a:r>
          </a:p>
        </p:txBody>
      </p:sp>
      <p:sp>
        <p:nvSpPr>
          <p:cNvPr id="8" name="Rounded Rectangle 7"/>
          <p:cNvSpPr/>
          <p:nvPr/>
        </p:nvSpPr>
        <p:spPr>
          <a:xfrm>
            <a:off x="347472" y="1188720"/>
            <a:ext cx="3474720" cy="1874519"/>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188720"/>
            <a:ext cx="54864" cy="1874519"/>
          </a:xfrm>
          <a:prstGeom prst="rect">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07592"/>
            <a:ext cx="3163824" cy="201168"/>
          </a:xfrm>
          <a:prstGeom prst="rect">
            <a:avLst/>
          </a:prstGeom>
          <a:noFill/>
        </p:spPr>
        <p:txBody>
          <a:bodyPr wrap="square" lIns="0" rIns="0" tIns="0" bIns="0">
            <a:spAutoFit/>
          </a:bodyPr>
          <a:lstStyle/>
          <a:p>
            <a:pPr algn="l"/>
            <a:r>
              <a:rPr sz="1000" b="1" i="0">
                <a:solidFill>
                  <a:srgbClr val="20263A"/>
                </a:solidFill>
                <a:latin typeface="Arial"/>
              </a:rPr>
              <a:t>THE EQUATION</a:t>
            </a:r>
          </a:p>
        </p:txBody>
      </p:sp>
      <p:sp>
        <p:nvSpPr>
          <p:cNvPr id="11" name="TextBox 10"/>
          <p:cNvSpPr txBox="1"/>
          <p:nvPr/>
        </p:nvSpPr>
        <p:spPr>
          <a:xfrm>
            <a:off x="502920" y="1645920"/>
            <a:ext cx="3154680" cy="365760"/>
          </a:xfrm>
          <a:prstGeom prst="rect">
            <a:avLst/>
          </a:prstGeom>
          <a:noFill/>
        </p:spPr>
        <p:txBody>
          <a:bodyPr wrap="square" lIns="0" rIns="0" tIns="0" bIns="0">
            <a:spAutoFit/>
          </a:bodyPr>
          <a:lstStyle/>
          <a:p>
            <a:pPr algn="ctr"/>
            <a:r>
              <a:rPr sz="1600" b="1">
                <a:solidFill>
                  <a:srgbClr val="20263A"/>
                </a:solidFill>
                <a:latin typeface="Arial"/>
              </a:rPr>
              <a:t>C</a:t>
            </a:r>
            <a:r>
              <a:rPr sz="1600" b="1" baseline="-25000">
                <a:solidFill>
                  <a:srgbClr val="20263A"/>
                </a:solidFill>
                <a:latin typeface="Arial"/>
              </a:rPr>
              <a:t>D,i</a:t>
            </a:r>
            <a:r>
              <a:rPr sz="1600" b="1">
                <a:solidFill>
                  <a:srgbClr val="20263A"/>
                </a:solidFill>
                <a:latin typeface="Arial"/>
              </a:rPr>
              <a:t> = C</a:t>
            </a:r>
            <a:r>
              <a:rPr sz="1600" b="1" baseline="-25000">
                <a:solidFill>
                  <a:srgbClr val="20263A"/>
                </a:solidFill>
                <a:latin typeface="Arial"/>
              </a:rPr>
              <a:t>L</a:t>
            </a:r>
            <a:r>
              <a:rPr sz="1600" b="1">
                <a:solidFill>
                  <a:srgbClr val="20263A"/>
                </a:solidFill>
                <a:latin typeface="Arial"/>
              </a:rPr>
              <a:t>² / ( π · AR · e )</a:t>
            </a:r>
          </a:p>
        </p:txBody>
      </p:sp>
      <p:sp>
        <p:nvSpPr>
          <p:cNvPr id="12" name="TextBox 11"/>
          <p:cNvSpPr txBox="1"/>
          <p:nvPr/>
        </p:nvSpPr>
        <p:spPr>
          <a:xfrm>
            <a:off x="502920" y="2157984"/>
            <a:ext cx="3154680" cy="822960"/>
          </a:xfrm>
          <a:prstGeom prst="rect">
            <a:avLst/>
          </a:prstGeom>
          <a:noFill/>
        </p:spPr>
        <p:txBody>
          <a:bodyPr wrap="square" lIns="0" rIns="0" tIns="0" bIns="0">
            <a:spAutoFit/>
          </a:bodyPr>
          <a:lstStyle/>
          <a:p>
            <a:pPr algn="l"/>
            <a:r>
              <a:rPr sz="850" b="0" i="0">
                <a:solidFill>
                  <a:srgbClr val="5F687D"/>
                </a:solidFill>
                <a:latin typeface="Arial"/>
              </a:rPr>
              <a:t>e is the span-efficiency factor: 1.0 for a perfect elliptical lift distribution, typically 0.7–0.85 for straight R/C wings. Everything else you already know.</a:t>
            </a:r>
          </a:p>
        </p:txBody>
      </p:sp>
      <p:sp>
        <p:nvSpPr>
          <p:cNvPr id="13" name="Rounded Rectangle 12"/>
          <p:cNvSpPr/>
          <p:nvPr/>
        </p:nvSpPr>
        <p:spPr>
          <a:xfrm>
            <a:off x="3950208" y="1188720"/>
            <a:ext cx="3474720" cy="1874519"/>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50208" y="1188720"/>
            <a:ext cx="54864" cy="1874519"/>
          </a:xfrm>
          <a:prstGeom prst="rect">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05656" y="1307592"/>
            <a:ext cx="3163824" cy="201168"/>
          </a:xfrm>
          <a:prstGeom prst="rect">
            <a:avLst/>
          </a:prstGeom>
          <a:noFill/>
        </p:spPr>
        <p:txBody>
          <a:bodyPr wrap="square" lIns="0" rIns="0" tIns="0" bIns="0">
            <a:spAutoFit/>
          </a:bodyPr>
          <a:lstStyle/>
          <a:p>
            <a:pPr algn="l"/>
            <a:r>
              <a:rPr sz="1000" b="1" i="0">
                <a:solidFill>
                  <a:srgbClr val="20263A"/>
                </a:solidFill>
                <a:latin typeface="Arial"/>
              </a:rPr>
              <a:t>READ IT LIKE AN ENGINEER</a:t>
            </a:r>
          </a:p>
        </p:txBody>
      </p:sp>
      <p:sp>
        <p:nvSpPr>
          <p:cNvPr id="16" name="TextBox 15"/>
          <p:cNvSpPr txBox="1"/>
          <p:nvPr/>
        </p:nvSpPr>
        <p:spPr>
          <a:xfrm>
            <a:off x="4105656" y="1645920"/>
            <a:ext cx="3200400" cy="1325880"/>
          </a:xfrm>
          <a:prstGeom prst="rect">
            <a:avLst/>
          </a:prstGeom>
          <a:noFill/>
        </p:spPr>
        <p:txBody>
          <a:bodyPr wrap="square" lIns="0" rIns="0" tIns="0" bIns="0">
            <a:spAutoFit/>
          </a:bodyPr>
          <a:lstStyle/>
          <a:p>
            <a:pPr algn="l"/>
            <a:r>
              <a:rPr sz="850" b="0" i="0">
                <a:solidFill>
                  <a:srgbClr val="20263A"/>
                </a:solidFill>
                <a:latin typeface="Arial"/>
              </a:rPr>
              <a:t>• Cₗ is squared: fly twice the lift coefficient, pay four times the induced drag.</a:t>
            </a:r>
          </a:p>
          <a:p>
            <a:pPr algn="l"/>
            <a:r>
              <a:rPr sz="850" b="0" i="0">
                <a:solidFill>
                  <a:srgbClr val="20263A"/>
                </a:solidFill>
                <a:latin typeface="Arial"/>
              </a:rPr>
              <a:t>• AR is in the denominator: longer wings pay less for the same lift.</a:t>
            </a:r>
          </a:p>
          <a:p>
            <a:pPr algn="l"/>
            <a:r>
              <a:rPr sz="850" b="0" i="0">
                <a:solidFill>
                  <a:srgbClr val="20263A"/>
                </a:solidFill>
                <a:latin typeface="Arial"/>
              </a:rPr>
              <a:t>• It has nothing to do with surface finish — this drag exists because lift exists.</a:t>
            </a:r>
          </a:p>
        </p:txBody>
      </p:sp>
      <p:sp>
        <p:nvSpPr>
          <p:cNvPr id="17" name="Rounded Rectangle 16"/>
          <p:cNvSpPr/>
          <p:nvPr/>
        </p:nvSpPr>
        <p:spPr>
          <a:xfrm>
            <a:off x="347472" y="3291840"/>
            <a:ext cx="3474720" cy="233172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7472" y="3291840"/>
            <a:ext cx="54864" cy="2331720"/>
          </a:xfrm>
          <a:prstGeom prst="rect">
            <a:avLst/>
          </a:prstGeom>
          <a:solidFill>
            <a:srgbClr val="13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410712"/>
            <a:ext cx="3163824" cy="201168"/>
          </a:xfrm>
          <a:prstGeom prst="rect">
            <a:avLst/>
          </a:prstGeom>
          <a:noFill/>
        </p:spPr>
        <p:txBody>
          <a:bodyPr wrap="square" lIns="0" rIns="0" tIns="0" bIns="0">
            <a:spAutoFit/>
          </a:bodyPr>
          <a:lstStyle/>
          <a:p>
            <a:pPr algn="l"/>
            <a:r>
              <a:rPr sz="1000" b="1" i="0">
                <a:solidFill>
                  <a:srgbClr val="20263A"/>
                </a:solidFill>
                <a:latin typeface="Arial"/>
              </a:rPr>
              <a:t>WHERE IT COMES FROM</a:t>
            </a:r>
          </a:p>
        </p:txBody>
      </p:sp>
      <p:sp>
        <p:nvSpPr>
          <p:cNvPr id="20" name="Freeform 19"/>
          <p:cNvSpPr/>
          <p:nvPr/>
        </p:nvSpPr>
        <p:spPr>
          <a:xfrm>
            <a:off x="777240" y="4343400"/>
            <a:ext cx="2606040" cy="82296"/>
          </a:xfrm>
          <a:custGeom>
            <a:avLst/>
            <a:gdLst/>
            <a:ahLst/>
            <a:cxnLst/>
            <a:rect l="l" t="t" r="r" b="b"/>
            <a:pathLst>
              <a:path w="2606040" h="82296">
                <a:moveTo>
                  <a:pt x="0" y="0"/>
                </a:moveTo>
                <a:lnTo>
                  <a:pt x="2606040" y="0"/>
                </a:lnTo>
                <a:lnTo>
                  <a:pt x="2606040" y="82296"/>
                </a:lnTo>
                <a:lnTo>
                  <a:pt x="0" y="82296"/>
                </a:lnTo>
                <a:close/>
              </a:path>
            </a:pathLst>
          </a:custGeom>
          <a:solidFill>
            <a:srgbClr val="EDF4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867912"/>
            <a:ext cx="1371600" cy="146304"/>
          </a:xfrm>
          <a:prstGeom prst="rect">
            <a:avLst/>
          </a:prstGeom>
          <a:noFill/>
        </p:spPr>
        <p:txBody>
          <a:bodyPr wrap="square" lIns="0" rIns="0" tIns="0" bIns="0">
            <a:spAutoFit/>
          </a:bodyPr>
          <a:lstStyle/>
          <a:p>
            <a:pPr algn="ctr"/>
            <a:r>
              <a:rPr sz="700" b="0" i="0">
                <a:solidFill>
                  <a:srgbClr val="5F687D"/>
                </a:solidFill>
                <a:latin typeface="Arial"/>
              </a:rPr>
              <a:t>low pressure above</a:t>
            </a:r>
          </a:p>
        </p:txBody>
      </p:sp>
      <p:sp>
        <p:nvSpPr>
          <p:cNvPr id="22" name="TextBox 21"/>
          <p:cNvSpPr txBox="1"/>
          <p:nvPr/>
        </p:nvSpPr>
        <p:spPr>
          <a:xfrm>
            <a:off x="1417320" y="4489704"/>
            <a:ext cx="1371600" cy="146304"/>
          </a:xfrm>
          <a:prstGeom prst="rect">
            <a:avLst/>
          </a:prstGeom>
          <a:noFill/>
        </p:spPr>
        <p:txBody>
          <a:bodyPr wrap="square" lIns="0" rIns="0" tIns="0" bIns="0">
            <a:spAutoFit/>
          </a:bodyPr>
          <a:lstStyle/>
          <a:p>
            <a:pPr algn="ctr"/>
            <a:r>
              <a:rPr sz="700" b="0" i="0">
                <a:solidFill>
                  <a:srgbClr val="5F687D"/>
                </a:solidFill>
                <a:latin typeface="Arial"/>
              </a:rPr>
              <a:t>leaks around the tips</a:t>
            </a:r>
          </a:p>
        </p:txBody>
      </p:sp>
      <p:sp>
        <p:nvSpPr>
          <p:cNvPr id="23" name="Arc 22"/>
          <p:cNvSpPr/>
          <p:nvPr/>
        </p:nvSpPr>
        <p:spPr>
          <a:xfrm>
            <a:off x="539496" y="4146804"/>
            <a:ext cx="475488" cy="475488"/>
          </a:xfrm>
          <a:prstGeom prst="arc">
            <a:avLst>
              <a:gd name="adj1" fmla="val 5400000"/>
              <a:gd name="adj2" fmla="val 19800000"/>
            </a:avLst>
          </a:prstGeom>
          <a:noFill/>
          <a:ln w="22225">
            <a:solidFill>
              <a:srgbClr val="138C8C"/>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rc 23"/>
          <p:cNvSpPr/>
          <p:nvPr/>
        </p:nvSpPr>
        <p:spPr>
          <a:xfrm>
            <a:off x="3145536" y="4146804"/>
            <a:ext cx="475488" cy="475488"/>
          </a:xfrm>
          <a:prstGeom prst="arc">
            <a:avLst>
              <a:gd name="adj1" fmla="val 12600000"/>
              <a:gd name="adj2" fmla="val 5400000"/>
            </a:avLst>
          </a:prstGeom>
          <a:noFill/>
          <a:ln w="22225">
            <a:solidFill>
              <a:srgbClr val="138C8C"/>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892040"/>
            <a:ext cx="3200400" cy="603504"/>
          </a:xfrm>
          <a:prstGeom prst="rect">
            <a:avLst/>
          </a:prstGeom>
          <a:noFill/>
        </p:spPr>
        <p:txBody>
          <a:bodyPr wrap="square" lIns="0" rIns="0" tIns="0" bIns="0">
            <a:spAutoFit/>
          </a:bodyPr>
          <a:lstStyle/>
          <a:p>
            <a:pPr algn="l"/>
            <a:r>
              <a:rPr sz="850" b="0" i="0">
                <a:solidFill>
                  <a:srgbClr val="20263A"/>
                </a:solidFill>
                <a:latin typeface="Arial"/>
              </a:rPr>
              <a:t>Air spills around each tip → trailing vortices → the wing flies in its own downwash → the lift vector tilts back. That backward tilt is induced drag.</a:t>
            </a:r>
          </a:p>
        </p:txBody>
      </p:sp>
      <p:sp>
        <p:nvSpPr>
          <p:cNvPr id="26" name="Rounded Rectangle 25"/>
          <p:cNvSpPr/>
          <p:nvPr/>
        </p:nvSpPr>
        <p:spPr>
          <a:xfrm>
            <a:off x="3950208" y="3291840"/>
            <a:ext cx="3474720" cy="233172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950208" y="3291840"/>
            <a:ext cx="54864" cy="2331720"/>
          </a:xfrm>
          <a:prstGeom prst="rect">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05656" y="3410712"/>
            <a:ext cx="3163824" cy="201168"/>
          </a:xfrm>
          <a:prstGeom prst="rect">
            <a:avLst/>
          </a:prstGeom>
          <a:noFill/>
        </p:spPr>
        <p:txBody>
          <a:bodyPr wrap="square" lIns="0" rIns="0" tIns="0" bIns="0">
            <a:spAutoFit/>
          </a:bodyPr>
          <a:lstStyle/>
          <a:p>
            <a:pPr algn="l"/>
            <a:r>
              <a:rPr sz="1000" b="1" i="0">
                <a:solidFill>
                  <a:srgbClr val="20263A"/>
                </a:solidFill>
                <a:latin typeface="Arial"/>
              </a:rPr>
              <a:t>WORKED NUMBERS — YOUR TRAINER</a:t>
            </a:r>
          </a:p>
        </p:txBody>
      </p:sp>
      <p:sp>
        <p:nvSpPr>
          <p:cNvPr id="29" name="TextBox 28"/>
          <p:cNvSpPr txBox="1"/>
          <p:nvPr/>
        </p:nvSpPr>
        <p:spPr>
          <a:xfrm>
            <a:off x="4105656" y="3639312"/>
            <a:ext cx="3200400" cy="1828800"/>
          </a:xfrm>
          <a:prstGeom prst="rect">
            <a:avLst/>
          </a:prstGeom>
          <a:noFill/>
        </p:spPr>
        <p:txBody>
          <a:bodyPr wrap="square" lIns="0" rIns="0" tIns="0" bIns="0">
            <a:spAutoFit/>
          </a:bodyPr>
          <a:lstStyle/>
          <a:p>
            <a:pPr algn="l"/>
            <a:r>
              <a:rPr sz="850" b="0" i="0">
                <a:solidFill>
                  <a:srgbClr val="20263A"/>
                </a:solidFill>
                <a:latin typeface="Arial"/>
              </a:rPr>
              <a:t>AR = 6.5, e ≈ 0.8, so π·AR·e ≈ 16.3</a:t>
            </a:r>
          </a:p>
          <a:p>
            <a:pPr algn="l"/>
            <a:r>
              <a:rPr sz="850" b="0" i="0">
                <a:solidFill>
                  <a:srgbClr val="20263A"/>
                </a:solidFill>
                <a:latin typeface="Arial"/>
              </a:rPr>
              <a:t/>
            </a:r>
          </a:p>
          <a:p>
            <a:pPr algn="l"/>
            <a:r>
              <a:rPr sz="850" b="0" i="0">
                <a:solidFill>
                  <a:srgbClr val="20263A"/>
                </a:solidFill>
                <a:latin typeface="Arial"/>
              </a:rPr>
              <a:t>Cruise, Cₗ = 0.60:</a:t>
            </a:r>
          </a:p>
          <a:p>
            <a:pPr algn="l"/>
            <a:r>
              <a:rPr sz="850" b="0" i="0">
                <a:solidFill>
                  <a:srgbClr val="20263A"/>
                </a:solidFill>
                <a:latin typeface="Arial"/>
              </a:rPr>
              <a:t>C</a:t>
            </a:r>
            <a:r>
              <a:rPr sz="850" b="0" i="0" baseline="-25000">
                <a:solidFill>
                  <a:srgbClr val="20263A"/>
                </a:solidFill>
                <a:latin typeface="Arial"/>
              </a:rPr>
              <a:t>D,i</a:t>
            </a:r>
            <a:r>
              <a:rPr sz="850" b="0" i="0">
                <a:solidFill>
                  <a:srgbClr val="20263A"/>
                </a:solidFill>
                <a:latin typeface="Arial"/>
              </a:rPr>
              <a:t> = 0.36 / 16.3 ≈ 0.022</a:t>
            </a:r>
          </a:p>
          <a:p>
            <a:pPr algn="l"/>
            <a:r>
              <a:rPr sz="850" b="0" i="0">
                <a:solidFill>
                  <a:srgbClr val="20263A"/>
                </a:solidFill>
                <a:latin typeface="Arial"/>
              </a:rPr>
              <a:t/>
            </a:r>
          </a:p>
          <a:p>
            <a:pPr algn="l"/>
            <a:r>
              <a:rPr sz="850" b="0" i="0">
                <a:solidFill>
                  <a:srgbClr val="20263A"/>
                </a:solidFill>
                <a:latin typeface="Arial"/>
              </a:rPr>
              <a:t>Slow pass, Cₗ = 1.10:</a:t>
            </a:r>
          </a:p>
          <a:p>
            <a:pPr algn="l"/>
            <a:r>
              <a:rPr sz="850" b="0" i="0">
                <a:solidFill>
                  <a:srgbClr val="20263A"/>
                </a:solidFill>
                <a:latin typeface="Arial"/>
              </a:rPr>
              <a:t>C</a:t>
            </a:r>
            <a:r>
              <a:rPr sz="850" b="0" i="0" baseline="-25000">
                <a:solidFill>
                  <a:srgbClr val="20263A"/>
                </a:solidFill>
                <a:latin typeface="Arial"/>
              </a:rPr>
              <a:t>D,i</a:t>
            </a:r>
            <a:r>
              <a:rPr sz="850" b="0" i="0">
                <a:solidFill>
                  <a:srgbClr val="20263A"/>
                </a:solidFill>
                <a:latin typeface="Arial"/>
              </a:rPr>
              <a:t> = 1.21 / 16.3 ≈ 0.074 — 3.4× more</a:t>
            </a:r>
          </a:p>
          <a:p>
            <a:pPr algn="l"/>
            <a:r>
              <a:rPr sz="850" b="0" i="0">
                <a:solidFill>
                  <a:srgbClr val="20263A"/>
                </a:solidFill>
                <a:latin typeface="Arial"/>
              </a:rPr>
              <a:t/>
            </a:r>
          </a:p>
          <a:p>
            <a:pPr algn="l"/>
            <a:r>
              <a:rPr sz="850" b="0" i="0">
                <a:solidFill>
                  <a:srgbClr val="20263A"/>
                </a:solidFill>
                <a:latin typeface="Arial"/>
              </a:rPr>
              <a:t>Slow flight is draggy flight: throttle up before you slow down.</a:t>
            </a:r>
          </a:p>
        </p:txBody>
      </p:sp>
      <p:sp>
        <p:nvSpPr>
          <p:cNvPr id="30" name="Rounded Rectangle 29"/>
          <p:cNvSpPr/>
          <p:nvPr/>
        </p:nvSpPr>
        <p:spPr>
          <a:xfrm>
            <a:off x="347472" y="5852160"/>
            <a:ext cx="7077456" cy="822960"/>
          </a:xfrm>
          <a:prstGeom prst="roundRect">
            <a:avLst>
              <a:gd name="adj" fmla="val 10000"/>
            </a:avLst>
          </a:prstGeom>
          <a:solidFill>
            <a:srgbClr val="FFF3E9"/>
          </a:solidFill>
          <a:ln w="1270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5488" y="6108192"/>
            <a:ext cx="292608" cy="292608"/>
          </a:xfrm>
          <a:prstGeom prst="ellipse">
            <a:avLst/>
          </a:prstGeom>
          <a:solidFill>
            <a:srgbClr val="E07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5488" y="6163056"/>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33" name="TextBox 32"/>
          <p:cNvSpPr txBox="1"/>
          <p:nvPr/>
        </p:nvSpPr>
        <p:spPr>
          <a:xfrm>
            <a:off x="868680" y="5961888"/>
            <a:ext cx="6400800" cy="621792"/>
          </a:xfrm>
          <a:prstGeom prst="rect">
            <a:avLst/>
          </a:prstGeom>
          <a:noFill/>
        </p:spPr>
        <p:txBody>
          <a:bodyPr wrap="square" lIns="0" rIns="0" tIns="0" bIns="0">
            <a:spAutoFit/>
          </a:bodyPr>
          <a:lstStyle/>
          <a:p>
            <a:pPr algn="l"/>
            <a:r>
              <a:rPr sz="950" b="0" i="0">
                <a:solidFill>
                  <a:srgbClr val="20263A"/>
                </a:solidFill>
                <a:latin typeface="Arial"/>
              </a:rPr>
              <a:t>Every gram costs twice: more weight → more Cₗ needed at the same speed → more induced drag → more power → bigger battery → more weight. This is why the mass budget on the worked-trainer pages matters so much.</a:t>
            </a:r>
          </a:p>
        </p:txBody>
      </p:sp>
      <p:sp>
        <p:nvSpPr>
          <p:cNvPr id="34" name="Rounded Rectangle 33"/>
          <p:cNvSpPr/>
          <p:nvPr/>
        </p:nvSpPr>
        <p:spPr>
          <a:xfrm>
            <a:off x="347472" y="6903720"/>
            <a:ext cx="7077456" cy="868680"/>
          </a:xfrm>
          <a:prstGeom prst="roundRect">
            <a:avLst>
              <a:gd name="adj" fmla="val 10000"/>
            </a:avLst>
          </a:prstGeom>
          <a:solidFill>
            <a:srgbClr val="FDF6E3"/>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6344" y="7191756"/>
            <a:ext cx="292608" cy="292608"/>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344" y="7242048"/>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37" name="TextBox 36"/>
          <p:cNvSpPr txBox="1"/>
          <p:nvPr/>
        </p:nvSpPr>
        <p:spPr>
          <a:xfrm>
            <a:off x="859536" y="6995159"/>
            <a:ext cx="914400" cy="146304"/>
          </a:xfrm>
          <a:prstGeom prst="rect">
            <a:avLst/>
          </a:prstGeom>
          <a:noFill/>
        </p:spPr>
        <p:txBody>
          <a:bodyPr wrap="square" lIns="0" rIns="0" tIns="0" bIns="0">
            <a:spAutoFit/>
          </a:bodyPr>
          <a:lstStyle/>
          <a:p>
            <a:pPr algn="l"/>
            <a:r>
              <a:rPr sz="800" b="1" i="0">
                <a:solidFill>
                  <a:srgbClr val="20263A"/>
                </a:solidFill>
                <a:latin typeface="Arial"/>
              </a:rPr>
              <a:t>YOUR TURN</a:t>
            </a:r>
          </a:p>
        </p:txBody>
      </p:sp>
      <p:sp>
        <p:nvSpPr>
          <p:cNvPr id="38" name="TextBox 37"/>
          <p:cNvSpPr txBox="1"/>
          <p:nvPr/>
        </p:nvSpPr>
        <p:spPr>
          <a:xfrm>
            <a:off x="859536" y="7150608"/>
            <a:ext cx="6391656" cy="539496"/>
          </a:xfrm>
          <a:prstGeom prst="rect">
            <a:avLst/>
          </a:prstGeom>
          <a:noFill/>
        </p:spPr>
        <p:txBody>
          <a:bodyPr wrap="square" lIns="0" rIns="0" tIns="0" bIns="0">
            <a:spAutoFit/>
          </a:bodyPr>
          <a:lstStyle/>
          <a:p>
            <a:pPr algn="l"/>
            <a:r>
              <a:rPr sz="850" b="0" i="0">
                <a:solidFill>
                  <a:srgbClr val="20263A"/>
                </a:solidFill>
                <a:latin typeface="Arial"/>
              </a:rPr>
              <a:t>Halve the aspect ratio to 3.25 (same area). What happens to </a:t>
            </a:r>
            <a:r>
              <a:rPr sz="850" b="0" i="0">
                <a:solidFill>
                  <a:srgbClr val="20263A"/>
                </a:solidFill>
                <a:latin typeface="Arial"/>
              </a:rPr>
              <a:t>C</a:t>
            </a:r>
            <a:r>
              <a:rPr sz="850" b="0" i="0" baseline="-25000">
                <a:solidFill>
                  <a:srgbClr val="20263A"/>
                </a:solidFill>
                <a:latin typeface="Arial"/>
              </a:rPr>
              <a:t>D,i</a:t>
            </a:r>
            <a:r>
              <a:rPr sz="850" b="0" i="0">
                <a:solidFill>
                  <a:srgbClr val="20263A"/>
                </a:solidFill>
                <a:latin typeface="Arial"/>
              </a:rPr>
              <a:t> at Cₗ = 0.6? Now explain why an albatross — which soars for hours without flapping — has AR ≈ 15.</a:t>
            </a:r>
          </a:p>
        </p:txBody>
      </p:sp>
      <p:sp>
        <p:nvSpPr>
          <p:cNvPr id="39" name="TextBox 38"/>
          <p:cNvSpPr txBox="1"/>
          <p:nvPr/>
        </p:nvSpPr>
        <p:spPr>
          <a:xfrm>
            <a:off x="347472" y="8860536"/>
            <a:ext cx="6510528" cy="137160"/>
          </a:xfrm>
          <a:prstGeom prst="rect">
            <a:avLst/>
          </a:prstGeom>
          <a:noFill/>
        </p:spPr>
        <p:txBody>
          <a:bodyPr wrap="square" lIns="0" rIns="0" tIns="0" bIns="0">
            <a:spAutoFit/>
          </a:bodyPr>
          <a:lstStyle/>
          <a:p>
            <a:pPr algn="l"/>
            <a:r>
              <a:rPr sz="650" b="0" i="0">
                <a:solidFill>
                  <a:srgbClr val="5F687D"/>
                </a:solidFill>
                <a:latin typeface="Arial"/>
              </a:rPr>
              <a:t>C</a:t>
            </a:r>
            <a:r>
              <a:rPr sz="650" b="0" i="0" baseline="-25000">
                <a:solidFill>
                  <a:srgbClr val="5F687D"/>
                </a:solidFill>
                <a:latin typeface="Arial"/>
              </a:rPr>
              <a:t>D,i</a:t>
            </a:r>
            <a:r>
              <a:rPr sz="650" b="0" i="0">
                <a:solidFill>
                  <a:srgbClr val="5F687D"/>
                </a:solidFill>
                <a:latin typeface="Arial"/>
              </a:rPr>
              <a:t> = Cₗ²/(π·AR·e): standard finite-wing result (Prandtl lifting-line theory); see NASA Glenn induced-drag pages.</a:t>
            </a:r>
          </a:p>
        </p:txBody>
      </p:sp>
      <p:sp>
        <p:nvSpPr>
          <p:cNvPr id="40" name="TextBox 39"/>
          <p:cNvSpPr txBox="1"/>
          <p:nvPr/>
        </p:nvSpPr>
        <p:spPr>
          <a:xfrm>
            <a:off x="7168896" y="8860536"/>
            <a:ext cx="320040" cy="146304"/>
          </a:xfrm>
          <a:prstGeom prst="rect">
            <a:avLst/>
          </a:prstGeom>
          <a:noFill/>
        </p:spPr>
        <p:txBody>
          <a:bodyPr wrap="square" lIns="0" rIns="0" tIns="0" bIns="0">
            <a:spAutoFit/>
          </a:bodyPr>
          <a:lstStyle/>
          <a:p>
            <a:pPr algn="r"/>
            <a:r>
              <a:rPr sz="700" b="0" i="0">
                <a:solidFill>
                  <a:srgbClr val="5F687D"/>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5486400" cy="164592"/>
          </a:xfrm>
          <a:prstGeom prst="rect">
            <a:avLst/>
          </a:prstGeom>
          <a:noFill/>
        </p:spPr>
        <p:txBody>
          <a:bodyPr wrap="square" lIns="0" rIns="0" tIns="0" bIns="0">
            <a:spAutoFit/>
          </a:bodyPr>
          <a:lstStyle/>
          <a:p>
            <a:pPr algn="l"/>
            <a:r>
              <a:rPr sz="900" b="1" i="0">
                <a:solidFill>
                  <a:srgbClr val="E2B93B"/>
                </a:solidFill>
                <a:latin typeface="Arial"/>
              </a:rPr>
              <a:t>R/C DESIGN EQUATIONS</a:t>
            </a:r>
          </a:p>
        </p:txBody>
      </p:sp>
      <p:sp>
        <p:nvSpPr>
          <p:cNvPr id="6" name="TextBox 5"/>
          <p:cNvSpPr txBox="1"/>
          <p:nvPr/>
        </p:nvSpPr>
        <p:spPr>
          <a:xfrm>
            <a:off x="347472" y="246888"/>
            <a:ext cx="7086600" cy="365760"/>
          </a:xfrm>
          <a:prstGeom prst="rect">
            <a:avLst/>
          </a:prstGeom>
          <a:noFill/>
        </p:spPr>
        <p:txBody>
          <a:bodyPr wrap="square" lIns="0" rIns="0" tIns="0" bIns="0">
            <a:spAutoFit/>
          </a:bodyPr>
          <a:lstStyle/>
          <a:p>
            <a:pPr algn="l"/>
            <a:r>
              <a:rPr sz="1900" b="1" i="0">
                <a:solidFill>
                  <a:srgbClr val="FFFFFF"/>
                </a:solidFill>
                <a:latin typeface="Arial"/>
              </a:rPr>
              <a:t>The lift curve: what Cₗ actually does</a:t>
            </a:r>
          </a:p>
        </p:txBody>
      </p:sp>
      <p:sp>
        <p:nvSpPr>
          <p:cNvPr id="7" name="TextBox 6"/>
          <p:cNvSpPr txBox="1"/>
          <p:nvPr/>
        </p:nvSpPr>
        <p:spPr>
          <a:xfrm>
            <a:off x="347472" y="621792"/>
            <a:ext cx="7040880" cy="182880"/>
          </a:xfrm>
          <a:prstGeom prst="rect">
            <a:avLst/>
          </a:prstGeom>
          <a:noFill/>
        </p:spPr>
        <p:txBody>
          <a:bodyPr wrap="square" lIns="0" rIns="0" tIns="0" bIns="0">
            <a:spAutoFit/>
          </a:bodyPr>
          <a:lstStyle/>
          <a:p>
            <a:pPr algn="l"/>
            <a:r>
              <a:rPr sz="950" b="0" i="0">
                <a:solidFill>
                  <a:srgbClr val="D8DDE8"/>
                </a:solidFill>
                <a:latin typeface="Arial"/>
              </a:rPr>
              <a:t>One graph ties together angle of attack, Cₗmax, and the stall — read it once and pages 14, 33, and 41 snap into place.</a:t>
            </a:r>
          </a:p>
        </p:txBody>
      </p:sp>
      <p:sp>
        <p:nvSpPr>
          <p:cNvPr id="8" name="Rounded Rectangle 7"/>
          <p:cNvSpPr/>
          <p:nvPr/>
        </p:nvSpPr>
        <p:spPr>
          <a:xfrm>
            <a:off x="347472" y="1188720"/>
            <a:ext cx="7077456" cy="416052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325880" y="3575875"/>
            <a:ext cx="5394960" cy="0"/>
          </a:xfrm>
          <a:prstGeom prst="line">
            <a:avLst/>
          </a:prstGeom>
          <a:ln w="9525">
            <a:solidFill>
              <a:srgbClr val="E4E8F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25880" y="2590038"/>
            <a:ext cx="5394960" cy="0"/>
          </a:xfrm>
          <a:prstGeom prst="line">
            <a:avLst/>
          </a:prstGeom>
          <a:ln w="9525">
            <a:solidFill>
              <a:srgbClr val="E4E8F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25880" y="4561713"/>
            <a:ext cx="5524439" cy="0"/>
          </a:xfrm>
          <a:prstGeom prst="line">
            <a:avLst/>
          </a:prstGeom>
          <a:ln w="15875">
            <a:solidFill>
              <a:srgbClr val="20263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404872" y="1702784"/>
            <a:ext cx="0" cy="3253264"/>
          </a:xfrm>
          <a:prstGeom prst="line">
            <a:avLst/>
          </a:prstGeom>
          <a:ln w="15875">
            <a:solidFill>
              <a:srgbClr val="20263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483864" y="4534280"/>
            <a:ext cx="0" cy="54865"/>
          </a:xfrm>
          <a:prstGeom prst="line">
            <a:avLst/>
          </a:prstGeom>
          <a:ln w="1270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300984" y="4616576"/>
            <a:ext cx="365760" cy="128016"/>
          </a:xfrm>
          <a:prstGeom prst="rect">
            <a:avLst/>
          </a:prstGeom>
          <a:noFill/>
        </p:spPr>
        <p:txBody>
          <a:bodyPr wrap="square" lIns="0" rIns="0" tIns="0" bIns="0">
            <a:spAutoFit/>
          </a:bodyPr>
          <a:lstStyle/>
          <a:p>
            <a:pPr algn="ctr"/>
            <a:r>
              <a:rPr sz="750" b="0" i="0">
                <a:solidFill>
                  <a:srgbClr val="5F687D"/>
                </a:solidFill>
                <a:latin typeface="Arial"/>
              </a:rPr>
              <a:t>5°</a:t>
            </a:r>
          </a:p>
        </p:txBody>
      </p:sp>
      <p:cxnSp>
        <p:nvCxnSpPr>
          <p:cNvPr id="15" name="Connector 14"/>
          <p:cNvCxnSpPr/>
          <p:nvPr/>
        </p:nvCxnSpPr>
        <p:spPr>
          <a:xfrm>
            <a:off x="4562856" y="4534280"/>
            <a:ext cx="0" cy="54865"/>
          </a:xfrm>
          <a:prstGeom prst="line">
            <a:avLst/>
          </a:prstGeom>
          <a:ln w="1270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79976" y="4616576"/>
            <a:ext cx="365760" cy="128016"/>
          </a:xfrm>
          <a:prstGeom prst="rect">
            <a:avLst/>
          </a:prstGeom>
          <a:noFill/>
        </p:spPr>
        <p:txBody>
          <a:bodyPr wrap="square" lIns="0" rIns="0" tIns="0" bIns="0">
            <a:spAutoFit/>
          </a:bodyPr>
          <a:lstStyle/>
          <a:p>
            <a:pPr algn="ctr"/>
            <a:r>
              <a:rPr sz="750" b="0" i="0">
                <a:solidFill>
                  <a:srgbClr val="5F687D"/>
                </a:solidFill>
                <a:latin typeface="Arial"/>
              </a:rPr>
              <a:t>10°</a:t>
            </a:r>
          </a:p>
        </p:txBody>
      </p:sp>
      <p:cxnSp>
        <p:nvCxnSpPr>
          <p:cNvPr id="17" name="Connector 16"/>
          <p:cNvCxnSpPr/>
          <p:nvPr/>
        </p:nvCxnSpPr>
        <p:spPr>
          <a:xfrm>
            <a:off x="5641848" y="4534280"/>
            <a:ext cx="0" cy="54865"/>
          </a:xfrm>
          <a:prstGeom prst="line">
            <a:avLst/>
          </a:prstGeom>
          <a:ln w="1270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58968" y="4616576"/>
            <a:ext cx="365760" cy="128016"/>
          </a:xfrm>
          <a:prstGeom prst="rect">
            <a:avLst/>
          </a:prstGeom>
          <a:noFill/>
        </p:spPr>
        <p:txBody>
          <a:bodyPr wrap="square" lIns="0" rIns="0" tIns="0" bIns="0">
            <a:spAutoFit/>
          </a:bodyPr>
          <a:lstStyle/>
          <a:p>
            <a:pPr algn="ctr"/>
            <a:r>
              <a:rPr sz="750" b="0" i="0">
                <a:solidFill>
                  <a:srgbClr val="5F687D"/>
                </a:solidFill>
                <a:latin typeface="Arial"/>
              </a:rPr>
              <a:t>15°</a:t>
            </a:r>
          </a:p>
        </p:txBody>
      </p:sp>
      <p:cxnSp>
        <p:nvCxnSpPr>
          <p:cNvPr id="19" name="Connector 18"/>
          <p:cNvCxnSpPr/>
          <p:nvPr/>
        </p:nvCxnSpPr>
        <p:spPr>
          <a:xfrm>
            <a:off x="6720840" y="4534280"/>
            <a:ext cx="0" cy="54865"/>
          </a:xfrm>
          <a:prstGeom prst="line">
            <a:avLst/>
          </a:prstGeom>
          <a:ln w="1270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37960" y="4616576"/>
            <a:ext cx="365760" cy="128016"/>
          </a:xfrm>
          <a:prstGeom prst="rect">
            <a:avLst/>
          </a:prstGeom>
          <a:noFill/>
        </p:spPr>
        <p:txBody>
          <a:bodyPr wrap="square" lIns="0" rIns="0" tIns="0" bIns="0">
            <a:spAutoFit/>
          </a:bodyPr>
          <a:lstStyle/>
          <a:p>
            <a:pPr algn="ctr"/>
            <a:r>
              <a:rPr sz="750" b="0" i="0">
                <a:solidFill>
                  <a:srgbClr val="5F687D"/>
                </a:solidFill>
                <a:latin typeface="Arial"/>
              </a:rPr>
              <a:t>20°</a:t>
            </a:r>
          </a:p>
        </p:txBody>
      </p:sp>
      <p:sp>
        <p:nvSpPr>
          <p:cNvPr id="21" name="TextBox 20"/>
          <p:cNvSpPr txBox="1"/>
          <p:nvPr/>
        </p:nvSpPr>
        <p:spPr>
          <a:xfrm>
            <a:off x="2020824" y="3511867"/>
            <a:ext cx="329184" cy="128016"/>
          </a:xfrm>
          <a:prstGeom prst="rect">
            <a:avLst/>
          </a:prstGeom>
          <a:noFill/>
        </p:spPr>
        <p:txBody>
          <a:bodyPr wrap="square" lIns="0" rIns="0" tIns="0" bIns="0">
            <a:spAutoFit/>
          </a:bodyPr>
          <a:lstStyle/>
          <a:p>
            <a:pPr algn="r"/>
            <a:r>
              <a:rPr sz="750" b="0" i="0">
                <a:solidFill>
                  <a:srgbClr val="5F687D"/>
                </a:solidFill>
                <a:latin typeface="Arial"/>
              </a:rPr>
              <a:t>0.5</a:t>
            </a:r>
          </a:p>
        </p:txBody>
      </p:sp>
      <p:sp>
        <p:nvSpPr>
          <p:cNvPr id="22" name="TextBox 21"/>
          <p:cNvSpPr txBox="1"/>
          <p:nvPr/>
        </p:nvSpPr>
        <p:spPr>
          <a:xfrm>
            <a:off x="2020824" y="2526030"/>
            <a:ext cx="329184" cy="128016"/>
          </a:xfrm>
          <a:prstGeom prst="rect">
            <a:avLst/>
          </a:prstGeom>
          <a:noFill/>
        </p:spPr>
        <p:txBody>
          <a:bodyPr wrap="square" lIns="0" rIns="0" tIns="0" bIns="0">
            <a:spAutoFit/>
          </a:bodyPr>
          <a:lstStyle/>
          <a:p>
            <a:pPr algn="r"/>
            <a:r>
              <a:rPr sz="750" b="0" i="0">
                <a:solidFill>
                  <a:srgbClr val="5F687D"/>
                </a:solidFill>
                <a:latin typeface="Arial"/>
              </a:rPr>
              <a:t>1.0</a:t>
            </a:r>
          </a:p>
        </p:txBody>
      </p:sp>
      <p:sp>
        <p:nvSpPr>
          <p:cNvPr id="23" name="TextBox 22"/>
          <p:cNvSpPr txBox="1"/>
          <p:nvPr/>
        </p:nvSpPr>
        <p:spPr>
          <a:xfrm>
            <a:off x="5615879" y="4762880"/>
            <a:ext cx="1463040" cy="146304"/>
          </a:xfrm>
          <a:prstGeom prst="rect">
            <a:avLst/>
          </a:prstGeom>
          <a:noFill/>
        </p:spPr>
        <p:txBody>
          <a:bodyPr wrap="square" lIns="0" rIns="0" tIns="0" bIns="0">
            <a:spAutoFit/>
          </a:bodyPr>
          <a:lstStyle/>
          <a:p>
            <a:pPr algn="l"/>
            <a:r>
              <a:rPr sz="850" b="1" i="0">
                <a:solidFill>
                  <a:srgbClr val="20263A"/>
                </a:solidFill>
                <a:latin typeface="Arial"/>
              </a:rPr>
              <a:t>angle of attack α</a:t>
            </a:r>
          </a:p>
        </p:txBody>
      </p:sp>
      <p:sp>
        <p:nvSpPr>
          <p:cNvPr id="24" name="TextBox 23"/>
          <p:cNvSpPr txBox="1"/>
          <p:nvPr/>
        </p:nvSpPr>
        <p:spPr>
          <a:xfrm>
            <a:off x="2478024" y="1657064"/>
            <a:ext cx="1097280" cy="146304"/>
          </a:xfrm>
          <a:prstGeom prst="rect">
            <a:avLst/>
          </a:prstGeom>
          <a:noFill/>
        </p:spPr>
        <p:txBody>
          <a:bodyPr wrap="square" lIns="0" rIns="0" tIns="0" bIns="0">
            <a:spAutoFit/>
          </a:bodyPr>
          <a:lstStyle/>
          <a:p>
            <a:pPr algn="l"/>
            <a:r>
              <a:rPr sz="850" b="1" i="0">
                <a:solidFill>
                  <a:srgbClr val="20263A"/>
                </a:solidFill>
                <a:latin typeface="Arial"/>
              </a:rPr>
              <a:t>Cₗ</a:t>
            </a:r>
          </a:p>
        </p:txBody>
      </p:sp>
      <p:sp>
        <p:nvSpPr>
          <p:cNvPr id="25" name="Freeform 24"/>
          <p:cNvSpPr/>
          <p:nvPr/>
        </p:nvSpPr>
        <p:spPr>
          <a:xfrm>
            <a:off x="1541678" y="2195703"/>
            <a:ext cx="5071262" cy="2366010"/>
          </a:xfrm>
          <a:custGeom>
            <a:avLst/>
            <a:gdLst/>
            <a:ahLst/>
            <a:cxnLst/>
            <a:rect l="l" t="t" r="r" b="b"/>
            <a:pathLst>
              <a:path w="5071262" h="2366010">
                <a:moveTo>
                  <a:pt x="0" y="2366010"/>
                </a:moveTo>
                <a:lnTo>
                  <a:pt x="431597" y="2050542"/>
                </a:lnTo>
                <a:lnTo>
                  <a:pt x="863194" y="1735074"/>
                </a:lnTo>
                <a:lnTo>
                  <a:pt x="1294790" y="1419606"/>
                </a:lnTo>
                <a:lnTo>
                  <a:pt x="1726387" y="1104137"/>
                </a:lnTo>
                <a:lnTo>
                  <a:pt x="2157984" y="788670"/>
                </a:lnTo>
                <a:lnTo>
                  <a:pt x="2589581" y="473202"/>
                </a:lnTo>
                <a:lnTo>
                  <a:pt x="3021178" y="236600"/>
                </a:lnTo>
                <a:lnTo>
                  <a:pt x="3344875" y="88725"/>
                </a:lnTo>
                <a:lnTo>
                  <a:pt x="3668573" y="0"/>
                </a:lnTo>
                <a:lnTo>
                  <a:pt x="3884371" y="39433"/>
                </a:lnTo>
                <a:lnTo>
                  <a:pt x="4100170" y="197167"/>
                </a:lnTo>
                <a:lnTo>
                  <a:pt x="4315968" y="414051"/>
                </a:lnTo>
                <a:lnTo>
                  <a:pt x="4747565" y="650652"/>
                </a:lnTo>
                <a:lnTo>
                  <a:pt x="5071262" y="788670"/>
                </a:lnTo>
              </a:path>
            </a:pathLst>
          </a:custGeom>
          <a:noFill/>
          <a:ln w="317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2404872" y="2195703"/>
            <a:ext cx="2805379" cy="0"/>
          </a:xfrm>
          <a:prstGeom prst="line">
            <a:avLst/>
          </a:prstGeom>
          <a:ln w="12700">
            <a:solidFill>
              <a:srgbClr val="C83E3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210251" y="2195703"/>
            <a:ext cx="0" cy="2366010"/>
          </a:xfrm>
          <a:prstGeom prst="line">
            <a:avLst/>
          </a:prstGeom>
          <a:ln w="12700">
            <a:solidFill>
              <a:srgbClr val="C83E3E"/>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5164531" y="2149983"/>
            <a:ext cx="91440" cy="91440"/>
          </a:xfrm>
          <a:prstGeom prst="ellipse">
            <a:avLst/>
          </a:prstGeom>
          <a:solidFill>
            <a:srgbClr val="C8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79628" y="2012823"/>
            <a:ext cx="1463040" cy="146304"/>
          </a:xfrm>
          <a:prstGeom prst="rect">
            <a:avLst/>
          </a:prstGeom>
          <a:noFill/>
        </p:spPr>
        <p:txBody>
          <a:bodyPr wrap="square" lIns="0" rIns="0" tIns="0" bIns="0">
            <a:spAutoFit/>
          </a:bodyPr>
          <a:lstStyle/>
          <a:p>
            <a:pPr algn="l"/>
            <a:r>
              <a:rPr sz="850" b="1" i="0">
                <a:solidFill>
                  <a:srgbClr val="C83E3E"/>
                </a:solidFill>
                <a:latin typeface="Arial"/>
              </a:rPr>
              <a:t>Cₗmax = 1.2</a:t>
            </a:r>
          </a:p>
        </p:txBody>
      </p:sp>
      <p:sp>
        <p:nvSpPr>
          <p:cNvPr id="30" name="TextBox 29"/>
          <p:cNvSpPr txBox="1"/>
          <p:nvPr/>
        </p:nvSpPr>
        <p:spPr>
          <a:xfrm>
            <a:off x="4433011" y="4195952"/>
            <a:ext cx="1645920" cy="146304"/>
          </a:xfrm>
          <a:prstGeom prst="rect">
            <a:avLst/>
          </a:prstGeom>
          <a:noFill/>
        </p:spPr>
        <p:txBody>
          <a:bodyPr wrap="square" lIns="0" rIns="0" tIns="0" bIns="0">
            <a:spAutoFit/>
          </a:bodyPr>
          <a:lstStyle/>
          <a:p>
            <a:pPr algn="ctr"/>
            <a:r>
              <a:rPr sz="850" b="1" i="0">
                <a:solidFill>
                  <a:srgbClr val="C83E3E"/>
                </a:solidFill>
                <a:latin typeface="Arial"/>
              </a:rPr>
              <a:t>critical angle ≈ 13°</a:t>
            </a:r>
          </a:p>
        </p:txBody>
      </p:sp>
      <p:sp>
        <p:nvSpPr>
          <p:cNvPr id="31" name="Oval 30"/>
          <p:cNvSpPr/>
          <p:nvPr/>
        </p:nvSpPr>
        <p:spPr>
          <a:xfrm>
            <a:off x="3006547" y="3411855"/>
            <a:ext cx="91440" cy="91440"/>
          </a:xfrm>
          <a:prstGeom prst="ellipse">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43707" y="3439287"/>
            <a:ext cx="1280160" cy="146304"/>
          </a:xfrm>
          <a:prstGeom prst="rect">
            <a:avLst/>
          </a:prstGeom>
          <a:noFill/>
        </p:spPr>
        <p:txBody>
          <a:bodyPr wrap="square" lIns="0" rIns="0" tIns="0" bIns="0">
            <a:spAutoFit/>
          </a:bodyPr>
          <a:lstStyle/>
          <a:p>
            <a:pPr algn="l"/>
            <a:r>
              <a:rPr sz="800" b="1" i="0">
                <a:solidFill>
                  <a:srgbClr val="2F8F5B"/>
                </a:solidFill>
                <a:latin typeface="Arial"/>
              </a:rPr>
              <a:t>cruise trim</a:t>
            </a:r>
          </a:p>
        </p:txBody>
      </p:sp>
      <p:sp>
        <p:nvSpPr>
          <p:cNvPr id="33" name="TextBox 32"/>
          <p:cNvSpPr txBox="1"/>
          <p:nvPr/>
        </p:nvSpPr>
        <p:spPr>
          <a:xfrm>
            <a:off x="2491191" y="2392870"/>
            <a:ext cx="1920240" cy="274320"/>
          </a:xfrm>
          <a:prstGeom prst="rect">
            <a:avLst/>
          </a:prstGeom>
          <a:noFill/>
        </p:spPr>
        <p:txBody>
          <a:bodyPr wrap="square" lIns="0" rIns="0" tIns="0" bIns="0">
            <a:spAutoFit/>
          </a:bodyPr>
          <a:lstStyle/>
          <a:p>
            <a:pPr algn="l"/>
            <a:r>
              <a:rPr sz="800" b="1" i="0">
                <a:solidFill>
                  <a:srgbClr val="246BCE"/>
                </a:solidFill>
                <a:latin typeface="Arial"/>
              </a:rPr>
              <a:t>linear region:</a:t>
            </a:r>
          </a:p>
          <a:p>
            <a:pPr algn="l"/>
            <a:r>
              <a:rPr sz="800" b="1" i="0">
                <a:solidFill>
                  <a:srgbClr val="246BCE"/>
                </a:solidFill>
                <a:latin typeface="Arial"/>
              </a:rPr>
              <a:t>≈ 0.08 Cₗ per degree</a:t>
            </a:r>
          </a:p>
        </p:txBody>
      </p:sp>
      <p:sp>
        <p:nvSpPr>
          <p:cNvPr id="34" name="TextBox 33"/>
          <p:cNvSpPr txBox="1"/>
          <p:nvPr/>
        </p:nvSpPr>
        <p:spPr>
          <a:xfrm>
            <a:off x="5469209" y="3536441"/>
            <a:ext cx="1737360" cy="274320"/>
          </a:xfrm>
          <a:prstGeom prst="rect">
            <a:avLst/>
          </a:prstGeom>
          <a:noFill/>
        </p:spPr>
        <p:txBody>
          <a:bodyPr wrap="square" lIns="0" rIns="0" tIns="0" bIns="0">
            <a:spAutoFit/>
          </a:bodyPr>
          <a:lstStyle/>
          <a:p>
            <a:pPr algn="l"/>
            <a:r>
              <a:rPr sz="800" b="1" i="0">
                <a:solidFill>
                  <a:srgbClr val="C83E3E"/>
                </a:solidFill>
                <a:latin typeface="Arial"/>
              </a:rPr>
              <a:t>stall: flow separates,</a:t>
            </a:r>
          </a:p>
          <a:p>
            <a:pPr algn="l"/>
            <a:r>
              <a:rPr sz="800" b="1" i="0">
                <a:solidFill>
                  <a:srgbClr val="C83E3E"/>
                </a:solidFill>
                <a:latin typeface="Arial"/>
              </a:rPr>
              <a:t>lift falls, drag soars</a:t>
            </a:r>
          </a:p>
        </p:txBody>
      </p:sp>
      <p:sp>
        <p:nvSpPr>
          <p:cNvPr id="35" name="Oval 34"/>
          <p:cNvSpPr/>
          <p:nvPr/>
        </p:nvSpPr>
        <p:spPr>
          <a:xfrm>
            <a:off x="1495958" y="4515993"/>
            <a:ext cx="91440" cy="91440"/>
          </a:xfrm>
          <a:prstGeom prst="ellipse">
            <a:avLst/>
          </a:prstGeom>
          <a:solidFill>
            <a:srgbClr val="13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67358" y="4653152"/>
            <a:ext cx="1737360" cy="256032"/>
          </a:xfrm>
          <a:prstGeom prst="rect">
            <a:avLst/>
          </a:prstGeom>
          <a:noFill/>
        </p:spPr>
        <p:txBody>
          <a:bodyPr wrap="square" lIns="0" rIns="0" tIns="0" bIns="0">
            <a:spAutoFit/>
          </a:bodyPr>
          <a:lstStyle/>
          <a:p>
            <a:pPr algn="l"/>
            <a:r>
              <a:rPr sz="750" b="1" i="0">
                <a:solidFill>
                  <a:srgbClr val="138C8C"/>
                </a:solidFill>
                <a:latin typeface="Arial"/>
              </a:rPr>
              <a:t>cambered wing: zero lift</a:t>
            </a:r>
          </a:p>
          <a:p>
            <a:pPr algn="l"/>
            <a:r>
              <a:rPr sz="750" b="1" i="0">
                <a:solidFill>
                  <a:srgbClr val="138C8C"/>
                </a:solidFill>
                <a:latin typeface="Arial"/>
              </a:rPr>
              <a:t>at −4°, real lift at 0°</a:t>
            </a:r>
          </a:p>
        </p:txBody>
      </p:sp>
      <p:sp>
        <p:nvSpPr>
          <p:cNvPr id="37" name="Rounded Rectangle 36"/>
          <p:cNvSpPr/>
          <p:nvPr/>
        </p:nvSpPr>
        <p:spPr>
          <a:xfrm>
            <a:off x="347472" y="5532120"/>
            <a:ext cx="2267712" cy="169164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47472" y="5532120"/>
            <a:ext cx="54864" cy="1691640"/>
          </a:xfrm>
          <a:prstGeom prst="rect">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5650992"/>
            <a:ext cx="1956816" cy="201168"/>
          </a:xfrm>
          <a:prstGeom prst="rect">
            <a:avLst/>
          </a:prstGeom>
          <a:noFill/>
        </p:spPr>
        <p:txBody>
          <a:bodyPr wrap="square" lIns="0" rIns="0" tIns="0" bIns="0">
            <a:spAutoFit/>
          </a:bodyPr>
          <a:lstStyle/>
          <a:p>
            <a:pPr algn="l"/>
            <a:r>
              <a:rPr sz="1000" b="1" i="0">
                <a:solidFill>
                  <a:srgbClr val="20263A"/>
                </a:solidFill>
                <a:latin typeface="Arial"/>
              </a:rPr>
              <a:t>READ IT LIKE THIS</a:t>
            </a:r>
          </a:p>
        </p:txBody>
      </p:sp>
      <p:sp>
        <p:nvSpPr>
          <p:cNvPr id="40" name="TextBox 39"/>
          <p:cNvSpPr txBox="1"/>
          <p:nvPr/>
        </p:nvSpPr>
        <p:spPr>
          <a:xfrm>
            <a:off x="502920" y="5870448"/>
            <a:ext cx="1965960" cy="1280160"/>
          </a:xfrm>
          <a:prstGeom prst="rect">
            <a:avLst/>
          </a:prstGeom>
          <a:noFill/>
        </p:spPr>
        <p:txBody>
          <a:bodyPr wrap="square" lIns="0" rIns="0" tIns="0" bIns="0">
            <a:spAutoFit/>
          </a:bodyPr>
          <a:lstStyle/>
          <a:p>
            <a:pPr algn="l"/>
            <a:r>
              <a:rPr sz="800" b="0" i="0">
                <a:solidFill>
                  <a:srgbClr val="20263A"/>
                </a:solidFill>
                <a:latin typeface="Arial"/>
              </a:rPr>
              <a:t>More angle → more lift, click for click, until the boundary layer gives up. The curve is honest: nothing warns you at 12.9°.</a:t>
            </a:r>
          </a:p>
        </p:txBody>
      </p:sp>
      <p:sp>
        <p:nvSpPr>
          <p:cNvPr id="41" name="Rounded Rectangle 40"/>
          <p:cNvSpPr/>
          <p:nvPr/>
        </p:nvSpPr>
        <p:spPr>
          <a:xfrm>
            <a:off x="2752344" y="5532120"/>
            <a:ext cx="2267712" cy="169164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752344" y="5532120"/>
            <a:ext cx="54864" cy="1691640"/>
          </a:xfrm>
          <a:prstGeom prst="rect">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07791" y="5650992"/>
            <a:ext cx="1956816" cy="201168"/>
          </a:xfrm>
          <a:prstGeom prst="rect">
            <a:avLst/>
          </a:prstGeom>
          <a:noFill/>
        </p:spPr>
        <p:txBody>
          <a:bodyPr wrap="square" lIns="0" rIns="0" tIns="0" bIns="0">
            <a:spAutoFit/>
          </a:bodyPr>
          <a:lstStyle/>
          <a:p>
            <a:pPr algn="l"/>
            <a:r>
              <a:rPr sz="1000" b="1" i="0">
                <a:solidFill>
                  <a:srgbClr val="20263A"/>
                </a:solidFill>
                <a:latin typeface="Arial"/>
              </a:rPr>
              <a:t>WHY IT MATTERS</a:t>
            </a:r>
          </a:p>
        </p:txBody>
      </p:sp>
      <p:sp>
        <p:nvSpPr>
          <p:cNvPr id="44" name="TextBox 43"/>
          <p:cNvSpPr txBox="1"/>
          <p:nvPr/>
        </p:nvSpPr>
        <p:spPr>
          <a:xfrm>
            <a:off x="2907792" y="5870448"/>
            <a:ext cx="1965960" cy="1280160"/>
          </a:xfrm>
          <a:prstGeom prst="rect">
            <a:avLst/>
          </a:prstGeom>
          <a:noFill/>
        </p:spPr>
        <p:txBody>
          <a:bodyPr wrap="square" lIns="0" rIns="0" tIns="0" bIns="0">
            <a:spAutoFit/>
          </a:bodyPr>
          <a:lstStyle/>
          <a:p>
            <a:pPr algn="l"/>
            <a:r>
              <a:rPr sz="800" b="0" i="0">
                <a:solidFill>
                  <a:srgbClr val="20263A"/>
                </a:solidFill>
                <a:latin typeface="Arial"/>
              </a:rPr>
              <a:t>The elevator commands α, so it commands Cₗ. A stall is exceeding the critical angle — possible at any airspeed, upright or inverted (page 41).</a:t>
            </a:r>
          </a:p>
        </p:txBody>
      </p:sp>
      <p:sp>
        <p:nvSpPr>
          <p:cNvPr id="45" name="Rounded Rectangle 44"/>
          <p:cNvSpPr/>
          <p:nvPr/>
        </p:nvSpPr>
        <p:spPr>
          <a:xfrm>
            <a:off x="5157216" y="5532120"/>
            <a:ext cx="2267712" cy="169164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157216" y="5532120"/>
            <a:ext cx="54864" cy="1691640"/>
          </a:xfrm>
          <a:prstGeom prst="rect">
            <a:avLst/>
          </a:prstGeom>
          <a:solidFill>
            <a:srgbClr val="13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12664" y="5650992"/>
            <a:ext cx="1956816" cy="201168"/>
          </a:xfrm>
          <a:prstGeom prst="rect">
            <a:avLst/>
          </a:prstGeom>
          <a:noFill/>
        </p:spPr>
        <p:txBody>
          <a:bodyPr wrap="square" lIns="0" rIns="0" tIns="0" bIns="0">
            <a:spAutoFit/>
          </a:bodyPr>
          <a:lstStyle/>
          <a:p>
            <a:pPr algn="l"/>
            <a:r>
              <a:rPr sz="1000" b="1" i="0">
                <a:solidFill>
                  <a:srgbClr val="20263A"/>
                </a:solidFill>
                <a:latin typeface="Arial"/>
              </a:rPr>
              <a:t>CAMBER SHIFTS IT</a:t>
            </a:r>
          </a:p>
        </p:txBody>
      </p:sp>
      <p:sp>
        <p:nvSpPr>
          <p:cNvPr id="48" name="TextBox 47"/>
          <p:cNvSpPr txBox="1"/>
          <p:nvPr/>
        </p:nvSpPr>
        <p:spPr>
          <a:xfrm>
            <a:off x="5312664" y="5870448"/>
            <a:ext cx="1965960" cy="1280160"/>
          </a:xfrm>
          <a:prstGeom prst="rect">
            <a:avLst/>
          </a:prstGeom>
          <a:noFill/>
        </p:spPr>
        <p:txBody>
          <a:bodyPr wrap="square" lIns="0" rIns="0" tIns="0" bIns="0">
            <a:spAutoFit/>
          </a:bodyPr>
          <a:lstStyle/>
          <a:p>
            <a:pPr algn="l"/>
            <a:r>
              <a:rPr sz="800" b="0" i="0">
                <a:solidFill>
                  <a:srgbClr val="20263A"/>
                </a:solidFill>
                <a:latin typeface="Arial"/>
              </a:rPr>
              <a:t>A symmetric section (NACA 0012) passes through the origin. Camber slides the whole line left — free lift at zero angle, at the cost of a nose-down pitching moment.</a:t>
            </a:r>
          </a:p>
        </p:txBody>
      </p:sp>
      <p:sp>
        <p:nvSpPr>
          <p:cNvPr id="49" name="Rounded Rectangle 48"/>
          <p:cNvSpPr/>
          <p:nvPr/>
        </p:nvSpPr>
        <p:spPr>
          <a:xfrm>
            <a:off x="347472" y="7406640"/>
            <a:ext cx="7077456" cy="868680"/>
          </a:xfrm>
          <a:prstGeom prst="roundRect">
            <a:avLst>
              <a:gd name="adj" fmla="val 10000"/>
            </a:avLst>
          </a:prstGeom>
          <a:solidFill>
            <a:srgbClr val="FDF6E3"/>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66344" y="7694675"/>
            <a:ext cx="292608" cy="292608"/>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66344" y="7744967"/>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52" name="TextBox 51"/>
          <p:cNvSpPr txBox="1"/>
          <p:nvPr/>
        </p:nvSpPr>
        <p:spPr>
          <a:xfrm>
            <a:off x="859536" y="7498079"/>
            <a:ext cx="914400" cy="146304"/>
          </a:xfrm>
          <a:prstGeom prst="rect">
            <a:avLst/>
          </a:prstGeom>
          <a:noFill/>
        </p:spPr>
        <p:txBody>
          <a:bodyPr wrap="square" lIns="0" rIns="0" tIns="0" bIns="0">
            <a:spAutoFit/>
          </a:bodyPr>
          <a:lstStyle/>
          <a:p>
            <a:pPr algn="l"/>
            <a:r>
              <a:rPr sz="800" b="1" i="0">
                <a:solidFill>
                  <a:srgbClr val="20263A"/>
                </a:solidFill>
                <a:latin typeface="Arial"/>
              </a:rPr>
              <a:t>YOUR TURN</a:t>
            </a:r>
          </a:p>
        </p:txBody>
      </p:sp>
      <p:sp>
        <p:nvSpPr>
          <p:cNvPr id="53" name="TextBox 52"/>
          <p:cNvSpPr txBox="1"/>
          <p:nvPr/>
        </p:nvSpPr>
        <p:spPr>
          <a:xfrm>
            <a:off x="859536" y="7653527"/>
            <a:ext cx="6391656" cy="539496"/>
          </a:xfrm>
          <a:prstGeom prst="rect">
            <a:avLst/>
          </a:prstGeom>
          <a:noFill/>
        </p:spPr>
        <p:txBody>
          <a:bodyPr wrap="square" lIns="0" rIns="0" tIns="0" bIns="0">
            <a:spAutoFit/>
          </a:bodyPr>
          <a:lstStyle/>
          <a:p>
            <a:pPr algn="l"/>
            <a:r>
              <a:rPr sz="850" b="0" i="0">
                <a:solidFill>
                  <a:srgbClr val="20263A"/>
                </a:solidFill>
                <a:latin typeface="Arial"/>
              </a:rPr>
              <a:t>Sketch the NACA 0012 curve on top of this one (same slope, through the origin, Cₗmax ≈ 1.0 at model Reynolds numbers). Where do the two wings trim differently? Which stalls first at the same α?</a:t>
            </a:r>
          </a:p>
        </p:txBody>
      </p:sp>
      <p:sp>
        <p:nvSpPr>
          <p:cNvPr id="54" name="TextBox 53"/>
          <p:cNvSpPr txBox="1"/>
          <p:nvPr/>
        </p:nvSpPr>
        <p:spPr>
          <a:xfrm>
            <a:off x="347472" y="8860536"/>
            <a:ext cx="6510528" cy="137160"/>
          </a:xfrm>
          <a:prstGeom prst="rect">
            <a:avLst/>
          </a:prstGeom>
          <a:noFill/>
        </p:spPr>
        <p:txBody>
          <a:bodyPr wrap="square" lIns="0" rIns="0" tIns="0" bIns="0">
            <a:spAutoFit/>
          </a:bodyPr>
          <a:lstStyle/>
          <a:p>
            <a:pPr algn="l"/>
            <a:r>
              <a:rPr sz="650" b="0" i="0">
                <a:solidFill>
                  <a:srgbClr val="5F687D"/>
                </a:solidFill>
                <a:latin typeface="Arial"/>
              </a:rPr>
              <a:t>Illustrative curve for a cambered trainer section near Re ≈ 2×10⁵; slope and Cₗmax vary with section and Reynolds number.</a:t>
            </a:r>
          </a:p>
        </p:txBody>
      </p:sp>
      <p:sp>
        <p:nvSpPr>
          <p:cNvPr id="55" name="TextBox 54"/>
          <p:cNvSpPr txBox="1"/>
          <p:nvPr/>
        </p:nvSpPr>
        <p:spPr>
          <a:xfrm>
            <a:off x="7168896" y="8860536"/>
            <a:ext cx="320040" cy="146304"/>
          </a:xfrm>
          <a:prstGeom prst="rect">
            <a:avLst/>
          </a:prstGeom>
          <a:noFill/>
        </p:spPr>
        <p:txBody>
          <a:bodyPr wrap="square" lIns="0" rIns="0" tIns="0" bIns="0">
            <a:spAutoFit/>
          </a:bodyPr>
          <a:lstStyle/>
          <a:p>
            <a:pPr algn="r"/>
            <a:r>
              <a:rPr sz="700" b="0" i="0">
                <a:solidFill>
                  <a:srgbClr val="5F687D"/>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5486400" cy="164592"/>
          </a:xfrm>
          <a:prstGeom prst="rect">
            <a:avLst/>
          </a:prstGeom>
          <a:noFill/>
        </p:spPr>
        <p:txBody>
          <a:bodyPr wrap="square" lIns="0" rIns="0" tIns="0" bIns="0">
            <a:spAutoFit/>
          </a:bodyPr>
          <a:lstStyle/>
          <a:p>
            <a:pPr algn="l"/>
            <a:r>
              <a:rPr sz="900" b="1" i="0">
                <a:solidFill>
                  <a:srgbClr val="E2B93B"/>
                </a:solidFill>
                <a:latin typeface="Arial"/>
              </a:rPr>
              <a:t>R/C DESIGN EQUATIONS</a:t>
            </a:r>
          </a:p>
        </p:txBody>
      </p:sp>
      <p:sp>
        <p:nvSpPr>
          <p:cNvPr id="6" name="TextBox 5"/>
          <p:cNvSpPr txBox="1"/>
          <p:nvPr/>
        </p:nvSpPr>
        <p:spPr>
          <a:xfrm>
            <a:off x="347472" y="246888"/>
            <a:ext cx="7086600" cy="365760"/>
          </a:xfrm>
          <a:prstGeom prst="rect">
            <a:avLst/>
          </a:prstGeom>
          <a:noFill/>
        </p:spPr>
        <p:txBody>
          <a:bodyPr wrap="square" lIns="0" rIns="0" tIns="0" bIns="0">
            <a:spAutoFit/>
          </a:bodyPr>
          <a:lstStyle/>
          <a:p>
            <a:pPr algn="l"/>
            <a:r>
              <a:rPr sz="1900" b="1" i="0">
                <a:solidFill>
                  <a:srgbClr val="FFFFFF"/>
                </a:solidFill>
                <a:latin typeface="Arial"/>
              </a:rPr>
              <a:t>Reynolds number: why small models feel different air</a:t>
            </a:r>
          </a:p>
        </p:txBody>
      </p:sp>
      <p:sp>
        <p:nvSpPr>
          <p:cNvPr id="7" name="TextBox 6"/>
          <p:cNvSpPr txBox="1"/>
          <p:nvPr/>
        </p:nvSpPr>
        <p:spPr>
          <a:xfrm>
            <a:off x="347472" y="621792"/>
            <a:ext cx="7040880" cy="182880"/>
          </a:xfrm>
          <a:prstGeom prst="rect">
            <a:avLst/>
          </a:prstGeom>
          <a:noFill/>
        </p:spPr>
        <p:txBody>
          <a:bodyPr wrap="square" lIns="0" rIns="0" tIns="0" bIns="0">
            <a:spAutoFit/>
          </a:bodyPr>
          <a:lstStyle/>
          <a:p>
            <a:pPr algn="l"/>
            <a:r>
              <a:rPr sz="950" b="0" i="0">
                <a:solidFill>
                  <a:srgbClr val="D8DDE8"/>
                </a:solidFill>
                <a:latin typeface="Arial"/>
              </a:rPr>
              <a:t>Re appears on half the pages of this manual — here is the number line that makes it concrete.</a:t>
            </a:r>
          </a:p>
        </p:txBody>
      </p:sp>
      <p:sp>
        <p:nvSpPr>
          <p:cNvPr id="8" name="Rounded Rectangle 7"/>
          <p:cNvSpPr/>
          <p:nvPr/>
        </p:nvSpPr>
        <p:spPr>
          <a:xfrm>
            <a:off x="347472" y="1188720"/>
            <a:ext cx="3474720" cy="146304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188720"/>
            <a:ext cx="54864" cy="1463040"/>
          </a:xfrm>
          <a:prstGeom prst="rect">
            <a:avLst/>
          </a:prstGeom>
          <a:solidFill>
            <a:srgbClr val="13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07592"/>
            <a:ext cx="3163824" cy="201168"/>
          </a:xfrm>
          <a:prstGeom prst="rect">
            <a:avLst/>
          </a:prstGeom>
          <a:noFill/>
        </p:spPr>
        <p:txBody>
          <a:bodyPr wrap="square" lIns="0" rIns="0" tIns="0" bIns="0">
            <a:spAutoFit/>
          </a:bodyPr>
          <a:lstStyle/>
          <a:p>
            <a:pPr algn="l"/>
            <a:r>
              <a:rPr sz="1000" b="1" i="0">
                <a:solidFill>
                  <a:srgbClr val="20263A"/>
                </a:solidFill>
                <a:latin typeface="Arial"/>
              </a:rPr>
              <a:t>THE DEFINITION</a:t>
            </a:r>
          </a:p>
        </p:txBody>
      </p:sp>
      <p:sp>
        <p:nvSpPr>
          <p:cNvPr id="11" name="TextBox 10"/>
          <p:cNvSpPr txBox="1"/>
          <p:nvPr/>
        </p:nvSpPr>
        <p:spPr>
          <a:xfrm>
            <a:off x="502920" y="1591056"/>
            <a:ext cx="3154680" cy="310896"/>
          </a:xfrm>
          <a:prstGeom prst="rect">
            <a:avLst/>
          </a:prstGeom>
          <a:noFill/>
        </p:spPr>
        <p:txBody>
          <a:bodyPr wrap="square" lIns="0" rIns="0" tIns="0" bIns="0">
            <a:spAutoFit/>
          </a:bodyPr>
          <a:lstStyle/>
          <a:p>
            <a:pPr algn="ctr"/>
            <a:r>
              <a:rPr sz="1600" b="1">
                <a:solidFill>
                  <a:srgbClr val="20263A"/>
                </a:solidFill>
                <a:latin typeface="Arial"/>
              </a:rPr>
              <a:t>Re = ρ V c / μ</a:t>
            </a:r>
          </a:p>
        </p:txBody>
      </p:sp>
      <p:sp>
        <p:nvSpPr>
          <p:cNvPr id="12" name="TextBox 11"/>
          <p:cNvSpPr txBox="1"/>
          <p:nvPr/>
        </p:nvSpPr>
        <p:spPr>
          <a:xfrm>
            <a:off x="502920" y="1975104"/>
            <a:ext cx="3154680" cy="548640"/>
          </a:xfrm>
          <a:prstGeom prst="rect">
            <a:avLst/>
          </a:prstGeom>
          <a:noFill/>
        </p:spPr>
        <p:txBody>
          <a:bodyPr wrap="square" lIns="0" rIns="0" tIns="0" bIns="0">
            <a:spAutoFit/>
          </a:bodyPr>
          <a:lstStyle/>
          <a:p>
            <a:pPr algn="l"/>
            <a:r>
              <a:rPr sz="850" b="0" i="0">
                <a:solidFill>
                  <a:srgbClr val="5F687D"/>
                </a:solidFill>
                <a:latin typeface="Arial"/>
              </a:rPr>
              <a:t>Speed × chord × density, against viscosity: how much the air behaves like a crowd in motion versus honey.</a:t>
            </a:r>
          </a:p>
        </p:txBody>
      </p:sp>
      <p:sp>
        <p:nvSpPr>
          <p:cNvPr id="13" name="Rounded Rectangle 12"/>
          <p:cNvSpPr/>
          <p:nvPr/>
        </p:nvSpPr>
        <p:spPr>
          <a:xfrm>
            <a:off x="3950208" y="1188720"/>
            <a:ext cx="3474720" cy="146304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50208" y="1188720"/>
            <a:ext cx="54864" cy="1463040"/>
          </a:xfrm>
          <a:prstGeom prst="rect">
            <a:avLst/>
          </a:prstGeom>
          <a:solidFill>
            <a:srgbClr val="13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05656" y="1307592"/>
            <a:ext cx="3163824" cy="201168"/>
          </a:xfrm>
          <a:prstGeom prst="rect">
            <a:avLst/>
          </a:prstGeom>
          <a:noFill/>
        </p:spPr>
        <p:txBody>
          <a:bodyPr wrap="square" lIns="0" rIns="0" tIns="0" bIns="0">
            <a:spAutoFit/>
          </a:bodyPr>
          <a:lstStyle/>
          <a:p>
            <a:pPr algn="l"/>
            <a:r>
              <a:rPr sz="1000" b="1" i="0">
                <a:solidFill>
                  <a:srgbClr val="20263A"/>
                </a:solidFill>
                <a:latin typeface="Arial"/>
              </a:rPr>
              <a:t>SEA-LEVEL SHORTCUT</a:t>
            </a:r>
          </a:p>
        </p:txBody>
      </p:sp>
      <p:sp>
        <p:nvSpPr>
          <p:cNvPr id="16" name="TextBox 15"/>
          <p:cNvSpPr txBox="1"/>
          <p:nvPr/>
        </p:nvSpPr>
        <p:spPr>
          <a:xfrm>
            <a:off x="4105656" y="1591056"/>
            <a:ext cx="3154680" cy="310896"/>
          </a:xfrm>
          <a:prstGeom prst="rect">
            <a:avLst/>
          </a:prstGeom>
          <a:noFill/>
        </p:spPr>
        <p:txBody>
          <a:bodyPr wrap="square" lIns="0" rIns="0" tIns="0" bIns="0">
            <a:spAutoFit/>
          </a:bodyPr>
          <a:lstStyle/>
          <a:p>
            <a:pPr algn="ctr"/>
            <a:r>
              <a:rPr sz="1600" b="1">
                <a:solidFill>
                  <a:srgbClr val="20263A"/>
                </a:solidFill>
                <a:latin typeface="Arial"/>
              </a:rPr>
              <a:t>Re ≈ 68 000 × V × c</a:t>
            </a:r>
          </a:p>
        </p:txBody>
      </p:sp>
      <p:sp>
        <p:nvSpPr>
          <p:cNvPr id="17" name="TextBox 16"/>
          <p:cNvSpPr txBox="1"/>
          <p:nvPr/>
        </p:nvSpPr>
        <p:spPr>
          <a:xfrm>
            <a:off x="4105656" y="1975104"/>
            <a:ext cx="3154680" cy="548640"/>
          </a:xfrm>
          <a:prstGeom prst="rect">
            <a:avLst/>
          </a:prstGeom>
          <a:noFill/>
        </p:spPr>
        <p:txBody>
          <a:bodyPr wrap="square" lIns="0" rIns="0" tIns="0" bIns="0">
            <a:spAutoFit/>
          </a:bodyPr>
          <a:lstStyle/>
          <a:p>
            <a:pPr algn="l"/>
            <a:r>
              <a:rPr sz="850" b="0" i="0">
                <a:solidFill>
                  <a:srgbClr val="5F687D"/>
                </a:solidFill>
                <a:latin typeface="Arial"/>
              </a:rPr>
              <a:t>V in m/s, c in metres. The trainer at 12 m/s with 0.226 m chord: Re ≈ 68 000 × 12 × 0.226 ≈ 1.8×10⁵.</a:t>
            </a:r>
          </a:p>
        </p:txBody>
      </p:sp>
      <p:sp>
        <p:nvSpPr>
          <p:cNvPr id="18" name="Rounded Rectangle 17"/>
          <p:cNvSpPr/>
          <p:nvPr/>
        </p:nvSpPr>
        <p:spPr>
          <a:xfrm>
            <a:off x="347472" y="2880360"/>
            <a:ext cx="7077456" cy="301752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017520"/>
            <a:ext cx="5486400" cy="182880"/>
          </a:xfrm>
          <a:prstGeom prst="rect">
            <a:avLst/>
          </a:prstGeom>
          <a:noFill/>
        </p:spPr>
        <p:txBody>
          <a:bodyPr wrap="square" lIns="0" rIns="0" tIns="0" bIns="0">
            <a:spAutoFit/>
          </a:bodyPr>
          <a:lstStyle/>
          <a:p>
            <a:pPr algn="l"/>
            <a:r>
              <a:rPr sz="1000" b="1" i="0">
                <a:solidFill>
                  <a:srgbClr val="20263A"/>
                </a:solidFill>
                <a:latin typeface="Arial"/>
              </a:rPr>
              <a:t>WHERE R/C AIRCRAFT LIVE ON THE Re SCALE</a:t>
            </a:r>
          </a:p>
        </p:txBody>
      </p:sp>
      <p:sp>
        <p:nvSpPr>
          <p:cNvPr id="20" name="Rectangle 19"/>
          <p:cNvSpPr/>
          <p:nvPr/>
        </p:nvSpPr>
        <p:spPr>
          <a:xfrm>
            <a:off x="1188720" y="3383280"/>
            <a:ext cx="1973606" cy="2057400"/>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64418" y="3438144"/>
            <a:ext cx="1920240" cy="274320"/>
          </a:xfrm>
          <a:prstGeom prst="rect">
            <a:avLst/>
          </a:prstGeom>
          <a:noFill/>
        </p:spPr>
        <p:txBody>
          <a:bodyPr wrap="square" lIns="0" rIns="0" tIns="0" bIns="0">
            <a:spAutoFit/>
          </a:bodyPr>
          <a:lstStyle/>
          <a:p>
            <a:pPr algn="l"/>
            <a:r>
              <a:rPr sz="750" b="1" i="0">
                <a:solidFill>
                  <a:srgbClr val="C83E3E"/>
                </a:solidFill>
                <a:latin typeface="Arial"/>
              </a:rPr>
              <a:t>laminar-separation trouble zone</a:t>
            </a:r>
          </a:p>
        </p:txBody>
      </p:sp>
      <p:cxnSp>
        <p:nvCxnSpPr>
          <p:cNvPr id="22" name="Connector 21"/>
          <p:cNvCxnSpPr/>
          <p:nvPr/>
        </p:nvCxnSpPr>
        <p:spPr>
          <a:xfrm>
            <a:off x="1188720" y="5440680"/>
            <a:ext cx="5694779" cy="0"/>
          </a:xfrm>
          <a:prstGeom prst="line">
            <a:avLst/>
          </a:prstGeom>
          <a:ln w="15875">
            <a:solidFill>
              <a:srgbClr val="20263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88720" y="5404104"/>
            <a:ext cx="0" cy="73152"/>
          </a:xfrm>
          <a:prstGeom prst="line">
            <a:avLst/>
          </a:prstGeom>
          <a:ln w="1270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14400" y="5513832"/>
            <a:ext cx="548640" cy="146304"/>
          </a:xfrm>
          <a:prstGeom prst="rect">
            <a:avLst/>
          </a:prstGeom>
          <a:noFill/>
        </p:spPr>
        <p:txBody>
          <a:bodyPr wrap="square" lIns="0" rIns="0" tIns="0" bIns="0">
            <a:spAutoFit/>
          </a:bodyPr>
          <a:lstStyle/>
          <a:p>
            <a:pPr algn="ctr"/>
            <a:r>
              <a:rPr sz="850" b="1" i="0">
                <a:solidFill>
                  <a:srgbClr val="20263A"/>
                </a:solidFill>
                <a:latin typeface="Arial"/>
              </a:rPr>
              <a:t>10⁴</a:t>
            </a:r>
          </a:p>
        </p:txBody>
      </p:sp>
      <p:cxnSp>
        <p:nvCxnSpPr>
          <p:cNvPr id="25" name="Connector 24"/>
          <p:cNvCxnSpPr/>
          <p:nvPr/>
        </p:nvCxnSpPr>
        <p:spPr>
          <a:xfrm>
            <a:off x="3017520" y="5404104"/>
            <a:ext cx="0" cy="73152"/>
          </a:xfrm>
          <a:prstGeom prst="line">
            <a:avLst/>
          </a:prstGeom>
          <a:ln w="1270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743200" y="5513832"/>
            <a:ext cx="548640" cy="146304"/>
          </a:xfrm>
          <a:prstGeom prst="rect">
            <a:avLst/>
          </a:prstGeom>
          <a:noFill/>
        </p:spPr>
        <p:txBody>
          <a:bodyPr wrap="square" lIns="0" rIns="0" tIns="0" bIns="0">
            <a:spAutoFit/>
          </a:bodyPr>
          <a:lstStyle/>
          <a:p>
            <a:pPr algn="ctr"/>
            <a:r>
              <a:rPr sz="850" b="1" i="0">
                <a:solidFill>
                  <a:srgbClr val="20263A"/>
                </a:solidFill>
                <a:latin typeface="Arial"/>
              </a:rPr>
              <a:t>10⁵</a:t>
            </a:r>
          </a:p>
        </p:txBody>
      </p:sp>
      <p:cxnSp>
        <p:nvCxnSpPr>
          <p:cNvPr id="27" name="Connector 26"/>
          <p:cNvCxnSpPr/>
          <p:nvPr/>
        </p:nvCxnSpPr>
        <p:spPr>
          <a:xfrm>
            <a:off x="4846320" y="5404104"/>
            <a:ext cx="0" cy="73152"/>
          </a:xfrm>
          <a:prstGeom prst="line">
            <a:avLst/>
          </a:prstGeom>
          <a:ln w="1270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0" y="5513832"/>
            <a:ext cx="548640" cy="146304"/>
          </a:xfrm>
          <a:prstGeom prst="rect">
            <a:avLst/>
          </a:prstGeom>
          <a:noFill/>
        </p:spPr>
        <p:txBody>
          <a:bodyPr wrap="square" lIns="0" rIns="0" tIns="0" bIns="0">
            <a:spAutoFit/>
          </a:bodyPr>
          <a:lstStyle/>
          <a:p>
            <a:pPr algn="ctr"/>
            <a:r>
              <a:rPr sz="850" b="1" i="0">
                <a:solidFill>
                  <a:srgbClr val="20263A"/>
                </a:solidFill>
                <a:latin typeface="Arial"/>
              </a:rPr>
              <a:t>10⁶</a:t>
            </a:r>
          </a:p>
        </p:txBody>
      </p:sp>
      <p:cxnSp>
        <p:nvCxnSpPr>
          <p:cNvPr id="29" name="Connector 28"/>
          <p:cNvCxnSpPr/>
          <p:nvPr/>
        </p:nvCxnSpPr>
        <p:spPr>
          <a:xfrm>
            <a:off x="6675120" y="5404104"/>
            <a:ext cx="0" cy="73152"/>
          </a:xfrm>
          <a:prstGeom prst="line">
            <a:avLst/>
          </a:prstGeom>
          <a:ln w="1270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00800" y="5513832"/>
            <a:ext cx="548640" cy="146304"/>
          </a:xfrm>
          <a:prstGeom prst="rect">
            <a:avLst/>
          </a:prstGeom>
          <a:noFill/>
        </p:spPr>
        <p:txBody>
          <a:bodyPr wrap="square" lIns="0" rIns="0" tIns="0" bIns="0">
            <a:spAutoFit/>
          </a:bodyPr>
          <a:lstStyle/>
          <a:p>
            <a:pPr algn="ctr"/>
            <a:r>
              <a:rPr sz="850" b="1" i="0">
                <a:solidFill>
                  <a:srgbClr val="20263A"/>
                </a:solidFill>
                <a:latin typeface="Arial"/>
              </a:rPr>
              <a:t>10⁷</a:t>
            </a:r>
          </a:p>
        </p:txBody>
      </p:sp>
      <p:sp>
        <p:nvSpPr>
          <p:cNvPr id="31" name="Rounded Rectangle 30"/>
          <p:cNvSpPr/>
          <p:nvPr/>
        </p:nvSpPr>
        <p:spPr>
          <a:xfrm>
            <a:off x="1739243" y="3785615"/>
            <a:ext cx="994991" cy="219456"/>
          </a:xfrm>
          <a:prstGeom prst="roundRect">
            <a:avLst>
              <a:gd name="adj" fmla="val 50000"/>
            </a:avLst>
          </a:prstGeom>
          <a:solidFill>
            <a:srgbClr val="13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25675" y="3817620"/>
            <a:ext cx="2103120" cy="164592"/>
          </a:xfrm>
          <a:prstGeom prst="rect">
            <a:avLst/>
          </a:prstGeom>
          <a:noFill/>
        </p:spPr>
        <p:txBody>
          <a:bodyPr wrap="square" lIns="0" rIns="0" tIns="0" bIns="0">
            <a:spAutoFit/>
          </a:bodyPr>
          <a:lstStyle/>
          <a:p>
            <a:pPr algn="l"/>
            <a:r>
              <a:rPr sz="800" b="0" i="0">
                <a:solidFill>
                  <a:srgbClr val="138C8C"/>
                </a:solidFill>
                <a:latin typeface="Arial"/>
              </a:rPr>
              <a:t>indoor / micro models</a:t>
            </a:r>
          </a:p>
        </p:txBody>
      </p:sp>
      <p:sp>
        <p:nvSpPr>
          <p:cNvPr id="33" name="Rounded Rectangle 32"/>
          <p:cNvSpPr/>
          <p:nvPr/>
        </p:nvSpPr>
        <p:spPr>
          <a:xfrm>
            <a:off x="2466996" y="4114800"/>
            <a:ext cx="872559" cy="219456"/>
          </a:xfrm>
          <a:prstGeom prst="roundRect">
            <a:avLst>
              <a:gd name="adj" fmla="val 50000"/>
            </a:avLst>
          </a:prstGeom>
          <a:solidFill>
            <a:srgbClr val="246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0995" y="4146804"/>
            <a:ext cx="2103120" cy="164592"/>
          </a:xfrm>
          <a:prstGeom prst="rect">
            <a:avLst/>
          </a:prstGeom>
          <a:noFill/>
        </p:spPr>
        <p:txBody>
          <a:bodyPr wrap="square" lIns="0" rIns="0" tIns="0" bIns="0">
            <a:spAutoFit/>
          </a:bodyPr>
          <a:lstStyle/>
          <a:p>
            <a:pPr algn="l"/>
            <a:r>
              <a:rPr sz="800" b="0" i="0">
                <a:solidFill>
                  <a:srgbClr val="246BCE"/>
                </a:solidFill>
                <a:latin typeface="Arial"/>
              </a:rPr>
              <a:t>foam park flyers</a:t>
            </a:r>
          </a:p>
        </p:txBody>
      </p:sp>
      <p:sp>
        <p:nvSpPr>
          <p:cNvPr id="35" name="Rounded Rectangle 34"/>
          <p:cNvSpPr/>
          <p:nvPr/>
        </p:nvSpPr>
        <p:spPr>
          <a:xfrm>
            <a:off x="3162326" y="4443984"/>
            <a:ext cx="727752" cy="219456"/>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81519" y="4475988"/>
            <a:ext cx="2926080" cy="164592"/>
          </a:xfrm>
          <a:prstGeom prst="rect">
            <a:avLst/>
          </a:prstGeom>
          <a:noFill/>
        </p:spPr>
        <p:txBody>
          <a:bodyPr wrap="square" lIns="0" rIns="0" tIns="0" bIns="0">
            <a:spAutoFit/>
          </a:bodyPr>
          <a:lstStyle/>
          <a:p>
            <a:pPr algn="l"/>
            <a:r>
              <a:rPr sz="800" b="1" i="0">
                <a:solidFill>
                  <a:srgbClr val="2F8F5B"/>
                </a:solidFill>
                <a:latin typeface="Arial"/>
              </a:rPr>
              <a:t>YOUR 1.5 kg TRAINER — cruise dot ≈ 1.8×10⁵</a:t>
            </a:r>
          </a:p>
        </p:txBody>
      </p:sp>
      <p:sp>
        <p:nvSpPr>
          <p:cNvPr id="37" name="Rounded Rectangle 36"/>
          <p:cNvSpPr/>
          <p:nvPr/>
        </p:nvSpPr>
        <p:spPr>
          <a:xfrm>
            <a:off x="4295796" y="4773168"/>
            <a:ext cx="872559" cy="219456"/>
          </a:xfrm>
          <a:prstGeom prst="roundRect">
            <a:avLst>
              <a:gd name="adj" fmla="val 50000"/>
            </a:avLst>
          </a:prstGeom>
          <a:solidFill>
            <a:srgbClr val="E07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59795" y="4805172"/>
            <a:ext cx="2103120" cy="164592"/>
          </a:xfrm>
          <a:prstGeom prst="rect">
            <a:avLst/>
          </a:prstGeom>
          <a:noFill/>
        </p:spPr>
        <p:txBody>
          <a:bodyPr wrap="square" lIns="0" rIns="0" tIns="0" bIns="0">
            <a:spAutoFit/>
          </a:bodyPr>
          <a:lstStyle/>
          <a:p>
            <a:pPr algn="l"/>
            <a:r>
              <a:rPr sz="800" b="0" i="0">
                <a:solidFill>
                  <a:srgbClr val="E0702B"/>
                </a:solidFill>
                <a:latin typeface="Arial"/>
              </a:rPr>
              <a:t>giant scale</a:t>
            </a:r>
          </a:p>
        </p:txBody>
      </p:sp>
      <p:sp>
        <p:nvSpPr>
          <p:cNvPr id="39" name="Rounded Rectangle 38"/>
          <p:cNvSpPr/>
          <p:nvPr/>
        </p:nvSpPr>
        <p:spPr>
          <a:xfrm>
            <a:off x="5718879" y="5102352"/>
            <a:ext cx="779011" cy="219456"/>
          </a:xfrm>
          <a:prstGeom prst="roundRect">
            <a:avLst>
              <a:gd name="adj" fmla="val 50000"/>
            </a:avLst>
          </a:prstGeom>
          <a:solidFill>
            <a:srgbClr val="A23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9330" y="5134356"/>
            <a:ext cx="2103120" cy="164592"/>
          </a:xfrm>
          <a:prstGeom prst="rect">
            <a:avLst/>
          </a:prstGeom>
          <a:noFill/>
        </p:spPr>
        <p:txBody>
          <a:bodyPr wrap="square" lIns="0" rIns="0" tIns="0" bIns="0">
            <a:spAutoFit/>
          </a:bodyPr>
          <a:lstStyle/>
          <a:p>
            <a:pPr algn="l"/>
            <a:r>
              <a:rPr sz="800" b="0" i="0">
                <a:solidFill>
                  <a:srgbClr val="A23DB6"/>
                </a:solidFill>
                <a:latin typeface="Arial"/>
              </a:rPr>
              <a:t>full-scale light aircraft</a:t>
            </a:r>
          </a:p>
        </p:txBody>
      </p:sp>
      <p:sp>
        <p:nvSpPr>
          <p:cNvPr id="41" name="Oval 40"/>
          <p:cNvSpPr/>
          <p:nvPr/>
        </p:nvSpPr>
        <p:spPr>
          <a:xfrm>
            <a:off x="3434070" y="4503420"/>
            <a:ext cx="100584" cy="100584"/>
          </a:xfrm>
          <a:prstGeom prst="ellipse">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47472" y="6126480"/>
            <a:ext cx="3474720" cy="164592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7472" y="6126480"/>
            <a:ext cx="54864" cy="1645920"/>
          </a:xfrm>
          <a:prstGeom prst="rect">
            <a:avLst/>
          </a:prstGeom>
          <a:solidFill>
            <a:srgbClr val="C8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6245352"/>
            <a:ext cx="3163824" cy="201168"/>
          </a:xfrm>
          <a:prstGeom prst="rect">
            <a:avLst/>
          </a:prstGeom>
          <a:noFill/>
        </p:spPr>
        <p:txBody>
          <a:bodyPr wrap="square" lIns="0" rIns="0" tIns="0" bIns="0">
            <a:spAutoFit/>
          </a:bodyPr>
          <a:lstStyle/>
          <a:p>
            <a:pPr algn="l"/>
            <a:r>
              <a:rPr sz="1000" b="1" i="0">
                <a:solidFill>
                  <a:srgbClr val="20263A"/>
                </a:solidFill>
                <a:latin typeface="Arial"/>
              </a:rPr>
              <a:t>BELOW ~10⁵, THINGS GET WEIRD</a:t>
            </a:r>
          </a:p>
        </p:txBody>
      </p:sp>
      <p:sp>
        <p:nvSpPr>
          <p:cNvPr id="46" name="TextBox 45"/>
          <p:cNvSpPr txBox="1"/>
          <p:nvPr/>
        </p:nvSpPr>
        <p:spPr>
          <a:xfrm>
            <a:off x="502920" y="6473952"/>
            <a:ext cx="3200400" cy="1188720"/>
          </a:xfrm>
          <a:prstGeom prst="rect">
            <a:avLst/>
          </a:prstGeom>
          <a:noFill/>
        </p:spPr>
        <p:txBody>
          <a:bodyPr wrap="square" lIns="0" rIns="0" tIns="0" bIns="0">
            <a:spAutoFit/>
          </a:bodyPr>
          <a:lstStyle/>
          <a:p>
            <a:pPr algn="l"/>
            <a:r>
              <a:rPr sz="850" b="0" i="0">
                <a:solidFill>
                  <a:srgbClr val="20263A"/>
                </a:solidFill>
                <a:latin typeface="Arial"/>
              </a:rPr>
              <a:t>The boundary layer stays laminar, separates early, and may not reattach: Cₗmax drops, drag rises, and stalls sharpen. Full-size airfoil data quietly stops being true.</a:t>
            </a:r>
          </a:p>
        </p:txBody>
      </p:sp>
      <p:sp>
        <p:nvSpPr>
          <p:cNvPr id="47" name="Rounded Rectangle 46"/>
          <p:cNvSpPr/>
          <p:nvPr/>
        </p:nvSpPr>
        <p:spPr>
          <a:xfrm>
            <a:off x="3950208" y="6126480"/>
            <a:ext cx="3474720" cy="1645920"/>
          </a:xfrm>
          <a:prstGeom prst="roundRect">
            <a:avLst>
              <a:gd name="adj" fmla="val 6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950208" y="6126480"/>
            <a:ext cx="54864" cy="1645920"/>
          </a:xfrm>
          <a:prstGeom prst="rect">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05656" y="6245352"/>
            <a:ext cx="3163824" cy="201168"/>
          </a:xfrm>
          <a:prstGeom prst="rect">
            <a:avLst/>
          </a:prstGeom>
          <a:noFill/>
        </p:spPr>
        <p:txBody>
          <a:bodyPr wrap="square" lIns="0" rIns="0" tIns="0" bIns="0">
            <a:spAutoFit/>
          </a:bodyPr>
          <a:lstStyle/>
          <a:p>
            <a:pPr algn="l"/>
            <a:r>
              <a:rPr sz="1000" b="1" i="0">
                <a:solidFill>
                  <a:srgbClr val="20263A"/>
                </a:solidFill>
                <a:latin typeface="Arial"/>
              </a:rPr>
              <a:t>WHAT TO DO ABOUT IT</a:t>
            </a:r>
          </a:p>
        </p:txBody>
      </p:sp>
      <p:sp>
        <p:nvSpPr>
          <p:cNvPr id="50" name="TextBox 49"/>
          <p:cNvSpPr txBox="1"/>
          <p:nvPr/>
        </p:nvSpPr>
        <p:spPr>
          <a:xfrm>
            <a:off x="4105656" y="6473952"/>
            <a:ext cx="3200400" cy="1188720"/>
          </a:xfrm>
          <a:prstGeom prst="rect">
            <a:avLst/>
          </a:prstGeom>
          <a:noFill/>
        </p:spPr>
        <p:txBody>
          <a:bodyPr wrap="square" lIns="0" rIns="0" tIns="0" bIns="0">
            <a:spAutoFit/>
          </a:bodyPr>
          <a:lstStyle/>
          <a:p>
            <a:pPr algn="l"/>
            <a:r>
              <a:rPr sz="850" b="0" i="0">
                <a:solidFill>
                  <a:srgbClr val="20263A"/>
                </a:solidFill>
                <a:latin typeface="Arial"/>
              </a:rPr>
              <a:t>• Prefer sections designed for low Re (E387, S1223 class) and data from UIUC low-speed tests.</a:t>
            </a:r>
          </a:p>
          <a:p>
            <a:pPr algn="l"/>
            <a:r>
              <a:rPr sz="850" b="0" i="0">
                <a:solidFill>
                  <a:srgbClr val="20263A"/>
                </a:solidFill>
                <a:latin typeface="Arial"/>
              </a:rPr>
              <a:t>• Keep the leading edge accurate and the skin smooth.</a:t>
            </a:r>
          </a:p>
          <a:p>
            <a:pPr algn="l"/>
            <a:r>
              <a:rPr sz="850" b="0" i="0">
                <a:solidFill>
                  <a:srgbClr val="20263A"/>
                </a:solidFill>
                <a:latin typeface="Arial"/>
              </a:rPr>
              <a:t>• Remember the tips: smaller chord = lower Re = they misbehave first.</a:t>
            </a:r>
          </a:p>
        </p:txBody>
      </p:sp>
      <p:sp>
        <p:nvSpPr>
          <p:cNvPr id="51" name="Rounded Rectangle 50"/>
          <p:cNvSpPr/>
          <p:nvPr/>
        </p:nvSpPr>
        <p:spPr>
          <a:xfrm>
            <a:off x="347472" y="7936992"/>
            <a:ext cx="7077456" cy="731520"/>
          </a:xfrm>
          <a:prstGeom prst="roundRect">
            <a:avLst>
              <a:gd name="adj" fmla="val 10000"/>
            </a:avLst>
          </a:prstGeom>
          <a:solidFill>
            <a:srgbClr val="FDF6E3"/>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66344" y="8156448"/>
            <a:ext cx="292608" cy="292608"/>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66344" y="8206740"/>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54" name="TextBox 53"/>
          <p:cNvSpPr txBox="1"/>
          <p:nvPr/>
        </p:nvSpPr>
        <p:spPr>
          <a:xfrm>
            <a:off x="859536" y="8028431"/>
            <a:ext cx="914400" cy="146304"/>
          </a:xfrm>
          <a:prstGeom prst="rect">
            <a:avLst/>
          </a:prstGeom>
          <a:noFill/>
        </p:spPr>
        <p:txBody>
          <a:bodyPr wrap="square" lIns="0" rIns="0" tIns="0" bIns="0">
            <a:spAutoFit/>
          </a:bodyPr>
          <a:lstStyle/>
          <a:p>
            <a:pPr algn="l"/>
            <a:r>
              <a:rPr sz="800" b="1" i="0">
                <a:solidFill>
                  <a:srgbClr val="20263A"/>
                </a:solidFill>
                <a:latin typeface="Arial"/>
              </a:rPr>
              <a:t>YOUR TURN</a:t>
            </a:r>
          </a:p>
        </p:txBody>
      </p:sp>
      <p:sp>
        <p:nvSpPr>
          <p:cNvPr id="55" name="TextBox 54"/>
          <p:cNvSpPr txBox="1"/>
          <p:nvPr/>
        </p:nvSpPr>
        <p:spPr>
          <a:xfrm>
            <a:off x="859536" y="8183879"/>
            <a:ext cx="6391656" cy="402336"/>
          </a:xfrm>
          <a:prstGeom prst="rect">
            <a:avLst/>
          </a:prstGeom>
          <a:noFill/>
        </p:spPr>
        <p:txBody>
          <a:bodyPr wrap="square" lIns="0" rIns="0" tIns="0" bIns="0">
            <a:spAutoFit/>
          </a:bodyPr>
          <a:lstStyle/>
          <a:p>
            <a:pPr algn="l"/>
            <a:r>
              <a:rPr sz="850" b="0" i="0">
                <a:solidFill>
                  <a:srgbClr val="20263A"/>
                </a:solidFill>
                <a:latin typeface="Arial"/>
              </a:rPr>
              <a:t>Compute Re at the trainer’s wing in a slow landing: V = 6 m/s, c = 0.226 m. Is it inside the trouble zone? (Re ≈ 92 000 — marginal, which is why landings expose bad wings.)</a:t>
            </a:r>
          </a:p>
        </p:txBody>
      </p:sp>
      <p:sp>
        <p:nvSpPr>
          <p:cNvPr id="56" name="TextBox 55"/>
          <p:cNvSpPr txBox="1"/>
          <p:nvPr/>
        </p:nvSpPr>
        <p:spPr>
          <a:xfrm>
            <a:off x="347472" y="8860536"/>
            <a:ext cx="6510528" cy="137160"/>
          </a:xfrm>
          <a:prstGeom prst="rect">
            <a:avLst/>
          </a:prstGeom>
          <a:noFill/>
        </p:spPr>
        <p:txBody>
          <a:bodyPr wrap="square" lIns="0" rIns="0" tIns="0" bIns="0">
            <a:spAutoFit/>
          </a:bodyPr>
          <a:lstStyle/>
          <a:p>
            <a:pPr algn="l"/>
            <a:r>
              <a:rPr sz="650" b="0" i="0">
                <a:solidFill>
                  <a:srgbClr val="5F687D"/>
                </a:solidFill>
                <a:latin typeface="Arial"/>
              </a:rPr>
              <a:t>Re = ρVc/μ with sea-level ρ/μ ≈ 68 000 s/m². Band edges are indicative, not sharp physical boundaries.</a:t>
            </a:r>
          </a:p>
        </p:txBody>
      </p:sp>
      <p:sp>
        <p:nvSpPr>
          <p:cNvPr id="57" name="TextBox 56"/>
          <p:cNvSpPr txBox="1"/>
          <p:nvPr/>
        </p:nvSpPr>
        <p:spPr>
          <a:xfrm>
            <a:off x="7168896" y="8860536"/>
            <a:ext cx="320040" cy="146304"/>
          </a:xfrm>
          <a:prstGeom prst="rect">
            <a:avLst/>
          </a:prstGeom>
          <a:noFill/>
        </p:spPr>
        <p:txBody>
          <a:bodyPr wrap="square" lIns="0" rIns="0" tIns="0" bIns="0">
            <a:spAutoFit/>
          </a:bodyPr>
          <a:lstStyle/>
          <a:p>
            <a:pPr algn="r"/>
            <a:r>
              <a:rPr sz="700" b="0" i="0">
                <a:solidFill>
                  <a:srgbClr val="5F687D"/>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0292"/>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82296"/>
            <a:ext cx="4572000" cy="146304"/>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40" b="1" i="0">
                <a:solidFill>
                  <a:srgbClr val="D7DEF0"/>
                </a:solidFill>
                <a:latin typeface="Arial"/>
              </a:rPr>
              <a:t>REFERENCE — AIRFOIL VOCABULARY 1 OF 5</a:t>
            </a:r>
          </a:p>
        </p:txBody>
      </p:sp>
      <p:sp>
        <p:nvSpPr>
          <p:cNvPr id="6" name="TextBox 5"/>
          <p:cNvSpPr txBox="1"/>
          <p:nvPr/>
        </p:nvSpPr>
        <p:spPr>
          <a:xfrm>
            <a:off x="347472" y="246888"/>
            <a:ext cx="69037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250" b="1" i="0">
                <a:solidFill>
                  <a:srgbClr val="FFFFFF"/>
                </a:solidFill>
                <a:latin typeface="Arial"/>
              </a:rPr>
              <a:t>Airfoil anatomy: camber, thickness, and chord</a:t>
            </a:r>
          </a:p>
        </p:txBody>
      </p:sp>
      <p:sp>
        <p:nvSpPr>
          <p:cNvPr id="7" name="TextBox 6"/>
          <p:cNvSpPr txBox="1"/>
          <p:nvPr/>
        </p:nvSpPr>
        <p:spPr>
          <a:xfrm>
            <a:off x="347472" y="603504"/>
            <a:ext cx="6903720" cy="201168"/>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880" b="0" i="0">
                <a:solidFill>
                  <a:srgbClr val="FFFFFF"/>
                </a:solidFill>
                <a:latin typeface="Arial"/>
              </a:rPr>
              <a:t>Camber, thickness, chord, and surfaces describe different parts of the same cross-section</a:t>
            </a:r>
          </a:p>
        </p:txBody>
      </p:sp>
      <p:sp>
        <p:nvSpPr>
          <p:cNvPr id="8" name="Rounded Rectangle 7"/>
          <p:cNvSpPr/>
          <p:nvPr/>
        </p:nvSpPr>
        <p:spPr>
          <a:xfrm>
            <a:off x="320040" y="1078992"/>
            <a:ext cx="7132320" cy="3017520"/>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irfoil_anatomy.png"/>
          <p:cNvPicPr>
            <a:picLocks noChangeAspect="1"/>
          </p:cNvPicPr>
          <p:nvPr/>
        </p:nvPicPr>
        <p:blipFill>
          <a:blip r:embed="rId2"/>
          <a:stretch>
            <a:fillRect/>
          </a:stretch>
        </p:blipFill>
        <p:spPr>
          <a:xfrm>
            <a:off x="502920" y="1234440"/>
            <a:ext cx="6784848" cy="2542032"/>
          </a:xfrm>
          <a:prstGeom prst="rect">
            <a:avLst/>
          </a:prstGeom>
        </p:spPr>
      </p:pic>
      <p:sp>
        <p:nvSpPr>
          <p:cNvPr id="10" name="TextBox 9"/>
          <p:cNvSpPr txBox="1"/>
          <p:nvPr/>
        </p:nvSpPr>
        <p:spPr>
          <a:xfrm>
            <a:off x="502920" y="3785615"/>
            <a:ext cx="6720840" cy="18288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819" b="0" i="0">
                <a:solidFill>
                  <a:srgbClr val="59627A"/>
                </a:solidFill>
                <a:latin typeface="Arial"/>
              </a:rPr>
              <a:t>At each chord position, the orange dot is halfway between the upper and lower surfaces. Connecting those dots makes the mean camber line.</a:t>
            </a:r>
          </a:p>
        </p:txBody>
      </p:sp>
      <p:sp>
        <p:nvSpPr>
          <p:cNvPr id="11" name="Rounded Rectangle 10"/>
          <p:cNvSpPr/>
          <p:nvPr/>
        </p:nvSpPr>
        <p:spPr>
          <a:xfrm>
            <a:off x="320040" y="4279392"/>
            <a:ext cx="2267712" cy="1847088"/>
          </a:xfrm>
          <a:prstGeom prst="roundRect">
            <a:avLst/>
          </a:prstGeom>
          <a:solidFill>
            <a:srgbClr val="FFF2E8"/>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4279392"/>
            <a:ext cx="50292" cy="1847088"/>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 y="4389120"/>
            <a:ext cx="2011680"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19" b="1" i="0">
                <a:solidFill>
                  <a:srgbClr val="E0702B"/>
                </a:solidFill>
                <a:latin typeface="Arial"/>
              </a:rPr>
              <a:t>CAMBER</a:t>
            </a:r>
          </a:p>
        </p:txBody>
      </p:sp>
      <p:sp>
        <p:nvSpPr>
          <p:cNvPr id="14" name="TextBox 13"/>
          <p:cNvSpPr txBox="1"/>
          <p:nvPr/>
        </p:nvSpPr>
        <p:spPr>
          <a:xfrm>
            <a:off x="466344" y="4663440"/>
            <a:ext cx="2011680" cy="1371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35" b="0" i="0">
                <a:solidFill>
                  <a:srgbClr val="1A2342"/>
                </a:solidFill>
                <a:latin typeface="Arial"/>
              </a:rPr>
              <a:t>The curve of the mean camber line - not the curve of the top or bottom by itself. Because the mean line is built from midpoints, camber depends on both surfaces. Max camber is usually written as a percentage of chord.</a:t>
            </a:r>
          </a:p>
        </p:txBody>
      </p:sp>
      <p:sp>
        <p:nvSpPr>
          <p:cNvPr id="15" name="Rounded Rectangle 14"/>
          <p:cNvSpPr/>
          <p:nvPr/>
        </p:nvSpPr>
        <p:spPr>
          <a:xfrm>
            <a:off x="2752344" y="4279392"/>
            <a:ext cx="2267712" cy="1847088"/>
          </a:xfrm>
          <a:prstGeom prst="roundRect">
            <a:avLst/>
          </a:prstGeom>
          <a:solidFill>
            <a:srgbClr val="EAF7EF"/>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52344" y="4279392"/>
            <a:ext cx="50292" cy="1847088"/>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98648" y="4389120"/>
            <a:ext cx="2011680"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19" b="1" i="0">
                <a:solidFill>
                  <a:srgbClr val="2F8F5B"/>
                </a:solidFill>
                <a:latin typeface="Arial"/>
              </a:rPr>
              <a:t>THICKNESS</a:t>
            </a:r>
          </a:p>
        </p:txBody>
      </p:sp>
      <p:sp>
        <p:nvSpPr>
          <p:cNvPr id="18" name="TextBox 17"/>
          <p:cNvSpPr txBox="1"/>
          <p:nvPr/>
        </p:nvSpPr>
        <p:spPr>
          <a:xfrm>
            <a:off x="2898648" y="4663440"/>
            <a:ext cx="2011680" cy="1371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35" b="0" i="0">
                <a:solidFill>
                  <a:srgbClr val="1A2342"/>
                </a:solidFill>
                <a:latin typeface="Arial"/>
              </a:rPr>
              <a:t>The distance between the upper and lower surfaces. Maximum thickness tells you the thickest part of the section, often as a percentage of chord. A thick airfoil can leave more room for a strong spar.</a:t>
            </a:r>
          </a:p>
        </p:txBody>
      </p:sp>
      <p:sp>
        <p:nvSpPr>
          <p:cNvPr id="19" name="Rounded Rectangle 18"/>
          <p:cNvSpPr/>
          <p:nvPr/>
        </p:nvSpPr>
        <p:spPr>
          <a:xfrm>
            <a:off x="5184648" y="4279392"/>
            <a:ext cx="2267712" cy="1847088"/>
          </a:xfrm>
          <a:prstGeom prst="roundRect">
            <a:avLst/>
          </a:prstGeom>
          <a:solidFill>
            <a:srgbClr val="EAF1FC"/>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84648" y="4279392"/>
            <a:ext cx="50292" cy="1847088"/>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30952" y="4389120"/>
            <a:ext cx="2011680"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19" b="1" i="0">
                <a:solidFill>
                  <a:srgbClr val="246BCE"/>
                </a:solidFill>
                <a:latin typeface="Arial"/>
              </a:rPr>
              <a:t>CHORD</a:t>
            </a:r>
          </a:p>
        </p:txBody>
      </p:sp>
      <p:sp>
        <p:nvSpPr>
          <p:cNvPr id="22" name="TextBox 21"/>
          <p:cNvSpPr txBox="1"/>
          <p:nvPr/>
        </p:nvSpPr>
        <p:spPr>
          <a:xfrm>
            <a:off x="5330952" y="4663440"/>
            <a:ext cx="2011680" cy="1371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35" b="0" i="0">
                <a:solidFill>
                  <a:srgbClr val="1A2342"/>
                </a:solidFill>
                <a:latin typeface="Arial"/>
              </a:rPr>
              <a:t>The straight line from the leading edge to the trailing edge. Chord length is written c. Locations such as "40% chord" are measured back from the leading edge along this line.</a:t>
            </a:r>
          </a:p>
        </p:txBody>
      </p:sp>
      <p:sp>
        <p:nvSpPr>
          <p:cNvPr id="23" name="Rounded Rectangle 22"/>
          <p:cNvSpPr/>
          <p:nvPr/>
        </p:nvSpPr>
        <p:spPr>
          <a:xfrm>
            <a:off x="320040" y="6309360"/>
            <a:ext cx="7132320" cy="2350008"/>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6437376"/>
            <a:ext cx="2999232" cy="21945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00" b="1" i="0">
                <a:solidFill>
                  <a:srgbClr val="A23DB6"/>
                </a:solidFill>
                <a:latin typeface="Arial"/>
              </a:rPr>
              <a:t>CURVED DOES NOT AUTOMATICALLY MEAN CAMBERED</a:t>
            </a:r>
          </a:p>
        </p:txBody>
      </p:sp>
      <p:pic>
        <p:nvPicPr>
          <p:cNvPr id="25" name="Picture 24" descr="camber_compare.png"/>
          <p:cNvPicPr>
            <a:picLocks noChangeAspect="1"/>
          </p:cNvPicPr>
          <p:nvPr/>
        </p:nvPicPr>
        <p:blipFill>
          <a:blip r:embed="rId3"/>
          <a:stretch>
            <a:fillRect/>
          </a:stretch>
        </p:blipFill>
        <p:spPr>
          <a:xfrm>
            <a:off x="457200" y="6638544"/>
            <a:ext cx="3767328" cy="1618488"/>
          </a:xfrm>
          <a:prstGeom prst="rect">
            <a:avLst/>
          </a:prstGeom>
        </p:spPr>
      </p:pic>
      <p:sp>
        <p:nvSpPr>
          <p:cNvPr id="26" name="TextBox 25"/>
          <p:cNvSpPr txBox="1"/>
          <p:nvPr/>
        </p:nvSpPr>
        <p:spPr>
          <a:xfrm>
            <a:off x="4407408" y="6528816"/>
            <a:ext cx="2788920" cy="21945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00" b="1" i="0">
                <a:solidFill>
                  <a:srgbClr val="E0702B"/>
                </a:solidFill>
                <a:latin typeface="Arial"/>
              </a:rPr>
              <a:t>THE IMPORTANT TEST</a:t>
            </a:r>
          </a:p>
        </p:txBody>
      </p:sp>
      <p:sp>
        <p:nvSpPr>
          <p:cNvPr id="27" name="TextBox 26"/>
          <p:cNvSpPr txBox="1"/>
          <p:nvPr/>
        </p:nvSpPr>
        <p:spPr>
          <a:xfrm>
            <a:off x="4407408" y="6812280"/>
            <a:ext cx="2770632" cy="13533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55" b="0" i="0">
                <a:solidFill>
                  <a:srgbClr val="1A2342"/>
                </a:solidFill>
                <a:latin typeface="Arial"/>
              </a:rPr>
              <a:t>Ask what the mean camber line does.
- Straight mean line: zero camber, even when both surfaces are curved.
- Bent mean line: cambered airfoil.
- The largest gap between the mean line and chord is the maximum camber.
This is why a symmetric NACA 0012 has curved surfaces but 0% camber.</a:t>
            </a:r>
          </a:p>
        </p:txBody>
      </p:sp>
      <p:cxnSp>
        <p:nvCxnSpPr>
          <p:cNvPr id="28" name="Connector 27"/>
          <p:cNvCxnSpPr/>
          <p:nvPr/>
        </p:nvCxnSpPr>
        <p:spPr>
          <a:xfrm>
            <a:off x="329184" y="8933688"/>
            <a:ext cx="7095743" cy="0"/>
          </a:xfrm>
          <a:prstGeom prst="line">
            <a:avLst/>
          </a:prstGeom>
          <a:ln w="10160">
            <a:solidFill>
              <a:srgbClr val="E1E6E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47472" y="8961120"/>
            <a:ext cx="6583680" cy="182880"/>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530" b="0" i="0">
                <a:solidFill>
                  <a:srgbClr val="6C758C"/>
                </a:solidFill>
                <a:latin typeface="Arial"/>
              </a:rPr>
              <a:t>Standard aerodynamic terminology; generic diagrams are simplified and not to scale.</a:t>
            </a:r>
          </a:p>
        </p:txBody>
      </p:sp>
      <p:sp>
        <p:nvSpPr>
          <p:cNvPr id="30" name="TextBox 29"/>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0292"/>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82296"/>
            <a:ext cx="4572000" cy="146304"/>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40" b="1" i="0">
                <a:solidFill>
                  <a:srgbClr val="D7DEF0"/>
                </a:solidFill>
                <a:latin typeface="Arial"/>
              </a:rPr>
              <a:t>REFERENCE — AIRFOIL VOCABULARY 2 OF 5</a:t>
            </a:r>
          </a:p>
        </p:txBody>
      </p:sp>
      <p:sp>
        <p:nvSpPr>
          <p:cNvPr id="6" name="TextBox 5"/>
          <p:cNvSpPr txBox="1"/>
          <p:nvPr/>
        </p:nvSpPr>
        <p:spPr>
          <a:xfrm>
            <a:off x="347472" y="246888"/>
            <a:ext cx="69037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250" b="1" i="0">
                <a:solidFill>
                  <a:srgbClr val="FFFFFF"/>
                </a:solidFill>
                <a:latin typeface="Arial"/>
              </a:rPr>
              <a:t>Angle of attack, airflow, lift, drag, and stall</a:t>
            </a:r>
          </a:p>
        </p:txBody>
      </p:sp>
      <p:sp>
        <p:nvSpPr>
          <p:cNvPr id="7" name="TextBox 6"/>
          <p:cNvSpPr txBox="1"/>
          <p:nvPr/>
        </p:nvSpPr>
        <p:spPr>
          <a:xfrm>
            <a:off x="347472" y="603504"/>
            <a:ext cx="6903720" cy="201168"/>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880" b="0" i="0">
                <a:solidFill>
                  <a:srgbClr val="FFFFFF"/>
                </a:solidFill>
                <a:latin typeface="Arial"/>
              </a:rPr>
              <a:t>These words describe the wing relative to the air - not just relative to the ground or horizon</a:t>
            </a:r>
          </a:p>
        </p:txBody>
      </p:sp>
      <p:sp>
        <p:nvSpPr>
          <p:cNvPr id="8" name="Rounded Rectangle 7"/>
          <p:cNvSpPr/>
          <p:nvPr/>
        </p:nvSpPr>
        <p:spPr>
          <a:xfrm>
            <a:off x="320040" y="1078992"/>
            <a:ext cx="3858768" cy="2816352"/>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ngle_of_attack.png"/>
          <p:cNvPicPr>
            <a:picLocks noChangeAspect="1"/>
          </p:cNvPicPr>
          <p:nvPr/>
        </p:nvPicPr>
        <p:blipFill>
          <a:blip r:embed="rId2"/>
          <a:stretch>
            <a:fillRect/>
          </a:stretch>
        </p:blipFill>
        <p:spPr>
          <a:xfrm>
            <a:off x="502920" y="1261872"/>
            <a:ext cx="3493008" cy="2148840"/>
          </a:xfrm>
          <a:prstGeom prst="rect">
            <a:avLst/>
          </a:prstGeom>
        </p:spPr>
      </p:pic>
      <p:sp>
        <p:nvSpPr>
          <p:cNvPr id="10" name="TextBox 9"/>
          <p:cNvSpPr txBox="1"/>
          <p:nvPr/>
        </p:nvSpPr>
        <p:spPr>
          <a:xfrm>
            <a:off x="502920" y="3456432"/>
            <a:ext cx="3493008" cy="22860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830" b="0" i="0">
                <a:solidFill>
                  <a:srgbClr val="59627A"/>
                </a:solidFill>
                <a:latin typeface="Arial"/>
              </a:rPr>
              <a:t>Lift is perpendicular to the relative wind. Drag points along it — downstream.</a:t>
            </a:r>
          </a:p>
        </p:txBody>
      </p:sp>
      <p:sp>
        <p:nvSpPr>
          <p:cNvPr id="11" name="Rounded Rectangle 10"/>
          <p:cNvSpPr/>
          <p:nvPr/>
        </p:nvSpPr>
        <p:spPr>
          <a:xfrm>
            <a:off x="4343400" y="1078992"/>
            <a:ext cx="3108960" cy="2816352"/>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225296"/>
            <a:ext cx="2770632"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00" b="1" i="0">
                <a:solidFill>
                  <a:srgbClr val="246BCE"/>
                </a:solidFill>
                <a:latin typeface="Arial"/>
              </a:rPr>
              <a:t>FOUR LINES AND ANGLES TO KEEP SEPARATE</a:t>
            </a:r>
          </a:p>
        </p:txBody>
      </p:sp>
      <p:sp>
        <p:nvSpPr>
          <p:cNvPr id="13" name="Oval 12"/>
          <p:cNvSpPr/>
          <p:nvPr/>
        </p:nvSpPr>
        <p:spPr>
          <a:xfrm>
            <a:off x="4507992" y="1554480"/>
            <a:ext cx="256032" cy="256032"/>
          </a:xfrm>
          <a:prstGeom prst="ellipse">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559051"/>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W</a:t>
            </a:r>
          </a:p>
        </p:txBody>
      </p:sp>
      <p:sp>
        <p:nvSpPr>
          <p:cNvPr id="15" name="TextBox 14"/>
          <p:cNvSpPr txBox="1"/>
          <p:nvPr/>
        </p:nvSpPr>
        <p:spPr>
          <a:xfrm>
            <a:off x="4837176" y="1549908"/>
            <a:ext cx="2395728"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246BCE"/>
                </a:solidFill>
                <a:latin typeface="Arial"/>
              </a:rPr>
              <a:t>Relative wind</a:t>
            </a:r>
          </a:p>
        </p:txBody>
      </p:sp>
      <p:sp>
        <p:nvSpPr>
          <p:cNvPr id="16" name="TextBox 15"/>
          <p:cNvSpPr txBox="1"/>
          <p:nvPr/>
        </p:nvSpPr>
        <p:spPr>
          <a:xfrm>
            <a:off x="4837176" y="1728216"/>
            <a:ext cx="2395728"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0" i="0">
                <a:solidFill>
                  <a:srgbClr val="1A2342"/>
                </a:solidFill>
                <a:latin typeface="Arial"/>
              </a:rPr>
              <a:t>The airflow direction the wing feels. It points opposite the aircraft's path through the air.</a:t>
            </a:r>
          </a:p>
        </p:txBody>
      </p:sp>
      <p:sp>
        <p:nvSpPr>
          <p:cNvPr id="17" name="Oval 16"/>
          <p:cNvSpPr/>
          <p:nvPr/>
        </p:nvSpPr>
        <p:spPr>
          <a:xfrm>
            <a:off x="4507992" y="2121408"/>
            <a:ext cx="256032" cy="256032"/>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2125979"/>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c</a:t>
            </a:r>
          </a:p>
        </p:txBody>
      </p:sp>
      <p:sp>
        <p:nvSpPr>
          <p:cNvPr id="19" name="TextBox 18"/>
          <p:cNvSpPr txBox="1"/>
          <p:nvPr/>
        </p:nvSpPr>
        <p:spPr>
          <a:xfrm>
            <a:off x="4837176" y="2116836"/>
            <a:ext cx="2395728"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E0702B"/>
                </a:solidFill>
                <a:latin typeface="Arial"/>
              </a:rPr>
              <a:t>Chord line</a:t>
            </a:r>
          </a:p>
        </p:txBody>
      </p:sp>
      <p:sp>
        <p:nvSpPr>
          <p:cNvPr id="20" name="TextBox 19"/>
          <p:cNvSpPr txBox="1"/>
          <p:nvPr/>
        </p:nvSpPr>
        <p:spPr>
          <a:xfrm>
            <a:off x="4837176" y="2295144"/>
            <a:ext cx="2395728"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0" i="0">
                <a:solidFill>
                  <a:srgbClr val="1A2342"/>
                </a:solidFill>
                <a:latin typeface="Arial"/>
              </a:rPr>
              <a:t>A line fixed in the wing from leading edge to trailing edge.</a:t>
            </a:r>
          </a:p>
        </p:txBody>
      </p:sp>
      <p:sp>
        <p:nvSpPr>
          <p:cNvPr id="21" name="Oval 20"/>
          <p:cNvSpPr/>
          <p:nvPr/>
        </p:nvSpPr>
        <p:spPr>
          <a:xfrm>
            <a:off x="4507992" y="2688336"/>
            <a:ext cx="256032" cy="256032"/>
          </a:xfrm>
          <a:prstGeom prst="ellipse">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7992" y="2692908"/>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α</a:t>
            </a:r>
          </a:p>
        </p:txBody>
      </p:sp>
      <p:sp>
        <p:nvSpPr>
          <p:cNvPr id="23" name="TextBox 22"/>
          <p:cNvSpPr txBox="1"/>
          <p:nvPr/>
        </p:nvSpPr>
        <p:spPr>
          <a:xfrm>
            <a:off x="4837176" y="2683764"/>
            <a:ext cx="2395728"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A23DB6"/>
                </a:solidFill>
                <a:latin typeface="Arial"/>
              </a:rPr>
              <a:t>Angle of attack</a:t>
            </a:r>
          </a:p>
        </p:txBody>
      </p:sp>
      <p:sp>
        <p:nvSpPr>
          <p:cNvPr id="24" name="TextBox 23"/>
          <p:cNvSpPr txBox="1"/>
          <p:nvPr/>
        </p:nvSpPr>
        <p:spPr>
          <a:xfrm>
            <a:off x="4837176" y="2862072"/>
            <a:ext cx="2395728"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0" i="0">
                <a:solidFill>
                  <a:srgbClr val="1A2342"/>
                </a:solidFill>
                <a:latin typeface="Arial"/>
              </a:rPr>
              <a:t>The angle between the chord line and relative wind. It changes during flight.</a:t>
            </a:r>
          </a:p>
        </p:txBody>
      </p:sp>
      <p:sp>
        <p:nvSpPr>
          <p:cNvPr id="25" name="Oval 24"/>
          <p:cNvSpPr/>
          <p:nvPr/>
        </p:nvSpPr>
        <p:spPr>
          <a:xfrm>
            <a:off x="4507992" y="3255264"/>
            <a:ext cx="256032" cy="256032"/>
          </a:xfrm>
          <a:prstGeom prst="ellipse">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7992" y="3259836"/>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P</a:t>
            </a:r>
          </a:p>
        </p:txBody>
      </p:sp>
      <p:sp>
        <p:nvSpPr>
          <p:cNvPr id="27" name="TextBox 26"/>
          <p:cNvSpPr txBox="1"/>
          <p:nvPr/>
        </p:nvSpPr>
        <p:spPr>
          <a:xfrm>
            <a:off x="4837176" y="3250692"/>
            <a:ext cx="2395728"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2F8F5B"/>
                </a:solidFill>
                <a:latin typeface="Arial"/>
              </a:rPr>
              <a:t>Pitch attitude</a:t>
            </a:r>
          </a:p>
        </p:txBody>
      </p:sp>
      <p:sp>
        <p:nvSpPr>
          <p:cNvPr id="28" name="TextBox 27"/>
          <p:cNvSpPr txBox="1"/>
          <p:nvPr/>
        </p:nvSpPr>
        <p:spPr>
          <a:xfrm>
            <a:off x="4837176" y="3429000"/>
            <a:ext cx="2395728"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780" b="0" i="0">
                <a:solidFill>
                  <a:srgbClr val="1A2342"/>
                </a:solidFill>
                <a:latin typeface="Arial"/>
              </a:rPr>
              <a:t>The nose angle relative to the horizon. It is not automatically the same as angle of attack.</a:t>
            </a:r>
          </a:p>
        </p:txBody>
      </p:sp>
      <p:sp>
        <p:nvSpPr>
          <p:cNvPr id="29" name="Rounded Rectangle 28"/>
          <p:cNvSpPr/>
          <p:nvPr/>
        </p:nvSpPr>
        <p:spPr>
          <a:xfrm>
            <a:off x="320040" y="4087368"/>
            <a:ext cx="7132320" cy="2331720"/>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4215384"/>
            <a:ext cx="6766560" cy="20116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900" b="1" i="0">
                <a:solidFill>
                  <a:srgbClr val="246BCE"/>
                </a:solidFill>
                <a:latin typeface="Arial"/>
              </a:rPr>
              <a:t>ATTACHED FLOW VERSUS SEPARATED FLOW</a:t>
            </a:r>
          </a:p>
        </p:txBody>
      </p:sp>
      <p:pic>
        <p:nvPicPr>
          <p:cNvPr id="31" name="Picture 30" descr="flow_separation.png"/>
          <p:cNvPicPr>
            <a:picLocks noChangeAspect="1"/>
          </p:cNvPicPr>
          <p:nvPr/>
        </p:nvPicPr>
        <p:blipFill>
          <a:blip r:embed="rId3"/>
          <a:stretch>
            <a:fillRect/>
          </a:stretch>
        </p:blipFill>
        <p:spPr>
          <a:xfrm>
            <a:off x="438912" y="4443984"/>
            <a:ext cx="6894576" cy="1609344"/>
          </a:xfrm>
          <a:prstGeom prst="rect">
            <a:avLst/>
          </a:prstGeom>
        </p:spPr>
      </p:pic>
      <p:sp>
        <p:nvSpPr>
          <p:cNvPr id="32" name="Rounded Rectangle 31"/>
          <p:cNvSpPr/>
          <p:nvPr/>
        </p:nvSpPr>
        <p:spPr>
          <a:xfrm>
            <a:off x="320040" y="6611112"/>
            <a:ext cx="2267712" cy="2029968"/>
          </a:xfrm>
          <a:prstGeom prst="roundRect">
            <a:avLst/>
          </a:prstGeom>
          <a:solidFill>
            <a:srgbClr val="E9F7F7"/>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0040" y="6611112"/>
            <a:ext cx="50292" cy="2029968"/>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 y="6720840"/>
            <a:ext cx="2011680"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00" b="1" i="0">
                <a:solidFill>
                  <a:srgbClr val="138C8C"/>
                </a:solidFill>
                <a:latin typeface="Arial"/>
              </a:rPr>
              <a:t>BOUNDARY LAYER</a:t>
            </a:r>
          </a:p>
        </p:txBody>
      </p:sp>
      <p:sp>
        <p:nvSpPr>
          <p:cNvPr id="35" name="TextBox 34"/>
          <p:cNvSpPr txBox="1"/>
          <p:nvPr/>
        </p:nvSpPr>
        <p:spPr>
          <a:xfrm>
            <a:off x="466344" y="6995160"/>
            <a:ext cx="2011680" cy="15544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5" b="0" i="0">
                <a:solidFill>
                  <a:srgbClr val="1A2342"/>
                </a:solidFill>
                <a:latin typeface="Arial"/>
              </a:rPr>
              <a:t>A very thin layer of air next to the surface. Skin friction slows it down. Even though the main airflow is fast, the air touching the wing has nearly zero speed relative to the surface.</a:t>
            </a:r>
          </a:p>
        </p:txBody>
      </p:sp>
      <p:sp>
        <p:nvSpPr>
          <p:cNvPr id="36" name="Rounded Rectangle 35"/>
          <p:cNvSpPr/>
          <p:nvPr/>
        </p:nvSpPr>
        <p:spPr>
          <a:xfrm>
            <a:off x="2752344" y="6611112"/>
            <a:ext cx="2267712" cy="2029968"/>
          </a:xfrm>
          <a:prstGeom prst="roundRect">
            <a:avLst/>
          </a:prstGeom>
          <a:solidFill>
            <a:srgbClr val="FCECEC"/>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752344" y="6611112"/>
            <a:ext cx="50292" cy="2029968"/>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98648" y="6720840"/>
            <a:ext cx="2011680"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00" b="1" i="0">
                <a:solidFill>
                  <a:srgbClr val="C83E3E"/>
                </a:solidFill>
                <a:latin typeface="Arial"/>
              </a:rPr>
              <a:t>SEPARATION</a:t>
            </a:r>
          </a:p>
        </p:txBody>
      </p:sp>
      <p:sp>
        <p:nvSpPr>
          <p:cNvPr id="39" name="TextBox 38"/>
          <p:cNvSpPr txBox="1"/>
          <p:nvPr/>
        </p:nvSpPr>
        <p:spPr>
          <a:xfrm>
            <a:off x="2898648" y="6995160"/>
            <a:ext cx="2011680" cy="15544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5" b="0" i="0">
                <a:solidFill>
                  <a:srgbClr val="1A2342"/>
                </a:solidFill>
                <a:latin typeface="Arial"/>
              </a:rPr>
              <a:t>When the boundary layer no longer has enough energy to follow the surface, it peels away. The separated region creates a larger wake, more drag, and less predictable lift.</a:t>
            </a:r>
          </a:p>
        </p:txBody>
      </p:sp>
      <p:sp>
        <p:nvSpPr>
          <p:cNvPr id="40" name="Rounded Rectangle 39"/>
          <p:cNvSpPr/>
          <p:nvPr/>
        </p:nvSpPr>
        <p:spPr>
          <a:xfrm>
            <a:off x="5184648" y="6611112"/>
            <a:ext cx="2267712" cy="2029968"/>
          </a:xfrm>
          <a:prstGeom prst="roundRect">
            <a:avLst/>
          </a:prstGeom>
          <a:solidFill>
            <a:srgbClr val="FFF2E8"/>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184648" y="6611112"/>
            <a:ext cx="50292" cy="2029968"/>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30952" y="6720840"/>
            <a:ext cx="2011680"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00" b="1" i="0">
                <a:solidFill>
                  <a:srgbClr val="E0702B"/>
                </a:solidFill>
                <a:latin typeface="Arial"/>
              </a:rPr>
              <a:t>STALL</a:t>
            </a:r>
          </a:p>
        </p:txBody>
      </p:sp>
      <p:sp>
        <p:nvSpPr>
          <p:cNvPr id="43" name="TextBox 42"/>
          <p:cNvSpPr txBox="1"/>
          <p:nvPr/>
        </p:nvSpPr>
        <p:spPr>
          <a:xfrm>
            <a:off x="5330952" y="6995160"/>
            <a:ext cx="2011680" cy="15544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5" b="0" i="0">
                <a:solidFill>
                  <a:srgbClr val="1A2342"/>
                </a:solidFill>
                <a:latin typeface="Arial"/>
              </a:rPr>
              <a:t>A stall happens when the wing exceeds its critical angle of attack and large-scale separation develops. It can happen at any airspeed. Low speed matters because holding the airplane up then requires more angle of attack.</a:t>
            </a:r>
          </a:p>
        </p:txBody>
      </p:sp>
      <p:cxnSp>
        <p:nvCxnSpPr>
          <p:cNvPr id="44" name="Connector 43"/>
          <p:cNvCxnSpPr/>
          <p:nvPr/>
        </p:nvCxnSpPr>
        <p:spPr>
          <a:xfrm>
            <a:off x="329184" y="8933688"/>
            <a:ext cx="7095743" cy="0"/>
          </a:xfrm>
          <a:prstGeom prst="line">
            <a:avLst/>
          </a:prstGeom>
          <a:ln w="10160">
            <a:solidFill>
              <a:srgbClr val="E1E6EF"/>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47472" y="8961120"/>
            <a:ext cx="6583680" cy="182880"/>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530" b="0" i="0">
                <a:solidFill>
                  <a:srgbClr val="6C758C"/>
                </a:solidFill>
                <a:latin typeface="Arial"/>
              </a:rPr>
              <a:t>Lift and drag directions are defined relative to the airflow; diagrams show the ideas rather than exact flow fields.</a:t>
            </a:r>
          </a:p>
        </p:txBody>
      </p:sp>
      <p:sp>
        <p:nvSpPr>
          <p:cNvPr id="46" name="TextBox 45"/>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41</a:t>
            </a:r>
          </a:p>
        </p:txBody>
      </p:sp>
      <p:sp>
        <p:nvSpPr>
          <p:cNvPr id="47" name="Rectangle 46"/>
          <p:cNvSpPr/>
          <p:nvPr/>
        </p:nvSpPr>
        <p:spPr>
          <a:xfrm>
            <a:off x="1371600" y="2788920"/>
            <a:ext cx="105156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2651760" y="2889504"/>
            <a:ext cx="914400" cy="0"/>
          </a:xfrm>
          <a:prstGeom prst="line">
            <a:avLst/>
          </a:prstGeom>
          <a:ln w="31750">
            <a:solidFill>
              <a:srgbClr val="B03A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907792" y="2944368"/>
            <a:ext cx="548640" cy="164592"/>
          </a:xfrm>
          <a:prstGeom prst="rect">
            <a:avLst/>
          </a:prstGeom>
          <a:noFill/>
        </p:spPr>
        <p:txBody>
          <a:bodyPr wrap="square" lIns="0" rIns="0" tIns="0" bIns="0">
            <a:spAutoFit/>
          </a:bodyPr>
          <a:lstStyle/>
          <a:p>
            <a:pPr algn="ctr"/>
            <a:r>
              <a:rPr sz="850" b="1" i="0">
                <a:solidFill>
                  <a:srgbClr val="B03A2E"/>
                </a:solidFill>
                <a:latin typeface="Arial"/>
              </a:rPr>
              <a:t>drag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0292"/>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82296"/>
            <a:ext cx="4572000" cy="146304"/>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40" b="1" i="0">
                <a:solidFill>
                  <a:srgbClr val="D7DEF0"/>
                </a:solidFill>
                <a:latin typeface="Arial"/>
              </a:rPr>
              <a:t>REFERENCE — AIRFOIL VOCABULARY 3 OF 5</a:t>
            </a:r>
          </a:p>
        </p:txBody>
      </p:sp>
      <p:sp>
        <p:nvSpPr>
          <p:cNvPr id="6" name="TextBox 5"/>
          <p:cNvSpPr txBox="1"/>
          <p:nvPr/>
        </p:nvSpPr>
        <p:spPr>
          <a:xfrm>
            <a:off x="347472" y="246888"/>
            <a:ext cx="69037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250" b="1" i="0">
                <a:solidFill>
                  <a:srgbClr val="FFFFFF"/>
                </a:solidFill>
                <a:latin typeface="Arial"/>
              </a:rPr>
              <a:t>Wing geometry: span, area, loading, and twist</a:t>
            </a:r>
          </a:p>
        </p:txBody>
      </p:sp>
      <p:sp>
        <p:nvSpPr>
          <p:cNvPr id="7" name="TextBox 6"/>
          <p:cNvSpPr txBox="1"/>
          <p:nvPr/>
        </p:nvSpPr>
        <p:spPr>
          <a:xfrm>
            <a:off x="347472" y="603504"/>
            <a:ext cx="6903720" cy="201168"/>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880" b="0" i="0">
                <a:solidFill>
                  <a:srgbClr val="FFFFFF"/>
                </a:solidFill>
                <a:latin typeface="Arial"/>
              </a:rPr>
              <a:t>An airfoil is one slice; the complete wing adds planform shape, spanwise angles, and structural limits</a:t>
            </a:r>
          </a:p>
        </p:txBody>
      </p:sp>
      <p:sp>
        <p:nvSpPr>
          <p:cNvPr id="8" name="Rounded Rectangle 7"/>
          <p:cNvSpPr/>
          <p:nvPr/>
        </p:nvSpPr>
        <p:spPr>
          <a:xfrm>
            <a:off x="320040" y="1078992"/>
            <a:ext cx="7132320" cy="2999232"/>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ing_planform.png"/>
          <p:cNvPicPr>
            <a:picLocks noChangeAspect="1"/>
          </p:cNvPicPr>
          <p:nvPr/>
        </p:nvPicPr>
        <p:blipFill>
          <a:blip r:embed="rId2"/>
          <a:stretch>
            <a:fillRect/>
          </a:stretch>
        </p:blipFill>
        <p:spPr>
          <a:xfrm>
            <a:off x="566928" y="1261872"/>
            <a:ext cx="6620256" cy="2331720"/>
          </a:xfrm>
          <a:prstGeom prst="rect">
            <a:avLst/>
          </a:prstGeom>
        </p:spPr>
      </p:pic>
      <p:sp>
        <p:nvSpPr>
          <p:cNvPr id="10" name="TextBox 9"/>
          <p:cNvSpPr txBox="1"/>
          <p:nvPr/>
        </p:nvSpPr>
        <p:spPr>
          <a:xfrm>
            <a:off x="502920" y="3703320"/>
            <a:ext cx="6720840" cy="18288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825" b="0" i="0">
                <a:solidFill>
                  <a:srgbClr val="59627A"/>
                </a:solidFill>
                <a:latin typeface="Arial"/>
              </a:rPr>
              <a:t>Planform means the outline seen from above. Wing area S is the area inside that outline.</a:t>
            </a:r>
          </a:p>
        </p:txBody>
      </p:sp>
      <p:sp>
        <p:nvSpPr>
          <p:cNvPr id="11" name="Rounded Rectangle 10"/>
          <p:cNvSpPr/>
          <p:nvPr/>
        </p:nvSpPr>
        <p:spPr>
          <a:xfrm>
            <a:off x="320040" y="4279392"/>
            <a:ext cx="2267712" cy="1938528"/>
          </a:xfrm>
          <a:prstGeom prst="roundRect">
            <a:avLst/>
          </a:prstGeom>
          <a:solidFill>
            <a:srgbClr val="E9F7F7"/>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4279392"/>
            <a:ext cx="50292" cy="1938528"/>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 y="4389120"/>
            <a:ext cx="2011680"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00" b="1" i="0">
                <a:solidFill>
                  <a:srgbClr val="138C8C"/>
                </a:solidFill>
                <a:latin typeface="Arial"/>
              </a:rPr>
              <a:t>SPAN, CHORD, AND AREA</a:t>
            </a:r>
          </a:p>
        </p:txBody>
      </p:sp>
      <p:sp>
        <p:nvSpPr>
          <p:cNvPr id="14" name="TextBox 13"/>
          <p:cNvSpPr txBox="1"/>
          <p:nvPr/>
        </p:nvSpPr>
        <p:spPr>
          <a:xfrm>
            <a:off x="466344" y="4663440"/>
            <a:ext cx="2011680" cy="14630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5" b="0" i="0">
                <a:solidFill>
                  <a:srgbClr val="1A2342"/>
                </a:solidFill>
                <a:latin typeface="Arial"/>
              </a:rPr>
              <a:t>Span b is tip-to-tip distance. Chord c is leading-edge to trailing-edge distance. On a tapered wing the chord changes, so designers may use a representative mean aerodynamic chord. Wing area S is the planform area.</a:t>
            </a:r>
          </a:p>
        </p:txBody>
      </p:sp>
      <p:sp>
        <p:nvSpPr>
          <p:cNvPr id="15" name="Rounded Rectangle 14"/>
          <p:cNvSpPr/>
          <p:nvPr/>
        </p:nvSpPr>
        <p:spPr>
          <a:xfrm>
            <a:off x="2752344" y="4279392"/>
            <a:ext cx="2267712" cy="1938528"/>
          </a:xfrm>
          <a:prstGeom prst="roundRect">
            <a:avLst/>
          </a:prstGeom>
          <a:solidFill>
            <a:srgbClr val="F5EBF8"/>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52344" y="4279392"/>
            <a:ext cx="50292" cy="1938528"/>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98648" y="4389120"/>
            <a:ext cx="2011680"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00" b="1" i="0">
                <a:solidFill>
                  <a:srgbClr val="A23DB6"/>
                </a:solidFill>
                <a:latin typeface="Arial"/>
              </a:rPr>
              <a:t>ASPECT RATIO  AR</a:t>
            </a:r>
          </a:p>
        </p:txBody>
      </p:sp>
      <p:sp>
        <p:nvSpPr>
          <p:cNvPr id="18" name="TextBox 17"/>
          <p:cNvSpPr txBox="1"/>
          <p:nvPr/>
        </p:nvSpPr>
        <p:spPr>
          <a:xfrm>
            <a:off x="2898648" y="4663440"/>
            <a:ext cx="2011680" cy="14630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5" b="0" i="0">
                <a:solidFill>
                  <a:srgbClr val="1A2342"/>
                </a:solidFill>
                <a:latin typeface="Arial"/>
              </a:rPr>
              <a:t>AR = b²/S. A long, narrow wing has a higher aspect ratio than a short, wide wing of the same area. Higher AR usually reduces induced drag, but it also increases bending loads and may need a stronger spar.</a:t>
            </a:r>
          </a:p>
        </p:txBody>
      </p:sp>
      <p:sp>
        <p:nvSpPr>
          <p:cNvPr id="19" name="Rounded Rectangle 18"/>
          <p:cNvSpPr/>
          <p:nvPr/>
        </p:nvSpPr>
        <p:spPr>
          <a:xfrm>
            <a:off x="5184648" y="4279392"/>
            <a:ext cx="2267712" cy="1938528"/>
          </a:xfrm>
          <a:prstGeom prst="roundRect">
            <a:avLst/>
          </a:prstGeom>
          <a:solidFill>
            <a:srgbClr val="EAF7EF"/>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84648" y="4279392"/>
            <a:ext cx="50292" cy="1938528"/>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30952" y="4389120"/>
            <a:ext cx="2011680"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00" b="1" i="0">
                <a:solidFill>
                  <a:srgbClr val="2F8F5B"/>
                </a:solidFill>
                <a:latin typeface="Arial"/>
              </a:rPr>
              <a:t>WING LOADING  W/S</a:t>
            </a:r>
          </a:p>
        </p:txBody>
      </p:sp>
      <p:sp>
        <p:nvSpPr>
          <p:cNvPr id="22" name="TextBox 21"/>
          <p:cNvSpPr txBox="1"/>
          <p:nvPr/>
        </p:nvSpPr>
        <p:spPr>
          <a:xfrm>
            <a:off x="5330952" y="4663440"/>
            <a:ext cx="2011680" cy="14630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5" b="0" i="0">
                <a:solidFill>
                  <a:srgbClr val="1A2342"/>
                </a:solidFill>
                <a:latin typeface="Arial"/>
              </a:rPr>
              <a:t>Weight divided by wing area. Lower wing loading usually means slower takeoff, landing, and stall speeds. Higher loading often feels faster and more solid in wind, but demands more speed and stronger structure.</a:t>
            </a:r>
          </a:p>
        </p:txBody>
      </p:sp>
      <p:sp>
        <p:nvSpPr>
          <p:cNvPr id="23" name="Rounded Rectangle 22"/>
          <p:cNvSpPr/>
          <p:nvPr/>
        </p:nvSpPr>
        <p:spPr>
          <a:xfrm>
            <a:off x="320040" y="6419088"/>
            <a:ext cx="7132320" cy="2221992"/>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6547104"/>
            <a:ext cx="6766560" cy="20116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900" b="1" i="0">
                <a:solidFill>
                  <a:srgbClr val="138C8C"/>
                </a:solidFill>
                <a:latin typeface="Arial"/>
              </a:rPr>
              <a:t>ANGLES BUILT INTO THE COMPLETE WING</a:t>
            </a:r>
          </a:p>
        </p:txBody>
      </p:sp>
      <p:pic>
        <p:nvPicPr>
          <p:cNvPr id="25" name="Picture 24" descr="wing_angles.png"/>
          <p:cNvPicPr>
            <a:picLocks noChangeAspect="1"/>
          </p:cNvPicPr>
          <p:nvPr/>
        </p:nvPicPr>
        <p:blipFill>
          <a:blip r:embed="rId3"/>
          <a:stretch>
            <a:fillRect/>
          </a:stretch>
        </p:blipFill>
        <p:spPr>
          <a:xfrm>
            <a:off x="457200" y="6793992"/>
            <a:ext cx="6876288" cy="1490472"/>
          </a:xfrm>
          <a:prstGeom prst="rect">
            <a:avLst/>
          </a:prstGeom>
        </p:spPr>
      </p:pic>
      <p:sp>
        <p:nvSpPr>
          <p:cNvPr id="26" name="TextBox 25"/>
          <p:cNvSpPr txBox="1"/>
          <p:nvPr/>
        </p:nvSpPr>
        <p:spPr>
          <a:xfrm>
            <a:off x="566928" y="8321040"/>
            <a:ext cx="6629400" cy="18288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800" b="0" i="0">
                <a:solidFill>
                  <a:srgbClr val="59627A"/>
                </a:solidFill>
                <a:latin typeface="Arial"/>
              </a:rPr>
              <a:t>Incidence is fixed by construction. Angle of attack changes in flight. Washout is an intentional change in incidence from root to tip.</a:t>
            </a:r>
          </a:p>
        </p:txBody>
      </p:sp>
      <p:cxnSp>
        <p:nvCxnSpPr>
          <p:cNvPr id="27" name="Connector 26"/>
          <p:cNvCxnSpPr/>
          <p:nvPr/>
        </p:nvCxnSpPr>
        <p:spPr>
          <a:xfrm>
            <a:off x="329184" y="8933688"/>
            <a:ext cx="7095743" cy="0"/>
          </a:xfrm>
          <a:prstGeom prst="line">
            <a:avLst/>
          </a:prstGeom>
          <a:ln w="10160">
            <a:solidFill>
              <a:srgbClr val="E1E6E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47472" y="8961120"/>
            <a:ext cx="6583680" cy="182880"/>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530" b="0" i="0">
                <a:solidFill>
                  <a:srgbClr val="6C758C"/>
                </a:solidFill>
                <a:latin typeface="Arial"/>
              </a:rPr>
              <a:t>Standard wing-geometry definitions; unusual planforms can require more specialized area and chord conventions.</a:t>
            </a:r>
          </a:p>
        </p:txBody>
      </p:sp>
      <p:sp>
        <p:nvSpPr>
          <p:cNvPr id="29" name="TextBox 28"/>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0292"/>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82296"/>
            <a:ext cx="4572000" cy="146304"/>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40" b="1" i="0">
                <a:solidFill>
                  <a:srgbClr val="D7DEF0"/>
                </a:solidFill>
                <a:latin typeface="Arial"/>
              </a:rPr>
              <a:t>REFERENCE — AIRFOIL VOCABULARY 4 OF 5</a:t>
            </a:r>
          </a:p>
        </p:txBody>
      </p:sp>
      <p:sp>
        <p:nvSpPr>
          <p:cNvPr id="6" name="TextBox 5"/>
          <p:cNvSpPr txBox="1"/>
          <p:nvPr/>
        </p:nvSpPr>
        <p:spPr>
          <a:xfrm>
            <a:off x="347472" y="246888"/>
            <a:ext cx="69037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250" b="1" i="0">
                <a:solidFill>
                  <a:srgbClr val="FFFFFF"/>
                </a:solidFill>
                <a:latin typeface="Arial"/>
              </a:rPr>
              <a:t>Built-up wing terms: what the parts do</a:t>
            </a:r>
          </a:p>
        </p:txBody>
      </p:sp>
      <p:sp>
        <p:nvSpPr>
          <p:cNvPr id="7" name="TextBox 6"/>
          <p:cNvSpPr txBox="1"/>
          <p:nvPr/>
        </p:nvSpPr>
        <p:spPr>
          <a:xfrm>
            <a:off x="347472" y="603504"/>
            <a:ext cx="6903720" cy="201168"/>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880" b="0" i="0">
                <a:solidFill>
                  <a:srgbClr val="FFFFFF"/>
                </a:solidFill>
                <a:latin typeface="Arial"/>
              </a:rPr>
              <a:t>A good airfoil drawing only becomes a good wing when the structure holds that shape accurately</a:t>
            </a:r>
          </a:p>
        </p:txBody>
      </p:sp>
      <p:sp>
        <p:nvSpPr>
          <p:cNvPr id="8" name="Rounded Rectangle 7"/>
          <p:cNvSpPr/>
          <p:nvPr/>
        </p:nvSpPr>
        <p:spPr>
          <a:xfrm>
            <a:off x="320040" y="1078992"/>
            <a:ext cx="7132320" cy="3054096"/>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ing_structure.png"/>
          <p:cNvPicPr>
            <a:picLocks noChangeAspect="1"/>
          </p:cNvPicPr>
          <p:nvPr/>
        </p:nvPicPr>
        <p:blipFill>
          <a:blip r:embed="rId2"/>
          <a:stretch>
            <a:fillRect/>
          </a:stretch>
        </p:blipFill>
        <p:spPr>
          <a:xfrm>
            <a:off x="502920" y="1307592"/>
            <a:ext cx="6711696" cy="2267712"/>
          </a:xfrm>
          <a:prstGeom prst="rect">
            <a:avLst/>
          </a:prstGeom>
        </p:spPr>
      </p:pic>
      <p:sp>
        <p:nvSpPr>
          <p:cNvPr id="10" name="TextBox 9"/>
          <p:cNvSpPr txBox="1"/>
          <p:nvPr/>
        </p:nvSpPr>
        <p:spPr>
          <a:xfrm>
            <a:off x="502920" y="3730752"/>
            <a:ext cx="6720840" cy="192024"/>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815" b="0" i="0">
                <a:solidFill>
                  <a:srgbClr val="59627A"/>
                </a:solidFill>
                <a:latin typeface="Arial"/>
              </a:rPr>
              <a:t>This is a conventional balsa-style cutaway. Foam, composite, and printed wings use different parts but must carry the same loads.</a:t>
            </a:r>
          </a:p>
        </p:txBody>
      </p:sp>
      <p:sp>
        <p:nvSpPr>
          <p:cNvPr id="11" name="Rounded Rectangle 10"/>
          <p:cNvSpPr/>
          <p:nvPr/>
        </p:nvSpPr>
        <p:spPr>
          <a:xfrm>
            <a:off x="320040" y="4334256"/>
            <a:ext cx="3474720" cy="1874519"/>
          </a:xfrm>
          <a:prstGeom prst="roundRect">
            <a:avLst/>
          </a:prstGeom>
          <a:solidFill>
            <a:srgbClr val="EAF7EF"/>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4334256"/>
            <a:ext cx="50292" cy="1874519"/>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 y="4443984"/>
            <a:ext cx="3218687"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10" b="1" i="0">
                <a:solidFill>
                  <a:srgbClr val="2F8F5B"/>
                </a:solidFill>
                <a:latin typeface="Arial"/>
              </a:rPr>
              <a:t>RIB, SPAR, AND SHEAR WEB</a:t>
            </a:r>
          </a:p>
        </p:txBody>
      </p:sp>
      <p:sp>
        <p:nvSpPr>
          <p:cNvPr id="14" name="TextBox 13"/>
          <p:cNvSpPr txBox="1"/>
          <p:nvPr/>
        </p:nvSpPr>
        <p:spPr>
          <a:xfrm>
            <a:off x="466344" y="4718304"/>
            <a:ext cx="3218687" cy="1399031"/>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35" b="0" i="0">
                <a:solidFill>
                  <a:srgbClr val="1A2342"/>
                </a:solidFill>
                <a:latin typeface="Arial"/>
              </a:rPr>
              <a:t>A rib is the cross-section frame that sets the airfoil shape. The spar is the main spanwise beam that resists bending. Spar caps carry most of the tension and compression; the shear web joins them and resists sliding forces.</a:t>
            </a:r>
          </a:p>
        </p:txBody>
      </p:sp>
      <p:sp>
        <p:nvSpPr>
          <p:cNvPr id="15" name="Rounded Rectangle 14"/>
          <p:cNvSpPr/>
          <p:nvPr/>
        </p:nvSpPr>
        <p:spPr>
          <a:xfrm>
            <a:off x="3977639" y="4334256"/>
            <a:ext cx="3474720" cy="1874519"/>
          </a:xfrm>
          <a:prstGeom prst="roundRect">
            <a:avLst/>
          </a:prstGeom>
          <a:solidFill>
            <a:srgbClr val="EAF1FC"/>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77639" y="4334256"/>
            <a:ext cx="50292" cy="1874519"/>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23944" y="4443984"/>
            <a:ext cx="3218687"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10" b="1" i="0">
                <a:solidFill>
                  <a:srgbClr val="246BCE"/>
                </a:solidFill>
                <a:latin typeface="Arial"/>
              </a:rPr>
              <a:t>SKIN, SHEETING, AND SURFACE FINISH</a:t>
            </a:r>
          </a:p>
        </p:txBody>
      </p:sp>
      <p:sp>
        <p:nvSpPr>
          <p:cNvPr id="18" name="TextBox 17"/>
          <p:cNvSpPr txBox="1"/>
          <p:nvPr/>
        </p:nvSpPr>
        <p:spPr>
          <a:xfrm>
            <a:off x="4123944" y="4718304"/>
            <a:ext cx="3218687" cy="1399031"/>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35" b="0" i="0">
                <a:solidFill>
                  <a:srgbClr val="1A2342"/>
                </a:solidFill>
                <a:latin typeface="Arial"/>
              </a:rPr>
              <a:t>The skin creates the smooth outer surface. Sheeting can also form a torsion-resistant box with the spar. Dents, wrinkles, open gaps, and a blunt trailing edge disturb the boundary layer - especially on small, low-Reynolds-number models.</a:t>
            </a:r>
          </a:p>
        </p:txBody>
      </p:sp>
      <p:sp>
        <p:nvSpPr>
          <p:cNvPr id="19" name="Rounded Rectangle 18"/>
          <p:cNvSpPr/>
          <p:nvPr/>
        </p:nvSpPr>
        <p:spPr>
          <a:xfrm>
            <a:off x="320040" y="6409944"/>
            <a:ext cx="3474720" cy="2011680"/>
          </a:xfrm>
          <a:prstGeom prst="roundRect">
            <a:avLst/>
          </a:prstGeom>
          <a:solidFill>
            <a:srgbClr val="FFF2E8"/>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6409944"/>
            <a:ext cx="50292" cy="201168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 y="6519672"/>
            <a:ext cx="3218687"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10" b="1" i="0">
                <a:solidFill>
                  <a:srgbClr val="E0702B"/>
                </a:solidFill>
                <a:latin typeface="Arial"/>
              </a:rPr>
              <a:t>JIG, BUILDING BOARD, AND TWIST</a:t>
            </a:r>
          </a:p>
        </p:txBody>
      </p:sp>
      <p:sp>
        <p:nvSpPr>
          <p:cNvPr id="22" name="TextBox 21"/>
          <p:cNvSpPr txBox="1"/>
          <p:nvPr/>
        </p:nvSpPr>
        <p:spPr>
          <a:xfrm>
            <a:off x="466344" y="6793992"/>
            <a:ext cx="3218687" cy="15361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35" b="0" i="0">
                <a:solidFill>
                  <a:srgbClr val="1A2342"/>
                </a:solidFill>
                <a:latin typeface="Arial"/>
              </a:rPr>
              <a:t>A jig or flat building board holds parts while glue cures. Twist means the local wing angle changes along the span. Planned washout is useful; accidental twist can make one wing stall first and cause a sudden roll.</a:t>
            </a:r>
          </a:p>
        </p:txBody>
      </p:sp>
      <p:sp>
        <p:nvSpPr>
          <p:cNvPr id="23" name="Rounded Rectangle 22"/>
          <p:cNvSpPr/>
          <p:nvPr/>
        </p:nvSpPr>
        <p:spPr>
          <a:xfrm>
            <a:off x="3977639" y="6409944"/>
            <a:ext cx="3474720" cy="2011680"/>
          </a:xfrm>
          <a:prstGeom prst="roundRect">
            <a:avLst/>
          </a:prstGeom>
          <a:solidFill>
            <a:srgbClr val="F5EBF8"/>
          </a:solidFill>
          <a:ln w="1143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77639" y="6409944"/>
            <a:ext cx="50292" cy="2011680"/>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23944" y="6519672"/>
            <a:ext cx="3218687"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10" b="1" i="0">
                <a:solidFill>
                  <a:srgbClr val="A23DB6"/>
                </a:solidFill>
                <a:latin typeface="Arial"/>
              </a:rPr>
              <a:t>CENTER OF GRAVITY AND PITCHING MOMENT</a:t>
            </a:r>
          </a:p>
        </p:txBody>
      </p:sp>
      <p:sp>
        <p:nvSpPr>
          <p:cNvPr id="26" name="TextBox 25"/>
          <p:cNvSpPr txBox="1"/>
          <p:nvPr/>
        </p:nvSpPr>
        <p:spPr>
          <a:xfrm>
            <a:off x="4123944" y="6793992"/>
            <a:ext cx="3218687" cy="15361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22" b="0" i="0">
                <a:solidFill>
                  <a:srgbClr val="1A2342"/>
                </a:solidFill>
                <a:latin typeface="Arial"/>
              </a:rPr>
              <a:t>The center of gravity (CG) is the balance point of the complete aircraft. Its location strongly affects stability. Pitching moment is the airfoil's tendency to rotate nose-up or nose-down; cambered sections often have a nose-down tendency that the tail must balance.</a:t>
            </a:r>
          </a:p>
        </p:txBody>
      </p:sp>
      <p:cxnSp>
        <p:nvCxnSpPr>
          <p:cNvPr id="27" name="Connector 26"/>
          <p:cNvCxnSpPr/>
          <p:nvPr/>
        </p:nvCxnSpPr>
        <p:spPr>
          <a:xfrm>
            <a:off x="329184" y="8933688"/>
            <a:ext cx="7095743" cy="0"/>
          </a:xfrm>
          <a:prstGeom prst="line">
            <a:avLst/>
          </a:prstGeom>
          <a:ln w="10160">
            <a:solidFill>
              <a:srgbClr val="E1E6E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47472" y="8961120"/>
            <a:ext cx="6583680" cy="182880"/>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530" b="0" i="0">
                <a:solidFill>
                  <a:srgbClr val="6C758C"/>
                </a:solidFill>
                <a:latin typeface="Arial"/>
              </a:rPr>
              <a:t>Construction methods vary; the load paths and alignment ideas apply to most R/C wings.</a:t>
            </a:r>
          </a:p>
        </p:txBody>
      </p:sp>
      <p:sp>
        <p:nvSpPr>
          <p:cNvPr id="29" name="TextBox 28"/>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0292"/>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82296"/>
            <a:ext cx="4572000" cy="146304"/>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40" b="1" i="0">
                <a:solidFill>
                  <a:srgbClr val="D7DEF0"/>
                </a:solidFill>
                <a:latin typeface="Arial"/>
              </a:rPr>
              <a:t>REFERENCE — AIRFOIL VOCABULARY 5 OF 5</a:t>
            </a:r>
          </a:p>
        </p:txBody>
      </p:sp>
      <p:sp>
        <p:nvSpPr>
          <p:cNvPr id="6" name="TextBox 5"/>
          <p:cNvSpPr txBox="1"/>
          <p:nvPr/>
        </p:nvSpPr>
        <p:spPr>
          <a:xfrm>
            <a:off x="347472" y="246888"/>
            <a:ext cx="69037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250" b="1" i="0">
                <a:solidFill>
                  <a:srgbClr val="FFFFFF"/>
                </a:solidFill>
                <a:latin typeface="Arial"/>
              </a:rPr>
              <a:t>Equation symbol key: how to read the math page</a:t>
            </a:r>
          </a:p>
        </p:txBody>
      </p:sp>
      <p:sp>
        <p:nvSpPr>
          <p:cNvPr id="7" name="TextBox 6"/>
          <p:cNvSpPr txBox="1"/>
          <p:nvPr/>
        </p:nvSpPr>
        <p:spPr>
          <a:xfrm>
            <a:off x="347472" y="603504"/>
            <a:ext cx="6903720" cy="201168"/>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880" b="0" i="0">
                <a:solidFill>
                  <a:srgbClr val="FFFFFF"/>
                </a:solidFill>
                <a:latin typeface="Arial"/>
              </a:rPr>
              <a:t>A symbol is just a short name. The units tell you what kind of quantity it represents</a:t>
            </a:r>
          </a:p>
        </p:txBody>
      </p:sp>
      <p:sp>
        <p:nvSpPr>
          <p:cNvPr id="8" name="Rounded Rectangle 7"/>
          <p:cNvSpPr/>
          <p:nvPr/>
        </p:nvSpPr>
        <p:spPr>
          <a:xfrm>
            <a:off x="320040" y="1078992"/>
            <a:ext cx="7132320" cy="566928"/>
          </a:xfrm>
          <a:prstGeom prst="roundRect">
            <a:avLst/>
          </a:prstGeom>
          <a:solidFill>
            <a:srgbClr val="FFF9E9"/>
          </a:solidFill>
          <a:ln w="12700">
            <a:solidFill>
              <a:srgbClr val="F2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197864"/>
            <a:ext cx="6784848" cy="274320"/>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900" b="1">
                <a:solidFill>
                  <a:srgbClr val="A23DB6"/>
                </a:solidFill>
                <a:latin typeface="Arial"/>
              </a:rPr>
              <a:t>Coefficient</a:t>
            </a:r>
            <a:r>
              <a:rPr sz="900" b="0">
                <a:solidFill>
                  <a:srgbClr val="1A2342"/>
                </a:solidFill>
                <a:latin typeface="Arial"/>
              </a:rPr>
              <a:t> means a unitless score that packages the effects of shape and conditions. </a:t>
            </a:r>
            <a:r>
              <a:rPr sz="900" b="1">
                <a:solidFill>
                  <a:srgbClr val="E0702B"/>
                </a:solidFill>
                <a:latin typeface="Arial"/>
              </a:rPr>
              <a:t>Subscript max</a:t>
            </a:r>
            <a:r>
              <a:rPr sz="900" b="0">
                <a:solidFill>
                  <a:srgbClr val="1A2342"/>
                </a:solidFill>
                <a:latin typeface="Arial"/>
              </a:rPr>
              <a:t> means the largest value reached before the stated limit.</a:t>
            </a:r>
          </a:p>
        </p:txBody>
      </p:sp>
      <p:sp>
        <p:nvSpPr>
          <p:cNvPr id="10" name="Rounded Rectangle 9"/>
          <p:cNvSpPr/>
          <p:nvPr/>
        </p:nvSpPr>
        <p:spPr>
          <a:xfrm>
            <a:off x="320040" y="1847088"/>
            <a:ext cx="3474720" cy="2377440"/>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 y="1984248"/>
            <a:ext cx="3127248"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19" b="1" i="0">
                <a:solidFill>
                  <a:srgbClr val="246BCE"/>
                </a:solidFill>
                <a:latin typeface="Arial"/>
              </a:rPr>
              <a:t>FORCES AND MOTION</a:t>
            </a:r>
          </a:p>
        </p:txBody>
      </p:sp>
      <p:sp>
        <p:nvSpPr>
          <p:cNvPr id="12" name="Oval 11"/>
          <p:cNvSpPr/>
          <p:nvPr/>
        </p:nvSpPr>
        <p:spPr>
          <a:xfrm>
            <a:off x="484632" y="2304288"/>
            <a:ext cx="256032" cy="256032"/>
          </a:xfrm>
          <a:prstGeom prst="ellipse">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 y="2308860"/>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L</a:t>
            </a:r>
          </a:p>
        </p:txBody>
      </p:sp>
      <p:sp>
        <p:nvSpPr>
          <p:cNvPr id="14" name="TextBox 13"/>
          <p:cNvSpPr txBox="1"/>
          <p:nvPr/>
        </p:nvSpPr>
        <p:spPr>
          <a:xfrm>
            <a:off x="813816" y="2299716"/>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246BCE"/>
                </a:solidFill>
                <a:latin typeface="Arial"/>
              </a:rPr>
              <a:t>Lift [N]</a:t>
            </a:r>
          </a:p>
        </p:txBody>
      </p:sp>
      <p:sp>
        <p:nvSpPr>
          <p:cNvPr id="15" name="TextBox 14"/>
          <p:cNvSpPr txBox="1"/>
          <p:nvPr/>
        </p:nvSpPr>
        <p:spPr>
          <a:xfrm>
            <a:off x="813816" y="2478024"/>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0" b="0" i="0">
                <a:solidFill>
                  <a:srgbClr val="1A2342"/>
                </a:solidFill>
                <a:latin typeface="Arial"/>
              </a:rPr>
              <a:t>Force perpendicular to the relative wind.</a:t>
            </a:r>
          </a:p>
        </p:txBody>
      </p:sp>
      <p:sp>
        <p:nvSpPr>
          <p:cNvPr id="16" name="Oval 15"/>
          <p:cNvSpPr/>
          <p:nvPr/>
        </p:nvSpPr>
        <p:spPr>
          <a:xfrm>
            <a:off x="484632" y="2816352"/>
            <a:ext cx="256032" cy="256032"/>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 y="2820924"/>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D</a:t>
            </a:r>
          </a:p>
        </p:txBody>
      </p:sp>
      <p:sp>
        <p:nvSpPr>
          <p:cNvPr id="18" name="TextBox 17"/>
          <p:cNvSpPr txBox="1"/>
          <p:nvPr/>
        </p:nvSpPr>
        <p:spPr>
          <a:xfrm>
            <a:off x="813816" y="2811780"/>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C83E3E"/>
                </a:solidFill>
                <a:latin typeface="Arial"/>
              </a:rPr>
              <a:t>Drag [N]</a:t>
            </a:r>
          </a:p>
        </p:txBody>
      </p:sp>
      <p:sp>
        <p:nvSpPr>
          <p:cNvPr id="19" name="TextBox 18"/>
          <p:cNvSpPr txBox="1"/>
          <p:nvPr/>
        </p:nvSpPr>
        <p:spPr>
          <a:xfrm>
            <a:off x="813816" y="2990088"/>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0" b="0" i="0">
                <a:solidFill>
                  <a:srgbClr val="1A2342"/>
                </a:solidFill>
                <a:latin typeface="Arial"/>
              </a:rPr>
              <a:t>Force parallel and opposite to the relative wind.</a:t>
            </a:r>
          </a:p>
        </p:txBody>
      </p:sp>
      <p:sp>
        <p:nvSpPr>
          <p:cNvPr id="20" name="Oval 19"/>
          <p:cNvSpPr/>
          <p:nvPr/>
        </p:nvSpPr>
        <p:spPr>
          <a:xfrm>
            <a:off x="484632" y="3328416"/>
            <a:ext cx="256032" cy="256032"/>
          </a:xfrm>
          <a:prstGeom prst="ellipse">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 y="3332988"/>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W</a:t>
            </a:r>
          </a:p>
        </p:txBody>
      </p:sp>
      <p:sp>
        <p:nvSpPr>
          <p:cNvPr id="22" name="TextBox 21"/>
          <p:cNvSpPr txBox="1"/>
          <p:nvPr/>
        </p:nvSpPr>
        <p:spPr>
          <a:xfrm>
            <a:off x="813816" y="3323844"/>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2F8F5B"/>
                </a:solidFill>
                <a:latin typeface="Arial"/>
              </a:rPr>
              <a:t>Weight [N]</a:t>
            </a:r>
          </a:p>
        </p:txBody>
      </p:sp>
      <p:sp>
        <p:nvSpPr>
          <p:cNvPr id="23" name="TextBox 22"/>
          <p:cNvSpPr txBox="1"/>
          <p:nvPr/>
        </p:nvSpPr>
        <p:spPr>
          <a:xfrm>
            <a:off x="813816" y="3502152"/>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0" b="0" i="0">
                <a:solidFill>
                  <a:srgbClr val="1A2342"/>
                </a:solidFill>
                <a:latin typeface="Arial"/>
              </a:rPr>
              <a:t>Gravity force. W = mass x 9.81 near Earth.</a:t>
            </a:r>
          </a:p>
        </p:txBody>
      </p:sp>
      <p:sp>
        <p:nvSpPr>
          <p:cNvPr id="24" name="Oval 23"/>
          <p:cNvSpPr/>
          <p:nvPr/>
        </p:nvSpPr>
        <p:spPr>
          <a:xfrm>
            <a:off x="484632" y="3840480"/>
            <a:ext cx="256032" cy="256032"/>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4632" y="3845052"/>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V</a:t>
            </a:r>
          </a:p>
        </p:txBody>
      </p:sp>
      <p:sp>
        <p:nvSpPr>
          <p:cNvPr id="26" name="TextBox 25"/>
          <p:cNvSpPr txBox="1"/>
          <p:nvPr/>
        </p:nvSpPr>
        <p:spPr>
          <a:xfrm>
            <a:off x="813816" y="3835908"/>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E0702B"/>
                </a:solidFill>
                <a:latin typeface="Arial"/>
              </a:rPr>
              <a:t>Airspeed [m/s]</a:t>
            </a:r>
          </a:p>
        </p:txBody>
      </p:sp>
      <p:sp>
        <p:nvSpPr>
          <p:cNvPr id="27" name="TextBox 26"/>
          <p:cNvSpPr txBox="1"/>
          <p:nvPr/>
        </p:nvSpPr>
        <p:spPr>
          <a:xfrm>
            <a:off x="813816" y="4014216"/>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0" i="0">
                <a:solidFill>
                  <a:srgbClr val="1A2342"/>
                </a:solidFill>
                <a:latin typeface="Arial"/>
              </a:rPr>
              <a:t>Speed through the air, not necessarily ground speed.</a:t>
            </a:r>
          </a:p>
        </p:txBody>
      </p:sp>
      <p:sp>
        <p:nvSpPr>
          <p:cNvPr id="28" name="Rounded Rectangle 27"/>
          <p:cNvSpPr/>
          <p:nvPr/>
        </p:nvSpPr>
        <p:spPr>
          <a:xfrm>
            <a:off x="3977639" y="1847088"/>
            <a:ext cx="3474720" cy="2377440"/>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42232" y="1984248"/>
            <a:ext cx="3127248"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19" b="1" i="0">
                <a:solidFill>
                  <a:srgbClr val="138C8C"/>
                </a:solidFill>
                <a:latin typeface="Arial"/>
              </a:rPr>
              <a:t>AIR AND PRESSURE</a:t>
            </a:r>
          </a:p>
        </p:txBody>
      </p:sp>
      <p:sp>
        <p:nvSpPr>
          <p:cNvPr id="30" name="Oval 29"/>
          <p:cNvSpPr/>
          <p:nvPr/>
        </p:nvSpPr>
        <p:spPr>
          <a:xfrm>
            <a:off x="4142232" y="2304288"/>
            <a:ext cx="256032" cy="256032"/>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42232" y="2308860"/>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ρ</a:t>
            </a:r>
          </a:p>
        </p:txBody>
      </p:sp>
      <p:sp>
        <p:nvSpPr>
          <p:cNvPr id="32" name="TextBox 31"/>
          <p:cNvSpPr txBox="1"/>
          <p:nvPr/>
        </p:nvSpPr>
        <p:spPr>
          <a:xfrm>
            <a:off x="4471416" y="2299716"/>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138C8C"/>
                </a:solidFill>
                <a:latin typeface="Arial"/>
              </a:rPr>
              <a:t>rho: density [kg/m³]</a:t>
            </a:r>
          </a:p>
        </p:txBody>
      </p:sp>
      <p:sp>
        <p:nvSpPr>
          <p:cNvPr id="33" name="TextBox 32"/>
          <p:cNvSpPr txBox="1"/>
          <p:nvPr/>
        </p:nvSpPr>
        <p:spPr>
          <a:xfrm>
            <a:off x="4471416" y="2478024"/>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0" b="0" i="0">
                <a:solidFill>
                  <a:srgbClr val="1A2342"/>
                </a:solidFill>
                <a:latin typeface="Arial"/>
              </a:rPr>
              <a:t>How much air mass is packed into a volume.</a:t>
            </a:r>
          </a:p>
        </p:txBody>
      </p:sp>
      <p:sp>
        <p:nvSpPr>
          <p:cNvPr id="34" name="Oval 33"/>
          <p:cNvSpPr/>
          <p:nvPr/>
        </p:nvSpPr>
        <p:spPr>
          <a:xfrm>
            <a:off x="4142232" y="2816352"/>
            <a:ext cx="256032" cy="256032"/>
          </a:xfrm>
          <a:prstGeom prst="ellipse">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42232" y="2820924"/>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μ</a:t>
            </a:r>
          </a:p>
        </p:txBody>
      </p:sp>
      <p:sp>
        <p:nvSpPr>
          <p:cNvPr id="36" name="TextBox 35"/>
          <p:cNvSpPr txBox="1"/>
          <p:nvPr/>
        </p:nvSpPr>
        <p:spPr>
          <a:xfrm>
            <a:off x="4471416" y="2811780"/>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A23DB6"/>
                </a:solidFill>
                <a:latin typeface="Arial"/>
              </a:rPr>
              <a:t>mu: viscosity [Pa s]</a:t>
            </a:r>
          </a:p>
        </p:txBody>
      </p:sp>
      <p:sp>
        <p:nvSpPr>
          <p:cNvPr id="37" name="TextBox 36"/>
          <p:cNvSpPr txBox="1"/>
          <p:nvPr/>
        </p:nvSpPr>
        <p:spPr>
          <a:xfrm>
            <a:off x="4471416" y="2990088"/>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0" i="0">
                <a:solidFill>
                  <a:srgbClr val="1A2342"/>
                </a:solidFill>
                <a:latin typeface="Arial"/>
              </a:rPr>
              <a:t>How strongly the air resists layers sliding past each other.</a:t>
            </a:r>
          </a:p>
        </p:txBody>
      </p:sp>
      <p:sp>
        <p:nvSpPr>
          <p:cNvPr id="38" name="Oval 37"/>
          <p:cNvSpPr/>
          <p:nvPr/>
        </p:nvSpPr>
        <p:spPr>
          <a:xfrm>
            <a:off x="4142232" y="3328416"/>
            <a:ext cx="256032" cy="256032"/>
          </a:xfrm>
          <a:prstGeom prst="ellipse">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42232" y="3332988"/>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q</a:t>
            </a:r>
          </a:p>
        </p:txBody>
      </p:sp>
      <p:sp>
        <p:nvSpPr>
          <p:cNvPr id="40" name="TextBox 39"/>
          <p:cNvSpPr txBox="1"/>
          <p:nvPr/>
        </p:nvSpPr>
        <p:spPr>
          <a:xfrm>
            <a:off x="4471416" y="3323844"/>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246BCE"/>
                </a:solidFill>
                <a:latin typeface="Arial"/>
              </a:rPr>
              <a:t>Dynamic pressure [Pa]</a:t>
            </a:r>
          </a:p>
        </p:txBody>
      </p:sp>
      <p:sp>
        <p:nvSpPr>
          <p:cNvPr id="41" name="TextBox 40"/>
          <p:cNvSpPr txBox="1"/>
          <p:nvPr/>
        </p:nvSpPr>
        <p:spPr>
          <a:xfrm>
            <a:off x="4471416" y="3502152"/>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0" i="0">
                <a:solidFill>
                  <a:srgbClr val="1A2342"/>
                </a:solidFill>
                <a:latin typeface="Arial"/>
              </a:rPr>
              <a:t>q = 1/2 rho V². A measure of the airflow's push strength.</a:t>
            </a:r>
          </a:p>
        </p:txBody>
      </p:sp>
      <p:sp>
        <p:nvSpPr>
          <p:cNvPr id="42" name="Oval 41"/>
          <p:cNvSpPr/>
          <p:nvPr/>
        </p:nvSpPr>
        <p:spPr>
          <a:xfrm>
            <a:off x="4142232" y="3840480"/>
            <a:ext cx="256032" cy="256032"/>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42232" y="3845052"/>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α</a:t>
            </a:r>
          </a:p>
        </p:txBody>
      </p:sp>
      <p:sp>
        <p:nvSpPr>
          <p:cNvPr id="44" name="TextBox 43"/>
          <p:cNvSpPr txBox="1"/>
          <p:nvPr/>
        </p:nvSpPr>
        <p:spPr>
          <a:xfrm>
            <a:off x="4471416" y="3835908"/>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E0702B"/>
                </a:solidFill>
                <a:latin typeface="Arial"/>
              </a:rPr>
              <a:t>alpha: angle of attack [deg]</a:t>
            </a:r>
          </a:p>
        </p:txBody>
      </p:sp>
      <p:sp>
        <p:nvSpPr>
          <p:cNvPr id="45" name="TextBox 44"/>
          <p:cNvSpPr txBox="1"/>
          <p:nvPr/>
        </p:nvSpPr>
        <p:spPr>
          <a:xfrm>
            <a:off x="4471416" y="4014216"/>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0" i="0">
                <a:solidFill>
                  <a:srgbClr val="1A2342"/>
                </a:solidFill>
                <a:latin typeface="Arial"/>
              </a:rPr>
              <a:t>The angle between chord line and relative wind.</a:t>
            </a:r>
          </a:p>
        </p:txBody>
      </p:sp>
      <p:sp>
        <p:nvSpPr>
          <p:cNvPr id="46" name="Rounded Rectangle 45"/>
          <p:cNvSpPr/>
          <p:nvPr/>
        </p:nvSpPr>
        <p:spPr>
          <a:xfrm>
            <a:off x="320040" y="4425696"/>
            <a:ext cx="3474720" cy="2578608"/>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4632" y="4562856"/>
            <a:ext cx="3127248"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19" b="1" i="0">
                <a:solidFill>
                  <a:srgbClr val="2F8F5B"/>
                </a:solidFill>
                <a:latin typeface="Arial"/>
              </a:rPr>
              <a:t>WING GEOMETRY</a:t>
            </a:r>
          </a:p>
        </p:txBody>
      </p:sp>
      <p:sp>
        <p:nvSpPr>
          <p:cNvPr id="48" name="Oval 47"/>
          <p:cNvSpPr/>
          <p:nvPr/>
        </p:nvSpPr>
        <p:spPr>
          <a:xfrm>
            <a:off x="484632" y="4882896"/>
            <a:ext cx="256032" cy="256032"/>
          </a:xfrm>
          <a:prstGeom prst="ellipse">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4632" y="4887468"/>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S</a:t>
            </a:r>
          </a:p>
        </p:txBody>
      </p:sp>
      <p:sp>
        <p:nvSpPr>
          <p:cNvPr id="50" name="TextBox 49"/>
          <p:cNvSpPr txBox="1"/>
          <p:nvPr/>
        </p:nvSpPr>
        <p:spPr>
          <a:xfrm>
            <a:off x="813816" y="4878324"/>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2F8F5B"/>
                </a:solidFill>
                <a:latin typeface="Arial"/>
              </a:rPr>
              <a:t>Wing area [m²]</a:t>
            </a:r>
          </a:p>
        </p:txBody>
      </p:sp>
      <p:sp>
        <p:nvSpPr>
          <p:cNvPr id="51" name="TextBox 50"/>
          <p:cNvSpPr txBox="1"/>
          <p:nvPr/>
        </p:nvSpPr>
        <p:spPr>
          <a:xfrm>
            <a:off x="813816" y="5056632"/>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0" b="0" i="0">
                <a:solidFill>
                  <a:srgbClr val="1A2342"/>
                </a:solidFill>
                <a:latin typeface="Arial"/>
              </a:rPr>
              <a:t>Planform area of the complete wing.</a:t>
            </a:r>
          </a:p>
        </p:txBody>
      </p:sp>
      <p:sp>
        <p:nvSpPr>
          <p:cNvPr id="52" name="Oval 51"/>
          <p:cNvSpPr/>
          <p:nvPr/>
        </p:nvSpPr>
        <p:spPr>
          <a:xfrm>
            <a:off x="484632" y="5394960"/>
            <a:ext cx="256032" cy="256032"/>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4632" y="5399532"/>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b</a:t>
            </a:r>
          </a:p>
        </p:txBody>
      </p:sp>
      <p:sp>
        <p:nvSpPr>
          <p:cNvPr id="54" name="TextBox 53"/>
          <p:cNvSpPr txBox="1"/>
          <p:nvPr/>
        </p:nvSpPr>
        <p:spPr>
          <a:xfrm>
            <a:off x="813816" y="5390388"/>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138C8C"/>
                </a:solidFill>
                <a:latin typeface="Arial"/>
              </a:rPr>
              <a:t>Span [m]</a:t>
            </a:r>
          </a:p>
        </p:txBody>
      </p:sp>
      <p:sp>
        <p:nvSpPr>
          <p:cNvPr id="55" name="TextBox 54"/>
          <p:cNvSpPr txBox="1"/>
          <p:nvPr/>
        </p:nvSpPr>
        <p:spPr>
          <a:xfrm>
            <a:off x="813816" y="5568696"/>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0" b="0" i="0">
                <a:solidFill>
                  <a:srgbClr val="1A2342"/>
                </a:solidFill>
                <a:latin typeface="Arial"/>
              </a:rPr>
              <a:t>Tip-to-tip distance.</a:t>
            </a:r>
          </a:p>
        </p:txBody>
      </p:sp>
      <p:sp>
        <p:nvSpPr>
          <p:cNvPr id="56" name="Oval 55"/>
          <p:cNvSpPr/>
          <p:nvPr/>
        </p:nvSpPr>
        <p:spPr>
          <a:xfrm>
            <a:off x="484632" y="5907024"/>
            <a:ext cx="256032" cy="256032"/>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84632" y="5911596"/>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c</a:t>
            </a:r>
          </a:p>
        </p:txBody>
      </p:sp>
      <p:sp>
        <p:nvSpPr>
          <p:cNvPr id="58" name="TextBox 57"/>
          <p:cNvSpPr txBox="1"/>
          <p:nvPr/>
        </p:nvSpPr>
        <p:spPr>
          <a:xfrm>
            <a:off x="813816" y="5902452"/>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E0702B"/>
                </a:solidFill>
                <a:latin typeface="Arial"/>
              </a:rPr>
              <a:t>Chord [m]</a:t>
            </a:r>
          </a:p>
        </p:txBody>
      </p:sp>
      <p:sp>
        <p:nvSpPr>
          <p:cNvPr id="59" name="TextBox 58"/>
          <p:cNvSpPr txBox="1"/>
          <p:nvPr/>
        </p:nvSpPr>
        <p:spPr>
          <a:xfrm>
            <a:off x="813816" y="6080760"/>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10" b="0" i="0">
                <a:solidFill>
                  <a:srgbClr val="1A2342"/>
                </a:solidFill>
                <a:latin typeface="Arial"/>
              </a:rPr>
              <a:t>Leading-edge to trailing-edge distance.</a:t>
            </a:r>
          </a:p>
        </p:txBody>
      </p:sp>
      <p:sp>
        <p:nvSpPr>
          <p:cNvPr id="60" name="Oval 59"/>
          <p:cNvSpPr/>
          <p:nvPr/>
        </p:nvSpPr>
        <p:spPr>
          <a:xfrm>
            <a:off x="484632" y="6419088"/>
            <a:ext cx="256032" cy="256032"/>
          </a:xfrm>
          <a:prstGeom prst="ellipse">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84632" y="6423659"/>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AR</a:t>
            </a:r>
          </a:p>
        </p:txBody>
      </p:sp>
      <p:sp>
        <p:nvSpPr>
          <p:cNvPr id="62" name="TextBox 61"/>
          <p:cNvSpPr txBox="1"/>
          <p:nvPr/>
        </p:nvSpPr>
        <p:spPr>
          <a:xfrm>
            <a:off x="813816" y="6414516"/>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A23DB6"/>
                </a:solidFill>
                <a:latin typeface="Arial"/>
              </a:rPr>
              <a:t>Aspect ratio [none]</a:t>
            </a:r>
          </a:p>
        </p:txBody>
      </p:sp>
      <p:sp>
        <p:nvSpPr>
          <p:cNvPr id="63" name="TextBox 62"/>
          <p:cNvSpPr txBox="1"/>
          <p:nvPr/>
        </p:nvSpPr>
        <p:spPr>
          <a:xfrm>
            <a:off x="813816" y="6592824"/>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0" i="0">
                <a:solidFill>
                  <a:srgbClr val="1A2342"/>
                </a:solidFill>
                <a:latin typeface="Arial"/>
              </a:rPr>
              <a:t>AR = b²/S. A shape ratio, so it has no units.</a:t>
            </a:r>
          </a:p>
        </p:txBody>
      </p:sp>
      <p:sp>
        <p:nvSpPr>
          <p:cNvPr id="64" name="Rounded Rectangle 63"/>
          <p:cNvSpPr/>
          <p:nvPr/>
        </p:nvSpPr>
        <p:spPr>
          <a:xfrm>
            <a:off x="3977639" y="4425696"/>
            <a:ext cx="3474720" cy="2578608"/>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42232" y="4562856"/>
            <a:ext cx="3127248" cy="20116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19" b="1" i="0">
                <a:solidFill>
                  <a:srgbClr val="E0702B"/>
                </a:solidFill>
                <a:latin typeface="Arial"/>
              </a:rPr>
              <a:t>COEFFICIENTS AND RESULTS</a:t>
            </a:r>
          </a:p>
        </p:txBody>
      </p:sp>
      <p:sp>
        <p:nvSpPr>
          <p:cNvPr id="66" name="Oval 65"/>
          <p:cNvSpPr/>
          <p:nvPr/>
        </p:nvSpPr>
        <p:spPr>
          <a:xfrm>
            <a:off x="4142232" y="4882896"/>
            <a:ext cx="256032" cy="256032"/>
          </a:xfrm>
          <a:prstGeom prst="ellipse">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142232" y="4887468"/>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700" b="1" i="0">
                <a:solidFill>
                  <a:srgbClr val="FFFFFF"/>
                </a:solidFill>
                <a:latin typeface="Arial"/>
              </a:rPr>
              <a:t>CL</a:t>
            </a:r>
          </a:p>
        </p:txBody>
      </p:sp>
      <p:sp>
        <p:nvSpPr>
          <p:cNvPr id="68" name="TextBox 67"/>
          <p:cNvSpPr txBox="1"/>
          <p:nvPr/>
        </p:nvSpPr>
        <p:spPr>
          <a:xfrm>
            <a:off x="4471416" y="4878324"/>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246BCE"/>
                </a:solidFill>
                <a:latin typeface="Arial"/>
              </a:rPr>
              <a:t>Lift coefficient, </a:t>
            </a:r>
            <a:r>
              <a:rPr sz="869" b="1" i="0">
                <a:solidFill>
                  <a:srgbClr val="246BCE"/>
                </a:solidFill>
                <a:latin typeface="Arial"/>
              </a:rPr>
              <a:t>C</a:t>
            </a:r>
            <a:r>
              <a:rPr sz="869" b="1" i="0" baseline="-25000">
                <a:solidFill>
                  <a:srgbClr val="246BCE"/>
                </a:solidFill>
                <a:latin typeface="Arial"/>
              </a:rPr>
              <a:t>L</a:t>
            </a:r>
          </a:p>
        </p:txBody>
      </p:sp>
      <p:sp>
        <p:nvSpPr>
          <p:cNvPr id="69" name="TextBox 68"/>
          <p:cNvSpPr txBox="1"/>
          <p:nvPr/>
        </p:nvSpPr>
        <p:spPr>
          <a:xfrm>
            <a:off x="4471416" y="5056632"/>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790" b="0" i="0">
                <a:solidFill>
                  <a:srgbClr val="1A2342"/>
                </a:solidFill>
                <a:latin typeface="Arial"/>
              </a:rPr>
              <a:t>How strongly the wing makes lift at this angle and condition.</a:t>
            </a:r>
          </a:p>
        </p:txBody>
      </p:sp>
      <p:sp>
        <p:nvSpPr>
          <p:cNvPr id="70" name="Oval 69"/>
          <p:cNvSpPr/>
          <p:nvPr/>
        </p:nvSpPr>
        <p:spPr>
          <a:xfrm>
            <a:off x="4142232" y="5394960"/>
            <a:ext cx="256032" cy="256032"/>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142232" y="5399532"/>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700" b="1" i="0">
                <a:solidFill>
                  <a:srgbClr val="FFFFFF"/>
                </a:solidFill>
                <a:latin typeface="Arial"/>
              </a:rPr>
              <a:t>CD</a:t>
            </a:r>
          </a:p>
        </p:txBody>
      </p:sp>
      <p:sp>
        <p:nvSpPr>
          <p:cNvPr id="72" name="TextBox 71"/>
          <p:cNvSpPr txBox="1"/>
          <p:nvPr/>
        </p:nvSpPr>
        <p:spPr>
          <a:xfrm>
            <a:off x="4471416" y="5390388"/>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C83E3E"/>
                </a:solidFill>
                <a:latin typeface="Arial"/>
              </a:rPr>
              <a:t>Drag coefficient, </a:t>
            </a:r>
            <a:r>
              <a:rPr sz="869" b="1" i="0">
                <a:solidFill>
                  <a:srgbClr val="C83E3E"/>
                </a:solidFill>
                <a:latin typeface="Arial"/>
              </a:rPr>
              <a:t>C</a:t>
            </a:r>
            <a:r>
              <a:rPr sz="869" b="1" i="0" baseline="-25000">
                <a:solidFill>
                  <a:srgbClr val="C83E3E"/>
                </a:solidFill>
                <a:latin typeface="Arial"/>
              </a:rPr>
              <a:t>D</a:t>
            </a:r>
          </a:p>
        </p:txBody>
      </p:sp>
      <p:sp>
        <p:nvSpPr>
          <p:cNvPr id="73" name="TextBox 72"/>
          <p:cNvSpPr txBox="1"/>
          <p:nvPr/>
        </p:nvSpPr>
        <p:spPr>
          <a:xfrm>
            <a:off x="4471416" y="5568696"/>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790" b="0" i="0">
                <a:solidFill>
                  <a:srgbClr val="1A2342"/>
                </a:solidFill>
                <a:latin typeface="Arial"/>
              </a:rPr>
              <a:t>How strongly the aircraft makes aerodynamic drag.</a:t>
            </a:r>
          </a:p>
        </p:txBody>
      </p:sp>
      <p:sp>
        <p:nvSpPr>
          <p:cNvPr id="74" name="Oval 73"/>
          <p:cNvSpPr/>
          <p:nvPr/>
        </p:nvSpPr>
        <p:spPr>
          <a:xfrm>
            <a:off x="4142232" y="5907024"/>
            <a:ext cx="256032" cy="256032"/>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142232" y="5911596"/>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500" b="1" i="0">
                <a:solidFill>
                  <a:srgbClr val="FFFFFF"/>
                </a:solidFill>
                <a:latin typeface="Arial"/>
              </a:rPr>
              <a:t>CLmax</a:t>
            </a:r>
          </a:p>
        </p:txBody>
      </p:sp>
      <p:sp>
        <p:nvSpPr>
          <p:cNvPr id="76" name="TextBox 75"/>
          <p:cNvSpPr txBox="1"/>
          <p:nvPr/>
        </p:nvSpPr>
        <p:spPr>
          <a:xfrm>
            <a:off x="4471416" y="5902452"/>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E0702B"/>
                </a:solidFill>
                <a:latin typeface="Arial"/>
              </a:rPr>
              <a:t>Maximum lift coefficient, </a:t>
            </a:r>
            <a:r>
              <a:rPr sz="869" b="1" i="0">
                <a:solidFill>
                  <a:srgbClr val="E0702B"/>
                </a:solidFill>
                <a:latin typeface="Arial"/>
              </a:rPr>
              <a:t>C</a:t>
            </a:r>
            <a:r>
              <a:rPr sz="869" b="1" i="0" baseline="-25000">
                <a:solidFill>
                  <a:srgbClr val="E0702B"/>
                </a:solidFill>
                <a:latin typeface="Arial"/>
              </a:rPr>
              <a:t>Lmax</a:t>
            </a:r>
          </a:p>
        </p:txBody>
      </p:sp>
      <p:sp>
        <p:nvSpPr>
          <p:cNvPr id="77" name="TextBox 76"/>
          <p:cNvSpPr txBox="1"/>
          <p:nvPr/>
        </p:nvSpPr>
        <p:spPr>
          <a:xfrm>
            <a:off x="4471416" y="6080760"/>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750" b="0" i="0">
                <a:solidFill>
                  <a:srgbClr val="1A2342"/>
                </a:solidFill>
                <a:latin typeface="Arial"/>
              </a:rPr>
              <a:t>The greatest </a:t>
            </a:r>
            <a:r>
              <a:rPr sz="750" b="0" i="0">
                <a:solidFill>
                  <a:srgbClr val="1A2342"/>
                </a:solidFill>
                <a:latin typeface="Arial"/>
              </a:rPr>
              <a:t>C</a:t>
            </a:r>
            <a:r>
              <a:rPr sz="750" b="0" i="0" baseline="-25000">
                <a:solidFill>
                  <a:srgbClr val="1A2342"/>
                </a:solidFill>
                <a:latin typeface="Arial"/>
              </a:rPr>
              <a:t>L</a:t>
            </a:r>
            <a:r>
              <a:rPr sz="750" b="0" i="0">
                <a:solidFill>
                  <a:srgbClr val="1A2342"/>
                </a:solidFill>
                <a:latin typeface="Arial"/>
              </a:rPr>
              <a:t> reached before lift begins to fall near stall.</a:t>
            </a:r>
          </a:p>
        </p:txBody>
      </p:sp>
      <p:sp>
        <p:nvSpPr>
          <p:cNvPr id="78" name="Oval 77"/>
          <p:cNvSpPr/>
          <p:nvPr/>
        </p:nvSpPr>
        <p:spPr>
          <a:xfrm>
            <a:off x="4142232" y="6419088"/>
            <a:ext cx="256032" cy="256032"/>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142232" y="6423659"/>
            <a:ext cx="256032" cy="2468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800" b="1" i="0">
                <a:solidFill>
                  <a:srgbClr val="FFFFFF"/>
                </a:solidFill>
                <a:latin typeface="Arial"/>
              </a:rPr>
              <a:t>Re</a:t>
            </a:r>
          </a:p>
        </p:txBody>
      </p:sp>
      <p:sp>
        <p:nvSpPr>
          <p:cNvPr id="80" name="TextBox 79"/>
          <p:cNvSpPr txBox="1"/>
          <p:nvPr/>
        </p:nvSpPr>
        <p:spPr>
          <a:xfrm>
            <a:off x="4471416" y="6414516"/>
            <a:ext cx="2724912" cy="16459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69" b="1" i="0">
                <a:solidFill>
                  <a:srgbClr val="138C8C"/>
                </a:solidFill>
                <a:latin typeface="Arial"/>
              </a:rPr>
              <a:t>Reynolds number [none]</a:t>
            </a:r>
          </a:p>
        </p:txBody>
      </p:sp>
      <p:sp>
        <p:nvSpPr>
          <p:cNvPr id="81" name="TextBox 80"/>
          <p:cNvSpPr txBox="1"/>
          <p:nvPr/>
        </p:nvSpPr>
        <p:spPr>
          <a:xfrm>
            <a:off x="4471416" y="6592824"/>
            <a:ext cx="2724912" cy="347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790" b="0" i="0">
                <a:solidFill>
                  <a:srgbClr val="1A2342"/>
                </a:solidFill>
                <a:latin typeface="Arial"/>
              </a:rPr>
              <a:t>Compares motion effects with viscous or "sticky" effects.</a:t>
            </a:r>
          </a:p>
        </p:txBody>
      </p:sp>
      <p:sp>
        <p:nvSpPr>
          <p:cNvPr id="82" name="Rounded Rectangle 81"/>
          <p:cNvSpPr/>
          <p:nvPr/>
        </p:nvSpPr>
        <p:spPr>
          <a:xfrm>
            <a:off x="320040" y="7214616"/>
            <a:ext cx="7132320" cy="1417320"/>
          </a:xfrm>
          <a:prstGeom prst="roundRect">
            <a:avLst/>
          </a:prstGeom>
          <a:solidFill>
            <a:srgbClr val="FFFFFF"/>
          </a:solidFill>
          <a:ln w="12700">
            <a:solidFill>
              <a:srgbClr val="DD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75488" y="7342631"/>
            <a:ext cx="6766560" cy="20116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910" b="1" i="0">
                <a:solidFill>
                  <a:srgbClr val="A23DB6"/>
                </a:solidFill>
                <a:latin typeface="Arial"/>
              </a:rPr>
              <a:t>HOW THE MAIN EQUATIONS CONNECT</a:t>
            </a:r>
          </a:p>
        </p:txBody>
      </p:sp>
      <p:sp>
        <p:nvSpPr>
          <p:cNvPr id="84" name="Rounded Rectangle 83"/>
          <p:cNvSpPr/>
          <p:nvPr/>
        </p:nvSpPr>
        <p:spPr>
          <a:xfrm>
            <a:off x="502920" y="7626096"/>
            <a:ext cx="2084831" cy="786384"/>
          </a:xfrm>
          <a:prstGeom prst="roundRect">
            <a:avLst/>
          </a:prstGeom>
          <a:solidFill>
            <a:srgbClr val="EAF1FC"/>
          </a:solidFill>
          <a:ln w="1270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76072" y="7699248"/>
            <a:ext cx="1938527" cy="146304"/>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760" b="1" i="0">
                <a:solidFill>
                  <a:srgbClr val="246BCE"/>
                </a:solidFill>
                <a:latin typeface="Arial"/>
              </a:rPr>
              <a:t>FORCE</a:t>
            </a:r>
          </a:p>
        </p:txBody>
      </p:sp>
      <p:sp>
        <p:nvSpPr>
          <p:cNvPr id="86" name="TextBox 85"/>
          <p:cNvSpPr txBox="1"/>
          <p:nvPr/>
        </p:nvSpPr>
        <p:spPr>
          <a:xfrm>
            <a:off x="557784" y="7863840"/>
            <a:ext cx="1975103" cy="20116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869" b="1" i="0">
                <a:solidFill>
                  <a:srgbClr val="246BCE"/>
                </a:solidFill>
                <a:latin typeface="Arial"/>
              </a:rPr>
              <a:t>L = q S </a:t>
            </a:r>
            <a:r>
              <a:rPr sz="869" b="1" i="0">
                <a:solidFill>
                  <a:srgbClr val="246BCE"/>
                </a:solidFill>
                <a:latin typeface="Arial"/>
              </a:rPr>
              <a:t>C</a:t>
            </a:r>
            <a:r>
              <a:rPr sz="869" b="1" i="0" baseline="-25000">
                <a:solidFill>
                  <a:srgbClr val="246BCE"/>
                </a:solidFill>
                <a:latin typeface="Arial"/>
              </a:rPr>
              <a:t>L</a:t>
            </a:r>
            <a:r>
              <a:rPr sz="869" b="1" i="0">
                <a:solidFill>
                  <a:srgbClr val="246BCE"/>
                </a:solidFill>
                <a:latin typeface="Arial"/>
              </a:rPr>
              <a:t>     D = q S </a:t>
            </a:r>
            <a:r>
              <a:rPr sz="869" b="1" i="0">
                <a:solidFill>
                  <a:srgbClr val="246BCE"/>
                </a:solidFill>
                <a:latin typeface="Arial"/>
              </a:rPr>
              <a:t>C</a:t>
            </a:r>
            <a:r>
              <a:rPr sz="869" b="1" i="0" baseline="-25000">
                <a:solidFill>
                  <a:srgbClr val="246BCE"/>
                </a:solidFill>
                <a:latin typeface="Arial"/>
              </a:rPr>
              <a:t>D</a:t>
            </a:r>
          </a:p>
        </p:txBody>
      </p:sp>
      <p:sp>
        <p:nvSpPr>
          <p:cNvPr id="87" name="TextBox 86"/>
          <p:cNvSpPr txBox="1"/>
          <p:nvPr/>
        </p:nvSpPr>
        <p:spPr>
          <a:xfrm>
            <a:off x="557784" y="8101583"/>
            <a:ext cx="1975103" cy="16459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690" b="0" i="0">
                <a:solidFill>
                  <a:srgbClr val="59627A"/>
                </a:solidFill>
                <a:latin typeface="Arial"/>
              </a:rPr>
              <a:t>Air push x area x coefficient</a:t>
            </a:r>
          </a:p>
        </p:txBody>
      </p:sp>
      <p:sp>
        <p:nvSpPr>
          <p:cNvPr id="88" name="Rounded Rectangle 87"/>
          <p:cNvSpPr/>
          <p:nvPr/>
        </p:nvSpPr>
        <p:spPr>
          <a:xfrm>
            <a:off x="2843784" y="7626096"/>
            <a:ext cx="2084831" cy="786384"/>
          </a:xfrm>
          <a:prstGeom prst="roundRect">
            <a:avLst/>
          </a:prstGeom>
          <a:solidFill>
            <a:srgbClr val="E9F7F7"/>
          </a:solidFill>
          <a:ln w="12700">
            <a:solidFill>
              <a:srgbClr val="13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16936" y="7699248"/>
            <a:ext cx="1938527" cy="146304"/>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760" b="1" i="0">
                <a:solidFill>
                  <a:srgbClr val="138C8C"/>
                </a:solidFill>
                <a:latin typeface="Arial"/>
              </a:rPr>
              <a:t>SCALING</a:t>
            </a:r>
          </a:p>
        </p:txBody>
      </p:sp>
      <p:sp>
        <p:nvSpPr>
          <p:cNvPr id="90" name="TextBox 89"/>
          <p:cNvSpPr txBox="1"/>
          <p:nvPr/>
        </p:nvSpPr>
        <p:spPr>
          <a:xfrm>
            <a:off x="2898648" y="7863840"/>
            <a:ext cx="1975103" cy="20116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869" b="1" i="0">
                <a:solidFill>
                  <a:srgbClr val="138C8C"/>
                </a:solidFill>
                <a:latin typeface="Arial"/>
              </a:rPr>
              <a:t>Re = rho V c / mu     AR = b²/S</a:t>
            </a:r>
          </a:p>
        </p:txBody>
      </p:sp>
      <p:sp>
        <p:nvSpPr>
          <p:cNvPr id="91" name="TextBox 90"/>
          <p:cNvSpPr txBox="1"/>
          <p:nvPr/>
        </p:nvSpPr>
        <p:spPr>
          <a:xfrm>
            <a:off x="2898648" y="8101583"/>
            <a:ext cx="1975103" cy="16459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690" b="0" i="0">
                <a:solidFill>
                  <a:srgbClr val="59627A"/>
                </a:solidFill>
                <a:latin typeface="Arial"/>
              </a:rPr>
              <a:t>Size, speed, air, and planform</a:t>
            </a:r>
          </a:p>
        </p:txBody>
      </p:sp>
      <p:sp>
        <p:nvSpPr>
          <p:cNvPr id="92" name="Rounded Rectangle 91"/>
          <p:cNvSpPr/>
          <p:nvPr/>
        </p:nvSpPr>
        <p:spPr>
          <a:xfrm>
            <a:off x="5184648" y="7626096"/>
            <a:ext cx="2084831" cy="786384"/>
          </a:xfrm>
          <a:prstGeom prst="roundRect">
            <a:avLst/>
          </a:prstGeom>
          <a:solidFill>
            <a:srgbClr val="FFF2E8"/>
          </a:solidFill>
          <a:ln w="12700">
            <a:solidFill>
              <a:srgbClr val="E070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257800" y="7699248"/>
            <a:ext cx="1938527" cy="146304"/>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760" b="1" i="0">
                <a:solidFill>
                  <a:srgbClr val="E0702B"/>
                </a:solidFill>
                <a:latin typeface="Arial"/>
              </a:rPr>
              <a:t>STALL SPEED</a:t>
            </a:r>
          </a:p>
        </p:txBody>
      </p:sp>
      <p:sp>
        <p:nvSpPr>
          <p:cNvPr id="94" name="TextBox 93"/>
          <p:cNvSpPr txBox="1"/>
          <p:nvPr/>
        </p:nvSpPr>
        <p:spPr>
          <a:xfrm>
            <a:off x="5239512" y="7863840"/>
            <a:ext cx="1975103" cy="20116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869" b="1" i="0">
                <a:solidFill>
                  <a:srgbClr val="E0702B"/>
                </a:solidFill>
                <a:latin typeface="Arial"/>
              </a:rPr>
              <a:t>V</a:t>
            </a:r>
            <a:r>
              <a:rPr sz="869" b="1" i="0" baseline="-25000">
                <a:solidFill>
                  <a:srgbClr val="E0702B"/>
                </a:solidFill>
                <a:latin typeface="Arial"/>
              </a:rPr>
              <a:t>stall</a:t>
            </a:r>
            <a:r>
              <a:rPr sz="869" b="1" i="0">
                <a:solidFill>
                  <a:srgbClr val="E0702B"/>
                </a:solidFill>
                <a:latin typeface="Arial"/>
              </a:rPr>
              <a:t> = sqrt(2W / rho S </a:t>
            </a:r>
            <a:r>
              <a:rPr sz="869" b="1" i="0">
                <a:solidFill>
                  <a:srgbClr val="E0702B"/>
                </a:solidFill>
                <a:latin typeface="Arial"/>
              </a:rPr>
              <a:t>C</a:t>
            </a:r>
            <a:r>
              <a:rPr sz="869" b="1" i="0" baseline="-25000">
                <a:solidFill>
                  <a:srgbClr val="E0702B"/>
                </a:solidFill>
                <a:latin typeface="Arial"/>
              </a:rPr>
              <a:t>Lmax</a:t>
            </a:r>
            <a:r>
              <a:rPr sz="869" b="1" i="0">
                <a:solidFill>
                  <a:srgbClr val="E0702B"/>
                </a:solidFill>
                <a:latin typeface="Arial"/>
              </a:rPr>
              <a:t>)</a:t>
            </a:r>
          </a:p>
        </p:txBody>
      </p:sp>
      <p:sp>
        <p:nvSpPr>
          <p:cNvPr id="95" name="TextBox 94"/>
          <p:cNvSpPr txBox="1"/>
          <p:nvPr/>
        </p:nvSpPr>
        <p:spPr>
          <a:xfrm>
            <a:off x="5239512" y="8101583"/>
            <a:ext cx="1975103" cy="16459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690" b="0" i="0">
                <a:solidFill>
                  <a:srgbClr val="59627A"/>
                </a:solidFill>
                <a:latin typeface="Arial"/>
              </a:rPr>
              <a:t>More weight raises it; more area lowers it</a:t>
            </a:r>
          </a:p>
        </p:txBody>
      </p:sp>
      <p:cxnSp>
        <p:nvCxnSpPr>
          <p:cNvPr id="96" name="Connector 95"/>
          <p:cNvCxnSpPr/>
          <p:nvPr/>
        </p:nvCxnSpPr>
        <p:spPr>
          <a:xfrm>
            <a:off x="329184" y="8933688"/>
            <a:ext cx="7095743" cy="0"/>
          </a:xfrm>
          <a:prstGeom prst="line">
            <a:avLst/>
          </a:prstGeom>
          <a:ln w="10160">
            <a:solidFill>
              <a:srgbClr val="E1E6EF"/>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347472" y="8961120"/>
            <a:ext cx="6583680" cy="182880"/>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530" b="0" i="0">
                <a:solidFill>
                  <a:srgbClr val="6C758C"/>
                </a:solidFill>
                <a:latin typeface="Arial"/>
              </a:rPr>
              <a:t>Symbols match the equation page. SI units are shown; model-aircraft practice may also use g/dm², oz/ft², mph, or km/h.</a:t>
            </a:r>
          </a:p>
        </p:txBody>
      </p:sp>
      <p:sp>
        <p:nvSpPr>
          <p:cNvPr id="98" name="TextBox 97"/>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262872"/>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94360"/>
            <a:ext cx="6217920" cy="228600"/>
          </a:xfrm>
          <a:prstGeom prst="rect">
            <a:avLst/>
          </a:prstGeom>
          <a:noFill/>
        </p:spPr>
        <p:txBody>
          <a:bodyPr wrap="square" lIns="0" rIns="0" tIns="0" bIns="0" anchor="t">
            <a:spAutoFit/>
          </a:bodyPr>
          <a:lstStyle/>
          <a:p>
            <a:pPr algn="l">
              <a:lnSpc>
                <a:spcPct val="100000"/>
              </a:lnSpc>
            </a:pPr>
            <a:r>
              <a:rPr sz="900" b="1" i="0">
                <a:solidFill>
                  <a:srgbClr val="2F8F5B"/>
                </a:solidFill>
                <a:latin typeface="Arial"/>
              </a:rPr>
              <a:t>R/C DESIGN &amp; BUILD MANUAL</a:t>
            </a:r>
          </a:p>
        </p:txBody>
      </p:sp>
      <p:sp>
        <p:nvSpPr>
          <p:cNvPr id="5" name="TextBox 4"/>
          <p:cNvSpPr txBox="1"/>
          <p:nvPr/>
        </p:nvSpPr>
        <p:spPr>
          <a:xfrm>
            <a:off x="502920" y="1298448"/>
            <a:ext cx="1280160" cy="1097280"/>
          </a:xfrm>
          <a:prstGeom prst="rect">
            <a:avLst/>
          </a:prstGeom>
          <a:noFill/>
        </p:spPr>
        <p:txBody>
          <a:bodyPr wrap="square" lIns="0" rIns="0" tIns="0" bIns="0" anchor="t">
            <a:spAutoFit/>
          </a:bodyPr>
          <a:lstStyle/>
          <a:p>
            <a:pPr algn="l">
              <a:lnSpc>
                <a:spcPct val="100000"/>
              </a:lnSpc>
            </a:pPr>
            <a:r>
              <a:rPr sz="6800" b="1" i="0">
                <a:solidFill>
                  <a:srgbClr val="2F8F5B"/>
                </a:solidFill>
                <a:latin typeface="Arial"/>
              </a:rPr>
              <a:t>03</a:t>
            </a:r>
          </a:p>
        </p:txBody>
      </p:sp>
      <p:sp>
        <p:nvSpPr>
          <p:cNvPr id="6" name="TextBox 5"/>
          <p:cNvSpPr txBox="1"/>
          <p:nvPr/>
        </p:nvSpPr>
        <p:spPr>
          <a:xfrm>
            <a:off x="502920" y="2743200"/>
            <a:ext cx="6583680" cy="1188720"/>
          </a:xfrm>
          <a:prstGeom prst="rect">
            <a:avLst/>
          </a:prstGeom>
          <a:noFill/>
        </p:spPr>
        <p:txBody>
          <a:bodyPr wrap="square" lIns="0" rIns="0" tIns="0" bIns="0" anchor="t">
            <a:spAutoFit/>
          </a:bodyPr>
          <a:lstStyle/>
          <a:p>
            <a:pPr algn="l">
              <a:lnSpc>
                <a:spcPct val="100000"/>
              </a:lnSpc>
            </a:pPr>
            <a:r>
              <a:rPr sz="3300" b="1" i="0">
                <a:solidFill>
                  <a:srgbClr val="FFFFFF"/>
                </a:solidFill>
                <a:latin typeface="Arial"/>
              </a:rPr>
              <a:t>Build the structure</a:t>
            </a:r>
          </a:p>
        </p:txBody>
      </p:sp>
      <p:sp>
        <p:nvSpPr>
          <p:cNvPr id="7" name="TextBox 6"/>
          <p:cNvSpPr txBox="1"/>
          <p:nvPr/>
        </p:nvSpPr>
        <p:spPr>
          <a:xfrm>
            <a:off x="502920" y="4069080"/>
            <a:ext cx="6309360" cy="960120"/>
          </a:xfrm>
          <a:prstGeom prst="rect">
            <a:avLst/>
          </a:prstGeom>
          <a:noFill/>
        </p:spPr>
        <p:txBody>
          <a:bodyPr wrap="square" lIns="0" rIns="0" tIns="0" bIns="0" anchor="t">
            <a:spAutoFit/>
          </a:bodyPr>
          <a:lstStyle/>
          <a:p>
            <a:pPr algn="l">
              <a:lnSpc>
                <a:spcPct val="100000"/>
              </a:lnSpc>
            </a:pPr>
            <a:r>
              <a:rPr sz="1600" b="0" i="0">
                <a:solidFill>
                  <a:srgbClr val="CFD8EC"/>
                </a:solidFill>
                <a:latin typeface="Arial"/>
              </a:rPr>
              <a:t>The aerodynamic design only exists in the air if the finished model is straight, stiff enough, light enough, and reliably connected.</a:t>
            </a:r>
          </a:p>
        </p:txBody>
      </p:sp>
      <p:sp>
        <p:nvSpPr>
          <p:cNvPr id="11" name="TextBox 10"/>
          <p:cNvSpPr txBox="1"/>
          <p:nvPr/>
        </p:nvSpPr>
        <p:spPr>
          <a:xfrm>
            <a:off x="502920" y="8430768"/>
            <a:ext cx="6400800" cy="256032"/>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Think → calculate → build straight → test carefully → improve one change at a time.</a:t>
            </a:r>
          </a:p>
        </p:txBody>
      </p:sp>
      <p:sp>
        <p:nvSpPr>
          <p:cNvPr id="12" name="TextBox 11"/>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45</a:t>
            </a:r>
          </a:p>
        </p:txBody>
      </p:sp>
      <p:sp>
        <p:nvSpPr>
          <p:cNvPr id="8" name="Freeform 7"/>
          <p:cNvSpPr/>
          <p:nvPr/>
        </p:nvSpPr>
        <p:spPr>
          <a:xfrm>
            <a:off x="3794760" y="5760720"/>
            <a:ext cx="182879" cy="2212848"/>
          </a:xfrm>
          <a:custGeom>
            <a:avLst/>
            <a:gdLst/>
            <a:ahLst/>
            <a:cxnLst/>
            <a:rect l="l" t="t" r="r" b="b"/>
            <a:pathLst>
              <a:path w="182879" h="2212848">
                <a:moveTo>
                  <a:pt x="27431" y="109728"/>
                </a:moveTo>
                <a:lnTo>
                  <a:pt x="91440" y="0"/>
                </a:lnTo>
                <a:lnTo>
                  <a:pt x="155448" y="109728"/>
                </a:lnTo>
                <a:lnTo>
                  <a:pt x="182879" y="2212848"/>
                </a:lnTo>
                <a:lnTo>
                  <a:pt x="0" y="2212848"/>
                </a:lnTo>
                <a:close/>
              </a:path>
            </a:pathLst>
          </a:custGeom>
          <a:solidFill>
            <a:srgbClr val="F7F9FC"/>
          </a:solidFill>
          <a:ln w="2222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3383280" y="5760720"/>
            <a:ext cx="1005840" cy="0"/>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965960" y="6382512"/>
            <a:ext cx="3840480" cy="694944"/>
          </a:xfrm>
          <a:prstGeom prst="rect">
            <a:avLst/>
          </a:prstGeom>
          <a:solidFill>
            <a:srgbClr val="EDF4FF"/>
          </a:solidFill>
          <a:ln w="22225">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965960" y="6945416"/>
            <a:ext cx="883310" cy="132040"/>
          </a:xfrm>
          <a:custGeom>
            <a:avLst/>
            <a:gdLst/>
            <a:ahLst/>
            <a:cxnLst/>
            <a:rect l="l" t="t" r="r" b="b"/>
            <a:pathLst>
              <a:path w="883310" h="132040">
                <a:moveTo>
                  <a:pt x="0" y="0"/>
                </a:moveTo>
                <a:lnTo>
                  <a:pt x="883310" y="0"/>
                </a:lnTo>
                <a:lnTo>
                  <a:pt x="883310" y="132040"/>
                </a:lnTo>
                <a:lnTo>
                  <a:pt x="0" y="132040"/>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923129" y="6945416"/>
            <a:ext cx="883311" cy="132040"/>
          </a:xfrm>
          <a:custGeom>
            <a:avLst/>
            <a:gdLst/>
            <a:ahLst/>
            <a:cxnLst/>
            <a:rect l="l" t="t" r="r" b="b"/>
            <a:pathLst>
              <a:path w="883311" h="132040">
                <a:moveTo>
                  <a:pt x="0" y="0"/>
                </a:moveTo>
                <a:lnTo>
                  <a:pt x="883311" y="0"/>
                </a:lnTo>
                <a:lnTo>
                  <a:pt x="883311" y="132040"/>
                </a:lnTo>
                <a:lnTo>
                  <a:pt x="0" y="132040"/>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77540" y="7626096"/>
            <a:ext cx="1417320" cy="347472"/>
          </a:xfrm>
          <a:prstGeom prst="rect">
            <a:avLst/>
          </a:prstGeom>
          <a:solidFill>
            <a:srgbClr val="ECF7F0"/>
          </a:solidFill>
          <a:ln w="2222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77540" y="7862376"/>
            <a:ext cx="1417320" cy="111191"/>
          </a:xfrm>
          <a:prstGeom prst="rect">
            <a:avLst/>
          </a:prstGeom>
          <a:solidFill>
            <a:srgbClr val="D4EEDD"/>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845052" y="7214616"/>
            <a:ext cx="82296" cy="440192"/>
          </a:xfrm>
          <a:custGeom>
            <a:avLst/>
            <a:gdLst/>
            <a:ahLst/>
            <a:cxnLst/>
            <a:rect l="l" t="t" r="r" b="b"/>
            <a:pathLst>
              <a:path w="82296" h="440192">
                <a:moveTo>
                  <a:pt x="22860" y="0"/>
                </a:moveTo>
                <a:lnTo>
                  <a:pt x="59435" y="0"/>
                </a:lnTo>
                <a:lnTo>
                  <a:pt x="82296" y="440192"/>
                </a:lnTo>
                <a:lnTo>
                  <a:pt x="0" y="440192"/>
                </a:lnTo>
                <a:close/>
              </a:path>
            </a:pathLst>
          </a:custGeom>
          <a:solidFill>
            <a:srgbClr val="ECF7F0"/>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831336" y="7654808"/>
            <a:ext cx="109727" cy="337048"/>
          </a:xfrm>
          <a:custGeom>
            <a:avLst/>
            <a:gdLst/>
            <a:ahLst/>
            <a:cxnLst/>
            <a:rect l="l" t="t" r="r" b="b"/>
            <a:pathLst>
              <a:path w="109727" h="337048">
                <a:moveTo>
                  <a:pt x="13716" y="0"/>
                </a:moveTo>
                <a:lnTo>
                  <a:pt x="96012" y="0"/>
                </a:lnTo>
                <a:lnTo>
                  <a:pt x="109727" y="337048"/>
                </a:lnTo>
                <a:lnTo>
                  <a:pt x="0" y="337048"/>
                </a:lnTo>
                <a:close/>
              </a:path>
            </a:pathLst>
          </a:custGeom>
          <a:solidFill>
            <a:srgbClr val="B7E0C6"/>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F8F5B"/>
                </a:solidFill>
                <a:latin typeface="Arial"/>
              </a:rPr>
              <a:t>BUILD THE STRUCTURE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Choose a construction method that matches the mission</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“best” material is the one that meets stiffness, mass, repair, cost, and accuracy needs.</a:t>
            </a:r>
          </a:p>
        </p:txBody>
      </p:sp>
      <p:sp>
        <p:nvSpPr>
          <p:cNvPr id="8" name="Rounded Rectangle 7"/>
          <p:cNvSpPr/>
          <p:nvPr/>
        </p:nvSpPr>
        <p:spPr>
          <a:xfrm>
            <a:off x="347472" y="1188720"/>
            <a:ext cx="3474720" cy="283464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188720"/>
            <a:ext cx="50292" cy="283464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BALSA / PLYWOOD</a:t>
            </a:r>
          </a:p>
        </p:txBody>
      </p:sp>
      <p:sp>
        <p:nvSpPr>
          <p:cNvPr id="11" name="TextBox 10"/>
          <p:cNvSpPr txBox="1"/>
          <p:nvPr/>
        </p:nvSpPr>
        <p:spPr>
          <a:xfrm>
            <a:off x="493776" y="1581912"/>
            <a:ext cx="3200400" cy="2340864"/>
          </a:xfrm>
          <a:prstGeom prst="rect">
            <a:avLst/>
          </a:prstGeom>
          <a:noFill/>
        </p:spPr>
        <p:txBody>
          <a:bodyPr wrap="square" lIns="18288" rIns="9144" tIns="9144" bIns="9144">
            <a:spAutoFit/>
          </a:bodyPr>
          <a:lstStyle/>
          <a:p>
            <a:pPr>
              <a:lnSpc>
                <a:spcPct val="100000"/>
              </a:lnSpc>
              <a:spcAft>
                <a:spcPts val="250"/>
              </a:spcAft>
            </a:pPr>
            <a:r>
              <a:rPr sz="930">
                <a:solidFill>
                  <a:srgbClr val="20263A"/>
                </a:solidFill>
                <a:latin typeface="Arial"/>
              </a:rPr>
              <a:t>• Light, stiff, repairable, and precise.</a:t>
            </a:r>
          </a:p>
          <a:p>
            <a:pPr>
              <a:lnSpc>
                <a:spcPct val="100000"/>
              </a:lnSpc>
              <a:spcAft>
                <a:spcPts val="250"/>
              </a:spcAft>
            </a:pPr>
            <a:r>
              <a:rPr sz="930">
                <a:solidFill>
                  <a:srgbClr val="20263A"/>
                </a:solidFill>
                <a:latin typeface="Arial"/>
              </a:rPr>
              <a:t>• Excellent for built-up wings and box fuselages.</a:t>
            </a:r>
          </a:p>
          <a:p>
            <a:pPr>
              <a:lnSpc>
                <a:spcPct val="100000"/>
              </a:lnSpc>
              <a:spcAft>
                <a:spcPts val="250"/>
              </a:spcAft>
            </a:pPr>
            <a:r>
              <a:rPr sz="930">
                <a:solidFill>
                  <a:srgbClr val="20263A"/>
                </a:solidFill>
                <a:latin typeface="Arial"/>
              </a:rPr>
              <a:t>• Requires grain awareness, jigs, and finishing.</a:t>
            </a:r>
          </a:p>
        </p:txBody>
      </p:sp>
      <p:sp>
        <p:nvSpPr>
          <p:cNvPr id="12" name="Rounded Rectangle 11"/>
          <p:cNvSpPr/>
          <p:nvPr/>
        </p:nvSpPr>
        <p:spPr>
          <a:xfrm>
            <a:off x="3950208" y="1188720"/>
            <a:ext cx="3474720" cy="283464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0208" y="1188720"/>
            <a:ext cx="50292" cy="2834640"/>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6512"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FOAMBOARD / DEPRON</a:t>
            </a:r>
          </a:p>
        </p:txBody>
      </p:sp>
      <p:sp>
        <p:nvSpPr>
          <p:cNvPr id="15" name="TextBox 14"/>
          <p:cNvSpPr txBox="1"/>
          <p:nvPr/>
        </p:nvSpPr>
        <p:spPr>
          <a:xfrm>
            <a:off x="4096512" y="1581912"/>
            <a:ext cx="3200400" cy="2340864"/>
          </a:xfrm>
          <a:prstGeom prst="rect">
            <a:avLst/>
          </a:prstGeom>
          <a:noFill/>
        </p:spPr>
        <p:txBody>
          <a:bodyPr wrap="square" lIns="18288" rIns="9144" tIns="9144" bIns="9144">
            <a:spAutoFit/>
          </a:bodyPr>
          <a:lstStyle/>
          <a:p>
            <a:pPr>
              <a:lnSpc>
                <a:spcPct val="100000"/>
              </a:lnSpc>
              <a:spcAft>
                <a:spcPts val="250"/>
              </a:spcAft>
            </a:pPr>
            <a:r>
              <a:rPr sz="930">
                <a:solidFill>
                  <a:srgbClr val="20263A"/>
                </a:solidFill>
                <a:latin typeface="Arial"/>
              </a:rPr>
              <a:t>• Fast and inexpensive prototypes.</a:t>
            </a:r>
          </a:p>
          <a:p>
            <a:pPr>
              <a:lnSpc>
                <a:spcPct val="100000"/>
              </a:lnSpc>
              <a:spcAft>
                <a:spcPts val="250"/>
              </a:spcAft>
            </a:pPr>
            <a:r>
              <a:rPr sz="930">
                <a:solidFill>
                  <a:srgbClr val="20263A"/>
                </a:solidFill>
                <a:latin typeface="Arial"/>
              </a:rPr>
              <a:t>• Folded skins can form strong box structures.</a:t>
            </a:r>
          </a:p>
          <a:p>
            <a:pPr>
              <a:lnSpc>
                <a:spcPct val="100000"/>
              </a:lnSpc>
              <a:spcAft>
                <a:spcPts val="250"/>
              </a:spcAft>
            </a:pPr>
            <a:r>
              <a:rPr sz="930">
                <a:solidFill>
                  <a:srgbClr val="20263A"/>
                </a:solidFill>
                <a:latin typeface="Arial"/>
              </a:rPr>
              <a:t>• Paper and hot glue can add surprising mass.</a:t>
            </a:r>
          </a:p>
        </p:txBody>
      </p:sp>
      <p:sp>
        <p:nvSpPr>
          <p:cNvPr id="16" name="Rounded Rectangle 15"/>
          <p:cNvSpPr/>
          <p:nvPr/>
        </p:nvSpPr>
        <p:spPr>
          <a:xfrm>
            <a:off x="347472" y="4315968"/>
            <a:ext cx="3474720" cy="283464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4315968"/>
            <a:ext cx="50292" cy="2834640"/>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443484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EPP / EPO / MOLDED FOAM</a:t>
            </a:r>
          </a:p>
        </p:txBody>
      </p:sp>
      <p:sp>
        <p:nvSpPr>
          <p:cNvPr id="19" name="TextBox 18"/>
          <p:cNvSpPr txBox="1"/>
          <p:nvPr/>
        </p:nvSpPr>
        <p:spPr>
          <a:xfrm>
            <a:off x="493776" y="4709159"/>
            <a:ext cx="3200400" cy="2340864"/>
          </a:xfrm>
          <a:prstGeom prst="rect">
            <a:avLst/>
          </a:prstGeom>
          <a:noFill/>
        </p:spPr>
        <p:txBody>
          <a:bodyPr wrap="square" lIns="18288" rIns="9144" tIns="9144" bIns="9144">
            <a:spAutoFit/>
          </a:bodyPr>
          <a:lstStyle/>
          <a:p>
            <a:pPr>
              <a:lnSpc>
                <a:spcPct val="100000"/>
              </a:lnSpc>
              <a:spcAft>
                <a:spcPts val="250"/>
              </a:spcAft>
            </a:pPr>
            <a:r>
              <a:rPr sz="930">
                <a:solidFill>
                  <a:srgbClr val="20263A"/>
                </a:solidFill>
                <a:latin typeface="Arial"/>
              </a:rPr>
              <a:t>• Tough and practical for trainers.</a:t>
            </a:r>
          </a:p>
          <a:p>
            <a:pPr>
              <a:lnSpc>
                <a:spcPct val="100000"/>
              </a:lnSpc>
              <a:spcAft>
                <a:spcPts val="250"/>
              </a:spcAft>
            </a:pPr>
            <a:r>
              <a:rPr sz="930">
                <a:solidFill>
                  <a:srgbClr val="20263A"/>
                </a:solidFill>
                <a:latin typeface="Arial"/>
              </a:rPr>
              <a:t>• Adhesive compatibility matters.</a:t>
            </a:r>
          </a:p>
          <a:p>
            <a:pPr>
              <a:lnSpc>
                <a:spcPct val="100000"/>
              </a:lnSpc>
              <a:spcAft>
                <a:spcPts val="250"/>
              </a:spcAft>
            </a:pPr>
            <a:r>
              <a:rPr sz="930">
                <a:solidFill>
                  <a:srgbClr val="20263A"/>
                </a:solidFill>
                <a:latin typeface="Arial"/>
              </a:rPr>
              <a:t>• Local reinforcement is needed at mounts and hinges.</a:t>
            </a:r>
          </a:p>
        </p:txBody>
      </p:sp>
      <p:sp>
        <p:nvSpPr>
          <p:cNvPr id="20" name="Rounded Rectangle 19"/>
          <p:cNvSpPr/>
          <p:nvPr/>
        </p:nvSpPr>
        <p:spPr>
          <a:xfrm>
            <a:off x="3950208" y="4315968"/>
            <a:ext cx="3474720" cy="283464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50208" y="4315968"/>
            <a:ext cx="50292" cy="2834640"/>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96512" y="443484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3D PRINT / COMPOSITE / HYBRID</a:t>
            </a:r>
          </a:p>
        </p:txBody>
      </p:sp>
      <p:sp>
        <p:nvSpPr>
          <p:cNvPr id="23" name="TextBox 22"/>
          <p:cNvSpPr txBox="1"/>
          <p:nvPr/>
        </p:nvSpPr>
        <p:spPr>
          <a:xfrm>
            <a:off x="4096512" y="4709159"/>
            <a:ext cx="3200400" cy="2340864"/>
          </a:xfrm>
          <a:prstGeom prst="rect">
            <a:avLst/>
          </a:prstGeom>
          <a:noFill/>
        </p:spPr>
        <p:txBody>
          <a:bodyPr wrap="square" lIns="18288" rIns="9144" tIns="9144" bIns="9144">
            <a:spAutoFit/>
          </a:bodyPr>
          <a:lstStyle/>
          <a:p>
            <a:pPr>
              <a:lnSpc>
                <a:spcPct val="100000"/>
              </a:lnSpc>
              <a:spcAft>
                <a:spcPts val="250"/>
              </a:spcAft>
            </a:pPr>
            <a:r>
              <a:rPr sz="930">
                <a:solidFill>
                  <a:srgbClr val="20263A"/>
                </a:solidFill>
                <a:latin typeface="Arial"/>
              </a:rPr>
              <a:t>• Can create complex, repeatable shapes.</a:t>
            </a:r>
          </a:p>
          <a:p>
            <a:pPr>
              <a:lnSpc>
                <a:spcPct val="100000"/>
              </a:lnSpc>
              <a:spcAft>
                <a:spcPts val="250"/>
              </a:spcAft>
            </a:pPr>
            <a:r>
              <a:rPr sz="930">
                <a:solidFill>
                  <a:srgbClr val="20263A"/>
                </a:solidFill>
                <a:latin typeface="Arial"/>
              </a:rPr>
              <a:t>• Printed shells can be heavy or brittle.</a:t>
            </a:r>
          </a:p>
          <a:p>
            <a:pPr>
              <a:lnSpc>
                <a:spcPct val="100000"/>
              </a:lnSpc>
              <a:spcAft>
                <a:spcPts val="250"/>
              </a:spcAft>
            </a:pPr>
            <a:r>
              <a:rPr sz="930">
                <a:solidFill>
                  <a:srgbClr val="20263A"/>
                </a:solidFill>
                <a:latin typeface="Arial"/>
              </a:rPr>
              <a:t>• Composites are efficient but require process control and safety gear.</a:t>
            </a:r>
          </a:p>
        </p:txBody>
      </p:sp>
      <p:sp>
        <p:nvSpPr>
          <p:cNvPr id="24" name="Rounded Rectangle 23"/>
          <p:cNvSpPr/>
          <p:nvPr/>
        </p:nvSpPr>
        <p:spPr>
          <a:xfrm>
            <a:off x="347472" y="7424927"/>
            <a:ext cx="7077456" cy="868680"/>
          </a:xfrm>
          <a:prstGeom prst="roundRect">
            <a:avLst>
              <a:gd name="adj" fmla="val 8000"/>
            </a:avLst>
          </a:prstGeom>
          <a:solidFill>
            <a:srgbClr val="ECF7F0"/>
          </a:solidFill>
          <a:ln w="10160">
            <a:solidFill>
              <a:srgbClr val="2F8F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7200" y="7712963"/>
            <a:ext cx="292608" cy="292608"/>
          </a:xfrm>
          <a:prstGeom prst="ellipse">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7767827"/>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27" name="TextBox 26"/>
          <p:cNvSpPr txBox="1"/>
          <p:nvPr/>
        </p:nvSpPr>
        <p:spPr>
          <a:xfrm>
            <a:off x="832104" y="7516367"/>
            <a:ext cx="6464808" cy="704088"/>
          </a:xfrm>
          <a:prstGeom prst="rect">
            <a:avLst/>
          </a:prstGeom>
          <a:noFill/>
        </p:spPr>
        <p:txBody>
          <a:bodyPr wrap="square" lIns="0" rIns="0" tIns="0" bIns="0" anchor="ctr">
            <a:spAutoFit/>
          </a:bodyPr>
          <a:lstStyle/>
          <a:p>
            <a:pPr algn="l">
              <a:lnSpc>
                <a:spcPct val="100000"/>
              </a:lnSpc>
            </a:pPr>
            <a:r>
              <a:rPr sz="930" b="0" i="0">
                <a:solidFill>
                  <a:srgbClr val="20263A"/>
                </a:solidFill>
                <a:latin typeface="Arial"/>
              </a:rPr>
              <a:t>Prototype the hardest joint first: wing joiner, landing-gear plate, motor mount, removable wing, or control hinge. A weak joint can erase the advantage of strong material.</a:t>
            </a:r>
          </a:p>
        </p:txBody>
      </p:sp>
      <p:sp>
        <p:nvSpPr>
          <p:cNvPr id="28" name="TextBox 27"/>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E0702B"/>
                </a:solidFill>
                <a:latin typeface="Arial"/>
              </a:rPr>
              <a:t>BUILD THE STRUCTURE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Adhesives: match the glue to the load and material</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Glue is part of the structure. More glue is often heavier—not stronger.</a:t>
            </a:r>
          </a:p>
        </p:txBody>
      </p:sp>
      <p:sp>
        <p:nvSpPr>
          <p:cNvPr id="8" name="Rectangle 7"/>
          <p:cNvSpPr/>
          <p:nvPr/>
        </p:nvSpPr>
        <p:spPr>
          <a:xfrm>
            <a:off x="347472" y="1234440"/>
            <a:ext cx="1188720"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353312"/>
            <a:ext cx="1078992"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ADHESIVE</a:t>
            </a:r>
          </a:p>
        </p:txBody>
      </p:sp>
      <p:sp>
        <p:nvSpPr>
          <p:cNvPr id="10" name="Rectangle 9"/>
          <p:cNvSpPr/>
          <p:nvPr/>
        </p:nvSpPr>
        <p:spPr>
          <a:xfrm>
            <a:off x="1536192" y="1234440"/>
            <a:ext cx="1627632"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91056" y="1353312"/>
            <a:ext cx="1517904"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GOOD USE</a:t>
            </a:r>
          </a:p>
        </p:txBody>
      </p:sp>
      <p:sp>
        <p:nvSpPr>
          <p:cNvPr id="12" name="Rectangle 11"/>
          <p:cNvSpPr/>
          <p:nvPr/>
        </p:nvSpPr>
        <p:spPr>
          <a:xfrm>
            <a:off x="3163824" y="1234440"/>
            <a:ext cx="2084831"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18688" y="1353312"/>
            <a:ext cx="1975103"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ADVANTAGE</a:t>
            </a:r>
          </a:p>
        </p:txBody>
      </p:sp>
      <p:sp>
        <p:nvSpPr>
          <p:cNvPr id="14" name="Rectangle 13"/>
          <p:cNvSpPr/>
          <p:nvPr/>
        </p:nvSpPr>
        <p:spPr>
          <a:xfrm>
            <a:off x="5248656" y="1234440"/>
            <a:ext cx="2176272"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0" y="1353312"/>
            <a:ext cx="2066543" cy="182880"/>
          </a:xfrm>
          <a:prstGeom prst="rect">
            <a:avLst/>
          </a:prstGeom>
          <a:noFill/>
        </p:spPr>
        <p:txBody>
          <a:bodyPr wrap="square" lIns="0" rIns="0" tIns="0" bIns="0" anchor="t">
            <a:spAutoFit/>
          </a:bodyPr>
          <a:lstStyle/>
          <a:p>
            <a:pPr algn="l">
              <a:lnSpc>
                <a:spcPct val="100000"/>
              </a:lnSpc>
            </a:pPr>
            <a:r>
              <a:rPr sz="819" b="1" i="0">
                <a:solidFill>
                  <a:srgbClr val="FFFFFF"/>
                </a:solidFill>
                <a:latin typeface="Arial"/>
              </a:rPr>
              <a:t>WATCH OUT</a:t>
            </a:r>
          </a:p>
        </p:txBody>
      </p:sp>
      <p:sp>
        <p:nvSpPr>
          <p:cNvPr id="16" name="Rectangle 15"/>
          <p:cNvSpPr/>
          <p:nvPr/>
        </p:nvSpPr>
        <p:spPr>
          <a:xfrm>
            <a:off x="347472" y="1737360"/>
            <a:ext cx="1188720"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1828800"/>
            <a:ext cx="1078992" cy="566928"/>
          </a:xfrm>
          <a:prstGeom prst="rect">
            <a:avLst/>
          </a:prstGeom>
          <a:noFill/>
        </p:spPr>
        <p:txBody>
          <a:bodyPr wrap="square" lIns="0" rIns="0" tIns="0" bIns="0" anchor="ctr">
            <a:spAutoFit/>
          </a:bodyPr>
          <a:lstStyle/>
          <a:p>
            <a:pPr algn="l">
              <a:lnSpc>
                <a:spcPct val="100000"/>
              </a:lnSpc>
            </a:pPr>
            <a:r>
              <a:rPr sz="850" b="1" i="0">
                <a:solidFill>
                  <a:srgbClr val="20263A"/>
                </a:solidFill>
                <a:latin typeface="Arial"/>
              </a:rPr>
              <a:t>Thin CA</a:t>
            </a:r>
          </a:p>
        </p:txBody>
      </p:sp>
      <p:sp>
        <p:nvSpPr>
          <p:cNvPr id="18" name="Rectangle 17"/>
          <p:cNvSpPr/>
          <p:nvPr/>
        </p:nvSpPr>
        <p:spPr>
          <a:xfrm>
            <a:off x="1536192" y="1737360"/>
            <a:ext cx="1627632"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91056" y="1828800"/>
            <a:ext cx="1517904"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Tight balsa joints</a:t>
            </a:r>
          </a:p>
        </p:txBody>
      </p:sp>
      <p:sp>
        <p:nvSpPr>
          <p:cNvPr id="20" name="Rectangle 19"/>
          <p:cNvSpPr/>
          <p:nvPr/>
        </p:nvSpPr>
        <p:spPr>
          <a:xfrm>
            <a:off x="3163824" y="1737360"/>
            <a:ext cx="2084831"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18688" y="1828800"/>
            <a:ext cx="197510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Fast, light wicking bond</a:t>
            </a:r>
          </a:p>
        </p:txBody>
      </p:sp>
      <p:sp>
        <p:nvSpPr>
          <p:cNvPr id="22" name="Rectangle 21"/>
          <p:cNvSpPr/>
          <p:nvPr/>
        </p:nvSpPr>
        <p:spPr>
          <a:xfrm>
            <a:off x="5248656" y="1737360"/>
            <a:ext cx="2176272"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0" y="1828800"/>
            <a:ext cx="206654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Brittle; fumes; bonds skin instantly</a:t>
            </a:r>
          </a:p>
        </p:txBody>
      </p:sp>
      <p:sp>
        <p:nvSpPr>
          <p:cNvPr id="24" name="Rectangle 23"/>
          <p:cNvSpPr/>
          <p:nvPr/>
        </p:nvSpPr>
        <p:spPr>
          <a:xfrm>
            <a:off x="347472" y="2542032"/>
            <a:ext cx="1188720"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2336" y="2633472"/>
            <a:ext cx="1078992" cy="566928"/>
          </a:xfrm>
          <a:prstGeom prst="rect">
            <a:avLst/>
          </a:prstGeom>
          <a:noFill/>
        </p:spPr>
        <p:txBody>
          <a:bodyPr wrap="square" lIns="0" rIns="0" tIns="0" bIns="0" anchor="ctr">
            <a:spAutoFit/>
          </a:bodyPr>
          <a:lstStyle/>
          <a:p>
            <a:pPr algn="l">
              <a:lnSpc>
                <a:spcPct val="100000"/>
              </a:lnSpc>
            </a:pPr>
            <a:r>
              <a:rPr sz="850" b="1" i="0">
                <a:solidFill>
                  <a:srgbClr val="20263A"/>
                </a:solidFill>
                <a:latin typeface="Arial"/>
              </a:rPr>
              <a:t>Medium / thick CA</a:t>
            </a:r>
          </a:p>
        </p:txBody>
      </p:sp>
      <p:sp>
        <p:nvSpPr>
          <p:cNvPr id="26" name="Rectangle 25"/>
          <p:cNvSpPr/>
          <p:nvPr/>
        </p:nvSpPr>
        <p:spPr>
          <a:xfrm>
            <a:off x="1536192" y="2542032"/>
            <a:ext cx="1627632"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91056" y="2633472"/>
            <a:ext cx="1517904"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Small gaps, field repairs</a:t>
            </a:r>
          </a:p>
        </p:txBody>
      </p:sp>
      <p:sp>
        <p:nvSpPr>
          <p:cNvPr id="28" name="Rectangle 27"/>
          <p:cNvSpPr/>
          <p:nvPr/>
        </p:nvSpPr>
        <p:spPr>
          <a:xfrm>
            <a:off x="3163824" y="2542032"/>
            <a:ext cx="2084831"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18688" y="2633472"/>
            <a:ext cx="197510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Fast and convenient</a:t>
            </a:r>
          </a:p>
        </p:txBody>
      </p:sp>
      <p:sp>
        <p:nvSpPr>
          <p:cNvPr id="30" name="Rectangle 29"/>
          <p:cNvSpPr/>
          <p:nvPr/>
        </p:nvSpPr>
        <p:spPr>
          <a:xfrm>
            <a:off x="5248656" y="2542032"/>
            <a:ext cx="2176272"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0" y="2633472"/>
            <a:ext cx="206654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Use foam-safe type where required</a:t>
            </a:r>
          </a:p>
        </p:txBody>
      </p:sp>
      <p:sp>
        <p:nvSpPr>
          <p:cNvPr id="32" name="Rectangle 31"/>
          <p:cNvSpPr/>
          <p:nvPr/>
        </p:nvSpPr>
        <p:spPr>
          <a:xfrm>
            <a:off x="347472" y="3346704"/>
            <a:ext cx="1188720"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2336" y="3438144"/>
            <a:ext cx="1078992" cy="566928"/>
          </a:xfrm>
          <a:prstGeom prst="rect">
            <a:avLst/>
          </a:prstGeom>
          <a:noFill/>
        </p:spPr>
        <p:txBody>
          <a:bodyPr wrap="square" lIns="0" rIns="0" tIns="0" bIns="0" anchor="ctr">
            <a:spAutoFit/>
          </a:bodyPr>
          <a:lstStyle/>
          <a:p>
            <a:pPr algn="l">
              <a:lnSpc>
                <a:spcPct val="100000"/>
              </a:lnSpc>
            </a:pPr>
            <a:r>
              <a:rPr sz="850" b="1" i="0">
                <a:solidFill>
                  <a:srgbClr val="20263A"/>
                </a:solidFill>
                <a:latin typeface="Arial"/>
              </a:rPr>
              <a:t>Aliphatic / PVA</a:t>
            </a:r>
          </a:p>
        </p:txBody>
      </p:sp>
      <p:sp>
        <p:nvSpPr>
          <p:cNvPr id="34" name="Rectangle 33"/>
          <p:cNvSpPr/>
          <p:nvPr/>
        </p:nvSpPr>
        <p:spPr>
          <a:xfrm>
            <a:off x="1536192" y="3346704"/>
            <a:ext cx="1627632"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91056" y="3438144"/>
            <a:ext cx="1517904"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Wood-to-wood joints</a:t>
            </a:r>
          </a:p>
        </p:txBody>
      </p:sp>
      <p:sp>
        <p:nvSpPr>
          <p:cNvPr id="36" name="Rectangle 35"/>
          <p:cNvSpPr/>
          <p:nvPr/>
        </p:nvSpPr>
        <p:spPr>
          <a:xfrm>
            <a:off x="3163824" y="3346704"/>
            <a:ext cx="2084831"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18688" y="3438144"/>
            <a:ext cx="197510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Sandable, tough, low odor</a:t>
            </a:r>
          </a:p>
        </p:txBody>
      </p:sp>
      <p:sp>
        <p:nvSpPr>
          <p:cNvPr id="38" name="Rectangle 37"/>
          <p:cNvSpPr/>
          <p:nvPr/>
        </p:nvSpPr>
        <p:spPr>
          <a:xfrm>
            <a:off x="5248656" y="3346704"/>
            <a:ext cx="2176272"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0" y="3438144"/>
            <a:ext cx="206654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Needs clamping and cure time</a:t>
            </a:r>
          </a:p>
        </p:txBody>
      </p:sp>
      <p:sp>
        <p:nvSpPr>
          <p:cNvPr id="40" name="Rectangle 39"/>
          <p:cNvSpPr/>
          <p:nvPr/>
        </p:nvSpPr>
        <p:spPr>
          <a:xfrm>
            <a:off x="347472" y="4151376"/>
            <a:ext cx="1188720"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4242816"/>
            <a:ext cx="1078992" cy="566928"/>
          </a:xfrm>
          <a:prstGeom prst="rect">
            <a:avLst/>
          </a:prstGeom>
          <a:noFill/>
        </p:spPr>
        <p:txBody>
          <a:bodyPr wrap="square" lIns="0" rIns="0" tIns="0" bIns="0" anchor="ctr">
            <a:spAutoFit/>
          </a:bodyPr>
          <a:lstStyle/>
          <a:p>
            <a:pPr algn="l">
              <a:lnSpc>
                <a:spcPct val="100000"/>
              </a:lnSpc>
            </a:pPr>
            <a:r>
              <a:rPr sz="850" b="1" i="0">
                <a:solidFill>
                  <a:srgbClr val="20263A"/>
                </a:solidFill>
                <a:latin typeface="Arial"/>
              </a:rPr>
              <a:t>Epoxy</a:t>
            </a:r>
          </a:p>
        </p:txBody>
      </p:sp>
      <p:sp>
        <p:nvSpPr>
          <p:cNvPr id="42" name="Rectangle 41"/>
          <p:cNvSpPr/>
          <p:nvPr/>
        </p:nvSpPr>
        <p:spPr>
          <a:xfrm>
            <a:off x="1536192" y="4151376"/>
            <a:ext cx="1627632"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91056" y="4242816"/>
            <a:ext cx="1517904"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Motor mounts, joiners, mixed materials</a:t>
            </a:r>
          </a:p>
        </p:txBody>
      </p:sp>
      <p:sp>
        <p:nvSpPr>
          <p:cNvPr id="44" name="Rectangle 43"/>
          <p:cNvSpPr/>
          <p:nvPr/>
        </p:nvSpPr>
        <p:spPr>
          <a:xfrm>
            <a:off x="3163824" y="4151376"/>
            <a:ext cx="2084831"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18688" y="4242816"/>
            <a:ext cx="197510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Gap filling; strong when joint is designed well</a:t>
            </a:r>
          </a:p>
        </p:txBody>
      </p:sp>
      <p:sp>
        <p:nvSpPr>
          <p:cNvPr id="46" name="Rectangle 45"/>
          <p:cNvSpPr/>
          <p:nvPr/>
        </p:nvSpPr>
        <p:spPr>
          <a:xfrm>
            <a:off x="5248656" y="4151376"/>
            <a:ext cx="2176272"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03520" y="4242816"/>
            <a:ext cx="206654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Heavy; mixing accuracy; sensitization risk</a:t>
            </a:r>
          </a:p>
        </p:txBody>
      </p:sp>
      <p:sp>
        <p:nvSpPr>
          <p:cNvPr id="48" name="Rectangle 47"/>
          <p:cNvSpPr/>
          <p:nvPr/>
        </p:nvSpPr>
        <p:spPr>
          <a:xfrm>
            <a:off x="347472" y="4956048"/>
            <a:ext cx="1188720"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5047488"/>
            <a:ext cx="1078992" cy="566928"/>
          </a:xfrm>
          <a:prstGeom prst="rect">
            <a:avLst/>
          </a:prstGeom>
          <a:noFill/>
        </p:spPr>
        <p:txBody>
          <a:bodyPr wrap="square" lIns="0" rIns="0" tIns="0" bIns="0" anchor="ctr">
            <a:spAutoFit/>
          </a:bodyPr>
          <a:lstStyle/>
          <a:p>
            <a:pPr algn="l">
              <a:lnSpc>
                <a:spcPct val="100000"/>
              </a:lnSpc>
            </a:pPr>
            <a:r>
              <a:rPr sz="850" b="1" i="0">
                <a:solidFill>
                  <a:srgbClr val="20263A"/>
                </a:solidFill>
                <a:latin typeface="Arial"/>
              </a:rPr>
              <a:t>Hot glue</a:t>
            </a:r>
          </a:p>
        </p:txBody>
      </p:sp>
      <p:sp>
        <p:nvSpPr>
          <p:cNvPr id="50" name="Rectangle 49"/>
          <p:cNvSpPr/>
          <p:nvPr/>
        </p:nvSpPr>
        <p:spPr>
          <a:xfrm>
            <a:off x="1536192" y="4956048"/>
            <a:ext cx="1627632"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591056" y="5047488"/>
            <a:ext cx="1517904"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Foamboard prototypes</a:t>
            </a:r>
          </a:p>
        </p:txBody>
      </p:sp>
      <p:sp>
        <p:nvSpPr>
          <p:cNvPr id="52" name="Rectangle 51"/>
          <p:cNvSpPr/>
          <p:nvPr/>
        </p:nvSpPr>
        <p:spPr>
          <a:xfrm>
            <a:off x="3163824" y="4956048"/>
            <a:ext cx="2084831"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18688" y="5047488"/>
            <a:ext cx="197510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Fast; fills gaps</a:t>
            </a:r>
          </a:p>
        </p:txBody>
      </p:sp>
      <p:sp>
        <p:nvSpPr>
          <p:cNvPr id="54" name="Rectangle 53"/>
          <p:cNvSpPr/>
          <p:nvPr/>
        </p:nvSpPr>
        <p:spPr>
          <a:xfrm>
            <a:off x="5248656" y="4956048"/>
            <a:ext cx="2176272" cy="804672"/>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03520" y="5047488"/>
            <a:ext cx="206654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Heavy; softens with heat; bulky fillets</a:t>
            </a:r>
          </a:p>
        </p:txBody>
      </p:sp>
      <p:sp>
        <p:nvSpPr>
          <p:cNvPr id="56" name="Rectangle 55"/>
          <p:cNvSpPr/>
          <p:nvPr/>
        </p:nvSpPr>
        <p:spPr>
          <a:xfrm>
            <a:off x="347472" y="5760720"/>
            <a:ext cx="1188720"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2336" y="5852159"/>
            <a:ext cx="1078992" cy="566928"/>
          </a:xfrm>
          <a:prstGeom prst="rect">
            <a:avLst/>
          </a:prstGeom>
          <a:noFill/>
        </p:spPr>
        <p:txBody>
          <a:bodyPr wrap="square" lIns="0" rIns="0" tIns="0" bIns="0" anchor="ctr">
            <a:spAutoFit/>
          </a:bodyPr>
          <a:lstStyle/>
          <a:p>
            <a:pPr algn="l">
              <a:lnSpc>
                <a:spcPct val="100000"/>
              </a:lnSpc>
            </a:pPr>
            <a:r>
              <a:rPr sz="850" b="1" i="0">
                <a:solidFill>
                  <a:srgbClr val="20263A"/>
                </a:solidFill>
                <a:latin typeface="Arial"/>
              </a:rPr>
              <a:t>Contact / foam adhesive</a:t>
            </a:r>
          </a:p>
        </p:txBody>
      </p:sp>
      <p:sp>
        <p:nvSpPr>
          <p:cNvPr id="58" name="Rectangle 57"/>
          <p:cNvSpPr/>
          <p:nvPr/>
        </p:nvSpPr>
        <p:spPr>
          <a:xfrm>
            <a:off x="1536192" y="5760720"/>
            <a:ext cx="1627632"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591056" y="5852159"/>
            <a:ext cx="1517904"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Foam skins and large areas</a:t>
            </a:r>
          </a:p>
        </p:txBody>
      </p:sp>
      <p:sp>
        <p:nvSpPr>
          <p:cNvPr id="60" name="Rectangle 59"/>
          <p:cNvSpPr/>
          <p:nvPr/>
        </p:nvSpPr>
        <p:spPr>
          <a:xfrm>
            <a:off x="3163824" y="5760720"/>
            <a:ext cx="2084831"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18688" y="5852159"/>
            <a:ext cx="197510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Flexible; spreads load</a:t>
            </a:r>
          </a:p>
        </p:txBody>
      </p:sp>
      <p:sp>
        <p:nvSpPr>
          <p:cNvPr id="62" name="Rectangle 61"/>
          <p:cNvSpPr/>
          <p:nvPr/>
        </p:nvSpPr>
        <p:spPr>
          <a:xfrm>
            <a:off x="5248656" y="5760720"/>
            <a:ext cx="2176272" cy="804672"/>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303520" y="5852159"/>
            <a:ext cx="2066543" cy="566928"/>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Ventilation; compatibility; cure time</a:t>
            </a:r>
          </a:p>
        </p:txBody>
      </p:sp>
      <p:sp>
        <p:nvSpPr>
          <p:cNvPr id="64" name="Rounded Rectangle 63"/>
          <p:cNvSpPr/>
          <p:nvPr/>
        </p:nvSpPr>
        <p:spPr>
          <a:xfrm>
            <a:off x="347472" y="6903720"/>
            <a:ext cx="7077456" cy="932688"/>
          </a:xfrm>
          <a:prstGeom prst="roundRect">
            <a:avLst>
              <a:gd name="adj" fmla="val 8000"/>
            </a:avLst>
          </a:prstGeom>
          <a:solidFill>
            <a:srgbClr val="FFF3E9"/>
          </a:solidFill>
          <a:ln w="10160">
            <a:solidFill>
              <a:srgbClr val="E070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57200" y="7223759"/>
            <a:ext cx="292608" cy="292608"/>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7200" y="7278624"/>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67" name="TextBox 66"/>
          <p:cNvSpPr txBox="1"/>
          <p:nvPr/>
        </p:nvSpPr>
        <p:spPr>
          <a:xfrm>
            <a:off x="832104" y="6995159"/>
            <a:ext cx="6464808" cy="768096"/>
          </a:xfrm>
          <a:prstGeom prst="rect">
            <a:avLst/>
          </a:prstGeom>
          <a:noFill/>
        </p:spPr>
        <p:txBody>
          <a:bodyPr wrap="square" lIns="0" rIns="0" tIns="0" bIns="0" anchor="ctr">
            <a:spAutoFit/>
          </a:bodyPr>
          <a:lstStyle/>
          <a:p>
            <a:pPr algn="l">
              <a:lnSpc>
                <a:spcPct val="100000"/>
              </a:lnSpc>
            </a:pPr>
            <a:r>
              <a:rPr sz="950" b="0" i="0">
                <a:solidFill>
                  <a:srgbClr val="20263A"/>
                </a:solidFill>
                <a:latin typeface="Arial"/>
              </a:rPr>
              <a:t>Design the joint so parts fit and loads flow through overlapping material, doublers, tabs, or gussets. Glue should transfer load—not bridge a badly fitting gap by itself.</a:t>
            </a:r>
          </a:p>
        </p:txBody>
      </p:sp>
      <p:sp>
        <p:nvSpPr>
          <p:cNvPr id="68" name="TextBox 67"/>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Follow adhesive safety data, ventilation requirements, cure times, and foam compatibility instructions.</a:t>
            </a:r>
          </a:p>
        </p:txBody>
      </p:sp>
      <p:sp>
        <p:nvSpPr>
          <p:cNvPr id="69" name="TextBox 68"/>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F8F5B"/>
                </a:solidFill>
                <a:latin typeface="Arial"/>
              </a:rPr>
              <a:t>BUILD THE STRUCTURE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Wing structure: bending, shear, and torsion</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A wing must resist bending upward and twisting under aerodynamic and control loads.</a:t>
            </a:r>
          </a:p>
        </p:txBody>
      </p:sp>
      <p:sp>
        <p:nvSpPr>
          <p:cNvPr id="8" name="Rounded Rectangle 7"/>
          <p:cNvSpPr/>
          <p:nvPr/>
        </p:nvSpPr>
        <p:spPr>
          <a:xfrm>
            <a:off x="347472" y="1188720"/>
            <a:ext cx="7077456" cy="301752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7472" y="4480560"/>
            <a:ext cx="3474720" cy="1645920"/>
          </a:xfrm>
          <a:prstGeom prst="roundRect">
            <a:avLst>
              <a:gd name="adj" fmla="val 8000"/>
            </a:avLst>
          </a:prstGeom>
          <a:solidFill>
            <a:srgbClr val="ECF7F0"/>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7472" y="4480560"/>
            <a:ext cx="54864" cy="1645920"/>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590288"/>
            <a:ext cx="3209544" cy="164592"/>
          </a:xfrm>
          <a:prstGeom prst="rect">
            <a:avLst/>
          </a:prstGeom>
          <a:noFill/>
        </p:spPr>
        <p:txBody>
          <a:bodyPr wrap="square" lIns="0" rIns="0" tIns="0" bIns="0" anchor="t">
            <a:spAutoFit/>
          </a:bodyPr>
          <a:lstStyle/>
          <a:p>
            <a:pPr algn="l">
              <a:lnSpc>
                <a:spcPct val="100000"/>
              </a:lnSpc>
            </a:pPr>
            <a:r>
              <a:rPr sz="840" b="1" i="0">
                <a:solidFill>
                  <a:srgbClr val="2F8F5B"/>
                </a:solidFill>
                <a:latin typeface="Arial"/>
              </a:rPr>
              <a:t>ROUGH ROOT MOMENT</a:t>
            </a:r>
          </a:p>
        </p:txBody>
      </p:sp>
      <p:sp>
        <p:nvSpPr>
          <p:cNvPr id="20" name="TextBox 19"/>
          <p:cNvSpPr txBox="1"/>
          <p:nvPr/>
        </p:nvSpPr>
        <p:spPr>
          <a:xfrm>
            <a:off x="502920" y="4846320"/>
            <a:ext cx="3209544" cy="365760"/>
          </a:xfrm>
          <a:prstGeom prst="rect">
            <a:avLst/>
          </a:prstGeom>
          <a:noFill/>
        </p:spPr>
        <p:txBody>
          <a:bodyPr wrap="square" lIns="0" rIns="0" tIns="0" bIns="0" anchor="ctr">
            <a:spAutoFit/>
          </a:bodyPr>
          <a:lstStyle/>
          <a:p>
            <a:pPr algn="ctr">
              <a:lnSpc>
                <a:spcPct val="100000"/>
              </a:lnSpc>
            </a:pPr>
            <a:r>
              <a:rPr sz="1800" b="1" i="0">
                <a:solidFill>
                  <a:srgbClr val="20263A"/>
                </a:solidFill>
                <a:latin typeface="Arial"/>
              </a:rPr>
              <a:t>M</a:t>
            </a:r>
            <a:r>
              <a:rPr sz="1800" b="1" i="0" baseline="-25000">
                <a:solidFill>
                  <a:srgbClr val="20263A"/>
                </a:solidFill>
                <a:latin typeface="Arial"/>
              </a:rPr>
              <a:t>root</a:t>
            </a:r>
            <a:r>
              <a:rPr sz="1800" b="1" i="0">
                <a:solidFill>
                  <a:srgbClr val="20263A"/>
                </a:solidFill>
                <a:latin typeface="Arial"/>
              </a:rPr>
              <a:t> ≈ n W b / 8</a:t>
            </a:r>
          </a:p>
        </p:txBody>
      </p:sp>
      <p:sp>
        <p:nvSpPr>
          <p:cNvPr id="21" name="TextBox 20"/>
          <p:cNvSpPr txBox="1"/>
          <p:nvPr/>
        </p:nvSpPr>
        <p:spPr>
          <a:xfrm>
            <a:off x="502920" y="5321808"/>
            <a:ext cx="3209544" cy="704088"/>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Idealized uniformly loaded straight wing. n is load factor, W weight, b span.</a:t>
            </a:r>
          </a:p>
        </p:txBody>
      </p:sp>
      <p:sp>
        <p:nvSpPr>
          <p:cNvPr id="22" name="Rounded Rectangle 21"/>
          <p:cNvSpPr/>
          <p:nvPr/>
        </p:nvSpPr>
        <p:spPr>
          <a:xfrm>
            <a:off x="3950208" y="4480560"/>
            <a:ext cx="3474720" cy="164592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950208" y="4480560"/>
            <a:ext cx="50292" cy="164592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96512" y="459943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LOAD PATH</a:t>
            </a:r>
          </a:p>
        </p:txBody>
      </p:sp>
      <p:sp>
        <p:nvSpPr>
          <p:cNvPr id="25" name="TextBox 24"/>
          <p:cNvSpPr txBox="1"/>
          <p:nvPr/>
        </p:nvSpPr>
        <p:spPr>
          <a:xfrm>
            <a:off x="4096512" y="4873752"/>
            <a:ext cx="3200400" cy="1152144"/>
          </a:xfrm>
          <a:prstGeom prst="rect">
            <a:avLst/>
          </a:prstGeom>
          <a:noFill/>
        </p:spPr>
        <p:txBody>
          <a:bodyPr wrap="square" lIns="18288" rIns="9144" tIns="9144" bIns="9144">
            <a:spAutoFit/>
          </a:bodyPr>
          <a:lstStyle/>
          <a:p>
            <a:pPr>
              <a:lnSpc>
                <a:spcPct val="100000"/>
              </a:lnSpc>
              <a:spcAft>
                <a:spcPts val="250"/>
              </a:spcAft>
            </a:pPr>
            <a:r>
              <a:rPr sz="880">
                <a:solidFill>
                  <a:srgbClr val="20263A"/>
                </a:solidFill>
                <a:latin typeface="Arial"/>
              </a:rPr>
              <a:t>• Upper and lower spar caps carry most bending tension/compression.</a:t>
            </a:r>
          </a:p>
          <a:p>
            <a:pPr>
              <a:lnSpc>
                <a:spcPct val="100000"/>
              </a:lnSpc>
              <a:spcAft>
                <a:spcPts val="250"/>
              </a:spcAft>
            </a:pPr>
            <a:r>
              <a:rPr sz="880">
                <a:solidFill>
                  <a:srgbClr val="20263A"/>
                </a:solidFill>
                <a:latin typeface="Arial"/>
              </a:rPr>
              <a:t>• Shear web keeps the caps working together.</a:t>
            </a:r>
          </a:p>
          <a:p>
            <a:pPr>
              <a:lnSpc>
                <a:spcPct val="100000"/>
              </a:lnSpc>
              <a:spcAft>
                <a:spcPts val="250"/>
              </a:spcAft>
            </a:pPr>
            <a:r>
              <a:rPr sz="880">
                <a:solidFill>
                  <a:srgbClr val="20263A"/>
                </a:solidFill>
                <a:latin typeface="Arial"/>
              </a:rPr>
              <a:t>• Closed leading-edge skin or D-box resists twist.</a:t>
            </a:r>
          </a:p>
        </p:txBody>
      </p:sp>
      <p:sp>
        <p:nvSpPr>
          <p:cNvPr id="26" name="Rounded Rectangle 25"/>
          <p:cNvSpPr/>
          <p:nvPr/>
        </p:nvSpPr>
        <p:spPr>
          <a:xfrm>
            <a:off x="347472" y="6419088"/>
            <a:ext cx="3474720" cy="13258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7472" y="6419088"/>
            <a:ext cx="50292" cy="1325880"/>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3776" y="653795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CRITICAL LOCATIONS</a:t>
            </a:r>
          </a:p>
        </p:txBody>
      </p:sp>
      <p:sp>
        <p:nvSpPr>
          <p:cNvPr id="29" name="TextBox 28"/>
          <p:cNvSpPr txBox="1"/>
          <p:nvPr/>
        </p:nvSpPr>
        <p:spPr>
          <a:xfrm>
            <a:off x="493776" y="6812279"/>
            <a:ext cx="3200400" cy="832103"/>
          </a:xfrm>
          <a:prstGeom prst="rect">
            <a:avLst/>
          </a:prstGeom>
          <a:noFill/>
        </p:spPr>
        <p:txBody>
          <a:bodyPr wrap="square" lIns="18288" rIns="9144" tIns="9144" bIns="9144">
            <a:spAutoFit/>
          </a:bodyPr>
          <a:lstStyle/>
          <a:p>
            <a:pPr>
              <a:lnSpc>
                <a:spcPct val="100000"/>
              </a:lnSpc>
              <a:spcAft>
                <a:spcPts val="250"/>
              </a:spcAft>
            </a:pPr>
            <a:r>
              <a:rPr sz="869">
                <a:solidFill>
                  <a:srgbClr val="20263A"/>
                </a:solidFill>
                <a:latin typeface="Arial"/>
              </a:rPr>
              <a:t>• Wing root and joiner.</a:t>
            </a:r>
          </a:p>
          <a:p>
            <a:pPr>
              <a:lnSpc>
                <a:spcPct val="100000"/>
              </a:lnSpc>
              <a:spcAft>
                <a:spcPts val="250"/>
              </a:spcAft>
            </a:pPr>
            <a:r>
              <a:rPr sz="869">
                <a:solidFill>
                  <a:srgbClr val="20263A"/>
                </a:solidFill>
                <a:latin typeface="Arial"/>
              </a:rPr>
              <a:t>• Landing-gear attachment.</a:t>
            </a:r>
          </a:p>
          <a:p>
            <a:pPr>
              <a:lnSpc>
                <a:spcPct val="100000"/>
              </a:lnSpc>
              <a:spcAft>
                <a:spcPts val="250"/>
              </a:spcAft>
            </a:pPr>
            <a:r>
              <a:rPr sz="869">
                <a:solidFill>
                  <a:srgbClr val="20263A"/>
                </a:solidFill>
                <a:latin typeface="Arial"/>
              </a:rPr>
              <a:t>• Servo and control-surface cutouts.</a:t>
            </a:r>
          </a:p>
        </p:txBody>
      </p:sp>
      <p:sp>
        <p:nvSpPr>
          <p:cNvPr id="30" name="Rounded Rectangle 29"/>
          <p:cNvSpPr/>
          <p:nvPr/>
        </p:nvSpPr>
        <p:spPr>
          <a:xfrm>
            <a:off x="3950208" y="6419088"/>
            <a:ext cx="3474720" cy="13258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950208" y="6419088"/>
            <a:ext cx="50292" cy="1325880"/>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96512" y="653795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DESIGN HABIT</a:t>
            </a:r>
          </a:p>
        </p:txBody>
      </p:sp>
      <p:sp>
        <p:nvSpPr>
          <p:cNvPr id="33" name="TextBox 32"/>
          <p:cNvSpPr txBox="1"/>
          <p:nvPr/>
        </p:nvSpPr>
        <p:spPr>
          <a:xfrm>
            <a:off x="4096512" y="6812279"/>
            <a:ext cx="3200400" cy="832103"/>
          </a:xfrm>
          <a:prstGeom prst="rect">
            <a:avLst/>
          </a:prstGeom>
          <a:noFill/>
        </p:spPr>
        <p:txBody>
          <a:bodyPr wrap="square" lIns="18288" rIns="9144" tIns="9144" bIns="9144">
            <a:spAutoFit/>
          </a:bodyPr>
          <a:lstStyle/>
          <a:p>
            <a:pPr>
              <a:lnSpc>
                <a:spcPct val="100000"/>
              </a:lnSpc>
              <a:spcAft>
                <a:spcPts val="250"/>
              </a:spcAft>
            </a:pPr>
            <a:r>
              <a:rPr sz="869">
                <a:solidFill>
                  <a:srgbClr val="20263A"/>
                </a:solidFill>
                <a:latin typeface="Arial"/>
              </a:rPr>
              <a:t>• Avoid abrupt stiffness changes.</a:t>
            </a:r>
          </a:p>
          <a:p>
            <a:pPr>
              <a:lnSpc>
                <a:spcPct val="100000"/>
              </a:lnSpc>
              <a:spcAft>
                <a:spcPts val="250"/>
              </a:spcAft>
            </a:pPr>
            <a:r>
              <a:rPr sz="869">
                <a:solidFill>
                  <a:srgbClr val="20263A"/>
                </a:solidFill>
                <a:latin typeface="Arial"/>
              </a:rPr>
              <a:t>• Reinforce load entry points.</a:t>
            </a:r>
          </a:p>
          <a:p>
            <a:pPr>
              <a:lnSpc>
                <a:spcPct val="100000"/>
              </a:lnSpc>
              <a:spcAft>
                <a:spcPts val="250"/>
              </a:spcAft>
            </a:pPr>
            <a:r>
              <a:rPr sz="869">
                <a:solidFill>
                  <a:srgbClr val="20263A"/>
                </a:solidFill>
                <a:latin typeface="Arial"/>
              </a:rPr>
              <a:t>• Test a spare joint to failure.</a:t>
            </a:r>
          </a:p>
        </p:txBody>
      </p:sp>
      <p:sp>
        <p:nvSpPr>
          <p:cNvPr id="34" name="TextBox 33"/>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The root-moment expression is a first-order check, not a complete structural analysis or gust-load model.</a:t>
            </a:r>
          </a:p>
        </p:txBody>
      </p:sp>
      <p:sp>
        <p:nvSpPr>
          <p:cNvPr id="35" name="TextBox 34"/>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48</a:t>
            </a:r>
          </a:p>
        </p:txBody>
      </p:sp>
      <p:sp>
        <p:nvSpPr>
          <p:cNvPr id="9" name="Freeform 8"/>
          <p:cNvSpPr/>
          <p:nvPr/>
        </p:nvSpPr>
        <p:spPr>
          <a:xfrm>
            <a:off x="1188720" y="2023110"/>
            <a:ext cx="1618488" cy="900958"/>
          </a:xfrm>
          <a:custGeom>
            <a:avLst/>
            <a:gdLst/>
            <a:ahLst/>
            <a:cxnLst/>
            <a:rect l="l" t="t" r="r" b="b"/>
            <a:pathLst>
              <a:path w="1618488" h="900958">
                <a:moveTo>
                  <a:pt x="0" y="674370"/>
                </a:moveTo>
                <a:lnTo>
                  <a:pt x="80924" y="442386"/>
                </a:lnTo>
                <a:lnTo>
                  <a:pt x="215798" y="339882"/>
                </a:lnTo>
                <a:lnTo>
                  <a:pt x="431596" y="231983"/>
                </a:lnTo>
                <a:lnTo>
                  <a:pt x="809244" y="118689"/>
                </a:lnTo>
                <a:lnTo>
                  <a:pt x="1348740" y="21579"/>
                </a:lnTo>
                <a:lnTo>
                  <a:pt x="1618488" y="0"/>
                </a:lnTo>
                <a:lnTo>
                  <a:pt x="1618488" y="0"/>
                </a:lnTo>
                <a:lnTo>
                  <a:pt x="1618488" y="868588"/>
                </a:lnTo>
                <a:lnTo>
                  <a:pt x="1618488" y="868588"/>
                </a:lnTo>
                <a:lnTo>
                  <a:pt x="1348740" y="879378"/>
                </a:lnTo>
                <a:lnTo>
                  <a:pt x="809244" y="900958"/>
                </a:lnTo>
                <a:lnTo>
                  <a:pt x="431596" y="895563"/>
                </a:lnTo>
                <a:lnTo>
                  <a:pt x="215798" y="868588"/>
                </a:lnTo>
                <a:lnTo>
                  <a:pt x="80924" y="825428"/>
                </a:lnTo>
                <a:lnTo>
                  <a:pt x="0" y="674370"/>
                </a:lnTo>
                <a:close/>
              </a:path>
            </a:pathLst>
          </a:custGeom>
          <a:solidFill>
            <a:srgbClr val="DDE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188720" y="2023110"/>
            <a:ext cx="5394960" cy="900958"/>
          </a:xfrm>
          <a:custGeom>
            <a:avLst/>
            <a:gdLst/>
            <a:ahLst/>
            <a:cxnLst/>
            <a:rect l="l" t="t" r="r" b="b"/>
            <a:pathLst>
              <a:path w="5394960" h="900958">
                <a:moveTo>
                  <a:pt x="0" y="674370"/>
                </a:moveTo>
                <a:lnTo>
                  <a:pt x="80924" y="442386"/>
                </a:lnTo>
                <a:lnTo>
                  <a:pt x="215798" y="339882"/>
                </a:lnTo>
                <a:lnTo>
                  <a:pt x="431596" y="231983"/>
                </a:lnTo>
                <a:lnTo>
                  <a:pt x="809244" y="118689"/>
                </a:lnTo>
                <a:lnTo>
                  <a:pt x="1348740" y="21579"/>
                </a:lnTo>
                <a:lnTo>
                  <a:pt x="1618488" y="0"/>
                </a:lnTo>
                <a:lnTo>
                  <a:pt x="2157984" y="21579"/>
                </a:lnTo>
                <a:lnTo>
                  <a:pt x="2697480" y="80924"/>
                </a:lnTo>
                <a:lnTo>
                  <a:pt x="3236976" y="172638"/>
                </a:lnTo>
                <a:lnTo>
                  <a:pt x="3776472" y="285932"/>
                </a:lnTo>
                <a:lnTo>
                  <a:pt x="4315968" y="410016"/>
                </a:lnTo>
                <a:lnTo>
                  <a:pt x="4855464" y="534101"/>
                </a:lnTo>
                <a:lnTo>
                  <a:pt x="5394960" y="663580"/>
                </a:lnTo>
                <a:lnTo>
                  <a:pt x="5394960" y="674370"/>
                </a:lnTo>
                <a:lnTo>
                  <a:pt x="4855464" y="690554"/>
                </a:lnTo>
                <a:lnTo>
                  <a:pt x="4315968" y="712134"/>
                </a:lnTo>
                <a:lnTo>
                  <a:pt x="3776472" y="739109"/>
                </a:lnTo>
                <a:lnTo>
                  <a:pt x="3236976" y="771479"/>
                </a:lnTo>
                <a:lnTo>
                  <a:pt x="2697480" y="803849"/>
                </a:lnTo>
                <a:lnTo>
                  <a:pt x="2157984" y="836218"/>
                </a:lnTo>
                <a:lnTo>
                  <a:pt x="1618488" y="868588"/>
                </a:lnTo>
                <a:lnTo>
                  <a:pt x="1348740" y="879378"/>
                </a:lnTo>
                <a:lnTo>
                  <a:pt x="809244" y="900958"/>
                </a:lnTo>
                <a:lnTo>
                  <a:pt x="431596" y="895563"/>
                </a:lnTo>
                <a:lnTo>
                  <a:pt x="215798" y="868588"/>
                </a:lnTo>
                <a:lnTo>
                  <a:pt x="80924" y="825428"/>
                </a:lnTo>
                <a:close/>
              </a:path>
            </a:pathLst>
          </a:custGeom>
          <a:noFill/>
          <a:ln w="2222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606040" y="2041398"/>
            <a:ext cx="402336" cy="118872"/>
          </a:xfrm>
          <a:prstGeom prst="rect">
            <a:avLst/>
          </a:prstGeom>
          <a:solidFill>
            <a:srgbClr val="E07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606040" y="2754538"/>
            <a:ext cx="402336" cy="118872"/>
          </a:xfrm>
          <a:prstGeom prst="rect">
            <a:avLst/>
          </a:prstGeom>
          <a:solidFill>
            <a:srgbClr val="E07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743200" y="2160270"/>
            <a:ext cx="128016" cy="594268"/>
          </a:xfrm>
          <a:prstGeom prst="rect">
            <a:avLst/>
          </a:prstGeom>
          <a:solidFill>
            <a:srgbClr val="FBF2D7"/>
          </a:solidFill>
          <a:ln w="952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054449" y="2368296"/>
            <a:ext cx="310896" cy="310896"/>
          </a:xfrm>
          <a:prstGeom prst="ellipse">
            <a:avLst/>
          </a:prstGeom>
          <a:solidFill>
            <a:srgbClr val="FFFFFF"/>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1335024"/>
            <a:ext cx="4114800" cy="164592"/>
          </a:xfrm>
          <a:prstGeom prst="rect">
            <a:avLst/>
          </a:prstGeom>
          <a:noFill/>
        </p:spPr>
        <p:txBody>
          <a:bodyPr wrap="square" lIns="0" rIns="0" tIns="0" bIns="0">
            <a:spAutoFit/>
          </a:bodyPr>
          <a:lstStyle/>
          <a:p>
            <a:pPr algn="l"/>
            <a:r>
              <a:rPr sz="800" b="1" i="0">
                <a:solidFill>
                  <a:srgbClr val="5F687D"/>
                </a:solidFill>
                <a:latin typeface="Arial"/>
              </a:rPr>
              <a:t>CROSS-SECTION THROUGH THE WING (one rib bay)</a:t>
            </a:r>
          </a:p>
        </p:txBody>
      </p:sp>
      <p:sp>
        <p:nvSpPr>
          <p:cNvPr id="41" name="TextBox 40"/>
          <p:cNvSpPr txBox="1"/>
          <p:nvPr/>
        </p:nvSpPr>
        <p:spPr>
          <a:xfrm>
            <a:off x="1783080" y="1572768"/>
            <a:ext cx="1783080" cy="310896"/>
          </a:xfrm>
          <a:prstGeom prst="rect">
            <a:avLst/>
          </a:prstGeom>
          <a:noFill/>
        </p:spPr>
        <p:txBody>
          <a:bodyPr wrap="square" lIns="0" rIns="0" tIns="0" bIns="0">
            <a:spAutoFit/>
          </a:bodyPr>
          <a:lstStyle/>
          <a:p>
            <a:pPr algn="l"/>
            <a:r>
              <a:rPr sz="750" b="1" i="0">
                <a:solidFill>
                  <a:srgbClr val="E0702B"/>
                </a:solidFill>
                <a:latin typeface="Arial"/>
              </a:rPr>
              <a:t>spar caps carry bending</a:t>
            </a:r>
          </a:p>
        </p:txBody>
      </p:sp>
      <p:cxnSp>
        <p:nvCxnSpPr>
          <p:cNvPr id="42" name="Connector 41"/>
          <p:cNvCxnSpPr/>
          <p:nvPr/>
        </p:nvCxnSpPr>
        <p:spPr>
          <a:xfrm>
            <a:off x="2651760" y="1773936"/>
            <a:ext cx="109728" cy="304038"/>
          </a:xfrm>
          <a:prstGeom prst="line">
            <a:avLst/>
          </a:prstGeom>
          <a:ln w="9525">
            <a:solidFill>
              <a:srgbClr val="E0702B"/>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846320" y="1645920"/>
            <a:ext cx="1691640" cy="164592"/>
          </a:xfrm>
          <a:prstGeom prst="rect">
            <a:avLst/>
          </a:prstGeom>
          <a:noFill/>
        </p:spPr>
        <p:txBody>
          <a:bodyPr wrap="square" lIns="0" rIns="0" tIns="0" bIns="0">
            <a:spAutoFit/>
          </a:bodyPr>
          <a:lstStyle/>
          <a:p>
            <a:pPr algn="l"/>
            <a:r>
              <a:rPr sz="750" b="1" i="0">
                <a:solidFill>
                  <a:srgbClr val="20263A"/>
                </a:solidFill>
                <a:latin typeface="Arial"/>
              </a:rPr>
              <a:t>skin sets the shape</a:t>
            </a:r>
          </a:p>
        </p:txBody>
      </p:sp>
      <p:cxnSp>
        <p:nvCxnSpPr>
          <p:cNvPr id="44" name="Connector 43"/>
          <p:cNvCxnSpPr/>
          <p:nvPr/>
        </p:nvCxnSpPr>
        <p:spPr>
          <a:xfrm flipH="1">
            <a:off x="4754880" y="1828800"/>
            <a:ext cx="320040" cy="453213"/>
          </a:xfrm>
          <a:prstGeom prst="line">
            <a:avLst/>
          </a:prstGeom>
          <a:ln w="9525">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041648" y="3246120"/>
            <a:ext cx="1828800" cy="164592"/>
          </a:xfrm>
          <a:prstGeom prst="rect">
            <a:avLst/>
          </a:prstGeom>
          <a:noFill/>
        </p:spPr>
        <p:txBody>
          <a:bodyPr wrap="square" lIns="0" rIns="0" tIns="0" bIns="0">
            <a:spAutoFit/>
          </a:bodyPr>
          <a:lstStyle/>
          <a:p>
            <a:pPr algn="l"/>
            <a:r>
              <a:rPr sz="750" b="1" i="0">
                <a:solidFill>
                  <a:srgbClr val="E0702B"/>
                </a:solidFill>
                <a:latin typeface="Arial"/>
              </a:rPr>
              <a:t>shear web joins the caps</a:t>
            </a:r>
          </a:p>
        </p:txBody>
      </p:sp>
      <p:cxnSp>
        <p:nvCxnSpPr>
          <p:cNvPr id="46" name="Connector 45"/>
          <p:cNvCxnSpPr/>
          <p:nvPr/>
        </p:nvCxnSpPr>
        <p:spPr>
          <a:xfrm flipH="1" flipV="1">
            <a:off x="2898648" y="2548844"/>
            <a:ext cx="1261872" cy="678988"/>
          </a:xfrm>
          <a:prstGeom prst="line">
            <a:avLst/>
          </a:prstGeom>
          <a:ln w="9525">
            <a:solidFill>
              <a:srgbClr val="E0702B"/>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77240" y="3310128"/>
            <a:ext cx="1737360" cy="164592"/>
          </a:xfrm>
          <a:prstGeom prst="rect">
            <a:avLst/>
          </a:prstGeom>
          <a:noFill/>
        </p:spPr>
        <p:txBody>
          <a:bodyPr wrap="square" lIns="0" rIns="0" tIns="0" bIns="0">
            <a:spAutoFit/>
          </a:bodyPr>
          <a:lstStyle/>
          <a:p>
            <a:pPr algn="l"/>
            <a:r>
              <a:rPr sz="750" b="1" i="0">
                <a:solidFill>
                  <a:srgbClr val="246BCE"/>
                </a:solidFill>
                <a:latin typeface="Arial"/>
              </a:rPr>
              <a:t>D-box skin resists twist</a:t>
            </a:r>
          </a:p>
        </p:txBody>
      </p:sp>
      <p:cxnSp>
        <p:nvCxnSpPr>
          <p:cNvPr id="48" name="Connector 47"/>
          <p:cNvCxnSpPr/>
          <p:nvPr/>
        </p:nvCxnSpPr>
        <p:spPr>
          <a:xfrm flipV="1">
            <a:off x="1600200" y="2569464"/>
            <a:ext cx="365760" cy="722376"/>
          </a:xfrm>
          <a:prstGeom prst="line">
            <a:avLst/>
          </a:prstGeom>
          <a:ln w="9525">
            <a:solidFill>
              <a:srgbClr val="246BC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806440" y="3017520"/>
            <a:ext cx="1600200" cy="274320"/>
          </a:xfrm>
          <a:prstGeom prst="rect">
            <a:avLst/>
          </a:prstGeom>
          <a:noFill/>
        </p:spPr>
        <p:txBody>
          <a:bodyPr wrap="square" lIns="0" rIns="0" tIns="0" bIns="0">
            <a:spAutoFit/>
          </a:bodyPr>
          <a:lstStyle/>
          <a:p>
            <a:pPr algn="l"/>
            <a:r>
              <a:rPr sz="750" b="1" i="0">
                <a:solidFill>
                  <a:srgbClr val="2F8F5B"/>
                </a:solidFill>
                <a:latin typeface="Arial"/>
              </a:rPr>
              <a:t>rib holds it all in the airfoil shape</a:t>
            </a:r>
          </a:p>
        </p:txBody>
      </p:sp>
      <p:cxnSp>
        <p:nvCxnSpPr>
          <p:cNvPr id="50" name="Connector 49"/>
          <p:cNvCxnSpPr/>
          <p:nvPr/>
        </p:nvCxnSpPr>
        <p:spPr>
          <a:xfrm flipH="1" flipV="1">
            <a:off x="5532120" y="2587752"/>
            <a:ext cx="411480" cy="411480"/>
          </a:xfrm>
          <a:prstGeom prst="line">
            <a:avLst/>
          </a:prstGeom>
          <a:ln w="9525">
            <a:solidFill>
              <a:srgbClr val="2F8F5B"/>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48640" y="3749039"/>
            <a:ext cx="6583680" cy="146304"/>
          </a:xfrm>
          <a:prstGeom prst="rect">
            <a:avLst/>
          </a:prstGeom>
          <a:noFill/>
        </p:spPr>
        <p:txBody>
          <a:bodyPr wrap="square" lIns="0" rIns="0" tIns="0" bIns="0">
            <a:spAutoFit/>
          </a:bodyPr>
          <a:lstStyle/>
          <a:p>
            <a:pPr algn="l"/>
            <a:r>
              <a:rPr sz="700" b="0" i="1">
                <a:solidFill>
                  <a:srgbClr val="5F687D"/>
                </a:solidFill>
                <a:latin typeface="Arial"/>
              </a:rPr>
              <a:t>lightening hole: keeps the rib light where stresses are low</a:t>
            </a:r>
          </a:p>
        </p:txBody>
      </p:sp>
      <p:sp>
        <p:nvSpPr>
          <p:cNvPr id="52" name="Rounded Rectangle 51"/>
          <p:cNvSpPr/>
          <p:nvPr/>
        </p:nvSpPr>
        <p:spPr>
          <a:xfrm>
            <a:off x="347472" y="7882127"/>
            <a:ext cx="7077456" cy="777240"/>
          </a:xfrm>
          <a:prstGeom prst="roundRect">
            <a:avLst>
              <a:gd name="adj" fmla="val 10000"/>
            </a:avLst>
          </a:prstGeom>
          <a:solidFill>
            <a:srgbClr val="FDF6E3"/>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66344" y="8124444"/>
            <a:ext cx="292608" cy="292608"/>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6344" y="8174736"/>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55" name="TextBox 54"/>
          <p:cNvSpPr txBox="1"/>
          <p:nvPr/>
        </p:nvSpPr>
        <p:spPr>
          <a:xfrm>
            <a:off x="859536" y="7964423"/>
            <a:ext cx="1005840" cy="137160"/>
          </a:xfrm>
          <a:prstGeom prst="rect">
            <a:avLst/>
          </a:prstGeom>
          <a:noFill/>
        </p:spPr>
        <p:txBody>
          <a:bodyPr wrap="square" lIns="0" rIns="0" tIns="0" bIns="0">
            <a:spAutoFit/>
          </a:bodyPr>
          <a:lstStyle/>
          <a:p>
            <a:pPr algn="l"/>
            <a:r>
              <a:rPr sz="800" b="1" i="0">
                <a:solidFill>
                  <a:srgbClr val="20263A"/>
                </a:solidFill>
                <a:latin typeface="Arial"/>
              </a:rPr>
              <a:t>YOUR TURN</a:t>
            </a:r>
          </a:p>
        </p:txBody>
      </p:sp>
      <p:sp>
        <p:nvSpPr>
          <p:cNvPr id="56" name="TextBox 55"/>
          <p:cNvSpPr txBox="1"/>
          <p:nvPr/>
        </p:nvSpPr>
        <p:spPr>
          <a:xfrm>
            <a:off x="859536" y="8119871"/>
            <a:ext cx="6391656" cy="466344"/>
          </a:xfrm>
          <a:prstGeom prst="rect">
            <a:avLst/>
          </a:prstGeom>
          <a:noFill/>
        </p:spPr>
        <p:txBody>
          <a:bodyPr wrap="square" lIns="0" rIns="0" tIns="0" bIns="0">
            <a:spAutoFit/>
          </a:bodyPr>
          <a:lstStyle/>
          <a:p>
            <a:pPr algn="l"/>
            <a:r>
              <a:rPr sz="850" b="0" i="0">
                <a:solidFill>
                  <a:srgbClr val="20263A"/>
                </a:solidFill>
                <a:latin typeface="Arial"/>
              </a:rPr>
              <a:t>Your 1.5 kg trainer pulls a 60° banked turn (n = 2). Estimate the root moment: Mᵣₒₒₜ ≈ 2 × 14.7 N × 1.47 m / 8 ≈ 5.4 N·m — like holding a 1 kg water bottle half a metre from your wrist. Would a bare 6 mm balsa spar take it?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F8F5B"/>
                </a:solidFill>
                <a:latin typeface="Arial"/>
              </a:rPr>
              <a:t>BUILD THE STRUCTURE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A repeatable wing-building sequence</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Accuracy is easiest when the wing is built over a flat datum and checked before every irreversible step.</a:t>
            </a:r>
          </a:p>
        </p:txBody>
      </p:sp>
      <p:sp>
        <p:nvSpPr>
          <p:cNvPr id="8" name="Oval 7"/>
          <p:cNvSpPr/>
          <p:nvPr/>
        </p:nvSpPr>
        <p:spPr>
          <a:xfrm>
            <a:off x="438912" y="1280160"/>
            <a:ext cx="457200" cy="457200"/>
          </a:xfrm>
          <a:prstGeom prst="ellipse">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39903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1</a:t>
            </a:r>
          </a:p>
        </p:txBody>
      </p:sp>
      <p:sp>
        <p:nvSpPr>
          <p:cNvPr id="10" name="Rounded Rectangle 9"/>
          <p:cNvSpPr/>
          <p:nvPr/>
        </p:nvSpPr>
        <p:spPr>
          <a:xfrm>
            <a:off x="1042415" y="118872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1316736"/>
            <a:ext cx="1234440" cy="182880"/>
          </a:xfrm>
          <a:prstGeom prst="rect">
            <a:avLst/>
          </a:prstGeom>
          <a:noFill/>
        </p:spPr>
        <p:txBody>
          <a:bodyPr wrap="square" lIns="0" rIns="0" tIns="0" bIns="0" anchor="t">
            <a:spAutoFit/>
          </a:bodyPr>
          <a:lstStyle/>
          <a:p>
            <a:pPr algn="l">
              <a:lnSpc>
                <a:spcPct val="100000"/>
              </a:lnSpc>
            </a:pPr>
            <a:r>
              <a:rPr sz="930" b="1" i="0">
                <a:solidFill>
                  <a:srgbClr val="246BCE"/>
                </a:solidFill>
                <a:latin typeface="Arial"/>
              </a:rPr>
              <a:t>PREPARE</a:t>
            </a:r>
          </a:p>
        </p:txBody>
      </p:sp>
      <p:sp>
        <p:nvSpPr>
          <p:cNvPr id="12" name="TextBox 11"/>
          <p:cNvSpPr txBox="1"/>
          <p:nvPr/>
        </p:nvSpPr>
        <p:spPr>
          <a:xfrm>
            <a:off x="2395728" y="129844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Full-size plan, protected flat board, matched ribs, straight spars, labeled left/right parts.</a:t>
            </a:r>
          </a:p>
        </p:txBody>
      </p:sp>
      <p:sp>
        <p:nvSpPr>
          <p:cNvPr id="13" name="Oval 12"/>
          <p:cNvSpPr/>
          <p:nvPr/>
        </p:nvSpPr>
        <p:spPr>
          <a:xfrm>
            <a:off x="438912" y="2286000"/>
            <a:ext cx="457200" cy="457200"/>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240487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2</a:t>
            </a:r>
          </a:p>
        </p:txBody>
      </p:sp>
      <p:sp>
        <p:nvSpPr>
          <p:cNvPr id="15" name="Rounded Rectangle 14"/>
          <p:cNvSpPr/>
          <p:nvPr/>
        </p:nvSpPr>
        <p:spPr>
          <a:xfrm>
            <a:off x="1042415" y="219456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07008" y="2322576"/>
            <a:ext cx="1234440" cy="182880"/>
          </a:xfrm>
          <a:prstGeom prst="rect">
            <a:avLst/>
          </a:prstGeom>
          <a:noFill/>
        </p:spPr>
        <p:txBody>
          <a:bodyPr wrap="square" lIns="0" rIns="0" tIns="0" bIns="0" anchor="t">
            <a:spAutoFit/>
          </a:bodyPr>
          <a:lstStyle/>
          <a:p>
            <a:pPr algn="l">
              <a:lnSpc>
                <a:spcPct val="100000"/>
              </a:lnSpc>
            </a:pPr>
            <a:r>
              <a:rPr sz="930" b="1" i="0">
                <a:solidFill>
                  <a:srgbClr val="138C8C"/>
                </a:solidFill>
                <a:latin typeface="Arial"/>
              </a:rPr>
              <a:t>PIN THE DATUM</a:t>
            </a:r>
          </a:p>
        </p:txBody>
      </p:sp>
      <p:sp>
        <p:nvSpPr>
          <p:cNvPr id="17" name="TextBox 16"/>
          <p:cNvSpPr txBox="1"/>
          <p:nvPr/>
        </p:nvSpPr>
        <p:spPr>
          <a:xfrm>
            <a:off x="2395728" y="230428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Lower spar or lower skin fixed straight; root and tip blocks establish incidence and washout.</a:t>
            </a:r>
          </a:p>
        </p:txBody>
      </p:sp>
      <p:sp>
        <p:nvSpPr>
          <p:cNvPr id="18" name="Oval 17"/>
          <p:cNvSpPr/>
          <p:nvPr/>
        </p:nvSpPr>
        <p:spPr>
          <a:xfrm>
            <a:off x="438912" y="3291840"/>
            <a:ext cx="457200" cy="457200"/>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341071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3</a:t>
            </a:r>
          </a:p>
        </p:txBody>
      </p:sp>
      <p:sp>
        <p:nvSpPr>
          <p:cNvPr id="20" name="Rounded Rectangle 19"/>
          <p:cNvSpPr/>
          <p:nvPr/>
        </p:nvSpPr>
        <p:spPr>
          <a:xfrm>
            <a:off x="1042415" y="320040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328416"/>
            <a:ext cx="1234440" cy="182880"/>
          </a:xfrm>
          <a:prstGeom prst="rect">
            <a:avLst/>
          </a:prstGeom>
          <a:noFill/>
        </p:spPr>
        <p:txBody>
          <a:bodyPr wrap="square" lIns="0" rIns="0" tIns="0" bIns="0" anchor="t">
            <a:spAutoFit/>
          </a:bodyPr>
          <a:lstStyle/>
          <a:p>
            <a:pPr algn="l">
              <a:lnSpc>
                <a:spcPct val="100000"/>
              </a:lnSpc>
            </a:pPr>
            <a:r>
              <a:rPr sz="930" b="1" i="0">
                <a:solidFill>
                  <a:srgbClr val="E0702B"/>
                </a:solidFill>
                <a:latin typeface="Arial"/>
              </a:rPr>
              <a:t>BUILD THE SKELETON</a:t>
            </a:r>
          </a:p>
        </p:txBody>
      </p:sp>
      <p:sp>
        <p:nvSpPr>
          <p:cNvPr id="22" name="TextBox 21"/>
          <p:cNvSpPr txBox="1"/>
          <p:nvPr/>
        </p:nvSpPr>
        <p:spPr>
          <a:xfrm>
            <a:off x="2395728" y="331012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Ribs square to the board; add spars, web, leading edge, trailing edge, servo mounts.</a:t>
            </a:r>
          </a:p>
        </p:txBody>
      </p:sp>
      <p:sp>
        <p:nvSpPr>
          <p:cNvPr id="23" name="Oval 22"/>
          <p:cNvSpPr/>
          <p:nvPr/>
        </p:nvSpPr>
        <p:spPr>
          <a:xfrm>
            <a:off x="438912" y="4297680"/>
            <a:ext cx="457200" cy="457200"/>
          </a:xfrm>
          <a:prstGeom prst="ellipse">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 y="441655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4</a:t>
            </a:r>
          </a:p>
        </p:txBody>
      </p:sp>
      <p:sp>
        <p:nvSpPr>
          <p:cNvPr id="25" name="Rounded Rectangle 24"/>
          <p:cNvSpPr/>
          <p:nvPr/>
        </p:nvSpPr>
        <p:spPr>
          <a:xfrm>
            <a:off x="1042415" y="420624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07008" y="4334256"/>
            <a:ext cx="1234440" cy="182880"/>
          </a:xfrm>
          <a:prstGeom prst="rect">
            <a:avLst/>
          </a:prstGeom>
          <a:noFill/>
        </p:spPr>
        <p:txBody>
          <a:bodyPr wrap="square" lIns="0" rIns="0" tIns="0" bIns="0" anchor="t">
            <a:spAutoFit/>
          </a:bodyPr>
          <a:lstStyle/>
          <a:p>
            <a:pPr algn="l">
              <a:lnSpc>
                <a:spcPct val="100000"/>
              </a:lnSpc>
            </a:pPr>
            <a:r>
              <a:rPr sz="930" b="1" i="0">
                <a:solidFill>
                  <a:srgbClr val="A23DB6"/>
                </a:solidFill>
                <a:latin typeface="Arial"/>
              </a:rPr>
              <a:t>LOCK IN TORSION</a:t>
            </a:r>
          </a:p>
        </p:txBody>
      </p:sp>
      <p:sp>
        <p:nvSpPr>
          <p:cNvPr id="27" name="TextBox 26"/>
          <p:cNvSpPr txBox="1"/>
          <p:nvPr/>
        </p:nvSpPr>
        <p:spPr>
          <a:xfrm>
            <a:off x="2395728" y="431596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Add D-box, top skin, or folded skin while the panel is still held in the jig.</a:t>
            </a:r>
          </a:p>
        </p:txBody>
      </p:sp>
      <p:sp>
        <p:nvSpPr>
          <p:cNvPr id="28" name="Oval 27"/>
          <p:cNvSpPr/>
          <p:nvPr/>
        </p:nvSpPr>
        <p:spPr>
          <a:xfrm>
            <a:off x="438912" y="5303520"/>
            <a:ext cx="457200" cy="457200"/>
          </a:xfrm>
          <a:prstGeom prst="ellipse">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542239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5</a:t>
            </a:r>
          </a:p>
        </p:txBody>
      </p:sp>
      <p:sp>
        <p:nvSpPr>
          <p:cNvPr id="30" name="Rounded Rectangle 29"/>
          <p:cNvSpPr/>
          <p:nvPr/>
        </p:nvSpPr>
        <p:spPr>
          <a:xfrm>
            <a:off x="1042415" y="521208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07008" y="5340096"/>
            <a:ext cx="1234440" cy="182880"/>
          </a:xfrm>
          <a:prstGeom prst="rect">
            <a:avLst/>
          </a:prstGeom>
          <a:noFill/>
        </p:spPr>
        <p:txBody>
          <a:bodyPr wrap="square" lIns="0" rIns="0" tIns="0" bIns="0" anchor="t">
            <a:spAutoFit/>
          </a:bodyPr>
          <a:lstStyle/>
          <a:p>
            <a:pPr algn="l">
              <a:lnSpc>
                <a:spcPct val="100000"/>
              </a:lnSpc>
            </a:pPr>
            <a:r>
              <a:rPr sz="930" b="1" i="0">
                <a:solidFill>
                  <a:srgbClr val="2F8F5B"/>
                </a:solidFill>
                <a:latin typeface="Arial"/>
              </a:rPr>
              <a:t>JOIN PANELS</a:t>
            </a:r>
          </a:p>
        </p:txBody>
      </p:sp>
      <p:sp>
        <p:nvSpPr>
          <p:cNvPr id="32" name="TextBox 31"/>
          <p:cNvSpPr txBox="1"/>
          <p:nvPr/>
        </p:nvSpPr>
        <p:spPr>
          <a:xfrm>
            <a:off x="2395728" y="532180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Set dihedral with a gauge; reinforce joiner and root; verify both incidences match.</a:t>
            </a:r>
          </a:p>
        </p:txBody>
      </p:sp>
      <p:sp>
        <p:nvSpPr>
          <p:cNvPr id="33" name="Oval 32"/>
          <p:cNvSpPr/>
          <p:nvPr/>
        </p:nvSpPr>
        <p:spPr>
          <a:xfrm>
            <a:off x="438912" y="6309360"/>
            <a:ext cx="457200" cy="457200"/>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42823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6</a:t>
            </a:r>
          </a:p>
        </p:txBody>
      </p:sp>
      <p:sp>
        <p:nvSpPr>
          <p:cNvPr id="35" name="Rounded Rectangle 34"/>
          <p:cNvSpPr/>
          <p:nvPr/>
        </p:nvSpPr>
        <p:spPr>
          <a:xfrm>
            <a:off x="1042415" y="621792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07008" y="6345936"/>
            <a:ext cx="1234440" cy="182880"/>
          </a:xfrm>
          <a:prstGeom prst="rect">
            <a:avLst/>
          </a:prstGeom>
          <a:noFill/>
        </p:spPr>
        <p:txBody>
          <a:bodyPr wrap="square" lIns="0" rIns="0" tIns="0" bIns="0" anchor="t">
            <a:spAutoFit/>
          </a:bodyPr>
          <a:lstStyle/>
          <a:p>
            <a:pPr algn="l">
              <a:lnSpc>
                <a:spcPct val="100000"/>
              </a:lnSpc>
            </a:pPr>
            <a:r>
              <a:rPr sz="930" b="1" i="0">
                <a:solidFill>
                  <a:srgbClr val="C83E3E"/>
                </a:solidFill>
                <a:latin typeface="Arial"/>
              </a:rPr>
              <a:t>FIT CONTROLS</a:t>
            </a:r>
          </a:p>
        </p:txBody>
      </p:sp>
      <p:sp>
        <p:nvSpPr>
          <p:cNvPr id="37" name="TextBox 36"/>
          <p:cNvSpPr txBox="1"/>
          <p:nvPr/>
        </p:nvSpPr>
        <p:spPr>
          <a:xfrm>
            <a:off x="2395728" y="632764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Cut free surfaces, bevel, hinge, install horns, route leads, and check full travel.</a:t>
            </a:r>
          </a:p>
        </p:txBody>
      </p:sp>
      <p:sp>
        <p:nvSpPr>
          <p:cNvPr id="38" name="Oval 37"/>
          <p:cNvSpPr/>
          <p:nvPr/>
        </p:nvSpPr>
        <p:spPr>
          <a:xfrm>
            <a:off x="438912" y="7315200"/>
            <a:ext cx="457200" cy="457200"/>
          </a:xfrm>
          <a:prstGeom prst="ellipse">
            <a:avLst/>
          </a:prstGeom>
          <a:solidFill>
            <a:srgbClr val="E2B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8912" y="743407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7</a:t>
            </a:r>
          </a:p>
        </p:txBody>
      </p:sp>
      <p:sp>
        <p:nvSpPr>
          <p:cNvPr id="40" name="Rounded Rectangle 39"/>
          <p:cNvSpPr/>
          <p:nvPr/>
        </p:nvSpPr>
        <p:spPr>
          <a:xfrm>
            <a:off x="1042415" y="722376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07008" y="7351776"/>
            <a:ext cx="1234440" cy="182880"/>
          </a:xfrm>
          <a:prstGeom prst="rect">
            <a:avLst/>
          </a:prstGeom>
          <a:noFill/>
        </p:spPr>
        <p:txBody>
          <a:bodyPr wrap="square" lIns="0" rIns="0" tIns="0" bIns="0" anchor="t">
            <a:spAutoFit/>
          </a:bodyPr>
          <a:lstStyle/>
          <a:p>
            <a:pPr algn="l">
              <a:lnSpc>
                <a:spcPct val="100000"/>
              </a:lnSpc>
            </a:pPr>
            <a:r>
              <a:rPr sz="930" b="1" i="0">
                <a:solidFill>
                  <a:srgbClr val="E2B93B"/>
                </a:solidFill>
                <a:latin typeface="Arial"/>
              </a:rPr>
              <a:t>FINISH AND RECHECK</a:t>
            </a:r>
          </a:p>
        </p:txBody>
      </p:sp>
      <p:sp>
        <p:nvSpPr>
          <p:cNvPr id="42" name="TextBox 41"/>
          <p:cNvSpPr txBox="1"/>
          <p:nvPr/>
        </p:nvSpPr>
        <p:spPr>
          <a:xfrm>
            <a:off x="2395728" y="733348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Cover symmetrically; remove any warp with heat and measurement—not guesswork.</a:t>
            </a:r>
          </a:p>
        </p:txBody>
      </p:sp>
      <p:sp>
        <p:nvSpPr>
          <p:cNvPr id="43" name="Rounded Rectangle 42"/>
          <p:cNvSpPr/>
          <p:nvPr/>
        </p:nvSpPr>
        <p:spPr>
          <a:xfrm>
            <a:off x="347472" y="8247888"/>
            <a:ext cx="7077456" cy="475488"/>
          </a:xfrm>
          <a:prstGeom prst="roundRect">
            <a:avLst>
              <a:gd name="adj" fmla="val 8000"/>
            </a:avLst>
          </a:prstGeom>
          <a:solidFill>
            <a:srgbClr val="FDEEEE"/>
          </a:solidFill>
          <a:ln w="10160">
            <a:solidFill>
              <a:srgbClr val="C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57200" y="8339327"/>
            <a:ext cx="292608" cy="292608"/>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8394192"/>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46" name="TextBox 45"/>
          <p:cNvSpPr txBox="1"/>
          <p:nvPr/>
        </p:nvSpPr>
        <p:spPr>
          <a:xfrm>
            <a:off x="832104" y="8339327"/>
            <a:ext cx="6464808" cy="310896"/>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Do not “build the warp out later.” The covering stage can correct small errors, not a fundamentally crooked structure.</a:t>
            </a:r>
          </a:p>
        </p:txBody>
      </p:sp>
      <p:sp>
        <p:nvSpPr>
          <p:cNvPr id="47" name="TextBox 46"/>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38C8C"/>
                </a:solidFill>
                <a:latin typeface="Arial"/>
              </a:rPr>
              <a:t>BUILD THE STRUCTURE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Fuselage and tail: make the reference geometry real</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A straight fuselage and square tail reduce trim drag and prevent mysterious handling problems.</a:t>
            </a:r>
          </a:p>
        </p:txBody>
      </p:sp>
      <p:sp>
        <p:nvSpPr>
          <p:cNvPr id="8" name="Rounded Rectangle 7"/>
          <p:cNvSpPr/>
          <p:nvPr/>
        </p:nvSpPr>
        <p:spPr>
          <a:xfrm>
            <a:off x="347472" y="1188720"/>
            <a:ext cx="7077456" cy="265176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47472" y="4114800"/>
            <a:ext cx="3474720" cy="173736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7472" y="4114800"/>
            <a:ext cx="50292" cy="1737360"/>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3776" y="423367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FUSELAGE BOX</a:t>
            </a:r>
          </a:p>
        </p:txBody>
      </p:sp>
      <p:sp>
        <p:nvSpPr>
          <p:cNvPr id="26" name="TextBox 25"/>
          <p:cNvSpPr txBox="1"/>
          <p:nvPr/>
        </p:nvSpPr>
        <p:spPr>
          <a:xfrm>
            <a:off x="493776" y="4507992"/>
            <a:ext cx="3200400" cy="1243584"/>
          </a:xfrm>
          <a:prstGeom prst="rect">
            <a:avLst/>
          </a:prstGeom>
          <a:noFill/>
        </p:spPr>
        <p:txBody>
          <a:bodyPr wrap="square" lIns="18288" rIns="9144" tIns="9144" bIns="9144">
            <a:spAutoFit/>
          </a:bodyPr>
          <a:lstStyle/>
          <a:p>
            <a:pPr>
              <a:lnSpc>
                <a:spcPct val="100000"/>
              </a:lnSpc>
              <a:spcAft>
                <a:spcPts val="250"/>
              </a:spcAft>
            </a:pPr>
            <a:r>
              <a:rPr sz="890">
                <a:solidFill>
                  <a:srgbClr val="20263A"/>
                </a:solidFill>
                <a:latin typeface="Arial"/>
              </a:rPr>
              <a:t>• Use a straight centerline and square formers.</a:t>
            </a:r>
          </a:p>
          <a:p>
            <a:pPr>
              <a:lnSpc>
                <a:spcPct val="100000"/>
              </a:lnSpc>
              <a:spcAft>
                <a:spcPts val="250"/>
              </a:spcAft>
            </a:pPr>
            <a:r>
              <a:rPr sz="890">
                <a:solidFill>
                  <a:srgbClr val="20263A"/>
                </a:solidFill>
                <a:latin typeface="Arial"/>
              </a:rPr>
              <a:t>• Add doublers where wing, gear, battery, and motor loads enter.</a:t>
            </a:r>
          </a:p>
          <a:p>
            <a:pPr>
              <a:lnSpc>
                <a:spcPct val="100000"/>
              </a:lnSpc>
              <a:spcAft>
                <a:spcPts val="250"/>
              </a:spcAft>
            </a:pPr>
            <a:r>
              <a:rPr sz="890">
                <a:solidFill>
                  <a:srgbClr val="20263A"/>
                </a:solidFill>
                <a:latin typeface="Arial"/>
              </a:rPr>
              <a:t>• Provide cooling inlet and a larger exit path.</a:t>
            </a:r>
          </a:p>
        </p:txBody>
      </p:sp>
      <p:sp>
        <p:nvSpPr>
          <p:cNvPr id="27" name="Rounded Rectangle 26"/>
          <p:cNvSpPr/>
          <p:nvPr/>
        </p:nvSpPr>
        <p:spPr>
          <a:xfrm>
            <a:off x="3950208" y="4114800"/>
            <a:ext cx="3474720" cy="173736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50208" y="4114800"/>
            <a:ext cx="50292" cy="1737360"/>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96512" y="423367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TAIL MOUNTING</a:t>
            </a:r>
          </a:p>
        </p:txBody>
      </p:sp>
      <p:sp>
        <p:nvSpPr>
          <p:cNvPr id="30" name="TextBox 29"/>
          <p:cNvSpPr txBox="1"/>
          <p:nvPr/>
        </p:nvSpPr>
        <p:spPr>
          <a:xfrm>
            <a:off x="4096512" y="4507992"/>
            <a:ext cx="3200400" cy="1243584"/>
          </a:xfrm>
          <a:prstGeom prst="rect">
            <a:avLst/>
          </a:prstGeom>
          <a:noFill/>
        </p:spPr>
        <p:txBody>
          <a:bodyPr wrap="square" lIns="18288" rIns="9144" tIns="9144" bIns="9144">
            <a:spAutoFit/>
          </a:bodyPr>
          <a:lstStyle/>
          <a:p>
            <a:pPr>
              <a:lnSpc>
                <a:spcPct val="100000"/>
              </a:lnSpc>
              <a:spcAft>
                <a:spcPts val="250"/>
              </a:spcAft>
            </a:pPr>
            <a:r>
              <a:rPr sz="890">
                <a:solidFill>
                  <a:srgbClr val="20263A"/>
                </a:solidFill>
                <a:latin typeface="Arial"/>
              </a:rPr>
              <a:t>• Horizontal tail square to centerline and at intended incidence.</a:t>
            </a:r>
          </a:p>
          <a:p>
            <a:pPr>
              <a:lnSpc>
                <a:spcPct val="100000"/>
              </a:lnSpc>
              <a:spcAft>
                <a:spcPts val="250"/>
              </a:spcAft>
            </a:pPr>
            <a:r>
              <a:rPr sz="890">
                <a:solidFill>
                  <a:srgbClr val="20263A"/>
                </a:solidFill>
                <a:latin typeface="Arial"/>
              </a:rPr>
              <a:t>• Fin vertical when viewed from front and rear.</a:t>
            </a:r>
          </a:p>
          <a:p>
            <a:pPr>
              <a:lnSpc>
                <a:spcPct val="100000"/>
              </a:lnSpc>
              <a:spcAft>
                <a:spcPts val="250"/>
              </a:spcAft>
            </a:pPr>
            <a:r>
              <a:rPr sz="890">
                <a:solidFill>
                  <a:srgbClr val="20263A"/>
                </a:solidFill>
                <a:latin typeface="Arial"/>
              </a:rPr>
              <a:t>• Use temporary strings or diagonal measurements before gluing.</a:t>
            </a:r>
          </a:p>
        </p:txBody>
      </p:sp>
      <p:sp>
        <p:nvSpPr>
          <p:cNvPr id="31" name="Rounded Rectangle 30"/>
          <p:cNvSpPr/>
          <p:nvPr/>
        </p:nvSpPr>
        <p:spPr>
          <a:xfrm>
            <a:off x="347472" y="6126480"/>
            <a:ext cx="3474720" cy="141732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47472" y="6126480"/>
            <a:ext cx="50292" cy="1417320"/>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3776" y="624535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ACCESS</a:t>
            </a:r>
          </a:p>
        </p:txBody>
      </p:sp>
      <p:sp>
        <p:nvSpPr>
          <p:cNvPr id="34" name="TextBox 33"/>
          <p:cNvSpPr txBox="1"/>
          <p:nvPr/>
        </p:nvSpPr>
        <p:spPr>
          <a:xfrm>
            <a:off x="493776" y="6519672"/>
            <a:ext cx="3200400" cy="923544"/>
          </a:xfrm>
          <a:prstGeom prst="rect">
            <a:avLst/>
          </a:prstGeom>
          <a:noFill/>
        </p:spPr>
        <p:txBody>
          <a:bodyPr wrap="square" lIns="18288" rIns="9144" tIns="9144" bIns="9144">
            <a:spAutoFit/>
          </a:bodyPr>
          <a:lstStyle/>
          <a:p>
            <a:pPr>
              <a:lnSpc>
                <a:spcPct val="100000"/>
              </a:lnSpc>
              <a:spcAft>
                <a:spcPts val="250"/>
              </a:spcAft>
            </a:pPr>
            <a:r>
              <a:rPr sz="850">
                <a:solidFill>
                  <a:srgbClr val="20263A"/>
                </a:solidFill>
                <a:latin typeface="Arial"/>
              </a:rPr>
              <a:t>• Battery removable without disturbing controls.</a:t>
            </a:r>
          </a:p>
          <a:p>
            <a:pPr>
              <a:lnSpc>
                <a:spcPct val="100000"/>
              </a:lnSpc>
              <a:spcAft>
                <a:spcPts val="250"/>
              </a:spcAft>
            </a:pPr>
            <a:r>
              <a:rPr sz="850">
                <a:solidFill>
                  <a:srgbClr val="20263A"/>
                </a:solidFill>
                <a:latin typeface="Arial"/>
              </a:rPr>
              <a:t>• Receiver and linkages inspectable.</a:t>
            </a:r>
          </a:p>
          <a:p>
            <a:pPr>
              <a:lnSpc>
                <a:spcPct val="100000"/>
              </a:lnSpc>
              <a:spcAft>
                <a:spcPts val="250"/>
              </a:spcAft>
            </a:pPr>
            <a:r>
              <a:rPr sz="850">
                <a:solidFill>
                  <a:srgbClr val="20263A"/>
                </a:solidFill>
                <a:latin typeface="Arial"/>
              </a:rPr>
              <a:t>• Wing fasteners reachable.</a:t>
            </a:r>
          </a:p>
        </p:txBody>
      </p:sp>
      <p:sp>
        <p:nvSpPr>
          <p:cNvPr id="35" name="Rounded Rectangle 34"/>
          <p:cNvSpPr/>
          <p:nvPr/>
        </p:nvSpPr>
        <p:spPr>
          <a:xfrm>
            <a:off x="3950208" y="6126480"/>
            <a:ext cx="3474720" cy="141732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50208" y="6126480"/>
            <a:ext cx="50292" cy="141732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96512" y="624535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CRASHWORTHINESS</a:t>
            </a:r>
          </a:p>
        </p:txBody>
      </p:sp>
      <p:sp>
        <p:nvSpPr>
          <p:cNvPr id="38" name="TextBox 37"/>
          <p:cNvSpPr txBox="1"/>
          <p:nvPr/>
        </p:nvSpPr>
        <p:spPr>
          <a:xfrm>
            <a:off x="4096512" y="6519672"/>
            <a:ext cx="3200400" cy="923544"/>
          </a:xfrm>
          <a:prstGeom prst="rect">
            <a:avLst/>
          </a:prstGeom>
          <a:noFill/>
        </p:spPr>
        <p:txBody>
          <a:bodyPr wrap="square" lIns="18288" rIns="9144" tIns="9144" bIns="9144">
            <a:spAutoFit/>
          </a:bodyPr>
          <a:lstStyle/>
          <a:p>
            <a:pPr>
              <a:lnSpc>
                <a:spcPct val="100000"/>
              </a:lnSpc>
              <a:spcAft>
                <a:spcPts val="250"/>
              </a:spcAft>
            </a:pPr>
            <a:r>
              <a:rPr sz="850">
                <a:solidFill>
                  <a:srgbClr val="20263A"/>
                </a:solidFill>
                <a:latin typeface="Arial"/>
              </a:rPr>
              <a:t>• Let inexpensive parts fail before expensive ones.</a:t>
            </a:r>
          </a:p>
          <a:p>
            <a:pPr>
              <a:lnSpc>
                <a:spcPct val="100000"/>
              </a:lnSpc>
              <a:spcAft>
                <a:spcPts val="250"/>
              </a:spcAft>
            </a:pPr>
            <a:r>
              <a:rPr sz="850">
                <a:solidFill>
                  <a:srgbClr val="20263A"/>
                </a:solidFill>
                <a:latin typeface="Arial"/>
              </a:rPr>
              <a:t>• Avoid battery contact with sharp structure.</a:t>
            </a:r>
          </a:p>
          <a:p>
            <a:pPr>
              <a:lnSpc>
                <a:spcPct val="100000"/>
              </a:lnSpc>
              <a:spcAft>
                <a:spcPts val="250"/>
              </a:spcAft>
            </a:pPr>
            <a:r>
              <a:rPr sz="850">
                <a:solidFill>
                  <a:srgbClr val="20263A"/>
                </a:solidFill>
                <a:latin typeface="Arial"/>
              </a:rPr>
              <a:t>• Secure canopy and hatch.</a:t>
            </a:r>
          </a:p>
        </p:txBody>
      </p:sp>
      <p:sp>
        <p:nvSpPr>
          <p:cNvPr id="39" name="TextBox 38"/>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Measure from a common datum. “Looks straight” is not a measurement.</a:t>
            </a:r>
          </a:p>
        </p:txBody>
      </p:sp>
      <p:sp>
        <p:nvSpPr>
          <p:cNvPr id="40" name="TextBox 39"/>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50</a:t>
            </a:r>
          </a:p>
        </p:txBody>
      </p:sp>
      <p:cxnSp>
        <p:nvCxnSpPr>
          <p:cNvPr id="41" name="Connector 40"/>
          <p:cNvCxnSpPr/>
          <p:nvPr/>
        </p:nvCxnSpPr>
        <p:spPr>
          <a:xfrm>
            <a:off x="4041648" y="1371600"/>
            <a:ext cx="0" cy="2331720"/>
          </a:xfrm>
          <a:prstGeom prst="line">
            <a:avLst/>
          </a:prstGeom>
          <a:ln w="12700">
            <a:solidFill>
              <a:srgbClr val="D8DDE8"/>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870448" y="1371600"/>
            <a:ext cx="0" cy="2331720"/>
          </a:xfrm>
          <a:prstGeom prst="line">
            <a:avLst/>
          </a:prstGeom>
          <a:ln w="12700">
            <a:solidFill>
              <a:srgbClr val="D8DDE8"/>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02920" y="1335024"/>
            <a:ext cx="3383280" cy="155448"/>
          </a:xfrm>
          <a:prstGeom prst="rect">
            <a:avLst/>
          </a:prstGeom>
          <a:noFill/>
        </p:spPr>
        <p:txBody>
          <a:bodyPr wrap="square" lIns="0" rIns="0" tIns="0" bIns="0">
            <a:spAutoFit/>
          </a:bodyPr>
          <a:lstStyle/>
          <a:p>
            <a:pPr algn="l"/>
            <a:r>
              <a:rPr sz="800" b="1" i="0">
                <a:solidFill>
                  <a:srgbClr val="20263A"/>
                </a:solidFill>
                <a:latin typeface="Arial"/>
              </a:rPr>
              <a:t>SIDE — every angle from ONE datum</a:t>
            </a:r>
          </a:p>
        </p:txBody>
      </p:sp>
      <p:sp>
        <p:nvSpPr>
          <p:cNvPr id="9" name="Freeform 8"/>
          <p:cNvSpPr/>
          <p:nvPr/>
        </p:nvSpPr>
        <p:spPr>
          <a:xfrm>
            <a:off x="713232" y="2340864"/>
            <a:ext cx="2962655" cy="283464"/>
          </a:xfrm>
          <a:custGeom>
            <a:avLst/>
            <a:gdLst/>
            <a:ahLst/>
            <a:cxnLst/>
            <a:rect l="l" t="t" r="r" b="b"/>
            <a:pathLst>
              <a:path w="2962655" h="283464">
                <a:moveTo>
                  <a:pt x="0" y="45720"/>
                </a:moveTo>
                <a:lnTo>
                  <a:pt x="2551175" y="27432"/>
                </a:lnTo>
                <a:lnTo>
                  <a:pt x="2962655" y="0"/>
                </a:lnTo>
                <a:lnTo>
                  <a:pt x="2962655" y="173736"/>
                </a:lnTo>
                <a:lnTo>
                  <a:pt x="274320" y="283464"/>
                </a:lnTo>
                <a:lnTo>
                  <a:pt x="0" y="246888"/>
                </a:lnTo>
                <a:close/>
              </a:path>
            </a:pathLst>
          </a:custGeom>
          <a:solidFill>
            <a:srgbClr val="F7F9FC"/>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621792" y="2414016"/>
            <a:ext cx="91440" cy="146304"/>
          </a:xfrm>
          <a:custGeom>
            <a:avLst/>
            <a:gdLst/>
            <a:ahLst/>
            <a:cxnLst/>
            <a:rect l="l" t="t" r="r" b="b"/>
            <a:pathLst>
              <a:path w="91440" h="146304">
                <a:moveTo>
                  <a:pt x="91440" y="0"/>
                </a:moveTo>
                <a:lnTo>
                  <a:pt x="0" y="73152"/>
                </a:lnTo>
                <a:lnTo>
                  <a:pt x="91440" y="146304"/>
                </a:lnTo>
                <a:close/>
              </a:path>
            </a:pathLst>
          </a:custGeom>
          <a:solidFill>
            <a:srgbClr val="D8DDE8"/>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298448" y="2382012"/>
            <a:ext cx="0" cy="205740"/>
          </a:xfrm>
          <a:prstGeom prst="line">
            <a:avLst/>
          </a:prstGeom>
          <a:ln w="12700">
            <a:solidFill>
              <a:srgbClr val="5F687D"/>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700784" y="2382012"/>
            <a:ext cx="0" cy="205740"/>
          </a:xfrm>
          <a:prstGeom prst="line">
            <a:avLst/>
          </a:prstGeom>
          <a:ln w="12700">
            <a:solidFill>
              <a:srgbClr val="5F687D"/>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331720" y="2382012"/>
            <a:ext cx="0" cy="205740"/>
          </a:xfrm>
          <a:prstGeom prst="line">
            <a:avLst/>
          </a:prstGeom>
          <a:ln w="12700">
            <a:solidFill>
              <a:srgbClr val="5F687D"/>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926080" y="2382012"/>
            <a:ext cx="0" cy="205740"/>
          </a:xfrm>
          <a:prstGeom prst="line">
            <a:avLst/>
          </a:prstGeom>
          <a:ln w="12700">
            <a:solidFill>
              <a:srgbClr val="5F687D"/>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21792" y="2487168"/>
            <a:ext cx="3127247" cy="0"/>
          </a:xfrm>
          <a:prstGeom prst="line">
            <a:avLst/>
          </a:prstGeom>
          <a:ln w="12700">
            <a:solidFill>
              <a:srgbClr val="C83E3E"/>
            </a:solidFill>
            <a:prstDash val="dash"/>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364992" y="2532888"/>
            <a:ext cx="457200" cy="118872"/>
          </a:xfrm>
          <a:prstGeom prst="rect">
            <a:avLst/>
          </a:prstGeom>
          <a:noFill/>
        </p:spPr>
        <p:txBody>
          <a:bodyPr wrap="square" lIns="0" rIns="0" tIns="0" bIns="0">
            <a:spAutoFit/>
          </a:bodyPr>
          <a:lstStyle/>
          <a:p>
            <a:pPr algn="l"/>
            <a:r>
              <a:rPr sz="650" b="1" i="1">
                <a:solidFill>
                  <a:srgbClr val="C83E3E"/>
                </a:solidFill>
                <a:latin typeface="Arial"/>
              </a:rPr>
              <a:t>datum</a:t>
            </a:r>
          </a:p>
        </p:txBody>
      </p:sp>
      <p:sp>
        <p:nvSpPr>
          <p:cNvPr id="11" name="Freeform 10"/>
          <p:cNvSpPr/>
          <p:nvPr/>
        </p:nvSpPr>
        <p:spPr>
          <a:xfrm rot="300000">
            <a:off x="1417320" y="2228850"/>
            <a:ext cx="1188720" cy="198516"/>
          </a:xfrm>
          <a:custGeom>
            <a:avLst/>
            <a:gdLst/>
            <a:ahLst/>
            <a:cxnLst/>
            <a:rect l="l" t="t" r="r" b="b"/>
            <a:pathLst>
              <a:path w="1188720" h="198516">
                <a:moveTo>
                  <a:pt x="0" y="148590"/>
                </a:moveTo>
                <a:lnTo>
                  <a:pt x="17830" y="97475"/>
                </a:lnTo>
                <a:lnTo>
                  <a:pt x="47548" y="74889"/>
                </a:lnTo>
                <a:lnTo>
                  <a:pt x="95097" y="51114"/>
                </a:lnTo>
                <a:lnTo>
                  <a:pt x="178308" y="26151"/>
                </a:lnTo>
                <a:lnTo>
                  <a:pt x="297180" y="4754"/>
                </a:lnTo>
                <a:lnTo>
                  <a:pt x="356616" y="0"/>
                </a:lnTo>
                <a:lnTo>
                  <a:pt x="475488" y="4754"/>
                </a:lnTo>
                <a:lnTo>
                  <a:pt x="594360" y="17830"/>
                </a:lnTo>
                <a:lnTo>
                  <a:pt x="713232" y="38039"/>
                </a:lnTo>
                <a:lnTo>
                  <a:pt x="832104" y="63002"/>
                </a:lnTo>
                <a:lnTo>
                  <a:pt x="950976" y="90342"/>
                </a:lnTo>
                <a:lnTo>
                  <a:pt x="1069848" y="117683"/>
                </a:lnTo>
                <a:lnTo>
                  <a:pt x="1188720" y="146212"/>
                </a:lnTo>
                <a:lnTo>
                  <a:pt x="1188720" y="148590"/>
                </a:lnTo>
                <a:lnTo>
                  <a:pt x="1069848" y="152156"/>
                </a:lnTo>
                <a:lnTo>
                  <a:pt x="950976" y="156911"/>
                </a:lnTo>
                <a:lnTo>
                  <a:pt x="832104" y="162854"/>
                </a:lnTo>
                <a:lnTo>
                  <a:pt x="713232" y="169986"/>
                </a:lnTo>
                <a:lnTo>
                  <a:pt x="594360" y="177119"/>
                </a:lnTo>
                <a:lnTo>
                  <a:pt x="475488" y="184251"/>
                </a:lnTo>
                <a:lnTo>
                  <a:pt x="356616" y="191383"/>
                </a:lnTo>
                <a:lnTo>
                  <a:pt x="297180" y="193761"/>
                </a:lnTo>
                <a:lnTo>
                  <a:pt x="178308" y="198516"/>
                </a:lnTo>
                <a:lnTo>
                  <a:pt x="95097" y="197327"/>
                </a:lnTo>
                <a:lnTo>
                  <a:pt x="47548" y="191383"/>
                </a:lnTo>
                <a:lnTo>
                  <a:pt x="17830" y="181874"/>
                </a:lnTo>
                <a:close/>
              </a:path>
            </a:pathLst>
          </a:custGeom>
          <a:solidFill>
            <a:srgbClr val="EDF4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flipV="1">
            <a:off x="1371600" y="2318004"/>
            <a:ext cx="1325880" cy="118872"/>
          </a:xfrm>
          <a:prstGeom prst="line">
            <a:avLst/>
          </a:prstGeom>
          <a:ln w="12700">
            <a:solidFill>
              <a:srgbClr val="246BCE"/>
            </a:solidFill>
            <a:prstDash val="dash"/>
          </a:ln>
          <a:effectLst/>
        </p:spPr>
        <p:style>
          <a:lnRef idx="2">
            <a:schemeClr val="accent1"/>
          </a:lnRef>
          <a:fillRef idx="0">
            <a:schemeClr val="accent1"/>
          </a:fillRef>
          <a:effectRef idx="1">
            <a:schemeClr val="accent1"/>
          </a:effectRef>
          <a:fontRef idx="minor">
            <a:schemeClr val="tx1"/>
          </a:fontRef>
        </p:style>
      </p:cxnSp>
      <p:sp>
        <p:nvSpPr>
          <p:cNvPr id="51" name="Arc 50"/>
          <p:cNvSpPr/>
          <p:nvPr/>
        </p:nvSpPr>
        <p:spPr>
          <a:xfrm>
            <a:off x="594360" y="1659636"/>
            <a:ext cx="1554480" cy="1554480"/>
          </a:xfrm>
          <a:prstGeom prst="arc">
            <a:avLst>
              <a:gd name="adj1" fmla="val 21300000"/>
              <a:gd name="adj2" fmla="val 21600000"/>
            </a:avLst>
          </a:prstGeom>
          <a:noFill/>
          <a:ln w="1270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6384" y="1810512"/>
            <a:ext cx="1463040" cy="128016"/>
          </a:xfrm>
          <a:prstGeom prst="rect">
            <a:avLst/>
          </a:prstGeom>
          <a:noFill/>
        </p:spPr>
        <p:txBody>
          <a:bodyPr wrap="square" lIns="0" rIns="0" tIns="0" bIns="0">
            <a:spAutoFit/>
          </a:bodyPr>
          <a:lstStyle/>
          <a:p>
            <a:pPr algn="l"/>
            <a:r>
              <a:rPr sz="650" b="1" i="0">
                <a:solidFill>
                  <a:srgbClr val="246BCE"/>
                </a:solidFill>
                <a:latin typeface="Arial"/>
              </a:rPr>
              <a:t>wing incidence vs datum</a:t>
            </a:r>
          </a:p>
        </p:txBody>
      </p:sp>
      <p:cxnSp>
        <p:nvCxnSpPr>
          <p:cNvPr id="53" name="Connector 52"/>
          <p:cNvCxnSpPr/>
          <p:nvPr/>
        </p:nvCxnSpPr>
        <p:spPr>
          <a:xfrm>
            <a:off x="1463040" y="1947672"/>
            <a:ext cx="228600" cy="338328"/>
          </a:xfrm>
          <a:prstGeom prst="line">
            <a:avLst/>
          </a:prstGeom>
          <a:ln w="9525">
            <a:solidFill>
              <a:srgbClr val="246BCE"/>
            </a:solidFill>
          </a:ln>
          <a:effectLst/>
        </p:spPr>
        <p:style>
          <a:lnRef idx="2">
            <a:schemeClr val="accent1"/>
          </a:lnRef>
          <a:fillRef idx="0">
            <a:schemeClr val="accent1"/>
          </a:fillRef>
          <a:effectRef idx="1">
            <a:schemeClr val="accent1"/>
          </a:effectRef>
          <a:fontRef idx="minor">
            <a:schemeClr val="tx1"/>
          </a:fontRef>
        </p:style>
      </p:cxnSp>
      <p:sp>
        <p:nvSpPr>
          <p:cNvPr id="12" name="Freeform 11"/>
          <p:cNvSpPr/>
          <p:nvPr/>
        </p:nvSpPr>
        <p:spPr>
          <a:xfrm>
            <a:off x="2834640" y="2345436"/>
            <a:ext cx="749808" cy="100584"/>
          </a:xfrm>
          <a:custGeom>
            <a:avLst/>
            <a:gdLst/>
            <a:ahLst/>
            <a:cxnLst/>
            <a:rect l="l" t="t" r="r" b="b"/>
            <a:pathLst>
              <a:path w="749808" h="100584">
                <a:moveTo>
                  <a:pt x="0" y="18288"/>
                </a:moveTo>
                <a:lnTo>
                  <a:pt x="749808" y="0"/>
                </a:lnTo>
                <a:lnTo>
                  <a:pt x="749808" y="96012"/>
                </a:lnTo>
                <a:lnTo>
                  <a:pt x="0" y="100584"/>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flipV="1">
            <a:off x="2788920" y="2363724"/>
            <a:ext cx="886967" cy="54864"/>
          </a:xfrm>
          <a:prstGeom prst="line">
            <a:avLst/>
          </a:prstGeom>
          <a:ln w="12700">
            <a:solidFill>
              <a:srgbClr val="2F8F5B"/>
            </a:solidFill>
            <a:prstDash val="dash"/>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606040" y="1810512"/>
            <a:ext cx="1234440" cy="128016"/>
          </a:xfrm>
          <a:prstGeom prst="rect">
            <a:avLst/>
          </a:prstGeom>
          <a:noFill/>
        </p:spPr>
        <p:txBody>
          <a:bodyPr wrap="square" lIns="0" rIns="0" tIns="0" bIns="0">
            <a:spAutoFit/>
          </a:bodyPr>
          <a:lstStyle/>
          <a:p>
            <a:pPr algn="l"/>
            <a:r>
              <a:rPr sz="650" b="1" i="0">
                <a:solidFill>
                  <a:srgbClr val="2F8F5B"/>
                </a:solidFill>
                <a:latin typeface="Arial"/>
              </a:rPr>
              <a:t>tail incidence vs datum</a:t>
            </a:r>
          </a:p>
        </p:txBody>
      </p:sp>
      <p:cxnSp>
        <p:nvCxnSpPr>
          <p:cNvPr id="56" name="Connector 55"/>
          <p:cNvCxnSpPr/>
          <p:nvPr/>
        </p:nvCxnSpPr>
        <p:spPr>
          <a:xfrm>
            <a:off x="3063240" y="1947672"/>
            <a:ext cx="137160" cy="356616"/>
          </a:xfrm>
          <a:prstGeom prst="line">
            <a:avLst/>
          </a:prstGeom>
          <a:ln w="9525">
            <a:solidFill>
              <a:srgbClr val="2F8F5B"/>
            </a:solidFill>
          </a:ln>
          <a:effectLst/>
        </p:spPr>
        <p:style>
          <a:lnRef idx="2">
            <a:schemeClr val="accent1"/>
          </a:lnRef>
          <a:fillRef idx="0">
            <a:schemeClr val="accent1"/>
          </a:fillRef>
          <a:effectRef idx="1">
            <a:schemeClr val="accent1"/>
          </a:effectRef>
          <a:fontRef idx="minor">
            <a:schemeClr val="tx1"/>
          </a:fontRef>
        </p:style>
      </p:cxnSp>
      <p:sp>
        <p:nvSpPr>
          <p:cNvPr id="13" name="Freeform 12"/>
          <p:cNvSpPr/>
          <p:nvPr/>
        </p:nvSpPr>
        <p:spPr>
          <a:xfrm>
            <a:off x="2999232" y="1938528"/>
            <a:ext cx="475488" cy="420624"/>
          </a:xfrm>
          <a:custGeom>
            <a:avLst/>
            <a:gdLst/>
            <a:ahLst/>
            <a:cxnLst/>
            <a:rect l="l" t="t" r="r" b="b"/>
            <a:pathLst>
              <a:path w="475488" h="420624">
                <a:moveTo>
                  <a:pt x="0" y="420624"/>
                </a:moveTo>
                <a:lnTo>
                  <a:pt x="201168" y="0"/>
                </a:lnTo>
                <a:lnTo>
                  <a:pt x="402336" y="0"/>
                </a:lnTo>
                <a:lnTo>
                  <a:pt x="475488" y="416052"/>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6384" y="2880360"/>
            <a:ext cx="2377440" cy="128016"/>
          </a:xfrm>
          <a:prstGeom prst="rect">
            <a:avLst/>
          </a:prstGeom>
          <a:noFill/>
        </p:spPr>
        <p:txBody>
          <a:bodyPr wrap="square" lIns="0" rIns="0" tIns="0" bIns="0">
            <a:spAutoFit/>
          </a:bodyPr>
          <a:lstStyle/>
          <a:p>
            <a:pPr algn="l"/>
            <a:r>
              <a:rPr sz="650" b="1" i="0">
                <a:solidFill>
                  <a:srgbClr val="5F687D"/>
                </a:solidFill>
                <a:latin typeface="Arial"/>
              </a:rPr>
              <a:t>formers square to the datum</a:t>
            </a:r>
          </a:p>
        </p:txBody>
      </p:sp>
      <p:cxnSp>
        <p:nvCxnSpPr>
          <p:cNvPr id="58" name="Connector 57"/>
          <p:cNvCxnSpPr/>
          <p:nvPr/>
        </p:nvCxnSpPr>
        <p:spPr>
          <a:xfrm flipV="1">
            <a:off x="1463040" y="2569464"/>
            <a:ext cx="237744" cy="301752"/>
          </a:xfrm>
          <a:prstGeom prst="line">
            <a:avLst/>
          </a:prstGeom>
          <a:ln w="95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02920" y="3246120"/>
            <a:ext cx="3429000" cy="384048"/>
          </a:xfrm>
          <a:prstGeom prst="rect">
            <a:avLst/>
          </a:prstGeom>
          <a:noFill/>
        </p:spPr>
        <p:txBody>
          <a:bodyPr wrap="square" lIns="0" rIns="0" tIns="0" bIns="0">
            <a:spAutoFit/>
          </a:bodyPr>
          <a:lstStyle/>
          <a:p>
            <a:pPr algn="l"/>
            <a:r>
              <a:rPr sz="700" b="0" i="0">
                <a:solidFill>
                  <a:srgbClr val="5F687D"/>
                </a:solidFill>
                <a:latin typeface="Arial"/>
              </a:rPr>
              <a:t>Draw the datum on the plan and on the board. Wing and tail incidences are measured from it — never from each other, never by eye.</a:t>
            </a:r>
          </a:p>
        </p:txBody>
      </p:sp>
      <p:sp>
        <p:nvSpPr>
          <p:cNvPr id="60" name="TextBox 59"/>
          <p:cNvSpPr txBox="1"/>
          <p:nvPr/>
        </p:nvSpPr>
        <p:spPr>
          <a:xfrm>
            <a:off x="4187952" y="1335024"/>
            <a:ext cx="1691640" cy="274320"/>
          </a:xfrm>
          <a:prstGeom prst="rect">
            <a:avLst/>
          </a:prstGeom>
          <a:noFill/>
        </p:spPr>
        <p:txBody>
          <a:bodyPr wrap="square" lIns="0" rIns="0" tIns="0" bIns="0">
            <a:spAutoFit/>
          </a:bodyPr>
          <a:lstStyle/>
          <a:p>
            <a:pPr algn="l"/>
            <a:r>
              <a:rPr sz="800" b="1" i="0">
                <a:solidFill>
                  <a:srgbClr val="20263A"/>
                </a:solidFill>
                <a:latin typeface="Arial"/>
              </a:rPr>
              <a:t>TOP — diagonals must match</a:t>
            </a:r>
          </a:p>
        </p:txBody>
      </p:sp>
      <p:sp>
        <p:nvSpPr>
          <p:cNvPr id="14" name="Freeform 13"/>
          <p:cNvSpPr/>
          <p:nvPr/>
        </p:nvSpPr>
        <p:spPr>
          <a:xfrm>
            <a:off x="4892040" y="1737360"/>
            <a:ext cx="128016" cy="1481328"/>
          </a:xfrm>
          <a:custGeom>
            <a:avLst/>
            <a:gdLst/>
            <a:ahLst/>
            <a:cxnLst/>
            <a:rect l="l" t="t" r="r" b="b"/>
            <a:pathLst>
              <a:path w="128016" h="1481328">
                <a:moveTo>
                  <a:pt x="18288" y="73152"/>
                </a:moveTo>
                <a:lnTo>
                  <a:pt x="64008" y="0"/>
                </a:lnTo>
                <a:lnTo>
                  <a:pt x="109728" y="73152"/>
                </a:lnTo>
                <a:lnTo>
                  <a:pt x="128016" y="1481328"/>
                </a:lnTo>
                <a:lnTo>
                  <a:pt x="0" y="1481328"/>
                </a:lnTo>
                <a:close/>
              </a:path>
            </a:pathLst>
          </a:custGeom>
          <a:solidFill>
            <a:srgbClr val="F7F9FC"/>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270248" y="2029968"/>
            <a:ext cx="1371600" cy="310896"/>
          </a:xfrm>
          <a:prstGeom prst="rect">
            <a:avLst/>
          </a:prstGeom>
          <a:solidFill>
            <a:srgbClr val="EDF4FF"/>
          </a:solidFill>
          <a:ln w="15875">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553712" y="3017520"/>
            <a:ext cx="804672" cy="201168"/>
          </a:xfrm>
          <a:prstGeom prst="rect">
            <a:avLst/>
          </a:prstGeom>
          <a:solidFill>
            <a:srgbClr val="ECF7F0"/>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4270248" y="2340864"/>
            <a:ext cx="1088136" cy="777240"/>
          </a:xfrm>
          <a:prstGeom prst="line">
            <a:avLst/>
          </a:prstGeom>
          <a:ln w="12700">
            <a:solidFill>
              <a:srgbClr val="C83E3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4553712" y="2340864"/>
            <a:ext cx="1088136" cy="777240"/>
          </a:xfrm>
          <a:prstGeom prst="line">
            <a:avLst/>
          </a:prstGeom>
          <a:ln w="12700">
            <a:solidFill>
              <a:srgbClr val="C83E3E"/>
            </a:solidFill>
            <a:prstDash val="dash"/>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4389120" y="2724912"/>
            <a:ext cx="274320" cy="137160"/>
          </a:xfrm>
          <a:prstGeom prst="rect">
            <a:avLst/>
          </a:prstGeom>
          <a:noFill/>
        </p:spPr>
        <p:txBody>
          <a:bodyPr wrap="square" lIns="0" rIns="0" tIns="0" bIns="0">
            <a:spAutoFit/>
          </a:bodyPr>
          <a:lstStyle/>
          <a:p>
            <a:pPr algn="l"/>
            <a:r>
              <a:rPr sz="800" b="1" i="0">
                <a:solidFill>
                  <a:srgbClr val="C83E3E"/>
                </a:solidFill>
                <a:latin typeface="Arial"/>
              </a:rPr>
              <a:t>A</a:t>
            </a:r>
          </a:p>
        </p:txBody>
      </p:sp>
      <p:sp>
        <p:nvSpPr>
          <p:cNvPr id="66" name="TextBox 65"/>
          <p:cNvSpPr txBox="1"/>
          <p:nvPr/>
        </p:nvSpPr>
        <p:spPr>
          <a:xfrm>
            <a:off x="5285232" y="2724912"/>
            <a:ext cx="274320" cy="137160"/>
          </a:xfrm>
          <a:prstGeom prst="rect">
            <a:avLst/>
          </a:prstGeom>
          <a:noFill/>
        </p:spPr>
        <p:txBody>
          <a:bodyPr wrap="square" lIns="0" rIns="0" tIns="0" bIns="0">
            <a:spAutoFit/>
          </a:bodyPr>
          <a:lstStyle/>
          <a:p>
            <a:pPr algn="l"/>
            <a:r>
              <a:rPr sz="800" b="1" i="0">
                <a:solidFill>
                  <a:srgbClr val="C83E3E"/>
                </a:solidFill>
                <a:latin typeface="Arial"/>
              </a:rPr>
              <a:t>B</a:t>
            </a:r>
          </a:p>
        </p:txBody>
      </p:sp>
      <p:sp>
        <p:nvSpPr>
          <p:cNvPr id="67" name="TextBox 66"/>
          <p:cNvSpPr txBox="1"/>
          <p:nvPr/>
        </p:nvSpPr>
        <p:spPr>
          <a:xfrm>
            <a:off x="4187952" y="3310128"/>
            <a:ext cx="1554480" cy="146304"/>
          </a:xfrm>
          <a:prstGeom prst="rect">
            <a:avLst/>
          </a:prstGeom>
          <a:noFill/>
        </p:spPr>
        <p:txBody>
          <a:bodyPr wrap="square" lIns="0" rIns="0" tIns="0" bIns="0">
            <a:spAutoFit/>
          </a:bodyPr>
          <a:lstStyle/>
          <a:p>
            <a:pPr algn="l"/>
            <a:r>
              <a:rPr sz="700" b="1" i="0">
                <a:solidFill>
                  <a:srgbClr val="C83E3E"/>
                </a:solidFill>
                <a:latin typeface="Arial"/>
              </a:rPr>
              <a:t>A = B, or the tail is skewed</a:t>
            </a:r>
          </a:p>
        </p:txBody>
      </p:sp>
      <p:sp>
        <p:nvSpPr>
          <p:cNvPr id="68" name="TextBox 67"/>
          <p:cNvSpPr txBox="1"/>
          <p:nvPr/>
        </p:nvSpPr>
        <p:spPr>
          <a:xfrm>
            <a:off x="4187952" y="3474720"/>
            <a:ext cx="1600200" cy="274320"/>
          </a:xfrm>
          <a:prstGeom prst="rect">
            <a:avLst/>
          </a:prstGeom>
          <a:noFill/>
        </p:spPr>
        <p:txBody>
          <a:bodyPr wrap="square" lIns="0" rIns="0" tIns="0" bIns="0">
            <a:spAutoFit/>
          </a:bodyPr>
          <a:lstStyle/>
          <a:p>
            <a:pPr algn="l"/>
            <a:r>
              <a:rPr sz="650" b="0" i="0">
                <a:solidFill>
                  <a:srgbClr val="5F687D"/>
                </a:solidFill>
                <a:latin typeface="Arial"/>
              </a:rPr>
              <a:t>Tape from each wingtip to the opposite stab tip before the glue cures.</a:t>
            </a:r>
          </a:p>
        </p:txBody>
      </p:sp>
      <p:sp>
        <p:nvSpPr>
          <p:cNvPr id="69" name="TextBox 68"/>
          <p:cNvSpPr txBox="1"/>
          <p:nvPr/>
        </p:nvSpPr>
        <p:spPr>
          <a:xfrm>
            <a:off x="6016752" y="1335024"/>
            <a:ext cx="1417320" cy="274320"/>
          </a:xfrm>
          <a:prstGeom prst="rect">
            <a:avLst/>
          </a:prstGeom>
          <a:noFill/>
        </p:spPr>
        <p:txBody>
          <a:bodyPr wrap="square" lIns="0" rIns="0" tIns="0" bIns="0">
            <a:spAutoFit/>
          </a:bodyPr>
          <a:lstStyle/>
          <a:p>
            <a:pPr algn="l"/>
            <a:r>
              <a:rPr sz="800" b="1" i="0">
                <a:solidFill>
                  <a:srgbClr val="20263A"/>
                </a:solidFill>
                <a:latin typeface="Arial"/>
              </a:rPr>
              <a:t>REAR — fin vertical</a:t>
            </a:r>
          </a:p>
        </p:txBody>
      </p:sp>
      <p:cxnSp>
        <p:nvCxnSpPr>
          <p:cNvPr id="70" name="Connector 69"/>
          <p:cNvCxnSpPr/>
          <p:nvPr/>
        </p:nvCxnSpPr>
        <p:spPr>
          <a:xfrm>
            <a:off x="6035040" y="2834640"/>
            <a:ext cx="1188720" cy="0"/>
          </a:xfrm>
          <a:prstGeom prst="line">
            <a:avLst/>
          </a:prstGeom>
          <a:ln w="28575">
            <a:solidFill>
              <a:srgbClr val="2F8F5B"/>
            </a:solidFill>
          </a:ln>
          <a:effectLst/>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6597396" y="1920240"/>
            <a:ext cx="123444" cy="914400"/>
          </a:xfrm>
          <a:custGeom>
            <a:avLst/>
            <a:gdLst/>
            <a:ahLst/>
            <a:cxnLst/>
            <a:rect l="l" t="t" r="r" b="b"/>
            <a:pathLst>
              <a:path w="123444" h="914400">
                <a:moveTo>
                  <a:pt x="0" y="914400"/>
                </a:moveTo>
                <a:lnTo>
                  <a:pt x="0" y="0"/>
                </a:lnTo>
                <a:lnTo>
                  <a:pt x="123444" y="0"/>
                </a:lnTo>
                <a:lnTo>
                  <a:pt x="86868" y="914400"/>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6537960" y="2752344"/>
            <a:ext cx="182880" cy="182880"/>
          </a:xfrm>
          <a:prstGeom prst="ellipse">
            <a:avLst/>
          </a:prstGeom>
          <a:solidFill>
            <a:srgbClr val="F7F9FC"/>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720840" y="2706624"/>
            <a:ext cx="100584" cy="100584"/>
          </a:xfrm>
          <a:prstGeom prst="rect">
            <a:avLst/>
          </a:prstGeom>
          <a:noFill/>
          <a:ln w="12700">
            <a:solidFill>
              <a:srgbClr val="C8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7132320" y="1920240"/>
            <a:ext cx="0" cy="1078992"/>
          </a:xfrm>
          <a:prstGeom prst="line">
            <a:avLst/>
          </a:prstGeom>
          <a:ln w="12700">
            <a:solidFill>
              <a:srgbClr val="5F687D"/>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6922008" y="1828800"/>
            <a:ext cx="777240" cy="256032"/>
          </a:xfrm>
          <a:prstGeom prst="rect">
            <a:avLst/>
          </a:prstGeom>
          <a:noFill/>
        </p:spPr>
        <p:txBody>
          <a:bodyPr wrap="square" lIns="0" rIns="0" tIns="0" bIns="0">
            <a:spAutoFit/>
          </a:bodyPr>
          <a:lstStyle/>
          <a:p>
            <a:pPr algn="l"/>
            <a:r>
              <a:rPr sz="600" b="0" i="1">
                <a:solidFill>
                  <a:srgbClr val="5F687D"/>
                </a:solidFill>
                <a:latin typeface="Arial"/>
              </a:rPr>
              <a:t>plumb / square reference</a:t>
            </a:r>
          </a:p>
        </p:txBody>
      </p:sp>
      <p:sp>
        <p:nvSpPr>
          <p:cNvPr id="75" name="TextBox 74"/>
          <p:cNvSpPr txBox="1"/>
          <p:nvPr/>
        </p:nvSpPr>
        <p:spPr>
          <a:xfrm>
            <a:off x="6016752" y="3310128"/>
            <a:ext cx="1417320" cy="146304"/>
          </a:xfrm>
          <a:prstGeom prst="rect">
            <a:avLst/>
          </a:prstGeom>
          <a:noFill/>
        </p:spPr>
        <p:txBody>
          <a:bodyPr wrap="square" lIns="0" rIns="0" tIns="0" bIns="0">
            <a:spAutoFit/>
          </a:bodyPr>
          <a:lstStyle/>
          <a:p>
            <a:pPr algn="l"/>
            <a:r>
              <a:rPr sz="700" b="1" i="0">
                <a:solidFill>
                  <a:srgbClr val="C83E3E"/>
                </a:solidFill>
                <a:latin typeface="Arial"/>
              </a:rPr>
              <a:t>90° to the tailplane</a:t>
            </a:r>
          </a:p>
        </p:txBody>
      </p:sp>
      <p:sp>
        <p:nvSpPr>
          <p:cNvPr id="76" name="TextBox 75"/>
          <p:cNvSpPr txBox="1"/>
          <p:nvPr/>
        </p:nvSpPr>
        <p:spPr>
          <a:xfrm>
            <a:off x="6016752" y="3474720"/>
            <a:ext cx="1417320" cy="274320"/>
          </a:xfrm>
          <a:prstGeom prst="rect">
            <a:avLst/>
          </a:prstGeom>
          <a:noFill/>
        </p:spPr>
        <p:txBody>
          <a:bodyPr wrap="square" lIns="0" rIns="0" tIns="0" bIns="0">
            <a:spAutoFit/>
          </a:bodyPr>
          <a:lstStyle/>
          <a:p>
            <a:pPr algn="l"/>
            <a:r>
              <a:rPr sz="650" b="0" i="0">
                <a:solidFill>
                  <a:srgbClr val="5F687D"/>
                </a:solidFill>
                <a:latin typeface="Arial"/>
              </a:rPr>
              <a:t>Sight it from the front AND the rear — twist hides from one side.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A23DB6"/>
                </a:solidFill>
                <a:latin typeface="Arial"/>
              </a:rPr>
              <a:t>BUILD THE STRUCTURE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Hinges, horns, and pushrods</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control system must move freely with almost no looseness and remain secure under vibration.</a:t>
            </a:r>
          </a:p>
        </p:txBody>
      </p:sp>
      <p:sp>
        <p:nvSpPr>
          <p:cNvPr id="8" name="Rounded Rectangle 7"/>
          <p:cNvSpPr/>
          <p:nvPr/>
        </p:nvSpPr>
        <p:spPr>
          <a:xfrm>
            <a:off x="347472" y="1188720"/>
            <a:ext cx="7077456" cy="29260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23544" y="2210104"/>
            <a:ext cx="1645920" cy="838504"/>
          </a:xfrm>
          <a:prstGeom prst="roundRect">
            <a:avLst>
              <a:gd name="adj" fmla="val 8000"/>
            </a:avLst>
          </a:prstGeom>
          <a:solidFill>
            <a:srgbClr val="EDF4FF"/>
          </a:solidFill>
          <a:ln w="1016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581912" y="2377805"/>
            <a:ext cx="395020" cy="395020"/>
          </a:xfrm>
          <a:prstGeom prst="ellipse">
            <a:avLst/>
          </a:prstGeom>
          <a:solidFill>
            <a:srgbClr val="FFFFFF"/>
          </a:solidFill>
          <a:ln w="1016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9380" y="2761122"/>
            <a:ext cx="1514246" cy="287487"/>
          </a:xfrm>
          <a:prstGeom prst="rect">
            <a:avLst/>
          </a:prstGeom>
          <a:noFill/>
        </p:spPr>
        <p:txBody>
          <a:bodyPr wrap="square" lIns="0" rIns="0" tIns="0" bIns="0" anchor="t">
            <a:spAutoFit/>
          </a:bodyPr>
          <a:lstStyle/>
          <a:p>
            <a:pPr algn="ctr">
              <a:lnSpc>
                <a:spcPct val="100000"/>
              </a:lnSpc>
            </a:pPr>
            <a:r>
              <a:rPr sz="800" b="1" i="0">
                <a:solidFill>
                  <a:srgbClr val="246BCE"/>
                </a:solidFill>
                <a:latin typeface="Arial"/>
              </a:rPr>
              <a:t>SERVO</a:t>
            </a:r>
          </a:p>
        </p:txBody>
      </p:sp>
      <p:cxnSp>
        <p:nvCxnSpPr>
          <p:cNvPr id="12" name="Connector 11"/>
          <p:cNvCxnSpPr/>
          <p:nvPr/>
        </p:nvCxnSpPr>
        <p:spPr>
          <a:xfrm flipV="1">
            <a:off x="1779422" y="1850745"/>
            <a:ext cx="0" cy="598932"/>
          </a:xfrm>
          <a:prstGeom prst="line">
            <a:avLst/>
          </a:prstGeom>
          <a:ln w="25400">
            <a:solidFill>
              <a:srgbClr val="20263A"/>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700418" y="1802831"/>
            <a:ext cx="158008" cy="158008"/>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779422" y="1826788"/>
            <a:ext cx="3555187" cy="215615"/>
          </a:xfrm>
          <a:prstGeom prst="line">
            <a:avLst/>
          </a:prstGeom>
          <a:ln w="26670">
            <a:solidFill>
              <a:srgbClr val="E0702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071262" y="1611172"/>
            <a:ext cx="0" cy="1677010"/>
          </a:xfrm>
          <a:prstGeom prst="line">
            <a:avLst/>
          </a:prstGeom>
          <a:ln w="20320">
            <a:solidFill>
              <a:srgbClr val="20263A"/>
            </a:solidFill>
          </a:ln>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5071262" y="1611172"/>
            <a:ext cx="1711757" cy="1581181"/>
          </a:xfrm>
          <a:custGeom>
            <a:avLst/>
            <a:gdLst/>
            <a:ahLst/>
            <a:cxnLst/>
            <a:rect l="l" t="t" r="r" b="b"/>
            <a:pathLst>
              <a:path w="1711757" h="1581181">
                <a:moveTo>
                  <a:pt x="0" y="191659"/>
                </a:moveTo>
                <a:lnTo>
                  <a:pt x="1711757" y="0"/>
                </a:lnTo>
                <a:lnTo>
                  <a:pt x="1711757" y="1581181"/>
                </a:lnTo>
                <a:lnTo>
                  <a:pt x="0" y="1341608"/>
                </a:lnTo>
                <a:close/>
              </a:path>
            </a:pathLst>
          </a:custGeom>
          <a:solidFill>
            <a:srgbClr val="EAF7F6"/>
          </a:solidFill>
          <a:ln w="12700">
            <a:solidFill>
              <a:srgbClr val="13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5334609" y="2042403"/>
            <a:ext cx="0" cy="622890"/>
          </a:xfrm>
          <a:prstGeom prst="line">
            <a:avLst/>
          </a:prstGeom>
          <a:ln w="22860">
            <a:solidFill>
              <a:srgbClr val="20263A"/>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255605" y="2011259"/>
            <a:ext cx="158008" cy="158008"/>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83710" y="3336096"/>
            <a:ext cx="2633472" cy="311444"/>
          </a:xfrm>
          <a:prstGeom prst="rect">
            <a:avLst/>
          </a:prstGeom>
          <a:noFill/>
        </p:spPr>
        <p:txBody>
          <a:bodyPr wrap="square" lIns="0" rIns="0" tIns="0" bIns="0" anchor="t">
            <a:spAutoFit/>
          </a:bodyPr>
          <a:lstStyle/>
          <a:p>
            <a:pPr algn="ctr">
              <a:lnSpc>
                <a:spcPct val="100000"/>
              </a:lnSpc>
            </a:pPr>
            <a:r>
              <a:rPr sz="750" b="0" i="0">
                <a:solidFill>
                  <a:srgbClr val="5F687D"/>
                </a:solidFill>
                <a:latin typeface="Arial"/>
              </a:rPr>
              <a:t>control horn near hinge line</a:t>
            </a:r>
          </a:p>
        </p:txBody>
      </p:sp>
      <p:sp>
        <p:nvSpPr>
          <p:cNvPr id="20" name="TextBox 19"/>
          <p:cNvSpPr txBox="1"/>
          <p:nvPr/>
        </p:nvSpPr>
        <p:spPr>
          <a:xfrm>
            <a:off x="791870" y="1491386"/>
            <a:ext cx="2304288" cy="311444"/>
          </a:xfrm>
          <a:prstGeom prst="rect">
            <a:avLst/>
          </a:prstGeom>
          <a:noFill/>
        </p:spPr>
        <p:txBody>
          <a:bodyPr wrap="square" lIns="0" rIns="0" tIns="0" bIns="0" anchor="t">
            <a:spAutoFit/>
          </a:bodyPr>
          <a:lstStyle/>
          <a:p>
            <a:pPr algn="l">
              <a:lnSpc>
                <a:spcPct val="100000"/>
              </a:lnSpc>
            </a:pPr>
            <a:r>
              <a:rPr sz="740" b="0" i="0">
                <a:solidFill>
                  <a:srgbClr val="5F687D"/>
                </a:solidFill>
                <a:latin typeface="Arial"/>
              </a:rPr>
              <a:t>inner servo hole = more force, less travel</a:t>
            </a:r>
          </a:p>
        </p:txBody>
      </p:sp>
      <p:sp>
        <p:nvSpPr>
          <p:cNvPr id="21" name="Rounded Rectangle 20"/>
          <p:cNvSpPr/>
          <p:nvPr/>
        </p:nvSpPr>
        <p:spPr>
          <a:xfrm>
            <a:off x="347472" y="4389120"/>
            <a:ext cx="3474720" cy="157276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7472" y="4389120"/>
            <a:ext cx="50292" cy="1572768"/>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 y="45079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HINGE LINE</a:t>
            </a:r>
          </a:p>
        </p:txBody>
      </p:sp>
      <p:sp>
        <p:nvSpPr>
          <p:cNvPr id="24" name="TextBox 23"/>
          <p:cNvSpPr txBox="1"/>
          <p:nvPr/>
        </p:nvSpPr>
        <p:spPr>
          <a:xfrm>
            <a:off x="493776" y="4782312"/>
            <a:ext cx="3200400" cy="1078992"/>
          </a:xfrm>
          <a:prstGeom prst="rect">
            <a:avLst/>
          </a:prstGeom>
          <a:noFill/>
        </p:spPr>
        <p:txBody>
          <a:bodyPr wrap="square" lIns="18288" rIns="9144" tIns="9144" bIns="9144">
            <a:spAutoFit/>
          </a:bodyPr>
          <a:lstStyle/>
          <a:p>
            <a:pPr>
              <a:lnSpc>
                <a:spcPct val="100000"/>
              </a:lnSpc>
              <a:spcAft>
                <a:spcPts val="250"/>
              </a:spcAft>
            </a:pPr>
            <a:r>
              <a:rPr sz="880">
                <a:solidFill>
                  <a:srgbClr val="20263A"/>
                </a:solidFill>
                <a:latin typeface="Arial"/>
              </a:rPr>
              <a:t>• Straight and aligned.</a:t>
            </a:r>
          </a:p>
          <a:p>
            <a:pPr>
              <a:lnSpc>
                <a:spcPct val="100000"/>
              </a:lnSpc>
              <a:spcAft>
                <a:spcPts val="250"/>
              </a:spcAft>
            </a:pPr>
            <a:r>
              <a:rPr sz="880">
                <a:solidFill>
                  <a:srgbClr val="20263A"/>
                </a:solidFill>
                <a:latin typeface="Arial"/>
              </a:rPr>
              <a:t>• Small gap.</a:t>
            </a:r>
          </a:p>
          <a:p>
            <a:pPr>
              <a:lnSpc>
                <a:spcPct val="100000"/>
              </a:lnSpc>
              <a:spcAft>
                <a:spcPts val="250"/>
              </a:spcAft>
            </a:pPr>
            <a:r>
              <a:rPr sz="880">
                <a:solidFill>
                  <a:srgbClr val="20263A"/>
                </a:solidFill>
                <a:latin typeface="Arial"/>
              </a:rPr>
              <a:t>• Enough bevel for travel.</a:t>
            </a:r>
          </a:p>
          <a:p>
            <a:pPr>
              <a:lnSpc>
                <a:spcPct val="100000"/>
              </a:lnSpc>
              <a:spcAft>
                <a:spcPts val="250"/>
              </a:spcAft>
            </a:pPr>
            <a:r>
              <a:rPr sz="880">
                <a:solidFill>
                  <a:srgbClr val="20263A"/>
                </a:solidFill>
                <a:latin typeface="Arial"/>
              </a:rPr>
              <a:t>• Every hinge bonded on both sides.</a:t>
            </a:r>
          </a:p>
        </p:txBody>
      </p:sp>
      <p:sp>
        <p:nvSpPr>
          <p:cNvPr id="25" name="Rounded Rectangle 24"/>
          <p:cNvSpPr/>
          <p:nvPr/>
        </p:nvSpPr>
        <p:spPr>
          <a:xfrm>
            <a:off x="3950208" y="4389120"/>
            <a:ext cx="3474720" cy="157276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950208" y="4389120"/>
            <a:ext cx="50292" cy="1572768"/>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96512" y="45079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CONTROL HORN</a:t>
            </a:r>
          </a:p>
        </p:txBody>
      </p:sp>
      <p:sp>
        <p:nvSpPr>
          <p:cNvPr id="28" name="TextBox 27"/>
          <p:cNvSpPr txBox="1"/>
          <p:nvPr/>
        </p:nvSpPr>
        <p:spPr>
          <a:xfrm>
            <a:off x="4096512" y="4782312"/>
            <a:ext cx="3200400" cy="1078992"/>
          </a:xfrm>
          <a:prstGeom prst="rect">
            <a:avLst/>
          </a:prstGeom>
          <a:noFill/>
        </p:spPr>
        <p:txBody>
          <a:bodyPr wrap="square" lIns="18288" rIns="9144" tIns="9144" bIns="9144">
            <a:spAutoFit/>
          </a:bodyPr>
          <a:lstStyle/>
          <a:p>
            <a:pPr>
              <a:lnSpc>
                <a:spcPct val="100000"/>
              </a:lnSpc>
              <a:spcAft>
                <a:spcPts val="250"/>
              </a:spcAft>
            </a:pPr>
            <a:r>
              <a:rPr sz="880">
                <a:solidFill>
                  <a:srgbClr val="20263A"/>
                </a:solidFill>
                <a:latin typeface="Arial"/>
              </a:rPr>
              <a:t>• Load spread into solid structure.</a:t>
            </a:r>
          </a:p>
          <a:p>
            <a:pPr>
              <a:lnSpc>
                <a:spcPct val="100000"/>
              </a:lnSpc>
              <a:spcAft>
                <a:spcPts val="250"/>
              </a:spcAft>
            </a:pPr>
            <a:r>
              <a:rPr sz="880">
                <a:solidFill>
                  <a:srgbClr val="20263A"/>
                </a:solidFill>
                <a:latin typeface="Arial"/>
              </a:rPr>
              <a:t>• Hole close to hinge line.</a:t>
            </a:r>
          </a:p>
          <a:p>
            <a:pPr>
              <a:lnSpc>
                <a:spcPct val="100000"/>
              </a:lnSpc>
              <a:spcAft>
                <a:spcPts val="250"/>
              </a:spcAft>
            </a:pPr>
            <a:r>
              <a:rPr sz="880">
                <a:solidFill>
                  <a:srgbClr val="20263A"/>
                </a:solidFill>
                <a:latin typeface="Arial"/>
              </a:rPr>
              <a:t>• No soft foam crushing beneath it.</a:t>
            </a:r>
          </a:p>
        </p:txBody>
      </p:sp>
      <p:sp>
        <p:nvSpPr>
          <p:cNvPr id="29" name="Rounded Rectangle 28"/>
          <p:cNvSpPr/>
          <p:nvPr/>
        </p:nvSpPr>
        <p:spPr>
          <a:xfrm>
            <a:off x="347472" y="6236208"/>
            <a:ext cx="3474720" cy="138988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47472" y="6236208"/>
            <a:ext cx="50292" cy="1389888"/>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6" y="635508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PUSHROD</a:t>
            </a:r>
          </a:p>
        </p:txBody>
      </p:sp>
      <p:sp>
        <p:nvSpPr>
          <p:cNvPr id="32" name="TextBox 31"/>
          <p:cNvSpPr txBox="1"/>
          <p:nvPr/>
        </p:nvSpPr>
        <p:spPr>
          <a:xfrm>
            <a:off x="493776" y="6629400"/>
            <a:ext cx="3200400" cy="896112"/>
          </a:xfrm>
          <a:prstGeom prst="rect">
            <a:avLst/>
          </a:prstGeom>
          <a:noFill/>
        </p:spPr>
        <p:txBody>
          <a:bodyPr wrap="square" lIns="18288" rIns="9144" tIns="9144" bIns="9144">
            <a:spAutoFit/>
          </a:bodyPr>
          <a:lstStyle/>
          <a:p>
            <a:pPr>
              <a:lnSpc>
                <a:spcPct val="100000"/>
              </a:lnSpc>
              <a:spcAft>
                <a:spcPts val="250"/>
              </a:spcAft>
            </a:pPr>
            <a:r>
              <a:rPr sz="850">
                <a:solidFill>
                  <a:srgbClr val="20263A"/>
                </a:solidFill>
                <a:latin typeface="Arial"/>
              </a:rPr>
              <a:t>• Short, straight, and supported.</a:t>
            </a:r>
          </a:p>
          <a:p>
            <a:pPr>
              <a:lnSpc>
                <a:spcPct val="100000"/>
              </a:lnSpc>
              <a:spcAft>
                <a:spcPts val="250"/>
              </a:spcAft>
            </a:pPr>
            <a:r>
              <a:rPr sz="850">
                <a:solidFill>
                  <a:srgbClr val="20263A"/>
                </a:solidFill>
                <a:latin typeface="Arial"/>
              </a:rPr>
              <a:t>• No buckling under push load.</a:t>
            </a:r>
          </a:p>
          <a:p>
            <a:pPr>
              <a:lnSpc>
                <a:spcPct val="100000"/>
              </a:lnSpc>
              <a:spcAft>
                <a:spcPts val="250"/>
              </a:spcAft>
            </a:pPr>
            <a:r>
              <a:rPr sz="850">
                <a:solidFill>
                  <a:srgbClr val="20263A"/>
                </a:solidFill>
                <a:latin typeface="Arial"/>
              </a:rPr>
              <a:t>• Thread lock only where appropriate.</a:t>
            </a:r>
          </a:p>
        </p:txBody>
      </p:sp>
      <p:sp>
        <p:nvSpPr>
          <p:cNvPr id="33" name="Rounded Rectangle 32"/>
          <p:cNvSpPr/>
          <p:nvPr/>
        </p:nvSpPr>
        <p:spPr>
          <a:xfrm>
            <a:off x="3950208" y="6236208"/>
            <a:ext cx="3474720" cy="138988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950208" y="6236208"/>
            <a:ext cx="50292" cy="1389888"/>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96512" y="635508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BENCH TEST</a:t>
            </a:r>
          </a:p>
        </p:txBody>
      </p:sp>
      <p:sp>
        <p:nvSpPr>
          <p:cNvPr id="36" name="TextBox 35"/>
          <p:cNvSpPr txBox="1"/>
          <p:nvPr/>
        </p:nvSpPr>
        <p:spPr>
          <a:xfrm>
            <a:off x="4096512" y="6629400"/>
            <a:ext cx="3200400" cy="896112"/>
          </a:xfrm>
          <a:prstGeom prst="rect">
            <a:avLst/>
          </a:prstGeom>
          <a:noFill/>
        </p:spPr>
        <p:txBody>
          <a:bodyPr wrap="square" lIns="18288" rIns="9144" tIns="9144" bIns="9144">
            <a:spAutoFit/>
          </a:bodyPr>
          <a:lstStyle/>
          <a:p>
            <a:pPr>
              <a:lnSpc>
                <a:spcPct val="100000"/>
              </a:lnSpc>
              <a:spcAft>
                <a:spcPts val="250"/>
              </a:spcAft>
            </a:pPr>
            <a:r>
              <a:rPr sz="850">
                <a:solidFill>
                  <a:srgbClr val="20263A"/>
                </a:solidFill>
                <a:latin typeface="Arial"/>
              </a:rPr>
              <a:t>• Full travel without binding.</a:t>
            </a:r>
          </a:p>
          <a:p>
            <a:pPr>
              <a:lnSpc>
                <a:spcPct val="100000"/>
              </a:lnSpc>
              <a:spcAft>
                <a:spcPts val="250"/>
              </a:spcAft>
            </a:pPr>
            <a:r>
              <a:rPr sz="850">
                <a:solidFill>
                  <a:srgbClr val="20263A"/>
                </a:solidFill>
                <a:latin typeface="Arial"/>
              </a:rPr>
              <a:t>• Surface returns to exact neutral.</a:t>
            </a:r>
          </a:p>
          <a:p>
            <a:pPr>
              <a:lnSpc>
                <a:spcPct val="100000"/>
              </a:lnSpc>
              <a:spcAft>
                <a:spcPts val="250"/>
              </a:spcAft>
            </a:pPr>
            <a:r>
              <a:rPr sz="850">
                <a:solidFill>
                  <a:srgbClr val="20263A"/>
                </a:solidFill>
                <a:latin typeface="Arial"/>
              </a:rPr>
              <a:t>• No buzz, flex, or lost motion.</a:t>
            </a:r>
          </a:p>
        </p:txBody>
      </p:sp>
      <p:sp>
        <p:nvSpPr>
          <p:cNvPr id="37" name="TextBox 36"/>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Control-system failures are single-point failures. Use positive retainers and inspect before every session.</a:t>
            </a:r>
          </a:p>
        </p:txBody>
      </p:sp>
      <p:sp>
        <p:nvSpPr>
          <p:cNvPr id="38" name="TextBox 37"/>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51</a:t>
            </a:r>
          </a:p>
        </p:txBody>
      </p:sp>
      <p:sp>
        <p:nvSpPr>
          <p:cNvPr id="39" name="Oval 38"/>
          <p:cNvSpPr/>
          <p:nvPr/>
        </p:nvSpPr>
        <p:spPr>
          <a:xfrm>
            <a:off x="5020056" y="1691640"/>
            <a:ext cx="109728" cy="109728"/>
          </a:xfrm>
          <a:prstGeom prst="ellipse">
            <a:avLst/>
          </a:prstGeom>
          <a:solidFill>
            <a:srgbClr val="FFFF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020056" y="3127248"/>
            <a:ext cx="109728" cy="109728"/>
          </a:xfrm>
          <a:prstGeom prst="ellipse">
            <a:avLst/>
          </a:prstGeom>
          <a:solidFill>
            <a:srgbClr val="FFFF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rc 42"/>
          <p:cNvSpPr/>
          <p:nvPr/>
        </p:nvSpPr>
        <p:spPr>
          <a:xfrm>
            <a:off x="882396" y="1732788"/>
            <a:ext cx="1792224" cy="1792224"/>
          </a:xfrm>
          <a:prstGeom prst="arc">
            <a:avLst>
              <a:gd name="adj1" fmla="val 14880000"/>
              <a:gd name="adj2" fmla="val 17520000"/>
            </a:avLst>
          </a:prstGeom>
          <a:noFill/>
          <a:ln w="19050">
            <a:solidFill>
              <a:srgbClr val="5F687D"/>
            </a:solidFill>
            <a:prstDash val="dash"/>
            <a:headEnd type="triangle" w="med" len="med"/>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212848" y="1700784"/>
            <a:ext cx="1737360" cy="274320"/>
          </a:xfrm>
          <a:prstGeom prst="rect">
            <a:avLst/>
          </a:prstGeom>
          <a:noFill/>
        </p:spPr>
        <p:txBody>
          <a:bodyPr wrap="square" lIns="0" rIns="0" tIns="0" bIns="0">
            <a:spAutoFit/>
          </a:bodyPr>
          <a:lstStyle/>
          <a:p>
            <a:pPr algn="l"/>
            <a:r>
              <a:rPr sz="700" b="0" i="1">
                <a:solidFill>
                  <a:srgbClr val="5F687D"/>
                </a:solidFill>
                <a:latin typeface="Arial"/>
              </a:rPr>
              <a:t>outer hole = bigger swing</a:t>
            </a:r>
          </a:p>
        </p:txBody>
      </p:sp>
      <p:sp>
        <p:nvSpPr>
          <p:cNvPr id="45" name="Oval 44"/>
          <p:cNvSpPr/>
          <p:nvPr/>
        </p:nvSpPr>
        <p:spPr>
          <a:xfrm>
            <a:off x="1732788" y="2212848"/>
            <a:ext cx="91440" cy="91440"/>
          </a:xfrm>
          <a:prstGeom prst="ellipse">
            <a:avLst/>
          </a:prstGeom>
          <a:solidFill>
            <a:srgbClr val="5F68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938528" y="2212848"/>
            <a:ext cx="1188720" cy="164592"/>
          </a:xfrm>
          <a:prstGeom prst="rect">
            <a:avLst/>
          </a:prstGeom>
          <a:noFill/>
        </p:spPr>
        <p:txBody>
          <a:bodyPr wrap="square" lIns="0" rIns="0" tIns="0" bIns="0">
            <a:spAutoFit/>
          </a:bodyPr>
          <a:lstStyle/>
          <a:p>
            <a:pPr algn="l"/>
            <a:r>
              <a:rPr sz="700" b="0" i="1">
                <a:solidFill>
                  <a:srgbClr val="5F687D"/>
                </a:solidFill>
                <a:latin typeface="Arial"/>
              </a:rPr>
              <a:t>inner hole</a:t>
            </a:r>
          </a:p>
        </p:txBody>
      </p:sp>
      <p:sp>
        <p:nvSpPr>
          <p:cNvPr id="48" name="TextBox 47"/>
          <p:cNvSpPr txBox="1"/>
          <p:nvPr/>
        </p:nvSpPr>
        <p:spPr>
          <a:xfrm>
            <a:off x="5532120" y="1481328"/>
            <a:ext cx="1828800" cy="164592"/>
          </a:xfrm>
          <a:prstGeom prst="rect">
            <a:avLst/>
          </a:prstGeom>
          <a:noFill/>
        </p:spPr>
        <p:txBody>
          <a:bodyPr wrap="square" lIns="0" rIns="0" tIns="0" bIns="0">
            <a:spAutoFit/>
          </a:bodyPr>
          <a:lstStyle/>
          <a:p>
            <a:pPr algn="l"/>
            <a:r>
              <a:rPr sz="700" b="0" i="1">
                <a:solidFill>
                  <a:srgbClr val="5F687D"/>
                </a:solidFill>
                <a:latin typeface="Arial"/>
              </a:rPr>
              <a:t>surface swings through this arc</a:t>
            </a:r>
          </a:p>
        </p:txBody>
      </p:sp>
      <p:sp>
        <p:nvSpPr>
          <p:cNvPr id="49" name="Arc 48"/>
          <p:cNvSpPr/>
          <p:nvPr/>
        </p:nvSpPr>
        <p:spPr>
          <a:xfrm>
            <a:off x="3502152" y="886968"/>
            <a:ext cx="3145536" cy="3145536"/>
          </a:xfrm>
          <a:prstGeom prst="arc">
            <a:avLst>
              <a:gd name="adj1" fmla="val -960000"/>
              <a:gd name="adj2" fmla="val 960000"/>
            </a:avLst>
          </a:prstGeom>
          <a:noFill/>
          <a:ln w="19050">
            <a:solidFill>
              <a:srgbClr val="5F687D"/>
            </a:solidFill>
            <a:headEnd type="triangle" w="med" len="med"/>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46BCE"/>
                </a:solidFill>
                <a:latin typeface="Arial"/>
              </a:rPr>
              <a:t>BUILD THE STRUCTURE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Alignment, covering, and finish</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A glossy finish cannot compensate for mismatched angles or a warped wing.</a:t>
            </a:r>
          </a:p>
        </p:txBody>
      </p:sp>
      <p:sp>
        <p:nvSpPr>
          <p:cNvPr id="8" name="Rounded Rectangle 7"/>
          <p:cNvSpPr/>
          <p:nvPr/>
        </p:nvSpPr>
        <p:spPr>
          <a:xfrm>
            <a:off x="347472" y="1225296"/>
            <a:ext cx="3474720" cy="3273552"/>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225296"/>
            <a:ext cx="50292" cy="3273552"/>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34416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BEFORE COVERING</a:t>
            </a:r>
          </a:p>
        </p:txBody>
      </p:sp>
      <p:sp>
        <p:nvSpPr>
          <p:cNvPr id="12" name="Rounded Rectangle 11"/>
          <p:cNvSpPr/>
          <p:nvPr/>
        </p:nvSpPr>
        <p:spPr>
          <a:xfrm>
            <a:off x="3950208" y="1225296"/>
            <a:ext cx="3474720" cy="3273552"/>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0208" y="1225296"/>
            <a:ext cx="50292" cy="3273552"/>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6512" y="134416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DURING COVERING</a:t>
            </a:r>
          </a:p>
        </p:txBody>
      </p:sp>
      <p:sp>
        <p:nvSpPr>
          <p:cNvPr id="16" name="Rounded Rectangle 15"/>
          <p:cNvSpPr/>
          <p:nvPr/>
        </p:nvSpPr>
        <p:spPr>
          <a:xfrm>
            <a:off x="347472" y="4828032"/>
            <a:ext cx="3474720" cy="3273552"/>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4828032"/>
            <a:ext cx="50292" cy="3273552"/>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494690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AFTER COVERING</a:t>
            </a:r>
          </a:p>
        </p:txBody>
      </p:sp>
      <p:sp>
        <p:nvSpPr>
          <p:cNvPr id="20" name="Rounded Rectangle 19"/>
          <p:cNvSpPr/>
          <p:nvPr/>
        </p:nvSpPr>
        <p:spPr>
          <a:xfrm>
            <a:off x="3950208" y="4828032"/>
            <a:ext cx="3474720" cy="3273552"/>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50208" y="4828032"/>
            <a:ext cx="50292" cy="3273552"/>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96512" y="494690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FINISHING DISCIPLINE</a:t>
            </a:r>
          </a:p>
        </p:txBody>
      </p:sp>
      <p:sp>
        <p:nvSpPr>
          <p:cNvPr id="24" name="TextBox 23"/>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52</a:t>
            </a:r>
          </a:p>
        </p:txBody>
      </p:sp>
      <p:sp>
        <p:nvSpPr>
          <p:cNvPr id="25" name="Rectangle 24"/>
          <p:cNvSpPr/>
          <p:nvPr/>
        </p:nvSpPr>
        <p:spPr>
          <a:xfrm>
            <a:off x="512064" y="1751076"/>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1737360"/>
            <a:ext cx="3108960" cy="402336"/>
          </a:xfrm>
          <a:prstGeom prst="rect">
            <a:avLst/>
          </a:prstGeom>
          <a:noFill/>
        </p:spPr>
        <p:txBody>
          <a:bodyPr wrap="square" lIns="0" rIns="0" tIns="0" bIns="0">
            <a:spAutoFit/>
          </a:bodyPr>
          <a:lstStyle/>
          <a:p>
            <a:pPr algn="l"/>
            <a:r>
              <a:rPr sz="1000" b="0" i="0">
                <a:solidFill>
                  <a:srgbClr val="20263A"/>
                </a:solidFill>
                <a:latin typeface="Arial"/>
              </a:rPr>
              <a:t>Wing panels match in incidence and washout.</a:t>
            </a:r>
          </a:p>
        </p:txBody>
      </p:sp>
      <p:sp>
        <p:nvSpPr>
          <p:cNvPr id="27" name="Rectangle 26"/>
          <p:cNvSpPr/>
          <p:nvPr/>
        </p:nvSpPr>
        <p:spPr>
          <a:xfrm>
            <a:off x="512064" y="2409444"/>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2395728"/>
            <a:ext cx="3108960" cy="402336"/>
          </a:xfrm>
          <a:prstGeom prst="rect">
            <a:avLst/>
          </a:prstGeom>
          <a:noFill/>
        </p:spPr>
        <p:txBody>
          <a:bodyPr wrap="square" lIns="0" rIns="0" tIns="0" bIns="0">
            <a:spAutoFit/>
          </a:bodyPr>
          <a:lstStyle/>
          <a:p>
            <a:pPr algn="l"/>
            <a:r>
              <a:rPr sz="1000" b="0" i="0">
                <a:solidFill>
                  <a:srgbClr val="20263A"/>
                </a:solidFill>
                <a:latin typeface="Arial"/>
              </a:rPr>
              <a:t>Horizontal tail is square to the fuselage centerline.</a:t>
            </a:r>
          </a:p>
        </p:txBody>
      </p:sp>
      <p:sp>
        <p:nvSpPr>
          <p:cNvPr id="29" name="Rectangle 28"/>
          <p:cNvSpPr/>
          <p:nvPr/>
        </p:nvSpPr>
        <p:spPr>
          <a:xfrm>
            <a:off x="512064" y="3067812"/>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3054096"/>
            <a:ext cx="3108960" cy="402336"/>
          </a:xfrm>
          <a:prstGeom prst="rect">
            <a:avLst/>
          </a:prstGeom>
          <a:noFill/>
        </p:spPr>
        <p:txBody>
          <a:bodyPr wrap="square" lIns="0" rIns="0" tIns="0" bIns="0">
            <a:spAutoFit/>
          </a:bodyPr>
          <a:lstStyle/>
          <a:p>
            <a:pPr algn="l"/>
            <a:r>
              <a:rPr sz="1000" b="0" i="0">
                <a:solidFill>
                  <a:srgbClr val="20263A"/>
                </a:solidFill>
                <a:latin typeface="Arial"/>
              </a:rPr>
              <a:t>Fin is vertical.</a:t>
            </a:r>
          </a:p>
        </p:txBody>
      </p:sp>
      <p:sp>
        <p:nvSpPr>
          <p:cNvPr id="31" name="Rectangle 30"/>
          <p:cNvSpPr/>
          <p:nvPr/>
        </p:nvSpPr>
        <p:spPr>
          <a:xfrm>
            <a:off x="512064" y="3726179"/>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2" y="3712463"/>
            <a:ext cx="3108960" cy="402336"/>
          </a:xfrm>
          <a:prstGeom prst="rect">
            <a:avLst/>
          </a:prstGeom>
          <a:noFill/>
        </p:spPr>
        <p:txBody>
          <a:bodyPr wrap="square" lIns="0" rIns="0" tIns="0" bIns="0">
            <a:spAutoFit/>
          </a:bodyPr>
          <a:lstStyle/>
          <a:p>
            <a:pPr algn="l"/>
            <a:r>
              <a:rPr sz="1000" b="0" i="0">
                <a:solidFill>
                  <a:srgbClr val="20263A"/>
                </a:solidFill>
                <a:latin typeface="Arial"/>
              </a:rPr>
              <a:t>Control surfaces straight; hinge gaps consistent.</a:t>
            </a:r>
          </a:p>
        </p:txBody>
      </p:sp>
      <p:sp>
        <p:nvSpPr>
          <p:cNvPr id="33" name="Rectangle 32"/>
          <p:cNvSpPr/>
          <p:nvPr/>
        </p:nvSpPr>
        <p:spPr>
          <a:xfrm>
            <a:off x="4114800" y="1751076"/>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737360"/>
            <a:ext cx="3108960" cy="402336"/>
          </a:xfrm>
          <a:prstGeom prst="rect">
            <a:avLst/>
          </a:prstGeom>
          <a:noFill/>
        </p:spPr>
        <p:txBody>
          <a:bodyPr wrap="square" lIns="0" rIns="0" tIns="0" bIns="0">
            <a:spAutoFit/>
          </a:bodyPr>
          <a:lstStyle/>
          <a:p>
            <a:pPr algn="l"/>
            <a:r>
              <a:rPr sz="1000" b="0" i="0">
                <a:solidFill>
                  <a:srgbClr val="20263A"/>
                </a:solidFill>
                <a:latin typeface="Arial"/>
              </a:rPr>
              <a:t>Shrink opposite sides in stages.</a:t>
            </a:r>
          </a:p>
        </p:txBody>
      </p:sp>
      <p:sp>
        <p:nvSpPr>
          <p:cNvPr id="35" name="Rectangle 34"/>
          <p:cNvSpPr/>
          <p:nvPr/>
        </p:nvSpPr>
        <p:spPr>
          <a:xfrm>
            <a:off x="4114800" y="2409444"/>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61688" y="2395728"/>
            <a:ext cx="3108960" cy="402336"/>
          </a:xfrm>
          <a:prstGeom prst="rect">
            <a:avLst/>
          </a:prstGeom>
          <a:noFill/>
        </p:spPr>
        <p:txBody>
          <a:bodyPr wrap="square" lIns="0" rIns="0" tIns="0" bIns="0">
            <a:spAutoFit/>
          </a:bodyPr>
          <a:lstStyle/>
          <a:p>
            <a:pPr algn="l"/>
            <a:r>
              <a:rPr sz="1000" b="0" i="0">
                <a:solidFill>
                  <a:srgbClr val="20263A"/>
                </a:solidFill>
                <a:latin typeface="Arial"/>
              </a:rPr>
              <a:t>Support the panel on a flat jig.</a:t>
            </a:r>
          </a:p>
        </p:txBody>
      </p:sp>
      <p:sp>
        <p:nvSpPr>
          <p:cNvPr id="37" name="Rectangle 36"/>
          <p:cNvSpPr/>
          <p:nvPr/>
        </p:nvSpPr>
        <p:spPr>
          <a:xfrm>
            <a:off x="4114800" y="3067812"/>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61688" y="3054096"/>
            <a:ext cx="3108960" cy="402336"/>
          </a:xfrm>
          <a:prstGeom prst="rect">
            <a:avLst/>
          </a:prstGeom>
          <a:noFill/>
        </p:spPr>
        <p:txBody>
          <a:bodyPr wrap="square" lIns="0" rIns="0" tIns="0" bIns="0">
            <a:spAutoFit/>
          </a:bodyPr>
          <a:lstStyle/>
          <a:p>
            <a:pPr algn="l"/>
            <a:r>
              <a:rPr sz="1000" b="0" i="0">
                <a:solidFill>
                  <a:srgbClr val="20263A"/>
                </a:solidFill>
                <a:latin typeface="Arial"/>
              </a:rPr>
              <a:t>Recheck twist while the material is still warm.</a:t>
            </a:r>
          </a:p>
        </p:txBody>
      </p:sp>
      <p:sp>
        <p:nvSpPr>
          <p:cNvPr id="39" name="Rectangle 38"/>
          <p:cNvSpPr/>
          <p:nvPr/>
        </p:nvSpPr>
        <p:spPr>
          <a:xfrm>
            <a:off x="4114800" y="3726179"/>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61688" y="3712463"/>
            <a:ext cx="3108960" cy="402336"/>
          </a:xfrm>
          <a:prstGeom prst="rect">
            <a:avLst/>
          </a:prstGeom>
          <a:noFill/>
        </p:spPr>
        <p:txBody>
          <a:bodyPr wrap="square" lIns="0" rIns="0" tIns="0" bIns="0">
            <a:spAutoFit/>
          </a:bodyPr>
          <a:lstStyle/>
          <a:p>
            <a:pPr algn="l"/>
            <a:r>
              <a:rPr sz="1000" b="0" i="0">
                <a:solidFill>
                  <a:srgbClr val="20263A"/>
                </a:solidFill>
                <a:latin typeface="Arial"/>
              </a:rPr>
              <a:t>Keep heat away from foam and plastic parts.</a:t>
            </a:r>
          </a:p>
        </p:txBody>
      </p:sp>
      <p:sp>
        <p:nvSpPr>
          <p:cNvPr id="41" name="Rectangle 40"/>
          <p:cNvSpPr/>
          <p:nvPr/>
        </p:nvSpPr>
        <p:spPr>
          <a:xfrm>
            <a:off x="512064" y="5353812"/>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8952" y="5340096"/>
            <a:ext cx="3108960" cy="402336"/>
          </a:xfrm>
          <a:prstGeom prst="rect">
            <a:avLst/>
          </a:prstGeom>
          <a:noFill/>
        </p:spPr>
        <p:txBody>
          <a:bodyPr wrap="square" lIns="0" rIns="0" tIns="0" bIns="0">
            <a:spAutoFit/>
          </a:bodyPr>
          <a:lstStyle/>
          <a:p>
            <a:pPr algn="l"/>
            <a:r>
              <a:rPr sz="1000" b="0" i="0">
                <a:solidFill>
                  <a:srgbClr val="20263A"/>
                </a:solidFill>
                <a:latin typeface="Arial"/>
              </a:rPr>
              <a:t>Measure root and tip angles again.</a:t>
            </a:r>
          </a:p>
        </p:txBody>
      </p:sp>
      <p:sp>
        <p:nvSpPr>
          <p:cNvPr id="43" name="Rectangle 42"/>
          <p:cNvSpPr/>
          <p:nvPr/>
        </p:nvSpPr>
        <p:spPr>
          <a:xfrm>
            <a:off x="512064" y="6012179"/>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8952" y="5998464"/>
            <a:ext cx="3108960" cy="402336"/>
          </a:xfrm>
          <a:prstGeom prst="rect">
            <a:avLst/>
          </a:prstGeom>
          <a:noFill/>
        </p:spPr>
        <p:txBody>
          <a:bodyPr wrap="square" lIns="0" rIns="0" tIns="0" bIns="0">
            <a:spAutoFit/>
          </a:bodyPr>
          <a:lstStyle/>
          <a:p>
            <a:pPr algn="l"/>
            <a:r>
              <a:rPr sz="1000" b="0" i="0">
                <a:solidFill>
                  <a:srgbClr val="20263A"/>
                </a:solidFill>
                <a:latin typeface="Arial"/>
              </a:rPr>
              <a:t>Check the wing join and fasteners.</a:t>
            </a:r>
          </a:p>
        </p:txBody>
      </p:sp>
      <p:sp>
        <p:nvSpPr>
          <p:cNvPr id="45" name="Rectangle 44"/>
          <p:cNvSpPr/>
          <p:nvPr/>
        </p:nvSpPr>
        <p:spPr>
          <a:xfrm>
            <a:off x="512064" y="6670547"/>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8952" y="6656831"/>
            <a:ext cx="3108960" cy="402336"/>
          </a:xfrm>
          <a:prstGeom prst="rect">
            <a:avLst/>
          </a:prstGeom>
          <a:noFill/>
        </p:spPr>
        <p:txBody>
          <a:bodyPr wrap="square" lIns="0" rIns="0" tIns="0" bIns="0">
            <a:spAutoFit/>
          </a:bodyPr>
          <a:lstStyle/>
          <a:p>
            <a:pPr algn="l"/>
            <a:r>
              <a:rPr sz="1000" b="0" i="0">
                <a:solidFill>
                  <a:srgbClr val="20263A"/>
                </a:solidFill>
                <a:latin typeface="Arial"/>
              </a:rPr>
              <a:t>Verify all controls move freely.</a:t>
            </a:r>
          </a:p>
        </p:txBody>
      </p:sp>
      <p:sp>
        <p:nvSpPr>
          <p:cNvPr id="47" name="Rectangle 46"/>
          <p:cNvSpPr/>
          <p:nvPr/>
        </p:nvSpPr>
        <p:spPr>
          <a:xfrm>
            <a:off x="512064" y="7328915"/>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8952" y="7315199"/>
            <a:ext cx="3108960" cy="402336"/>
          </a:xfrm>
          <a:prstGeom prst="rect">
            <a:avLst/>
          </a:prstGeom>
          <a:noFill/>
        </p:spPr>
        <p:txBody>
          <a:bodyPr wrap="square" lIns="0" rIns="0" tIns="0" bIns="0">
            <a:spAutoFit/>
          </a:bodyPr>
          <a:lstStyle/>
          <a:p>
            <a:pPr algn="l"/>
            <a:r>
              <a:rPr sz="1000" b="0" i="0">
                <a:solidFill>
                  <a:srgbClr val="20263A"/>
                </a:solidFill>
                <a:latin typeface="Arial"/>
              </a:rPr>
              <a:t>Open cooling paths and servo hatches.</a:t>
            </a:r>
          </a:p>
        </p:txBody>
      </p:sp>
      <p:sp>
        <p:nvSpPr>
          <p:cNvPr id="49" name="Rectangle 48"/>
          <p:cNvSpPr/>
          <p:nvPr/>
        </p:nvSpPr>
        <p:spPr>
          <a:xfrm>
            <a:off x="4114800" y="5353812"/>
            <a:ext cx="146304" cy="146304"/>
          </a:xfrm>
          <a:prstGeom prst="rect">
            <a:avLst/>
          </a:prstGeom>
          <a:solidFill>
            <a:srgbClr val="FFFFFF"/>
          </a:solidFill>
          <a:ln w="19050">
            <a:solidFill>
              <a:srgbClr val="A23D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61688" y="5340096"/>
            <a:ext cx="3108960" cy="402336"/>
          </a:xfrm>
          <a:prstGeom prst="rect">
            <a:avLst/>
          </a:prstGeom>
          <a:noFill/>
        </p:spPr>
        <p:txBody>
          <a:bodyPr wrap="square" lIns="0" rIns="0" tIns="0" bIns="0">
            <a:spAutoFit/>
          </a:bodyPr>
          <a:lstStyle/>
          <a:p>
            <a:pPr algn="l"/>
            <a:r>
              <a:rPr sz="1000" b="0" i="0">
                <a:solidFill>
                  <a:srgbClr val="20263A"/>
                </a:solidFill>
                <a:latin typeface="Arial"/>
              </a:rPr>
              <a:t>Paint and filler have real mass.</a:t>
            </a:r>
          </a:p>
        </p:txBody>
      </p:sp>
      <p:sp>
        <p:nvSpPr>
          <p:cNvPr id="51" name="Rectangle 50"/>
          <p:cNvSpPr/>
          <p:nvPr/>
        </p:nvSpPr>
        <p:spPr>
          <a:xfrm>
            <a:off x="4114800" y="6012179"/>
            <a:ext cx="146304" cy="146304"/>
          </a:xfrm>
          <a:prstGeom prst="rect">
            <a:avLst/>
          </a:prstGeom>
          <a:solidFill>
            <a:srgbClr val="FFFFFF"/>
          </a:solidFill>
          <a:ln w="19050">
            <a:solidFill>
              <a:srgbClr val="A23D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61688" y="5998464"/>
            <a:ext cx="3108960" cy="402336"/>
          </a:xfrm>
          <a:prstGeom prst="rect">
            <a:avLst/>
          </a:prstGeom>
          <a:noFill/>
        </p:spPr>
        <p:txBody>
          <a:bodyPr wrap="square" lIns="0" rIns="0" tIns="0" bIns="0">
            <a:spAutoFit/>
          </a:bodyPr>
          <a:lstStyle/>
          <a:p>
            <a:pPr algn="l"/>
            <a:r>
              <a:rPr sz="1000" b="0" i="0">
                <a:solidFill>
                  <a:srgbClr val="20263A"/>
                </a:solidFill>
                <a:latin typeface="Arial"/>
              </a:rPr>
              <a:t>Keep the tail especially light.</a:t>
            </a:r>
          </a:p>
        </p:txBody>
      </p:sp>
      <p:sp>
        <p:nvSpPr>
          <p:cNvPr id="53" name="Rectangle 52"/>
          <p:cNvSpPr/>
          <p:nvPr/>
        </p:nvSpPr>
        <p:spPr>
          <a:xfrm>
            <a:off x="4114800" y="6670547"/>
            <a:ext cx="146304" cy="146304"/>
          </a:xfrm>
          <a:prstGeom prst="rect">
            <a:avLst/>
          </a:prstGeom>
          <a:solidFill>
            <a:srgbClr val="FFFFFF"/>
          </a:solidFill>
          <a:ln w="19050">
            <a:solidFill>
              <a:srgbClr val="A23D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61688" y="6656831"/>
            <a:ext cx="3108960" cy="402336"/>
          </a:xfrm>
          <a:prstGeom prst="rect">
            <a:avLst/>
          </a:prstGeom>
          <a:noFill/>
        </p:spPr>
        <p:txBody>
          <a:bodyPr wrap="square" lIns="0" rIns="0" tIns="0" bIns="0">
            <a:spAutoFit/>
          </a:bodyPr>
          <a:lstStyle/>
          <a:p>
            <a:pPr algn="l"/>
            <a:r>
              <a:rPr sz="1000" b="0" i="0">
                <a:solidFill>
                  <a:srgbClr val="20263A"/>
                </a:solidFill>
                <a:latin typeface="Arial"/>
              </a:rPr>
              <a:t>Balance the spinner and propeller.</a:t>
            </a:r>
          </a:p>
        </p:txBody>
      </p:sp>
      <p:sp>
        <p:nvSpPr>
          <p:cNvPr id="55" name="Rectangle 54"/>
          <p:cNvSpPr/>
          <p:nvPr/>
        </p:nvSpPr>
        <p:spPr>
          <a:xfrm>
            <a:off x="4114800" y="7328915"/>
            <a:ext cx="146304" cy="146304"/>
          </a:xfrm>
          <a:prstGeom prst="rect">
            <a:avLst/>
          </a:prstGeom>
          <a:solidFill>
            <a:srgbClr val="FFFFFF"/>
          </a:solidFill>
          <a:ln w="19050">
            <a:solidFill>
              <a:srgbClr val="A23D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361688" y="7315199"/>
            <a:ext cx="3108960" cy="402336"/>
          </a:xfrm>
          <a:prstGeom prst="rect">
            <a:avLst/>
          </a:prstGeom>
          <a:noFill/>
        </p:spPr>
        <p:txBody>
          <a:bodyPr wrap="square" lIns="0" rIns="0" tIns="0" bIns="0">
            <a:spAutoFit/>
          </a:bodyPr>
          <a:lstStyle/>
          <a:p>
            <a:pPr algn="l"/>
            <a:r>
              <a:rPr sz="1000" b="0" i="0">
                <a:solidFill>
                  <a:srgbClr val="20263A"/>
                </a:solidFill>
                <a:latin typeface="Arial"/>
              </a:rPr>
              <a:t>Mark the CG points permanently under the wing.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C83E3E"/>
                </a:solidFill>
                <a:latin typeface="Arial"/>
              </a:rPr>
              <a:t>BUILD THE STRUCTURE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Weight distribution and component placement</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lightest airplane is not enough; mass must also be located where the design can balance without dead ballast.</a:t>
            </a:r>
          </a:p>
        </p:txBody>
      </p:sp>
      <p:sp>
        <p:nvSpPr>
          <p:cNvPr id="8" name="Rounded Rectangle 7"/>
          <p:cNvSpPr/>
          <p:nvPr/>
        </p:nvSpPr>
        <p:spPr>
          <a:xfrm>
            <a:off x="347472" y="1188720"/>
            <a:ext cx="7077456" cy="288036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47472" y="4334256"/>
            <a:ext cx="3474720" cy="1536192"/>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7472" y="4334256"/>
            <a:ext cx="50292" cy="1536192"/>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3776" y="445312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PLACEMENT ORDER</a:t>
            </a:r>
          </a:p>
        </p:txBody>
      </p:sp>
      <p:sp>
        <p:nvSpPr>
          <p:cNvPr id="30" name="TextBox 29"/>
          <p:cNvSpPr txBox="1"/>
          <p:nvPr/>
        </p:nvSpPr>
        <p:spPr>
          <a:xfrm>
            <a:off x="493776" y="4727448"/>
            <a:ext cx="3200400" cy="1042415"/>
          </a:xfrm>
          <a:prstGeom prst="rect">
            <a:avLst/>
          </a:prstGeom>
          <a:noFill/>
        </p:spPr>
        <p:txBody>
          <a:bodyPr wrap="square" lIns="18288" rIns="9144" tIns="9144" bIns="9144">
            <a:spAutoFit/>
          </a:bodyPr>
          <a:lstStyle/>
          <a:p>
            <a:pPr>
              <a:lnSpc>
                <a:spcPct val="100000"/>
              </a:lnSpc>
              <a:spcAft>
                <a:spcPts val="250"/>
              </a:spcAft>
            </a:pPr>
            <a:r>
              <a:rPr sz="880">
                <a:solidFill>
                  <a:srgbClr val="20263A"/>
                </a:solidFill>
                <a:latin typeface="Arial"/>
              </a:rPr>
              <a:t>• Fix immovable masses first: motor, landing gear, servos.</a:t>
            </a:r>
          </a:p>
          <a:p>
            <a:pPr>
              <a:lnSpc>
                <a:spcPct val="100000"/>
              </a:lnSpc>
              <a:spcAft>
                <a:spcPts val="250"/>
              </a:spcAft>
            </a:pPr>
            <a:r>
              <a:rPr sz="880">
                <a:solidFill>
                  <a:srgbClr val="20263A"/>
                </a:solidFill>
                <a:latin typeface="Arial"/>
              </a:rPr>
              <a:t>• Create a useful battery adjustment range.</a:t>
            </a:r>
          </a:p>
          <a:p>
            <a:pPr>
              <a:lnSpc>
                <a:spcPct val="100000"/>
              </a:lnSpc>
              <a:spcAft>
                <a:spcPts val="250"/>
              </a:spcAft>
            </a:pPr>
            <a:r>
              <a:rPr sz="880">
                <a:solidFill>
                  <a:srgbClr val="20263A"/>
                </a:solidFill>
                <a:latin typeface="Arial"/>
              </a:rPr>
              <a:t>• Keep receiver and antennas away from high-current wiring.</a:t>
            </a:r>
          </a:p>
        </p:txBody>
      </p:sp>
      <p:sp>
        <p:nvSpPr>
          <p:cNvPr id="31" name="Rounded Rectangle 30"/>
          <p:cNvSpPr/>
          <p:nvPr/>
        </p:nvSpPr>
        <p:spPr>
          <a:xfrm>
            <a:off x="3950208" y="4334256"/>
            <a:ext cx="3474720" cy="1536192"/>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50208" y="4334256"/>
            <a:ext cx="50292" cy="1536192"/>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96512" y="445312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AVOID DEAD BALLAST</a:t>
            </a:r>
          </a:p>
        </p:txBody>
      </p:sp>
      <p:sp>
        <p:nvSpPr>
          <p:cNvPr id="34" name="TextBox 33"/>
          <p:cNvSpPr txBox="1"/>
          <p:nvPr/>
        </p:nvSpPr>
        <p:spPr>
          <a:xfrm>
            <a:off x="4096512" y="4727448"/>
            <a:ext cx="3200400" cy="1042415"/>
          </a:xfrm>
          <a:prstGeom prst="rect">
            <a:avLst/>
          </a:prstGeom>
          <a:noFill/>
        </p:spPr>
        <p:txBody>
          <a:bodyPr wrap="square" lIns="18288" rIns="9144" tIns="9144" bIns="9144">
            <a:spAutoFit/>
          </a:bodyPr>
          <a:lstStyle/>
          <a:p>
            <a:pPr>
              <a:lnSpc>
                <a:spcPct val="100000"/>
              </a:lnSpc>
              <a:spcAft>
                <a:spcPts val="250"/>
              </a:spcAft>
            </a:pPr>
            <a:r>
              <a:rPr sz="880">
                <a:solidFill>
                  <a:srgbClr val="20263A"/>
                </a:solidFill>
                <a:latin typeface="Arial"/>
              </a:rPr>
              <a:t>• Move battery, servos, or equipment before adding lead.</a:t>
            </a:r>
          </a:p>
          <a:p>
            <a:pPr>
              <a:lnSpc>
                <a:spcPct val="100000"/>
              </a:lnSpc>
              <a:spcAft>
                <a:spcPts val="250"/>
              </a:spcAft>
            </a:pPr>
            <a:r>
              <a:rPr sz="880">
                <a:solidFill>
                  <a:srgbClr val="20263A"/>
                </a:solidFill>
                <a:latin typeface="Arial"/>
              </a:rPr>
              <a:t>• A heavy tail requires a much larger nose correction.</a:t>
            </a:r>
          </a:p>
          <a:p>
            <a:pPr>
              <a:lnSpc>
                <a:spcPct val="100000"/>
              </a:lnSpc>
              <a:spcAft>
                <a:spcPts val="250"/>
              </a:spcAft>
            </a:pPr>
            <a:r>
              <a:rPr sz="880">
                <a:solidFill>
                  <a:srgbClr val="20263A"/>
                </a:solidFill>
                <a:latin typeface="Arial"/>
              </a:rPr>
              <a:t>• Long tail pushrods may be lighter than tail-mounted servos.</a:t>
            </a:r>
          </a:p>
        </p:txBody>
      </p:sp>
      <p:sp>
        <p:nvSpPr>
          <p:cNvPr id="35" name="Rounded Rectangle 34"/>
          <p:cNvSpPr/>
          <p:nvPr/>
        </p:nvSpPr>
        <p:spPr>
          <a:xfrm>
            <a:off x="347472" y="6144768"/>
            <a:ext cx="3474720" cy="1426464"/>
          </a:xfrm>
          <a:prstGeom prst="roundRect">
            <a:avLst>
              <a:gd name="adj" fmla="val 8000"/>
            </a:avLst>
          </a:prstGeom>
          <a:solidFill>
            <a:srgbClr val="FDEEEE"/>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47472" y="6144768"/>
            <a:ext cx="54864" cy="1426464"/>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254496"/>
            <a:ext cx="3209544" cy="164592"/>
          </a:xfrm>
          <a:prstGeom prst="rect">
            <a:avLst/>
          </a:prstGeom>
          <a:noFill/>
        </p:spPr>
        <p:txBody>
          <a:bodyPr wrap="square" lIns="0" rIns="0" tIns="0" bIns="0" anchor="t">
            <a:spAutoFit/>
          </a:bodyPr>
          <a:lstStyle/>
          <a:p>
            <a:pPr algn="l">
              <a:lnSpc>
                <a:spcPct val="100000"/>
              </a:lnSpc>
            </a:pPr>
            <a:r>
              <a:rPr sz="840" b="1" i="0">
                <a:solidFill>
                  <a:srgbClr val="C83E3E"/>
                </a:solidFill>
                <a:latin typeface="Arial"/>
              </a:rPr>
              <a:t>MOMENT BALANCE</a:t>
            </a:r>
          </a:p>
        </p:txBody>
      </p:sp>
      <p:sp>
        <p:nvSpPr>
          <p:cNvPr id="38" name="TextBox 37"/>
          <p:cNvSpPr txBox="1"/>
          <p:nvPr/>
        </p:nvSpPr>
        <p:spPr>
          <a:xfrm>
            <a:off x="502920" y="6510528"/>
            <a:ext cx="3209544" cy="365760"/>
          </a:xfrm>
          <a:prstGeom prst="rect">
            <a:avLst/>
          </a:prstGeom>
          <a:noFill/>
        </p:spPr>
        <p:txBody>
          <a:bodyPr wrap="square" lIns="0" rIns="0" tIns="0" bIns="0" anchor="ctr">
            <a:spAutoFit/>
          </a:bodyPr>
          <a:lstStyle/>
          <a:p>
            <a:pPr algn="ctr">
              <a:lnSpc>
                <a:spcPct val="100000"/>
              </a:lnSpc>
            </a:pPr>
            <a:r>
              <a:rPr sz="1700" b="1" i="0">
                <a:solidFill>
                  <a:srgbClr val="20263A"/>
                </a:solidFill>
                <a:latin typeface="Arial"/>
              </a:rPr>
              <a:t>Σ(m × distance) = 0</a:t>
            </a:r>
          </a:p>
        </p:txBody>
      </p:sp>
      <p:sp>
        <p:nvSpPr>
          <p:cNvPr id="39" name="TextBox 38"/>
          <p:cNvSpPr txBox="1"/>
          <p:nvPr/>
        </p:nvSpPr>
        <p:spPr>
          <a:xfrm>
            <a:off x="502920" y="6986016"/>
            <a:ext cx="3209544" cy="484632"/>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Measure distances from the desired CG. Nose moments balance tail moments.</a:t>
            </a:r>
          </a:p>
        </p:txBody>
      </p:sp>
      <p:sp>
        <p:nvSpPr>
          <p:cNvPr id="40" name="Rounded Rectangle 39"/>
          <p:cNvSpPr/>
          <p:nvPr/>
        </p:nvSpPr>
        <p:spPr>
          <a:xfrm>
            <a:off x="3950208" y="6144768"/>
            <a:ext cx="3474720" cy="142646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950208" y="6144768"/>
            <a:ext cx="50292" cy="1426464"/>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096512" y="626364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INSTALLATION RULE</a:t>
            </a:r>
          </a:p>
        </p:txBody>
      </p:sp>
      <p:sp>
        <p:nvSpPr>
          <p:cNvPr id="43" name="TextBox 42"/>
          <p:cNvSpPr txBox="1"/>
          <p:nvPr/>
        </p:nvSpPr>
        <p:spPr>
          <a:xfrm>
            <a:off x="4096512" y="6537959"/>
            <a:ext cx="3200400" cy="932688"/>
          </a:xfrm>
          <a:prstGeom prst="rect">
            <a:avLst/>
          </a:prstGeom>
          <a:noFill/>
        </p:spPr>
        <p:txBody>
          <a:bodyPr wrap="square" lIns="18288" rIns="9144" tIns="9144" bIns="9144">
            <a:spAutoFit/>
          </a:bodyPr>
          <a:lstStyle/>
          <a:p>
            <a:pPr>
              <a:lnSpc>
                <a:spcPct val="100000"/>
              </a:lnSpc>
              <a:spcAft>
                <a:spcPts val="250"/>
              </a:spcAft>
            </a:pPr>
            <a:r>
              <a:rPr sz="850">
                <a:solidFill>
                  <a:srgbClr val="20263A"/>
                </a:solidFill>
                <a:latin typeface="Arial"/>
              </a:rPr>
              <a:t>• Secure the battery for all flight loads.</a:t>
            </a:r>
          </a:p>
          <a:p>
            <a:pPr>
              <a:lnSpc>
                <a:spcPct val="100000"/>
              </a:lnSpc>
              <a:spcAft>
                <a:spcPts val="250"/>
              </a:spcAft>
            </a:pPr>
            <a:r>
              <a:rPr sz="850">
                <a:solidFill>
                  <a:srgbClr val="20263A"/>
                </a:solidFill>
                <a:latin typeface="Arial"/>
              </a:rPr>
              <a:t>• Protect it from sharp edges.</a:t>
            </a:r>
          </a:p>
          <a:p>
            <a:pPr>
              <a:lnSpc>
                <a:spcPct val="100000"/>
              </a:lnSpc>
              <a:spcAft>
                <a:spcPts val="250"/>
              </a:spcAft>
            </a:pPr>
            <a:r>
              <a:rPr sz="850">
                <a:solidFill>
                  <a:srgbClr val="20263A"/>
                </a:solidFill>
                <a:latin typeface="Arial"/>
              </a:rPr>
              <a:t>• Keep access simple enough that it is always installed correctly.</a:t>
            </a:r>
          </a:p>
        </p:txBody>
      </p:sp>
      <p:sp>
        <p:nvSpPr>
          <p:cNvPr id="44" name="TextBox 43"/>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Balance the complete flight-ready aircraft with the actual propeller, battery, hatch, and landing gear installed.</a:t>
            </a:r>
          </a:p>
        </p:txBody>
      </p:sp>
      <p:sp>
        <p:nvSpPr>
          <p:cNvPr id="45" name="TextBox 44"/>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53</a:t>
            </a:r>
          </a:p>
        </p:txBody>
      </p:sp>
      <p:sp>
        <p:nvSpPr>
          <p:cNvPr id="9" name="Freeform 8"/>
          <p:cNvSpPr/>
          <p:nvPr/>
        </p:nvSpPr>
        <p:spPr>
          <a:xfrm>
            <a:off x="832104" y="2450592"/>
            <a:ext cx="5989320" cy="347472"/>
          </a:xfrm>
          <a:custGeom>
            <a:avLst/>
            <a:gdLst/>
            <a:ahLst/>
            <a:cxnLst/>
            <a:rect l="l" t="t" r="r" b="b"/>
            <a:pathLst>
              <a:path w="5989320" h="347472">
                <a:moveTo>
                  <a:pt x="0" y="54864"/>
                </a:moveTo>
                <a:lnTo>
                  <a:pt x="5166360" y="27432"/>
                </a:lnTo>
                <a:lnTo>
                  <a:pt x="5989320" y="0"/>
                </a:lnTo>
                <a:lnTo>
                  <a:pt x="5989320" y="210312"/>
                </a:lnTo>
                <a:lnTo>
                  <a:pt x="502920" y="347472"/>
                </a:lnTo>
                <a:lnTo>
                  <a:pt x="0" y="292608"/>
                </a:lnTo>
                <a:close/>
              </a:path>
            </a:pathLst>
          </a:custGeom>
          <a:solidFill>
            <a:srgbClr val="F7F9FC"/>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704088" y="2532888"/>
            <a:ext cx="128016" cy="182880"/>
          </a:xfrm>
          <a:custGeom>
            <a:avLst/>
            <a:gdLst/>
            <a:ahLst/>
            <a:cxnLst/>
            <a:rect l="l" t="t" r="r" b="b"/>
            <a:pathLst>
              <a:path w="128016" h="182880">
                <a:moveTo>
                  <a:pt x="128016" y="0"/>
                </a:moveTo>
                <a:lnTo>
                  <a:pt x="0" y="91440"/>
                </a:lnTo>
                <a:lnTo>
                  <a:pt x="128016" y="182880"/>
                </a:lnTo>
                <a:close/>
              </a:path>
            </a:pathLst>
          </a:custGeom>
          <a:solidFill>
            <a:srgbClr val="D8DDE8"/>
          </a:solidFill>
          <a:ln w="1270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676656" y="2276856"/>
            <a:ext cx="0" cy="694944"/>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2414016" y="2225421"/>
            <a:ext cx="2240280" cy="374126"/>
          </a:xfrm>
          <a:custGeom>
            <a:avLst/>
            <a:gdLst/>
            <a:ahLst/>
            <a:cxnLst/>
            <a:rect l="l" t="t" r="r" b="b"/>
            <a:pathLst>
              <a:path w="2240280" h="374126">
                <a:moveTo>
                  <a:pt x="0" y="280035"/>
                </a:moveTo>
                <a:lnTo>
                  <a:pt x="33604" y="183702"/>
                </a:lnTo>
                <a:lnTo>
                  <a:pt x="89611" y="141137"/>
                </a:lnTo>
                <a:lnTo>
                  <a:pt x="179222" y="96332"/>
                </a:lnTo>
                <a:lnTo>
                  <a:pt x="336042" y="49286"/>
                </a:lnTo>
                <a:lnTo>
                  <a:pt x="560070" y="8961"/>
                </a:lnTo>
                <a:lnTo>
                  <a:pt x="672084" y="0"/>
                </a:lnTo>
                <a:lnTo>
                  <a:pt x="896112" y="8961"/>
                </a:lnTo>
                <a:lnTo>
                  <a:pt x="1120140" y="33604"/>
                </a:lnTo>
                <a:lnTo>
                  <a:pt x="1344168" y="71688"/>
                </a:lnTo>
                <a:lnTo>
                  <a:pt x="1568196" y="118734"/>
                </a:lnTo>
                <a:lnTo>
                  <a:pt x="1792224" y="170261"/>
                </a:lnTo>
                <a:lnTo>
                  <a:pt x="2016252" y="221787"/>
                </a:lnTo>
                <a:lnTo>
                  <a:pt x="2240280" y="275554"/>
                </a:lnTo>
                <a:lnTo>
                  <a:pt x="2240280" y="280035"/>
                </a:lnTo>
                <a:lnTo>
                  <a:pt x="2016252" y="286755"/>
                </a:lnTo>
                <a:lnTo>
                  <a:pt x="1792224" y="295716"/>
                </a:lnTo>
                <a:lnTo>
                  <a:pt x="1568196" y="306918"/>
                </a:lnTo>
                <a:lnTo>
                  <a:pt x="1344168" y="320360"/>
                </a:lnTo>
                <a:lnTo>
                  <a:pt x="1120140" y="333801"/>
                </a:lnTo>
                <a:lnTo>
                  <a:pt x="896112" y="347243"/>
                </a:lnTo>
                <a:lnTo>
                  <a:pt x="672084" y="360685"/>
                </a:lnTo>
                <a:lnTo>
                  <a:pt x="560070" y="365165"/>
                </a:lnTo>
                <a:lnTo>
                  <a:pt x="336042" y="374126"/>
                </a:lnTo>
                <a:lnTo>
                  <a:pt x="179222" y="371886"/>
                </a:lnTo>
                <a:lnTo>
                  <a:pt x="89611" y="360685"/>
                </a:lnTo>
                <a:lnTo>
                  <a:pt x="33604" y="342762"/>
                </a:lnTo>
                <a:close/>
              </a:path>
            </a:pathLst>
          </a:custGeom>
          <a:solidFill>
            <a:srgbClr val="EDF4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5742432" y="2468880"/>
            <a:ext cx="713232" cy="109728"/>
          </a:xfrm>
          <a:custGeom>
            <a:avLst/>
            <a:gdLst/>
            <a:ahLst/>
            <a:cxnLst/>
            <a:rect l="l" t="t" r="r" b="b"/>
            <a:pathLst>
              <a:path w="713232" h="109728">
                <a:moveTo>
                  <a:pt x="0" y="9144"/>
                </a:moveTo>
                <a:lnTo>
                  <a:pt x="713232" y="0"/>
                </a:lnTo>
                <a:lnTo>
                  <a:pt x="713232" y="109728"/>
                </a:lnTo>
                <a:lnTo>
                  <a:pt x="0" y="100584"/>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55664" y="2459736"/>
            <a:ext cx="420624" cy="118872"/>
          </a:xfrm>
          <a:custGeom>
            <a:avLst/>
            <a:gdLst/>
            <a:ahLst/>
            <a:cxnLst/>
            <a:rect l="l" t="t" r="r" b="b"/>
            <a:pathLst>
              <a:path w="420624" h="118872">
                <a:moveTo>
                  <a:pt x="0" y="9144"/>
                </a:moveTo>
                <a:lnTo>
                  <a:pt x="420624" y="0"/>
                </a:lnTo>
                <a:lnTo>
                  <a:pt x="420624" y="109728"/>
                </a:lnTo>
                <a:lnTo>
                  <a:pt x="0" y="118872"/>
                </a:lnTo>
                <a:close/>
              </a:path>
            </a:pathLst>
          </a:custGeom>
          <a:solidFill>
            <a:srgbClr val="D4EEDD"/>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5888736" y="1929384"/>
            <a:ext cx="530352" cy="548640"/>
          </a:xfrm>
          <a:custGeom>
            <a:avLst/>
            <a:gdLst/>
            <a:ahLst/>
            <a:cxnLst/>
            <a:rect l="l" t="t" r="r" b="b"/>
            <a:pathLst>
              <a:path w="530352" h="548640">
                <a:moveTo>
                  <a:pt x="0" y="548640"/>
                </a:moveTo>
                <a:lnTo>
                  <a:pt x="402336" y="0"/>
                </a:lnTo>
                <a:lnTo>
                  <a:pt x="530352" y="0"/>
                </a:lnTo>
                <a:lnTo>
                  <a:pt x="530352" y="544068"/>
                </a:lnTo>
                <a:close/>
              </a:path>
            </a:pathLst>
          </a:cu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6419088" y="1929384"/>
            <a:ext cx="384048" cy="544068"/>
          </a:xfrm>
          <a:custGeom>
            <a:avLst/>
            <a:gdLst/>
            <a:ahLst/>
            <a:cxnLst/>
            <a:rect l="l" t="t" r="r" b="b"/>
            <a:pathLst>
              <a:path w="384048" h="544068">
                <a:moveTo>
                  <a:pt x="0" y="0"/>
                </a:moveTo>
                <a:lnTo>
                  <a:pt x="347472" y="54864"/>
                </a:lnTo>
                <a:lnTo>
                  <a:pt x="384048" y="539496"/>
                </a:lnTo>
                <a:lnTo>
                  <a:pt x="0" y="544068"/>
                </a:lnTo>
                <a:close/>
              </a:path>
            </a:pathLst>
          </a:custGeom>
          <a:solidFill>
            <a:srgbClr val="D4EEDD"/>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3099816" y="2770632"/>
            <a:ext cx="0" cy="164592"/>
          </a:xfrm>
          <a:prstGeom prst="line">
            <a:avLst/>
          </a:prstGeom>
          <a:ln w="1905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2980944" y="2916936"/>
            <a:ext cx="237744" cy="237744"/>
          </a:xfrm>
          <a:prstGeom prst="ellipse">
            <a:avLst/>
          </a:prstGeom>
          <a:solidFill>
            <a:srgbClr val="FFFFFF"/>
          </a:solidFill>
          <a:ln w="19050">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364224" y="2651760"/>
            <a:ext cx="128016" cy="128016"/>
          </a:xfrm>
          <a:prstGeom prst="ellipse">
            <a:avLst/>
          </a:prstGeom>
          <a:solidFill>
            <a:srgbClr val="FFFFFF"/>
          </a:solidFill>
          <a:ln w="1587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595420" y="2071115"/>
            <a:ext cx="0" cy="419710"/>
          </a:xfrm>
          <a:prstGeom prst="line">
            <a:avLst/>
          </a:prstGeom>
          <a:ln w="22860">
            <a:solidFill>
              <a:srgbClr val="C83E3E"/>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503249" y="2502484"/>
            <a:ext cx="184343" cy="184343"/>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7052" y="1837943"/>
            <a:ext cx="1316736" cy="326440"/>
          </a:xfrm>
          <a:prstGeom prst="rect">
            <a:avLst/>
          </a:prstGeom>
          <a:noFill/>
        </p:spPr>
        <p:txBody>
          <a:bodyPr wrap="square" lIns="0" rIns="0" tIns="0" bIns="0" anchor="t">
            <a:spAutoFit/>
          </a:bodyPr>
          <a:lstStyle/>
          <a:p>
            <a:pPr algn="ctr">
              <a:lnSpc>
                <a:spcPct val="100000"/>
              </a:lnSpc>
            </a:pPr>
            <a:r>
              <a:rPr sz="850" b="1" i="0">
                <a:solidFill>
                  <a:srgbClr val="C83E3E"/>
                </a:solidFill>
                <a:latin typeface="Arial"/>
              </a:rPr>
              <a:t>CG</a:t>
            </a:r>
          </a:p>
        </p:txBody>
      </p:sp>
      <p:sp>
        <p:nvSpPr>
          <p:cNvPr id="19" name="Rounded Rectangle 18"/>
          <p:cNvSpPr/>
          <p:nvPr/>
        </p:nvSpPr>
        <p:spPr>
          <a:xfrm>
            <a:off x="713232" y="1920240"/>
            <a:ext cx="1143000" cy="256032"/>
          </a:xfrm>
          <a:prstGeom prst="roundRect">
            <a:avLst>
              <a:gd name="adj" fmla="val 8000"/>
            </a:avLst>
          </a:prstGeom>
          <a:solidFill>
            <a:srgbClr val="FF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1970532"/>
            <a:ext cx="1033271" cy="146304"/>
          </a:xfrm>
          <a:prstGeom prst="rect">
            <a:avLst/>
          </a:prstGeom>
          <a:noFill/>
        </p:spPr>
        <p:txBody>
          <a:bodyPr wrap="square" lIns="0" rIns="0" tIns="0" bIns="0" anchor="ctr">
            <a:spAutoFit/>
          </a:bodyPr>
          <a:lstStyle/>
          <a:p>
            <a:pPr algn="ctr">
              <a:lnSpc>
                <a:spcPct val="100000"/>
              </a:lnSpc>
            </a:pPr>
            <a:r>
              <a:rPr sz="830" b="1" i="0">
                <a:solidFill>
                  <a:srgbClr val="E0702B"/>
                </a:solidFill>
                <a:latin typeface="Arial"/>
              </a:rPr>
              <a:t>MOTOR + ESC</a:t>
            </a:r>
          </a:p>
        </p:txBody>
      </p:sp>
      <p:sp>
        <p:nvSpPr>
          <p:cNvPr id="21" name="Rounded Rectangle 20"/>
          <p:cNvSpPr/>
          <p:nvPr/>
        </p:nvSpPr>
        <p:spPr>
          <a:xfrm>
            <a:off x="2057400" y="2880360"/>
            <a:ext cx="1143000" cy="256032"/>
          </a:xfrm>
          <a:prstGeom prst="roundRect">
            <a:avLst>
              <a:gd name="adj" fmla="val 8000"/>
            </a:avLst>
          </a:prstGeom>
          <a:solidFill>
            <a:srgbClr val="F6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12264" y="2930652"/>
            <a:ext cx="1033271" cy="146304"/>
          </a:xfrm>
          <a:prstGeom prst="rect">
            <a:avLst/>
          </a:prstGeom>
          <a:noFill/>
        </p:spPr>
        <p:txBody>
          <a:bodyPr wrap="square" lIns="0" rIns="0" tIns="0" bIns="0" anchor="ctr">
            <a:spAutoFit/>
          </a:bodyPr>
          <a:lstStyle/>
          <a:p>
            <a:pPr algn="ctr">
              <a:lnSpc>
                <a:spcPct val="100000"/>
              </a:lnSpc>
            </a:pPr>
            <a:r>
              <a:rPr sz="830" b="1" i="0">
                <a:solidFill>
                  <a:srgbClr val="A23DB6"/>
                </a:solidFill>
                <a:latin typeface="Arial"/>
              </a:rPr>
              <a:t>BATTERY SLIDES</a:t>
            </a:r>
          </a:p>
        </p:txBody>
      </p:sp>
      <p:sp>
        <p:nvSpPr>
          <p:cNvPr id="23" name="Rounded Rectangle 22"/>
          <p:cNvSpPr/>
          <p:nvPr/>
        </p:nvSpPr>
        <p:spPr>
          <a:xfrm>
            <a:off x="3703320" y="1938528"/>
            <a:ext cx="960120" cy="256032"/>
          </a:xfrm>
          <a:prstGeom prst="roundRect">
            <a:avLst>
              <a:gd name="adj" fmla="val 8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58183" y="1988820"/>
            <a:ext cx="850392" cy="146304"/>
          </a:xfrm>
          <a:prstGeom prst="rect">
            <a:avLst/>
          </a:prstGeom>
          <a:noFill/>
        </p:spPr>
        <p:txBody>
          <a:bodyPr wrap="square" lIns="0" rIns="0" tIns="0" bIns="0" anchor="ctr">
            <a:spAutoFit/>
          </a:bodyPr>
          <a:lstStyle/>
          <a:p>
            <a:pPr algn="ctr">
              <a:lnSpc>
                <a:spcPct val="100000"/>
              </a:lnSpc>
            </a:pPr>
            <a:r>
              <a:rPr sz="830" b="1" i="0">
                <a:solidFill>
                  <a:srgbClr val="246BCE"/>
                </a:solidFill>
                <a:latin typeface="Arial"/>
              </a:rPr>
              <a:t>RECEIVER</a:t>
            </a:r>
          </a:p>
        </p:txBody>
      </p:sp>
      <p:sp>
        <p:nvSpPr>
          <p:cNvPr id="25" name="Rounded Rectangle 24"/>
          <p:cNvSpPr/>
          <p:nvPr/>
        </p:nvSpPr>
        <p:spPr>
          <a:xfrm>
            <a:off x="5623560" y="1572768"/>
            <a:ext cx="1115568" cy="256032"/>
          </a:xfrm>
          <a:prstGeom prst="roundRect">
            <a:avLst>
              <a:gd name="adj" fmla="val 8000"/>
            </a:avLst>
          </a:prstGeom>
          <a:solidFill>
            <a:srgbClr val="FD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78424" y="1623060"/>
            <a:ext cx="1005840" cy="146304"/>
          </a:xfrm>
          <a:prstGeom prst="rect">
            <a:avLst/>
          </a:prstGeom>
          <a:noFill/>
        </p:spPr>
        <p:txBody>
          <a:bodyPr wrap="square" lIns="0" rIns="0" tIns="0" bIns="0" anchor="ctr">
            <a:spAutoFit/>
          </a:bodyPr>
          <a:lstStyle/>
          <a:p>
            <a:pPr algn="ctr">
              <a:lnSpc>
                <a:spcPct val="100000"/>
              </a:lnSpc>
            </a:pPr>
            <a:r>
              <a:rPr sz="830" b="1" i="0">
                <a:solidFill>
                  <a:srgbClr val="C83E3E"/>
                </a:solidFill>
                <a:latin typeface="Arial"/>
              </a:rPr>
              <a:t>TAIL SERVOS?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262872"/>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94360"/>
            <a:ext cx="6217920" cy="228600"/>
          </a:xfrm>
          <a:prstGeom prst="rect">
            <a:avLst/>
          </a:prstGeom>
          <a:noFill/>
        </p:spPr>
        <p:txBody>
          <a:bodyPr wrap="square" lIns="0" rIns="0" tIns="0" bIns="0" anchor="t">
            <a:spAutoFit/>
          </a:bodyPr>
          <a:lstStyle/>
          <a:p>
            <a:pPr algn="l">
              <a:lnSpc>
                <a:spcPct val="100000"/>
              </a:lnSpc>
            </a:pPr>
            <a:r>
              <a:rPr sz="900" b="1" i="0">
                <a:solidFill>
                  <a:srgbClr val="A23DB6"/>
                </a:solidFill>
                <a:latin typeface="Arial"/>
              </a:rPr>
              <a:t>R/C DESIGN &amp; BUILD MANUAL</a:t>
            </a:r>
          </a:p>
        </p:txBody>
      </p:sp>
      <p:sp>
        <p:nvSpPr>
          <p:cNvPr id="5" name="TextBox 4"/>
          <p:cNvSpPr txBox="1"/>
          <p:nvPr/>
        </p:nvSpPr>
        <p:spPr>
          <a:xfrm>
            <a:off x="502920" y="1298448"/>
            <a:ext cx="1280160" cy="1097280"/>
          </a:xfrm>
          <a:prstGeom prst="rect">
            <a:avLst/>
          </a:prstGeom>
          <a:noFill/>
        </p:spPr>
        <p:txBody>
          <a:bodyPr wrap="square" lIns="0" rIns="0" tIns="0" bIns="0" anchor="t">
            <a:spAutoFit/>
          </a:bodyPr>
          <a:lstStyle/>
          <a:p>
            <a:pPr algn="l">
              <a:lnSpc>
                <a:spcPct val="100000"/>
              </a:lnSpc>
            </a:pPr>
            <a:r>
              <a:rPr sz="6800" b="1" i="0">
                <a:solidFill>
                  <a:srgbClr val="A23DB6"/>
                </a:solidFill>
                <a:latin typeface="Arial"/>
              </a:rPr>
              <a:t>04</a:t>
            </a:r>
          </a:p>
        </p:txBody>
      </p:sp>
      <p:sp>
        <p:nvSpPr>
          <p:cNvPr id="6" name="TextBox 5"/>
          <p:cNvSpPr txBox="1"/>
          <p:nvPr/>
        </p:nvSpPr>
        <p:spPr>
          <a:xfrm>
            <a:off x="502920" y="2743200"/>
            <a:ext cx="6583680" cy="1188720"/>
          </a:xfrm>
          <a:prstGeom prst="rect">
            <a:avLst/>
          </a:prstGeom>
          <a:noFill/>
        </p:spPr>
        <p:txBody>
          <a:bodyPr wrap="square" lIns="0" rIns="0" tIns="0" bIns="0" anchor="t">
            <a:spAutoFit/>
          </a:bodyPr>
          <a:lstStyle/>
          <a:p>
            <a:pPr algn="l">
              <a:lnSpc>
                <a:spcPct val="100000"/>
              </a:lnSpc>
            </a:pPr>
            <a:r>
              <a:rPr sz="3300" b="1" i="0">
                <a:solidFill>
                  <a:srgbClr val="FFFFFF"/>
                </a:solidFill>
                <a:latin typeface="Arial"/>
              </a:rPr>
              <a:t>Choose the systems</a:t>
            </a:r>
          </a:p>
        </p:txBody>
      </p:sp>
      <p:sp>
        <p:nvSpPr>
          <p:cNvPr id="7" name="TextBox 6"/>
          <p:cNvSpPr txBox="1"/>
          <p:nvPr/>
        </p:nvSpPr>
        <p:spPr>
          <a:xfrm>
            <a:off x="502920" y="4069080"/>
            <a:ext cx="6309360" cy="960120"/>
          </a:xfrm>
          <a:prstGeom prst="rect">
            <a:avLst/>
          </a:prstGeom>
          <a:noFill/>
        </p:spPr>
        <p:txBody>
          <a:bodyPr wrap="square" lIns="0" rIns="0" tIns="0" bIns="0" anchor="t">
            <a:spAutoFit/>
          </a:bodyPr>
          <a:lstStyle/>
          <a:p>
            <a:pPr algn="l">
              <a:lnSpc>
                <a:spcPct val="100000"/>
              </a:lnSpc>
            </a:pPr>
            <a:r>
              <a:rPr sz="1600" b="0" i="0">
                <a:solidFill>
                  <a:srgbClr val="CFD8EC"/>
                </a:solidFill>
                <a:latin typeface="Arial"/>
              </a:rPr>
              <a:t>The power system, propeller, battery, radio, servos, and wiring must work as one tested combination—with thermal and electrical margin.</a:t>
            </a:r>
          </a:p>
        </p:txBody>
      </p:sp>
      <p:sp>
        <p:nvSpPr>
          <p:cNvPr id="11" name="TextBox 10"/>
          <p:cNvSpPr txBox="1"/>
          <p:nvPr/>
        </p:nvSpPr>
        <p:spPr>
          <a:xfrm>
            <a:off x="502920" y="8430768"/>
            <a:ext cx="6400800" cy="256032"/>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Think → calculate → build straight → test carefully → improve one change at a time.</a:t>
            </a:r>
          </a:p>
        </p:txBody>
      </p:sp>
      <p:sp>
        <p:nvSpPr>
          <p:cNvPr id="12" name="TextBox 11"/>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54</a:t>
            </a:r>
          </a:p>
        </p:txBody>
      </p:sp>
      <p:sp>
        <p:nvSpPr>
          <p:cNvPr id="8" name="Freeform 7"/>
          <p:cNvSpPr/>
          <p:nvPr/>
        </p:nvSpPr>
        <p:spPr>
          <a:xfrm>
            <a:off x="3794760" y="5760720"/>
            <a:ext cx="182879" cy="2212848"/>
          </a:xfrm>
          <a:custGeom>
            <a:avLst/>
            <a:gdLst/>
            <a:ahLst/>
            <a:cxnLst/>
            <a:rect l="l" t="t" r="r" b="b"/>
            <a:pathLst>
              <a:path w="182879" h="2212848">
                <a:moveTo>
                  <a:pt x="27431" y="109728"/>
                </a:moveTo>
                <a:lnTo>
                  <a:pt x="91440" y="0"/>
                </a:lnTo>
                <a:lnTo>
                  <a:pt x="155448" y="109728"/>
                </a:lnTo>
                <a:lnTo>
                  <a:pt x="182879" y="2212848"/>
                </a:lnTo>
                <a:lnTo>
                  <a:pt x="0" y="2212848"/>
                </a:lnTo>
                <a:close/>
              </a:path>
            </a:pathLst>
          </a:custGeom>
          <a:solidFill>
            <a:srgbClr val="F7F9FC"/>
          </a:solidFill>
          <a:ln w="2222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3383280" y="5760720"/>
            <a:ext cx="1005840" cy="0"/>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965960" y="6382512"/>
            <a:ext cx="3840480" cy="694944"/>
          </a:xfrm>
          <a:prstGeom prst="rect">
            <a:avLst/>
          </a:prstGeom>
          <a:solidFill>
            <a:srgbClr val="EDF4FF"/>
          </a:solidFill>
          <a:ln w="22225">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965960" y="6945416"/>
            <a:ext cx="883310" cy="132040"/>
          </a:xfrm>
          <a:custGeom>
            <a:avLst/>
            <a:gdLst/>
            <a:ahLst/>
            <a:cxnLst/>
            <a:rect l="l" t="t" r="r" b="b"/>
            <a:pathLst>
              <a:path w="883310" h="132040">
                <a:moveTo>
                  <a:pt x="0" y="0"/>
                </a:moveTo>
                <a:lnTo>
                  <a:pt x="883310" y="0"/>
                </a:lnTo>
                <a:lnTo>
                  <a:pt x="883310" y="132040"/>
                </a:lnTo>
                <a:lnTo>
                  <a:pt x="0" y="132040"/>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923129" y="6945416"/>
            <a:ext cx="883311" cy="132040"/>
          </a:xfrm>
          <a:custGeom>
            <a:avLst/>
            <a:gdLst/>
            <a:ahLst/>
            <a:cxnLst/>
            <a:rect l="l" t="t" r="r" b="b"/>
            <a:pathLst>
              <a:path w="883311" h="132040">
                <a:moveTo>
                  <a:pt x="0" y="0"/>
                </a:moveTo>
                <a:lnTo>
                  <a:pt x="883311" y="0"/>
                </a:lnTo>
                <a:lnTo>
                  <a:pt x="883311" y="132040"/>
                </a:lnTo>
                <a:lnTo>
                  <a:pt x="0" y="132040"/>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77540" y="7626096"/>
            <a:ext cx="1417320" cy="347472"/>
          </a:xfrm>
          <a:prstGeom prst="rect">
            <a:avLst/>
          </a:prstGeom>
          <a:solidFill>
            <a:srgbClr val="ECF7F0"/>
          </a:solidFill>
          <a:ln w="2222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77540" y="7862376"/>
            <a:ext cx="1417320" cy="111191"/>
          </a:xfrm>
          <a:prstGeom prst="rect">
            <a:avLst/>
          </a:prstGeom>
          <a:solidFill>
            <a:srgbClr val="D4EEDD"/>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845052" y="7214616"/>
            <a:ext cx="82296" cy="440192"/>
          </a:xfrm>
          <a:custGeom>
            <a:avLst/>
            <a:gdLst/>
            <a:ahLst/>
            <a:cxnLst/>
            <a:rect l="l" t="t" r="r" b="b"/>
            <a:pathLst>
              <a:path w="82296" h="440192">
                <a:moveTo>
                  <a:pt x="22860" y="0"/>
                </a:moveTo>
                <a:lnTo>
                  <a:pt x="59435" y="0"/>
                </a:lnTo>
                <a:lnTo>
                  <a:pt x="82296" y="440192"/>
                </a:lnTo>
                <a:lnTo>
                  <a:pt x="0" y="440192"/>
                </a:lnTo>
                <a:close/>
              </a:path>
            </a:pathLst>
          </a:custGeom>
          <a:solidFill>
            <a:srgbClr val="ECF7F0"/>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831336" y="7654808"/>
            <a:ext cx="109727" cy="337048"/>
          </a:xfrm>
          <a:custGeom>
            <a:avLst/>
            <a:gdLst/>
            <a:ahLst/>
            <a:cxnLst/>
            <a:rect l="l" t="t" r="r" b="b"/>
            <a:pathLst>
              <a:path w="109727" h="337048">
                <a:moveTo>
                  <a:pt x="13716" y="0"/>
                </a:moveTo>
                <a:lnTo>
                  <a:pt x="96012" y="0"/>
                </a:lnTo>
                <a:lnTo>
                  <a:pt x="109727" y="337048"/>
                </a:lnTo>
                <a:lnTo>
                  <a:pt x="0" y="337048"/>
                </a:lnTo>
                <a:close/>
              </a:path>
            </a:pathLst>
          </a:custGeom>
          <a:solidFill>
            <a:srgbClr val="B7E0C6"/>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A23DB6"/>
                </a:solidFill>
                <a:latin typeface="Arial"/>
              </a:rPr>
              <a:t>CHOOSE THE SYSTEMS</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Power, thrust, and propeller basics</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Power tells you how quickly work can be done. Thrust is the force that accelerates the airplane.</a:t>
            </a:r>
          </a:p>
        </p:txBody>
      </p:sp>
      <p:sp>
        <p:nvSpPr>
          <p:cNvPr id="8" name="Rounded Rectangle 7"/>
          <p:cNvSpPr/>
          <p:nvPr/>
        </p:nvSpPr>
        <p:spPr>
          <a:xfrm>
            <a:off x="347472" y="1188720"/>
            <a:ext cx="7077456" cy="24688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00064" y="1922434"/>
            <a:ext cx="1331366" cy="570585"/>
          </a:xfrm>
          <a:prstGeom prst="roundRect">
            <a:avLst>
              <a:gd name="adj" fmla="val 8000"/>
            </a:avLst>
          </a:prstGeom>
          <a:solidFill>
            <a:srgbClr val="FFFFFF"/>
          </a:solidFill>
          <a:ln w="16510">
            <a:solidFill>
              <a:srgbClr val="A23D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0064" y="2093610"/>
            <a:ext cx="1331366" cy="228234"/>
          </a:xfrm>
          <a:prstGeom prst="rect">
            <a:avLst/>
          </a:prstGeom>
          <a:noFill/>
        </p:spPr>
        <p:txBody>
          <a:bodyPr wrap="square" lIns="0" rIns="0" tIns="0" bIns="0" anchor="t">
            <a:spAutoFit/>
          </a:bodyPr>
          <a:lstStyle/>
          <a:p>
            <a:pPr algn="ctr">
              <a:lnSpc>
                <a:spcPct val="100000"/>
              </a:lnSpc>
            </a:pPr>
            <a:r>
              <a:rPr sz="900" b="1" i="0">
                <a:solidFill>
                  <a:srgbClr val="A23DB6"/>
                </a:solidFill>
                <a:latin typeface="Arial"/>
              </a:rPr>
              <a:t>BATTERY</a:t>
            </a:r>
          </a:p>
        </p:txBody>
      </p:sp>
      <p:cxnSp>
        <p:nvCxnSpPr>
          <p:cNvPr id="11" name="Connector 10"/>
          <p:cNvCxnSpPr/>
          <p:nvPr/>
        </p:nvCxnSpPr>
        <p:spPr>
          <a:xfrm>
            <a:off x="2031431" y="2207727"/>
            <a:ext cx="311206" cy="0"/>
          </a:xfrm>
          <a:prstGeom prst="line">
            <a:avLst/>
          </a:prstGeom>
          <a:ln w="19050">
            <a:solidFill>
              <a:srgbClr val="5F687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397556" y="1922434"/>
            <a:ext cx="1331366" cy="570585"/>
          </a:xfrm>
          <a:prstGeom prst="roundRect">
            <a:avLst>
              <a:gd name="adj" fmla="val 8000"/>
            </a:avLst>
          </a:prstGeom>
          <a:solidFill>
            <a:srgbClr val="FFFFFF"/>
          </a:solidFill>
          <a:ln w="16510">
            <a:solidFill>
              <a:srgbClr val="E070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97556" y="2093610"/>
            <a:ext cx="1331366" cy="228234"/>
          </a:xfrm>
          <a:prstGeom prst="rect">
            <a:avLst/>
          </a:prstGeom>
          <a:noFill/>
        </p:spPr>
        <p:txBody>
          <a:bodyPr wrap="square" lIns="0" rIns="0" tIns="0" bIns="0" anchor="t">
            <a:spAutoFit/>
          </a:bodyPr>
          <a:lstStyle/>
          <a:p>
            <a:pPr algn="ctr">
              <a:lnSpc>
                <a:spcPct val="100000"/>
              </a:lnSpc>
            </a:pPr>
            <a:r>
              <a:rPr sz="900" b="1" i="0">
                <a:solidFill>
                  <a:srgbClr val="E0702B"/>
                </a:solidFill>
                <a:latin typeface="Arial"/>
              </a:rPr>
              <a:t>ESC</a:t>
            </a:r>
          </a:p>
        </p:txBody>
      </p:sp>
      <p:cxnSp>
        <p:nvCxnSpPr>
          <p:cNvPr id="14" name="Connector 13"/>
          <p:cNvCxnSpPr/>
          <p:nvPr/>
        </p:nvCxnSpPr>
        <p:spPr>
          <a:xfrm>
            <a:off x="3728923" y="2207727"/>
            <a:ext cx="311207" cy="0"/>
          </a:xfrm>
          <a:prstGeom prst="line">
            <a:avLst/>
          </a:prstGeom>
          <a:ln w="19050">
            <a:solidFill>
              <a:srgbClr val="5F687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095048" y="1922434"/>
            <a:ext cx="1331366" cy="570585"/>
          </a:xfrm>
          <a:prstGeom prst="roundRect">
            <a:avLst>
              <a:gd name="adj" fmla="val 8000"/>
            </a:avLst>
          </a:prstGeom>
          <a:solidFill>
            <a:srgbClr val="FFFFFF"/>
          </a:solidFill>
          <a:ln w="16510">
            <a:solidFill>
              <a:srgbClr val="246B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048" y="2093610"/>
            <a:ext cx="1331366" cy="228234"/>
          </a:xfrm>
          <a:prstGeom prst="rect">
            <a:avLst/>
          </a:prstGeom>
          <a:noFill/>
        </p:spPr>
        <p:txBody>
          <a:bodyPr wrap="square" lIns="0" rIns="0" tIns="0" bIns="0" anchor="t">
            <a:spAutoFit/>
          </a:bodyPr>
          <a:lstStyle/>
          <a:p>
            <a:pPr algn="ctr">
              <a:lnSpc>
                <a:spcPct val="100000"/>
              </a:lnSpc>
            </a:pPr>
            <a:r>
              <a:rPr sz="900" b="1" i="0">
                <a:solidFill>
                  <a:srgbClr val="246BCE"/>
                </a:solidFill>
                <a:latin typeface="Arial"/>
              </a:rPr>
              <a:t>MOTOR</a:t>
            </a:r>
          </a:p>
        </p:txBody>
      </p:sp>
      <p:cxnSp>
        <p:nvCxnSpPr>
          <p:cNvPr id="17" name="Connector 16"/>
          <p:cNvCxnSpPr/>
          <p:nvPr/>
        </p:nvCxnSpPr>
        <p:spPr>
          <a:xfrm>
            <a:off x="5426415" y="2207727"/>
            <a:ext cx="311207" cy="0"/>
          </a:xfrm>
          <a:prstGeom prst="line">
            <a:avLst/>
          </a:prstGeom>
          <a:ln w="19050">
            <a:solidFill>
              <a:srgbClr val="5F687D"/>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792541" y="1922434"/>
            <a:ext cx="1331366" cy="570585"/>
          </a:xfrm>
          <a:prstGeom prst="roundRect">
            <a:avLst>
              <a:gd name="adj" fmla="val 8000"/>
            </a:avLst>
          </a:prstGeom>
          <a:solidFill>
            <a:srgbClr val="FFFFFF"/>
          </a:solidFill>
          <a:ln w="16510">
            <a:solidFill>
              <a:srgbClr val="2F8F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92541" y="2093610"/>
            <a:ext cx="1331366" cy="228234"/>
          </a:xfrm>
          <a:prstGeom prst="rect">
            <a:avLst/>
          </a:prstGeom>
          <a:noFill/>
        </p:spPr>
        <p:txBody>
          <a:bodyPr wrap="square" lIns="0" rIns="0" tIns="0" bIns="0" anchor="t">
            <a:spAutoFit/>
          </a:bodyPr>
          <a:lstStyle/>
          <a:p>
            <a:pPr algn="ctr">
              <a:lnSpc>
                <a:spcPct val="100000"/>
              </a:lnSpc>
            </a:pPr>
            <a:r>
              <a:rPr sz="900" b="1" i="0">
                <a:solidFill>
                  <a:srgbClr val="2F8F5B"/>
                </a:solidFill>
                <a:latin typeface="Arial"/>
              </a:rPr>
              <a:t>PROP</a:t>
            </a:r>
          </a:p>
        </p:txBody>
      </p:sp>
      <p:sp>
        <p:nvSpPr>
          <p:cNvPr id="20" name="TextBox 19"/>
          <p:cNvSpPr txBox="1"/>
          <p:nvPr/>
        </p:nvSpPr>
        <p:spPr>
          <a:xfrm>
            <a:off x="766632" y="2721254"/>
            <a:ext cx="6257422" cy="285292"/>
          </a:xfrm>
          <a:prstGeom prst="rect">
            <a:avLst/>
          </a:prstGeom>
          <a:noFill/>
        </p:spPr>
        <p:txBody>
          <a:bodyPr wrap="square" lIns="0" rIns="0" tIns="0" bIns="0" anchor="t">
            <a:spAutoFit/>
          </a:bodyPr>
          <a:lstStyle/>
          <a:p>
            <a:pPr algn="ctr">
              <a:lnSpc>
                <a:spcPct val="100000"/>
              </a:lnSpc>
            </a:pPr>
            <a:r>
              <a:rPr sz="869" b="0" i="0">
                <a:solidFill>
                  <a:srgbClr val="20263A"/>
                </a:solidFill>
                <a:latin typeface="Arial"/>
              </a:rPr>
              <a:t>Voltage sets potential speed. Current creates torque. The propeller turns power into thrust.</a:t>
            </a:r>
          </a:p>
        </p:txBody>
      </p:sp>
      <p:sp>
        <p:nvSpPr>
          <p:cNvPr id="21" name="Rounded Rectangle 20"/>
          <p:cNvSpPr/>
          <p:nvPr/>
        </p:nvSpPr>
        <p:spPr>
          <a:xfrm>
            <a:off x="347472" y="3931920"/>
            <a:ext cx="2249424" cy="1143000"/>
          </a:xfrm>
          <a:prstGeom prst="roundRect">
            <a:avLst>
              <a:gd name="adj" fmla="val 8000"/>
            </a:avLst>
          </a:prstGeom>
          <a:solidFill>
            <a:srgbClr val="ECF7F0"/>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023359"/>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TRAINER</a:t>
            </a:r>
          </a:p>
        </p:txBody>
      </p:sp>
      <p:sp>
        <p:nvSpPr>
          <p:cNvPr id="23" name="TextBox 22"/>
          <p:cNvSpPr txBox="1"/>
          <p:nvPr/>
        </p:nvSpPr>
        <p:spPr>
          <a:xfrm>
            <a:off x="457200" y="4215383"/>
            <a:ext cx="2029967" cy="320040"/>
          </a:xfrm>
          <a:prstGeom prst="rect">
            <a:avLst/>
          </a:prstGeom>
          <a:noFill/>
        </p:spPr>
        <p:txBody>
          <a:bodyPr wrap="square" lIns="0" rIns="0" tIns="0" bIns="0" anchor="t">
            <a:spAutoFit/>
          </a:bodyPr>
          <a:lstStyle/>
          <a:p>
            <a:pPr algn="l">
              <a:lnSpc>
                <a:spcPct val="100000"/>
              </a:lnSpc>
            </a:pPr>
            <a:r>
              <a:rPr sz="2000" b="1" i="0">
                <a:solidFill>
                  <a:srgbClr val="2F8F5B"/>
                </a:solidFill>
                <a:latin typeface="Arial"/>
              </a:rPr>
              <a:t>100–150 W/kg</a:t>
            </a:r>
          </a:p>
        </p:txBody>
      </p:sp>
      <p:sp>
        <p:nvSpPr>
          <p:cNvPr id="24" name="TextBox 23"/>
          <p:cNvSpPr txBox="1"/>
          <p:nvPr/>
        </p:nvSpPr>
        <p:spPr>
          <a:xfrm>
            <a:off x="457200" y="479145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broad starting range</a:t>
            </a:r>
          </a:p>
        </p:txBody>
      </p:sp>
      <p:sp>
        <p:nvSpPr>
          <p:cNvPr id="25" name="Rounded Rectangle 24"/>
          <p:cNvSpPr/>
          <p:nvPr/>
        </p:nvSpPr>
        <p:spPr>
          <a:xfrm>
            <a:off x="2761488" y="3931920"/>
            <a:ext cx="2249424" cy="1143000"/>
          </a:xfrm>
          <a:prstGeom prst="roundRect">
            <a:avLst>
              <a:gd name="adj" fmla="val 8000"/>
            </a:avLst>
          </a:prstGeom>
          <a:solidFill>
            <a:srgbClr val="EDF4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71216" y="4023359"/>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SPORT</a:t>
            </a:r>
          </a:p>
        </p:txBody>
      </p:sp>
      <p:sp>
        <p:nvSpPr>
          <p:cNvPr id="27" name="TextBox 26"/>
          <p:cNvSpPr txBox="1"/>
          <p:nvPr/>
        </p:nvSpPr>
        <p:spPr>
          <a:xfrm>
            <a:off x="2871216" y="4215383"/>
            <a:ext cx="2029967" cy="320040"/>
          </a:xfrm>
          <a:prstGeom prst="rect">
            <a:avLst/>
          </a:prstGeom>
          <a:noFill/>
        </p:spPr>
        <p:txBody>
          <a:bodyPr wrap="square" lIns="0" rIns="0" tIns="0" bIns="0" anchor="t">
            <a:spAutoFit/>
          </a:bodyPr>
          <a:lstStyle/>
          <a:p>
            <a:pPr algn="l">
              <a:lnSpc>
                <a:spcPct val="100000"/>
              </a:lnSpc>
            </a:pPr>
            <a:r>
              <a:rPr sz="2000" b="1" i="0">
                <a:solidFill>
                  <a:srgbClr val="246BCE"/>
                </a:solidFill>
                <a:latin typeface="Arial"/>
              </a:rPr>
              <a:t>150–220 W/kg</a:t>
            </a:r>
          </a:p>
        </p:txBody>
      </p:sp>
      <p:sp>
        <p:nvSpPr>
          <p:cNvPr id="28" name="TextBox 27"/>
          <p:cNvSpPr txBox="1"/>
          <p:nvPr/>
        </p:nvSpPr>
        <p:spPr>
          <a:xfrm>
            <a:off x="2871216" y="479145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broad starting range</a:t>
            </a:r>
          </a:p>
        </p:txBody>
      </p:sp>
      <p:sp>
        <p:nvSpPr>
          <p:cNvPr id="29" name="Rounded Rectangle 28"/>
          <p:cNvSpPr/>
          <p:nvPr/>
        </p:nvSpPr>
        <p:spPr>
          <a:xfrm>
            <a:off x="5175504" y="3931920"/>
            <a:ext cx="2249424" cy="1143000"/>
          </a:xfrm>
          <a:prstGeom prst="roundRect">
            <a:avLst>
              <a:gd name="adj" fmla="val 8000"/>
            </a:avLst>
          </a:prstGeom>
          <a:solidFill>
            <a:srgbClr val="FFF3E9"/>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85232" y="4023359"/>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HIGH PERFORMANCE</a:t>
            </a:r>
          </a:p>
        </p:txBody>
      </p:sp>
      <p:sp>
        <p:nvSpPr>
          <p:cNvPr id="31" name="TextBox 30"/>
          <p:cNvSpPr txBox="1"/>
          <p:nvPr/>
        </p:nvSpPr>
        <p:spPr>
          <a:xfrm>
            <a:off x="5285232" y="4215383"/>
            <a:ext cx="2029967" cy="320040"/>
          </a:xfrm>
          <a:prstGeom prst="rect">
            <a:avLst/>
          </a:prstGeom>
          <a:noFill/>
        </p:spPr>
        <p:txBody>
          <a:bodyPr wrap="square" lIns="0" rIns="0" tIns="0" bIns="0" anchor="t">
            <a:spAutoFit/>
          </a:bodyPr>
          <a:lstStyle/>
          <a:p>
            <a:pPr algn="l">
              <a:lnSpc>
                <a:spcPct val="100000"/>
              </a:lnSpc>
            </a:pPr>
            <a:r>
              <a:rPr sz="2000" b="1" i="0">
                <a:solidFill>
                  <a:srgbClr val="E0702B"/>
                </a:solidFill>
                <a:latin typeface="Arial"/>
              </a:rPr>
              <a:t>220–350+ W/kg</a:t>
            </a:r>
          </a:p>
        </p:txBody>
      </p:sp>
      <p:sp>
        <p:nvSpPr>
          <p:cNvPr id="32" name="TextBox 31"/>
          <p:cNvSpPr txBox="1"/>
          <p:nvPr/>
        </p:nvSpPr>
        <p:spPr>
          <a:xfrm>
            <a:off x="5285232" y="479145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mission dependent</a:t>
            </a:r>
          </a:p>
        </p:txBody>
      </p:sp>
      <p:sp>
        <p:nvSpPr>
          <p:cNvPr id="33" name="Rounded Rectangle 32"/>
          <p:cNvSpPr/>
          <p:nvPr/>
        </p:nvSpPr>
        <p:spPr>
          <a:xfrm>
            <a:off x="347472" y="5376672"/>
            <a:ext cx="3474720" cy="15544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47472" y="5376672"/>
            <a:ext cx="50292" cy="1554480"/>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 y="549554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PROPELLER DIAMETER</a:t>
            </a:r>
          </a:p>
        </p:txBody>
      </p:sp>
      <p:sp>
        <p:nvSpPr>
          <p:cNvPr id="36" name="TextBox 35"/>
          <p:cNvSpPr txBox="1"/>
          <p:nvPr/>
        </p:nvSpPr>
        <p:spPr>
          <a:xfrm>
            <a:off x="493776" y="5769864"/>
            <a:ext cx="3200400" cy="1060704"/>
          </a:xfrm>
          <a:prstGeom prst="rect">
            <a:avLst/>
          </a:prstGeom>
          <a:noFill/>
        </p:spPr>
        <p:txBody>
          <a:bodyPr wrap="square" lIns="18288" rIns="9144" tIns="9144" bIns="9144">
            <a:spAutoFit/>
          </a:bodyPr>
          <a:lstStyle/>
          <a:p>
            <a:pPr>
              <a:lnSpc>
                <a:spcPct val="100000"/>
              </a:lnSpc>
              <a:spcAft>
                <a:spcPts val="250"/>
              </a:spcAft>
            </a:pPr>
            <a:r>
              <a:rPr sz="880">
                <a:solidFill>
                  <a:srgbClr val="20263A"/>
                </a:solidFill>
                <a:latin typeface="Arial"/>
              </a:rPr>
              <a:t>• More disk area; usually more static thrust.</a:t>
            </a:r>
          </a:p>
          <a:p>
            <a:pPr>
              <a:lnSpc>
                <a:spcPct val="100000"/>
              </a:lnSpc>
              <a:spcAft>
                <a:spcPts val="250"/>
              </a:spcAft>
            </a:pPr>
            <a:r>
              <a:rPr sz="880">
                <a:solidFill>
                  <a:srgbClr val="20263A"/>
                </a:solidFill>
                <a:latin typeface="Arial"/>
              </a:rPr>
              <a:t>• Raises motor torque and current.</a:t>
            </a:r>
          </a:p>
          <a:p>
            <a:pPr>
              <a:lnSpc>
                <a:spcPct val="100000"/>
              </a:lnSpc>
              <a:spcAft>
                <a:spcPts val="250"/>
              </a:spcAft>
            </a:pPr>
            <a:r>
              <a:rPr sz="880">
                <a:solidFill>
                  <a:srgbClr val="20263A"/>
                </a:solidFill>
                <a:latin typeface="Arial"/>
              </a:rPr>
              <a:t>• Needs ground and fuselage clearance.</a:t>
            </a:r>
          </a:p>
        </p:txBody>
      </p:sp>
      <p:sp>
        <p:nvSpPr>
          <p:cNvPr id="37" name="Rounded Rectangle 36"/>
          <p:cNvSpPr/>
          <p:nvPr/>
        </p:nvSpPr>
        <p:spPr>
          <a:xfrm>
            <a:off x="3950208" y="5376672"/>
            <a:ext cx="3474720" cy="15544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950208" y="5376672"/>
            <a:ext cx="50292" cy="155448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96512" y="549554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PROPELLER PITCH</a:t>
            </a:r>
          </a:p>
        </p:txBody>
      </p:sp>
      <p:sp>
        <p:nvSpPr>
          <p:cNvPr id="40" name="TextBox 39"/>
          <p:cNvSpPr txBox="1"/>
          <p:nvPr/>
        </p:nvSpPr>
        <p:spPr>
          <a:xfrm>
            <a:off x="4096512" y="5769864"/>
            <a:ext cx="3200400" cy="1060704"/>
          </a:xfrm>
          <a:prstGeom prst="rect">
            <a:avLst/>
          </a:prstGeom>
          <a:noFill/>
        </p:spPr>
        <p:txBody>
          <a:bodyPr wrap="square" lIns="18288" rIns="9144" tIns="9144" bIns="9144">
            <a:spAutoFit/>
          </a:bodyPr>
          <a:lstStyle/>
          <a:p>
            <a:pPr>
              <a:lnSpc>
                <a:spcPct val="100000"/>
              </a:lnSpc>
              <a:spcAft>
                <a:spcPts val="250"/>
              </a:spcAft>
            </a:pPr>
            <a:r>
              <a:rPr sz="880">
                <a:solidFill>
                  <a:srgbClr val="20263A"/>
                </a:solidFill>
                <a:latin typeface="Arial"/>
              </a:rPr>
              <a:t>• Higher pitch tends toward higher pitch speed.</a:t>
            </a:r>
          </a:p>
          <a:p>
            <a:pPr>
              <a:lnSpc>
                <a:spcPct val="100000"/>
              </a:lnSpc>
              <a:spcAft>
                <a:spcPts val="250"/>
              </a:spcAft>
            </a:pPr>
            <a:r>
              <a:rPr sz="880">
                <a:solidFill>
                  <a:srgbClr val="20263A"/>
                </a:solidFill>
                <a:latin typeface="Arial"/>
              </a:rPr>
              <a:t>• Can overload the motor.</a:t>
            </a:r>
          </a:p>
          <a:p>
            <a:pPr>
              <a:lnSpc>
                <a:spcPct val="100000"/>
              </a:lnSpc>
              <a:spcAft>
                <a:spcPts val="250"/>
              </a:spcAft>
            </a:pPr>
            <a:r>
              <a:rPr sz="880">
                <a:solidFill>
                  <a:srgbClr val="20263A"/>
                </a:solidFill>
                <a:latin typeface="Arial"/>
              </a:rPr>
              <a:t>• Prop efficiency depends on aircraft speed and operating point.</a:t>
            </a:r>
          </a:p>
        </p:txBody>
      </p:sp>
      <p:sp>
        <p:nvSpPr>
          <p:cNvPr id="41" name="Rounded Rectangle 40"/>
          <p:cNvSpPr/>
          <p:nvPr/>
        </p:nvSpPr>
        <p:spPr>
          <a:xfrm>
            <a:off x="347472" y="7205472"/>
            <a:ext cx="7077456" cy="859536"/>
          </a:xfrm>
          <a:prstGeom prst="roundRect">
            <a:avLst>
              <a:gd name="adj" fmla="val 8000"/>
            </a:avLst>
          </a:prstGeom>
          <a:solidFill>
            <a:srgbClr val="FDEEEE"/>
          </a:solidFill>
          <a:ln w="10160">
            <a:solidFill>
              <a:srgbClr val="C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57200" y="7488936"/>
            <a:ext cx="292608" cy="292608"/>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7543800"/>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44" name="TextBox 43"/>
          <p:cNvSpPr txBox="1"/>
          <p:nvPr/>
        </p:nvSpPr>
        <p:spPr>
          <a:xfrm>
            <a:off x="832104" y="7296912"/>
            <a:ext cx="6464808" cy="694944"/>
          </a:xfrm>
          <a:prstGeom prst="rect">
            <a:avLst/>
          </a:prstGeom>
          <a:noFill/>
        </p:spPr>
        <p:txBody>
          <a:bodyPr wrap="square" lIns="0" rIns="0" tIns="0" bIns="0" anchor="ctr">
            <a:spAutoFit/>
          </a:bodyPr>
          <a:lstStyle/>
          <a:p>
            <a:pPr algn="l">
              <a:lnSpc>
                <a:spcPct val="100000"/>
              </a:lnSpc>
            </a:pPr>
            <a:r>
              <a:rPr sz="930" b="0" i="0">
                <a:solidFill>
                  <a:srgbClr val="20263A"/>
                </a:solidFill>
                <a:latin typeface="Arial"/>
              </a:rPr>
              <a:t>Never choose the propeller from diameter and pitch alone. Use motor/prop/battery test data and verify voltage, current, power, temperature, and RPM with the actual installation.</a:t>
            </a:r>
          </a:p>
        </p:txBody>
      </p:sp>
      <p:sp>
        <p:nvSpPr>
          <p:cNvPr id="45" name="TextBox 44"/>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Power-to-mass bands are broad hobby starting points. The manufacturer’s tested combinations take priority.</a:t>
            </a:r>
          </a:p>
        </p:txBody>
      </p:sp>
      <p:sp>
        <p:nvSpPr>
          <p:cNvPr id="46" name="TextBox 45"/>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A23DB6"/>
                </a:solidFill>
                <a:latin typeface="Arial"/>
              </a:rPr>
              <a:t>CHOOSE THE SYSTEMS</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Motor Kv, battery, ESC, and BEC</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The labels describe different limits. No single number tells you whether the system is safe.</a:t>
            </a:r>
          </a:p>
        </p:txBody>
      </p:sp>
      <p:sp>
        <p:nvSpPr>
          <p:cNvPr id="8" name="Rounded Rectangle 7"/>
          <p:cNvSpPr/>
          <p:nvPr/>
        </p:nvSpPr>
        <p:spPr>
          <a:xfrm>
            <a:off x="347472" y="1188720"/>
            <a:ext cx="3474720" cy="1572768"/>
          </a:xfrm>
          <a:prstGeom prst="roundRect">
            <a:avLst>
              <a:gd name="adj" fmla="val 8000"/>
            </a:avLst>
          </a:prstGeom>
          <a:solidFill>
            <a:srgbClr val="F6EDFA"/>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188720"/>
            <a:ext cx="50292" cy="1572768"/>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MOTOR KV</a:t>
            </a:r>
          </a:p>
        </p:txBody>
      </p:sp>
      <p:sp>
        <p:nvSpPr>
          <p:cNvPr id="11" name="TextBox 10"/>
          <p:cNvSpPr txBox="1"/>
          <p:nvPr/>
        </p:nvSpPr>
        <p:spPr>
          <a:xfrm>
            <a:off x="493776" y="1581912"/>
            <a:ext cx="3200400" cy="1078992"/>
          </a:xfrm>
          <a:prstGeom prst="rect">
            <a:avLst/>
          </a:prstGeom>
          <a:noFill/>
        </p:spPr>
        <p:txBody>
          <a:bodyPr wrap="square" lIns="0" rIns="0" tIns="0" bIns="0" anchor="t">
            <a:spAutoFit/>
          </a:bodyPr>
          <a:lstStyle/>
          <a:p>
            <a:pPr algn="l">
              <a:lnSpc>
                <a:spcPct val="100000"/>
              </a:lnSpc>
            </a:pPr>
            <a:r>
              <a:rPr sz="910" b="0" i="0">
                <a:solidFill>
                  <a:srgbClr val="20263A"/>
                </a:solidFill>
                <a:latin typeface="Arial"/>
              </a:rPr>
              <a:t>Kv is approximately no-load RPM per volt. It is not a power rating. Propeller load, winding resistance, voltage, cooling, and current limit determine usable output.</a:t>
            </a:r>
          </a:p>
        </p:txBody>
      </p:sp>
      <p:sp>
        <p:nvSpPr>
          <p:cNvPr id="12" name="Rounded Rectangle 11"/>
          <p:cNvSpPr/>
          <p:nvPr/>
        </p:nvSpPr>
        <p:spPr>
          <a:xfrm>
            <a:off x="3950208" y="1188720"/>
            <a:ext cx="3474720" cy="1572768"/>
          </a:xfrm>
          <a:prstGeom prst="roundRect">
            <a:avLst>
              <a:gd name="adj" fmla="val 8000"/>
            </a:avLst>
          </a:prstGeom>
          <a:solidFill>
            <a:srgbClr val="EDF4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0208" y="1188720"/>
            <a:ext cx="50292" cy="1572768"/>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6512"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BATTERY</a:t>
            </a:r>
          </a:p>
        </p:txBody>
      </p:sp>
      <p:sp>
        <p:nvSpPr>
          <p:cNvPr id="15" name="TextBox 14"/>
          <p:cNvSpPr txBox="1"/>
          <p:nvPr/>
        </p:nvSpPr>
        <p:spPr>
          <a:xfrm>
            <a:off x="4096512" y="1581912"/>
            <a:ext cx="3200400" cy="1078992"/>
          </a:xfrm>
          <a:prstGeom prst="rect">
            <a:avLst/>
          </a:prstGeom>
          <a:noFill/>
        </p:spPr>
        <p:txBody>
          <a:bodyPr wrap="square" lIns="0" rIns="0" tIns="0" bIns="0" anchor="t">
            <a:spAutoFit/>
          </a:bodyPr>
          <a:lstStyle/>
          <a:p>
            <a:pPr algn="l">
              <a:lnSpc>
                <a:spcPct val="100000"/>
              </a:lnSpc>
            </a:pPr>
            <a:r>
              <a:rPr sz="910" b="0" i="0">
                <a:solidFill>
                  <a:srgbClr val="20263A"/>
                </a:solidFill>
                <a:latin typeface="Arial"/>
              </a:rPr>
              <a:t>Cell count sets nominal voltage. Capacity sets stored charge. C rating claims current capability, but voltage sag, connector quality, age, and temperature also matter.</a:t>
            </a:r>
          </a:p>
        </p:txBody>
      </p:sp>
      <p:sp>
        <p:nvSpPr>
          <p:cNvPr id="16" name="Rounded Rectangle 15"/>
          <p:cNvSpPr/>
          <p:nvPr/>
        </p:nvSpPr>
        <p:spPr>
          <a:xfrm>
            <a:off x="347472" y="3035808"/>
            <a:ext cx="3474720" cy="1572768"/>
          </a:xfrm>
          <a:prstGeom prst="roundRect">
            <a:avLst>
              <a:gd name="adj" fmla="val 8000"/>
            </a:avLst>
          </a:prstGeom>
          <a:solidFill>
            <a:srgbClr val="FFF3E9"/>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3035808"/>
            <a:ext cx="50292" cy="1572768"/>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315467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ESC</a:t>
            </a:r>
          </a:p>
        </p:txBody>
      </p:sp>
      <p:sp>
        <p:nvSpPr>
          <p:cNvPr id="19" name="TextBox 18"/>
          <p:cNvSpPr txBox="1"/>
          <p:nvPr/>
        </p:nvSpPr>
        <p:spPr>
          <a:xfrm>
            <a:off x="493776" y="3429000"/>
            <a:ext cx="3200400" cy="1078992"/>
          </a:xfrm>
          <a:prstGeom prst="rect">
            <a:avLst/>
          </a:prstGeom>
          <a:noFill/>
        </p:spPr>
        <p:txBody>
          <a:bodyPr wrap="square" lIns="0" rIns="0" tIns="0" bIns="0" anchor="t">
            <a:spAutoFit/>
          </a:bodyPr>
          <a:lstStyle/>
          <a:p>
            <a:pPr algn="l">
              <a:lnSpc>
                <a:spcPct val="100000"/>
              </a:lnSpc>
            </a:pPr>
            <a:r>
              <a:rPr sz="910" b="0" i="0">
                <a:solidFill>
                  <a:srgbClr val="20263A"/>
                </a:solidFill>
                <a:latin typeface="Arial"/>
              </a:rPr>
              <a:t>Must tolerate measured current, battery voltage, switching load, and temperature. Provide cooling and margin. Program brake and timing only when the motor/prop combination requires it.</a:t>
            </a:r>
          </a:p>
        </p:txBody>
      </p:sp>
      <p:sp>
        <p:nvSpPr>
          <p:cNvPr id="20" name="Rounded Rectangle 19"/>
          <p:cNvSpPr/>
          <p:nvPr/>
        </p:nvSpPr>
        <p:spPr>
          <a:xfrm>
            <a:off x="3950208" y="3035808"/>
            <a:ext cx="3474720" cy="1572768"/>
          </a:xfrm>
          <a:prstGeom prst="roundRect">
            <a:avLst>
              <a:gd name="adj" fmla="val 8000"/>
            </a:avLst>
          </a:prstGeom>
          <a:solidFill>
            <a:srgbClr val="ECF7F0"/>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50208" y="3035808"/>
            <a:ext cx="50292" cy="1572768"/>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96512" y="315467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BEC / RECEIVER POWER</a:t>
            </a:r>
          </a:p>
        </p:txBody>
      </p:sp>
      <p:sp>
        <p:nvSpPr>
          <p:cNvPr id="23" name="TextBox 22"/>
          <p:cNvSpPr txBox="1"/>
          <p:nvPr/>
        </p:nvSpPr>
        <p:spPr>
          <a:xfrm>
            <a:off x="4096512" y="3429000"/>
            <a:ext cx="3200400" cy="1078992"/>
          </a:xfrm>
          <a:prstGeom prst="rect">
            <a:avLst/>
          </a:prstGeom>
          <a:noFill/>
        </p:spPr>
        <p:txBody>
          <a:bodyPr wrap="square" lIns="0" rIns="0" tIns="0" bIns="0" anchor="t">
            <a:spAutoFit/>
          </a:bodyPr>
          <a:lstStyle/>
          <a:p>
            <a:pPr algn="l">
              <a:lnSpc>
                <a:spcPct val="100000"/>
              </a:lnSpc>
            </a:pPr>
            <a:r>
              <a:rPr sz="910" b="0" i="0">
                <a:solidFill>
                  <a:srgbClr val="20263A"/>
                </a:solidFill>
                <a:latin typeface="Arial"/>
              </a:rPr>
              <a:t>The BEC powers receiver and servos. Confirm voltage compatibility and current capacity—especially with many digital servos or high-voltage servos.</a:t>
            </a:r>
          </a:p>
        </p:txBody>
      </p:sp>
      <p:sp>
        <p:nvSpPr>
          <p:cNvPr id="24" name="Rounded Rectangle 23"/>
          <p:cNvSpPr/>
          <p:nvPr/>
        </p:nvSpPr>
        <p:spPr>
          <a:xfrm>
            <a:off x="347472" y="4901184"/>
            <a:ext cx="3474720" cy="150876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7472" y="4901184"/>
            <a:ext cx="54864" cy="1508760"/>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5010912"/>
            <a:ext cx="3209544" cy="164592"/>
          </a:xfrm>
          <a:prstGeom prst="rect">
            <a:avLst/>
          </a:prstGeom>
          <a:noFill/>
        </p:spPr>
        <p:txBody>
          <a:bodyPr wrap="square" lIns="0" rIns="0" tIns="0" bIns="0" anchor="t">
            <a:spAutoFit/>
          </a:bodyPr>
          <a:lstStyle/>
          <a:p>
            <a:pPr algn="l">
              <a:lnSpc>
                <a:spcPct val="100000"/>
              </a:lnSpc>
            </a:pPr>
            <a:r>
              <a:rPr sz="840" b="1" i="0">
                <a:solidFill>
                  <a:srgbClr val="A23DB6"/>
                </a:solidFill>
                <a:latin typeface="Arial"/>
              </a:rPr>
              <a:t>ELECTRICAL POWER</a:t>
            </a:r>
          </a:p>
        </p:txBody>
      </p:sp>
      <p:sp>
        <p:nvSpPr>
          <p:cNvPr id="27" name="TextBox 26"/>
          <p:cNvSpPr txBox="1"/>
          <p:nvPr/>
        </p:nvSpPr>
        <p:spPr>
          <a:xfrm>
            <a:off x="502920" y="5266944"/>
            <a:ext cx="3209544" cy="365760"/>
          </a:xfrm>
          <a:prstGeom prst="rect">
            <a:avLst/>
          </a:prstGeom>
          <a:noFill/>
        </p:spPr>
        <p:txBody>
          <a:bodyPr wrap="square" lIns="0" rIns="0" tIns="0" bIns="0" anchor="ctr">
            <a:spAutoFit/>
          </a:bodyPr>
          <a:lstStyle/>
          <a:p>
            <a:pPr algn="ctr">
              <a:lnSpc>
                <a:spcPct val="100000"/>
              </a:lnSpc>
            </a:pPr>
            <a:r>
              <a:rPr sz="1900" b="1" i="0">
                <a:solidFill>
                  <a:srgbClr val="20263A"/>
                </a:solidFill>
                <a:latin typeface="Arial"/>
              </a:rPr>
              <a:t>P = V × I</a:t>
            </a:r>
          </a:p>
        </p:txBody>
      </p:sp>
      <p:sp>
        <p:nvSpPr>
          <p:cNvPr id="28" name="TextBox 27"/>
          <p:cNvSpPr txBox="1"/>
          <p:nvPr/>
        </p:nvSpPr>
        <p:spPr>
          <a:xfrm>
            <a:off x="502920" y="5742432"/>
            <a:ext cx="3209544" cy="566927"/>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A 3S pack near 11.1 V delivering 20 A supplies about 222 W before losses.</a:t>
            </a:r>
          </a:p>
        </p:txBody>
      </p:sp>
      <p:sp>
        <p:nvSpPr>
          <p:cNvPr id="29" name="Rounded Rectangle 28"/>
          <p:cNvSpPr/>
          <p:nvPr/>
        </p:nvSpPr>
        <p:spPr>
          <a:xfrm>
            <a:off x="3950208" y="4901184"/>
            <a:ext cx="3474720" cy="150876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950208" y="4901184"/>
            <a:ext cx="54864" cy="1508760"/>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05656" y="5010912"/>
            <a:ext cx="3209544" cy="164592"/>
          </a:xfrm>
          <a:prstGeom prst="rect">
            <a:avLst/>
          </a:prstGeom>
          <a:noFill/>
        </p:spPr>
        <p:txBody>
          <a:bodyPr wrap="square" lIns="0" rIns="0" tIns="0" bIns="0" anchor="t">
            <a:spAutoFit/>
          </a:bodyPr>
          <a:lstStyle/>
          <a:p>
            <a:pPr algn="l">
              <a:lnSpc>
                <a:spcPct val="100000"/>
              </a:lnSpc>
            </a:pPr>
            <a:r>
              <a:rPr sz="840" b="1" i="0">
                <a:solidFill>
                  <a:srgbClr val="246BCE"/>
                </a:solidFill>
                <a:latin typeface="Arial"/>
              </a:rPr>
              <a:t>IDEAL NO-LOAD RPM</a:t>
            </a:r>
          </a:p>
        </p:txBody>
      </p:sp>
      <p:sp>
        <p:nvSpPr>
          <p:cNvPr id="32" name="TextBox 31"/>
          <p:cNvSpPr txBox="1"/>
          <p:nvPr/>
        </p:nvSpPr>
        <p:spPr>
          <a:xfrm>
            <a:off x="4105656" y="5266944"/>
            <a:ext cx="3209544" cy="365760"/>
          </a:xfrm>
          <a:prstGeom prst="rect">
            <a:avLst/>
          </a:prstGeom>
          <a:noFill/>
        </p:spPr>
        <p:txBody>
          <a:bodyPr wrap="square" lIns="0" rIns="0" tIns="0" bIns="0" anchor="ctr">
            <a:spAutoFit/>
          </a:bodyPr>
          <a:lstStyle/>
          <a:p>
            <a:pPr algn="ctr">
              <a:lnSpc>
                <a:spcPct val="100000"/>
              </a:lnSpc>
            </a:pPr>
            <a:r>
              <a:rPr sz="1900" b="1" i="0">
                <a:solidFill>
                  <a:srgbClr val="20263A"/>
                </a:solidFill>
                <a:latin typeface="Arial"/>
              </a:rPr>
              <a:t>RPM ≈ Kv × V</a:t>
            </a:r>
          </a:p>
        </p:txBody>
      </p:sp>
      <p:sp>
        <p:nvSpPr>
          <p:cNvPr id="33" name="TextBox 32"/>
          <p:cNvSpPr txBox="1"/>
          <p:nvPr/>
        </p:nvSpPr>
        <p:spPr>
          <a:xfrm>
            <a:off x="4105656" y="5742432"/>
            <a:ext cx="3209544" cy="566927"/>
          </a:xfrm>
          <a:prstGeom prst="rect">
            <a:avLst/>
          </a:prstGeom>
          <a:noFill/>
        </p:spPr>
        <p:txBody>
          <a:bodyPr wrap="square" lIns="0" rIns="0" tIns="0" bIns="0" anchor="t">
            <a:spAutoFit/>
          </a:bodyPr>
          <a:lstStyle/>
          <a:p>
            <a:pPr algn="l">
              <a:lnSpc>
                <a:spcPct val="100000"/>
              </a:lnSpc>
            </a:pPr>
            <a:r>
              <a:rPr sz="919" b="0" i="0">
                <a:solidFill>
                  <a:srgbClr val="20263A"/>
                </a:solidFill>
                <a:latin typeface="Arial"/>
              </a:rPr>
              <a:t>Loaded RPM is lower. This estimate does not approve a propeller.</a:t>
            </a:r>
          </a:p>
        </p:txBody>
      </p:sp>
      <p:sp>
        <p:nvSpPr>
          <p:cNvPr id="34" name="Rounded Rectangle 33"/>
          <p:cNvSpPr/>
          <p:nvPr/>
        </p:nvSpPr>
        <p:spPr>
          <a:xfrm>
            <a:off x="347472" y="6675120"/>
            <a:ext cx="7077456" cy="1024128"/>
          </a:xfrm>
          <a:prstGeom prst="roundRect">
            <a:avLst>
              <a:gd name="adj" fmla="val 8000"/>
            </a:avLst>
          </a:prstGeom>
          <a:solidFill>
            <a:srgbClr val="FDEEEE"/>
          </a:solidFill>
          <a:ln w="10160">
            <a:solidFill>
              <a:srgbClr val="C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57200" y="7040880"/>
            <a:ext cx="292608" cy="292608"/>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7095744"/>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37" name="TextBox 36"/>
          <p:cNvSpPr txBox="1"/>
          <p:nvPr/>
        </p:nvSpPr>
        <p:spPr>
          <a:xfrm>
            <a:off x="832104" y="6766559"/>
            <a:ext cx="6464808" cy="859536"/>
          </a:xfrm>
          <a:prstGeom prst="rect">
            <a:avLst/>
          </a:prstGeom>
          <a:noFill/>
        </p:spPr>
        <p:txBody>
          <a:bodyPr wrap="square" lIns="0" rIns="0" tIns="0" bIns="0" anchor="ctr">
            <a:spAutoFit/>
          </a:bodyPr>
          <a:lstStyle/>
          <a:p>
            <a:pPr algn="l">
              <a:lnSpc>
                <a:spcPct val="100000"/>
              </a:lnSpc>
            </a:pPr>
            <a:r>
              <a:rPr sz="919" b="0" i="0">
                <a:solidFill>
                  <a:srgbClr val="20263A"/>
                </a:solidFill>
                <a:latin typeface="Arial"/>
              </a:rPr>
              <a:t>LiPo safety: use the correct charger mode and cell count, inspect for damage or swelling, charge in a suitable fire-resistant location, never short the pack, and follow the battery manufacturer’s storage and disposal instructions.</a:t>
            </a:r>
          </a:p>
        </p:txBody>
      </p:sp>
      <p:sp>
        <p:nvSpPr>
          <p:cNvPr id="38" name="TextBox 37"/>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Always follow component manufacturer limits and local safety guidance.</a:t>
            </a:r>
          </a:p>
        </p:txBody>
      </p:sp>
      <p:sp>
        <p:nvSpPr>
          <p:cNvPr id="39" name="TextBox 38"/>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A23DB6"/>
                </a:solidFill>
                <a:latin typeface="Arial"/>
              </a:rPr>
              <a:t>CHOOSE THE SYSTEMS</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900" b="1" i="0">
                <a:solidFill>
                  <a:srgbClr val="FFFFFF"/>
                </a:solidFill>
                <a:latin typeface="Arial"/>
              </a:rPr>
              <a:t>Worked propulsion choice for the 1.5 kg trainer</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Select a tested combination, then verify it with a wattmeter and temperature checks.</a:t>
            </a:r>
          </a:p>
        </p:txBody>
      </p:sp>
      <p:sp>
        <p:nvSpPr>
          <p:cNvPr id="8" name="Rounded Rectangle 7"/>
          <p:cNvSpPr/>
          <p:nvPr/>
        </p:nvSpPr>
        <p:spPr>
          <a:xfrm>
            <a:off x="347472" y="1188720"/>
            <a:ext cx="2249424" cy="10972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80160"/>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TARGET POWER</a:t>
            </a:r>
          </a:p>
        </p:txBody>
      </p:sp>
      <p:sp>
        <p:nvSpPr>
          <p:cNvPr id="10" name="TextBox 9"/>
          <p:cNvSpPr txBox="1"/>
          <p:nvPr/>
        </p:nvSpPr>
        <p:spPr>
          <a:xfrm>
            <a:off x="457200" y="1472184"/>
            <a:ext cx="2029967" cy="320040"/>
          </a:xfrm>
          <a:prstGeom prst="rect">
            <a:avLst/>
          </a:prstGeom>
          <a:noFill/>
        </p:spPr>
        <p:txBody>
          <a:bodyPr wrap="square" lIns="0" rIns="0" tIns="0" bIns="0" anchor="t">
            <a:spAutoFit/>
          </a:bodyPr>
          <a:lstStyle/>
          <a:p>
            <a:pPr algn="l">
              <a:lnSpc>
                <a:spcPct val="100000"/>
              </a:lnSpc>
            </a:pPr>
            <a:r>
              <a:rPr sz="2000" b="1" i="0">
                <a:solidFill>
                  <a:srgbClr val="A23DB6"/>
                </a:solidFill>
                <a:latin typeface="Arial"/>
              </a:rPr>
              <a:t>≈ 225 W</a:t>
            </a:r>
          </a:p>
        </p:txBody>
      </p:sp>
      <p:sp>
        <p:nvSpPr>
          <p:cNvPr id="11" name="TextBox 10"/>
          <p:cNvSpPr txBox="1"/>
          <p:nvPr/>
        </p:nvSpPr>
        <p:spPr>
          <a:xfrm>
            <a:off x="457200" y="200253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150 W/kg × 1.5 kg</a:t>
            </a:r>
          </a:p>
        </p:txBody>
      </p:sp>
      <p:sp>
        <p:nvSpPr>
          <p:cNvPr id="12" name="Rounded Rectangle 11"/>
          <p:cNvSpPr/>
          <p:nvPr/>
        </p:nvSpPr>
        <p:spPr>
          <a:xfrm>
            <a:off x="2761488" y="1188720"/>
            <a:ext cx="2249424" cy="10972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1216" y="1280160"/>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NOMINAL VOLTAGE</a:t>
            </a:r>
          </a:p>
        </p:txBody>
      </p:sp>
      <p:sp>
        <p:nvSpPr>
          <p:cNvPr id="14" name="TextBox 13"/>
          <p:cNvSpPr txBox="1"/>
          <p:nvPr/>
        </p:nvSpPr>
        <p:spPr>
          <a:xfrm>
            <a:off x="2871216" y="1472184"/>
            <a:ext cx="2029967" cy="320040"/>
          </a:xfrm>
          <a:prstGeom prst="rect">
            <a:avLst/>
          </a:prstGeom>
          <a:noFill/>
        </p:spPr>
        <p:txBody>
          <a:bodyPr wrap="square" lIns="0" rIns="0" tIns="0" bIns="0" anchor="t">
            <a:spAutoFit/>
          </a:bodyPr>
          <a:lstStyle/>
          <a:p>
            <a:pPr algn="l">
              <a:lnSpc>
                <a:spcPct val="100000"/>
              </a:lnSpc>
            </a:pPr>
            <a:r>
              <a:rPr sz="2000" b="1" i="0">
                <a:solidFill>
                  <a:srgbClr val="246BCE"/>
                </a:solidFill>
                <a:latin typeface="Arial"/>
              </a:rPr>
              <a:t>11.1 V</a:t>
            </a:r>
          </a:p>
        </p:txBody>
      </p:sp>
      <p:sp>
        <p:nvSpPr>
          <p:cNvPr id="15" name="TextBox 14"/>
          <p:cNvSpPr txBox="1"/>
          <p:nvPr/>
        </p:nvSpPr>
        <p:spPr>
          <a:xfrm>
            <a:off x="2871216" y="200253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3S LiPo</a:t>
            </a:r>
          </a:p>
        </p:txBody>
      </p:sp>
      <p:sp>
        <p:nvSpPr>
          <p:cNvPr id="16" name="Rounded Rectangle 15"/>
          <p:cNvSpPr/>
          <p:nvPr/>
        </p:nvSpPr>
        <p:spPr>
          <a:xfrm>
            <a:off x="5175504" y="1188720"/>
            <a:ext cx="2249424" cy="109728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85232" y="1280160"/>
            <a:ext cx="2029967" cy="146304"/>
          </a:xfrm>
          <a:prstGeom prst="rect">
            <a:avLst/>
          </a:prstGeom>
          <a:noFill/>
        </p:spPr>
        <p:txBody>
          <a:bodyPr wrap="square" lIns="0" rIns="0" tIns="0" bIns="0" anchor="t">
            <a:spAutoFit/>
          </a:bodyPr>
          <a:lstStyle/>
          <a:p>
            <a:pPr algn="l">
              <a:lnSpc>
                <a:spcPct val="100000"/>
              </a:lnSpc>
            </a:pPr>
            <a:r>
              <a:rPr sz="780" b="1" i="0">
                <a:solidFill>
                  <a:srgbClr val="5F687D"/>
                </a:solidFill>
                <a:latin typeface="Arial"/>
              </a:rPr>
              <a:t>IDEAL CURRENT</a:t>
            </a:r>
          </a:p>
        </p:txBody>
      </p:sp>
      <p:sp>
        <p:nvSpPr>
          <p:cNvPr id="18" name="TextBox 17"/>
          <p:cNvSpPr txBox="1"/>
          <p:nvPr/>
        </p:nvSpPr>
        <p:spPr>
          <a:xfrm>
            <a:off x="5285232" y="1472184"/>
            <a:ext cx="2029967" cy="320040"/>
          </a:xfrm>
          <a:prstGeom prst="rect">
            <a:avLst/>
          </a:prstGeom>
          <a:noFill/>
        </p:spPr>
        <p:txBody>
          <a:bodyPr wrap="square" lIns="0" rIns="0" tIns="0" bIns="0" anchor="t">
            <a:spAutoFit/>
          </a:bodyPr>
          <a:lstStyle/>
          <a:p>
            <a:pPr algn="l">
              <a:lnSpc>
                <a:spcPct val="100000"/>
              </a:lnSpc>
            </a:pPr>
            <a:r>
              <a:rPr sz="2000" b="1" i="0">
                <a:solidFill>
                  <a:srgbClr val="E0702B"/>
                </a:solidFill>
                <a:latin typeface="Arial"/>
              </a:rPr>
              <a:t>≈ 20.3 A</a:t>
            </a:r>
          </a:p>
        </p:txBody>
      </p:sp>
      <p:sp>
        <p:nvSpPr>
          <p:cNvPr id="19" name="TextBox 18"/>
          <p:cNvSpPr txBox="1"/>
          <p:nvPr/>
        </p:nvSpPr>
        <p:spPr>
          <a:xfrm>
            <a:off x="5285232" y="2002536"/>
            <a:ext cx="2029967" cy="173736"/>
          </a:xfrm>
          <a:prstGeom prst="rect">
            <a:avLst/>
          </a:prstGeom>
          <a:noFill/>
        </p:spPr>
        <p:txBody>
          <a:bodyPr wrap="square" lIns="0" rIns="0" tIns="0" bIns="0" anchor="t">
            <a:spAutoFit/>
          </a:bodyPr>
          <a:lstStyle/>
          <a:p>
            <a:pPr algn="l">
              <a:lnSpc>
                <a:spcPct val="100000"/>
              </a:lnSpc>
            </a:pPr>
            <a:r>
              <a:rPr sz="780" b="0" i="0">
                <a:solidFill>
                  <a:srgbClr val="5F687D"/>
                </a:solidFill>
                <a:latin typeface="Arial"/>
              </a:rPr>
              <a:t>225 W ÷ 11.1 V</a:t>
            </a:r>
          </a:p>
        </p:txBody>
      </p:sp>
      <p:sp>
        <p:nvSpPr>
          <p:cNvPr id="20" name="Rounded Rectangle 19"/>
          <p:cNvSpPr/>
          <p:nvPr/>
        </p:nvSpPr>
        <p:spPr>
          <a:xfrm>
            <a:off x="347472" y="2560320"/>
            <a:ext cx="7077456" cy="2194560"/>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47472" y="5047488"/>
            <a:ext cx="3474720" cy="1874519"/>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47472" y="5047488"/>
            <a:ext cx="50292" cy="1874519"/>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 y="516635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CANDIDATE SYSTEM</a:t>
            </a:r>
          </a:p>
        </p:txBody>
      </p:sp>
      <p:sp>
        <p:nvSpPr>
          <p:cNvPr id="36" name="TextBox 35"/>
          <p:cNvSpPr txBox="1"/>
          <p:nvPr/>
        </p:nvSpPr>
        <p:spPr>
          <a:xfrm>
            <a:off x="493776" y="5440679"/>
            <a:ext cx="3200400" cy="1380743"/>
          </a:xfrm>
          <a:prstGeom prst="rect">
            <a:avLst/>
          </a:prstGeom>
          <a:noFill/>
        </p:spPr>
        <p:txBody>
          <a:bodyPr wrap="square" lIns="18288" rIns="9144" tIns="9144" bIns="9144">
            <a:spAutoFit/>
          </a:bodyPr>
          <a:lstStyle/>
          <a:p>
            <a:pPr>
              <a:lnSpc>
                <a:spcPct val="100000"/>
              </a:lnSpc>
              <a:spcAft>
                <a:spcPts val="250"/>
              </a:spcAft>
            </a:pPr>
            <a:r>
              <a:rPr sz="890">
                <a:solidFill>
                  <a:srgbClr val="20263A"/>
                </a:solidFill>
                <a:latin typeface="Arial"/>
              </a:rPr>
              <a:t>• 3S 2200 mAh LiPo.</a:t>
            </a:r>
          </a:p>
          <a:p>
            <a:pPr>
              <a:lnSpc>
                <a:spcPct val="100000"/>
              </a:lnSpc>
              <a:spcAft>
                <a:spcPts val="250"/>
              </a:spcAft>
            </a:pPr>
            <a:r>
              <a:rPr sz="890">
                <a:solidFill>
                  <a:srgbClr val="20263A"/>
                </a:solidFill>
                <a:latin typeface="Arial"/>
              </a:rPr>
              <a:t>• Outrunner and propeller combination documented around 220–240 W.</a:t>
            </a:r>
          </a:p>
          <a:p>
            <a:pPr>
              <a:lnSpc>
                <a:spcPct val="100000"/>
              </a:lnSpc>
              <a:spcAft>
                <a:spcPts val="250"/>
              </a:spcAft>
            </a:pPr>
            <a:r>
              <a:rPr sz="890">
                <a:solidFill>
                  <a:srgbClr val="20263A"/>
                </a:solidFill>
                <a:latin typeface="Arial"/>
              </a:rPr>
              <a:t>• ESC rated at least 30 A with an adequate BEC.</a:t>
            </a:r>
          </a:p>
          <a:p>
            <a:pPr>
              <a:lnSpc>
                <a:spcPct val="100000"/>
              </a:lnSpc>
              <a:spcAft>
                <a:spcPts val="250"/>
              </a:spcAft>
            </a:pPr>
            <a:r>
              <a:rPr sz="890">
                <a:solidFill>
                  <a:srgbClr val="20263A"/>
                </a:solidFill>
                <a:latin typeface="Arial"/>
              </a:rPr>
              <a:t>• Connector and wiring sized for measured current.</a:t>
            </a:r>
          </a:p>
        </p:txBody>
      </p:sp>
      <p:sp>
        <p:nvSpPr>
          <p:cNvPr id="37" name="Rounded Rectangle 36"/>
          <p:cNvSpPr/>
          <p:nvPr/>
        </p:nvSpPr>
        <p:spPr>
          <a:xfrm>
            <a:off x="3950208" y="5047488"/>
            <a:ext cx="3474720" cy="1874519"/>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950208" y="5047488"/>
            <a:ext cx="50292" cy="1874519"/>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96512" y="516635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GROUND TEST</a:t>
            </a:r>
          </a:p>
        </p:txBody>
      </p:sp>
      <p:sp>
        <p:nvSpPr>
          <p:cNvPr id="40" name="TextBox 39"/>
          <p:cNvSpPr txBox="1"/>
          <p:nvPr/>
        </p:nvSpPr>
        <p:spPr>
          <a:xfrm>
            <a:off x="4096512" y="5440679"/>
            <a:ext cx="3200400" cy="1380743"/>
          </a:xfrm>
          <a:prstGeom prst="rect">
            <a:avLst/>
          </a:prstGeom>
          <a:noFill/>
        </p:spPr>
        <p:txBody>
          <a:bodyPr wrap="square" lIns="18288" rIns="9144" tIns="9144" bIns="9144">
            <a:spAutoFit/>
          </a:bodyPr>
          <a:lstStyle/>
          <a:p>
            <a:pPr>
              <a:lnSpc>
                <a:spcPct val="100000"/>
              </a:lnSpc>
              <a:spcAft>
                <a:spcPts val="250"/>
              </a:spcAft>
            </a:pPr>
            <a:r>
              <a:rPr sz="890">
                <a:solidFill>
                  <a:srgbClr val="20263A"/>
                </a:solidFill>
                <a:latin typeface="Arial"/>
              </a:rPr>
              <a:t>• Restrain aircraft safely; stay outside propeller arc.</a:t>
            </a:r>
          </a:p>
          <a:p>
            <a:pPr>
              <a:lnSpc>
                <a:spcPct val="100000"/>
              </a:lnSpc>
              <a:spcAft>
                <a:spcPts val="250"/>
              </a:spcAft>
            </a:pPr>
            <a:r>
              <a:rPr sz="890">
                <a:solidFill>
                  <a:srgbClr val="20263A"/>
                </a:solidFill>
                <a:latin typeface="Arial"/>
              </a:rPr>
              <a:t>• Measure current and power at full throttle briefly.</a:t>
            </a:r>
          </a:p>
          <a:p>
            <a:pPr>
              <a:lnSpc>
                <a:spcPct val="100000"/>
              </a:lnSpc>
              <a:spcAft>
                <a:spcPts val="250"/>
              </a:spcAft>
            </a:pPr>
            <a:r>
              <a:rPr sz="890">
                <a:solidFill>
                  <a:srgbClr val="20263A"/>
                </a:solidFill>
                <a:latin typeface="Arial"/>
              </a:rPr>
              <a:t>• Check motor, ESC, battery, and connectors for heat.</a:t>
            </a:r>
          </a:p>
          <a:p>
            <a:pPr>
              <a:lnSpc>
                <a:spcPct val="100000"/>
              </a:lnSpc>
              <a:spcAft>
                <a:spcPts val="250"/>
              </a:spcAft>
            </a:pPr>
            <a:r>
              <a:rPr sz="890">
                <a:solidFill>
                  <a:srgbClr val="20263A"/>
                </a:solidFill>
                <a:latin typeface="Arial"/>
              </a:rPr>
              <a:t>• Repeat with cowling installed to verify cooling.</a:t>
            </a:r>
          </a:p>
        </p:txBody>
      </p:sp>
      <p:sp>
        <p:nvSpPr>
          <p:cNvPr id="41" name="Rounded Rectangle 40"/>
          <p:cNvSpPr/>
          <p:nvPr/>
        </p:nvSpPr>
        <p:spPr>
          <a:xfrm>
            <a:off x="347472" y="7205472"/>
            <a:ext cx="7077456" cy="841248"/>
          </a:xfrm>
          <a:prstGeom prst="roundRect">
            <a:avLst>
              <a:gd name="adj" fmla="val 8000"/>
            </a:avLst>
          </a:prstGeom>
          <a:solidFill>
            <a:srgbClr val="FDEEEE"/>
          </a:solidFill>
          <a:ln w="10160">
            <a:solidFill>
              <a:srgbClr val="C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57200" y="7479792"/>
            <a:ext cx="292608" cy="292608"/>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7534656"/>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44" name="TextBox 43"/>
          <p:cNvSpPr txBox="1"/>
          <p:nvPr/>
        </p:nvSpPr>
        <p:spPr>
          <a:xfrm>
            <a:off x="832104" y="7296912"/>
            <a:ext cx="6464808" cy="676656"/>
          </a:xfrm>
          <a:prstGeom prst="rect">
            <a:avLst/>
          </a:prstGeom>
          <a:noFill/>
        </p:spPr>
        <p:txBody>
          <a:bodyPr wrap="square" lIns="0" rIns="0" tIns="0" bIns="0" anchor="ctr">
            <a:spAutoFit/>
          </a:bodyPr>
          <a:lstStyle/>
          <a:p>
            <a:pPr algn="l">
              <a:lnSpc>
                <a:spcPct val="100000"/>
              </a:lnSpc>
            </a:pPr>
            <a:r>
              <a:rPr sz="919" b="0" i="0">
                <a:solidFill>
                  <a:srgbClr val="20263A"/>
                </a:solidFill>
                <a:latin typeface="Arial"/>
              </a:rPr>
              <a:t>Do not “prop up” until the current reaches the ESC label. Current limits are maximums, not performance targets. Leave thermal and operating margin.</a:t>
            </a:r>
          </a:p>
        </p:txBody>
      </p:sp>
      <p:sp>
        <p:nvSpPr>
          <p:cNvPr id="45" name="TextBox 44"/>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57</a:t>
            </a:r>
          </a:p>
        </p:txBody>
      </p:sp>
      <p:sp>
        <p:nvSpPr>
          <p:cNvPr id="46" name="Rounded Rectangle 45"/>
          <p:cNvSpPr/>
          <p:nvPr/>
        </p:nvSpPr>
        <p:spPr>
          <a:xfrm>
            <a:off x="640080" y="3035808"/>
            <a:ext cx="1005840" cy="822960"/>
          </a:xfrm>
          <a:prstGeom prst="roundRect">
            <a:avLst>
              <a:gd name="adj" fmla="val 8000"/>
            </a:avLst>
          </a:prstGeom>
          <a:solidFill>
            <a:srgbClr val="FFFFFF"/>
          </a:solidFill>
          <a:ln w="22225">
            <a:solidFill>
              <a:srgbClr val="A23D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 y="3090672"/>
            <a:ext cx="969264" cy="146304"/>
          </a:xfrm>
          <a:prstGeom prst="rect">
            <a:avLst/>
          </a:prstGeom>
          <a:noFill/>
        </p:spPr>
        <p:txBody>
          <a:bodyPr wrap="square" lIns="0" rIns="0" tIns="0" bIns="0">
            <a:spAutoFit/>
          </a:bodyPr>
          <a:lstStyle/>
          <a:p>
            <a:pPr algn="ctr"/>
            <a:r>
              <a:rPr sz="800" b="1" i="0">
                <a:solidFill>
                  <a:srgbClr val="A23DB6"/>
                </a:solidFill>
                <a:latin typeface="Arial"/>
              </a:rPr>
              <a:t>3S LiPo</a:t>
            </a:r>
          </a:p>
        </p:txBody>
      </p:sp>
      <p:cxnSp>
        <p:nvCxnSpPr>
          <p:cNvPr id="48" name="Connector 47"/>
          <p:cNvCxnSpPr/>
          <p:nvPr/>
        </p:nvCxnSpPr>
        <p:spPr>
          <a:xfrm>
            <a:off x="868680" y="3291840"/>
            <a:ext cx="0" cy="256032"/>
          </a:xfrm>
          <a:prstGeom prst="line">
            <a:avLst/>
          </a:prstGeom>
          <a:ln w="22225">
            <a:solidFill>
              <a:srgbClr val="A23DB6"/>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50976" y="3346704"/>
            <a:ext cx="0" cy="146304"/>
          </a:xfrm>
          <a:prstGeom prst="line">
            <a:avLst/>
          </a:prstGeom>
          <a:ln w="12700">
            <a:solidFill>
              <a:srgbClr val="A23DB6"/>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97280" y="3291840"/>
            <a:ext cx="0" cy="256032"/>
          </a:xfrm>
          <a:prstGeom prst="line">
            <a:avLst/>
          </a:prstGeom>
          <a:ln w="22225">
            <a:solidFill>
              <a:srgbClr val="A23DB6"/>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79576" y="3346704"/>
            <a:ext cx="0" cy="146304"/>
          </a:xfrm>
          <a:prstGeom prst="line">
            <a:avLst/>
          </a:prstGeom>
          <a:ln w="12700">
            <a:solidFill>
              <a:srgbClr val="A23DB6"/>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325880" y="3291840"/>
            <a:ext cx="0" cy="256032"/>
          </a:xfrm>
          <a:prstGeom prst="line">
            <a:avLst/>
          </a:prstGeom>
          <a:ln w="22225">
            <a:solidFill>
              <a:srgbClr val="A23DB6"/>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408176" y="3346704"/>
            <a:ext cx="0" cy="146304"/>
          </a:xfrm>
          <a:prstGeom prst="line">
            <a:avLst/>
          </a:prstGeom>
          <a:ln w="12700">
            <a:solidFill>
              <a:srgbClr val="A23DB6"/>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58368" y="3657600"/>
            <a:ext cx="969264" cy="128016"/>
          </a:xfrm>
          <a:prstGeom prst="rect">
            <a:avLst/>
          </a:prstGeom>
          <a:noFill/>
        </p:spPr>
        <p:txBody>
          <a:bodyPr wrap="square" lIns="0" rIns="0" tIns="0" bIns="0">
            <a:spAutoFit/>
          </a:bodyPr>
          <a:lstStyle/>
          <a:p>
            <a:pPr algn="ctr"/>
            <a:r>
              <a:rPr sz="650" b="0" i="0">
                <a:solidFill>
                  <a:srgbClr val="5F687D"/>
                </a:solidFill>
                <a:latin typeface="Arial"/>
              </a:rPr>
              <a:t>11.1 V · 2200 mAh</a:t>
            </a:r>
          </a:p>
        </p:txBody>
      </p:sp>
      <p:sp>
        <p:nvSpPr>
          <p:cNvPr id="55" name="TextBox 54"/>
          <p:cNvSpPr txBox="1"/>
          <p:nvPr/>
        </p:nvSpPr>
        <p:spPr>
          <a:xfrm>
            <a:off x="1682496" y="3090672"/>
            <a:ext cx="182880" cy="146304"/>
          </a:xfrm>
          <a:prstGeom prst="rect">
            <a:avLst/>
          </a:prstGeom>
          <a:noFill/>
        </p:spPr>
        <p:txBody>
          <a:bodyPr wrap="square" lIns="0" rIns="0" tIns="0" bIns="0">
            <a:spAutoFit/>
          </a:bodyPr>
          <a:lstStyle/>
          <a:p>
            <a:pPr algn="l"/>
            <a:r>
              <a:rPr sz="1000" b="1" i="0">
                <a:solidFill>
                  <a:srgbClr val="C83E3E"/>
                </a:solidFill>
                <a:latin typeface="Arial"/>
              </a:rPr>
              <a:t>+</a:t>
            </a:r>
          </a:p>
        </p:txBody>
      </p:sp>
      <p:sp>
        <p:nvSpPr>
          <p:cNvPr id="56" name="TextBox 55"/>
          <p:cNvSpPr txBox="1"/>
          <p:nvPr/>
        </p:nvSpPr>
        <p:spPr>
          <a:xfrm>
            <a:off x="1682496" y="3584448"/>
            <a:ext cx="182880" cy="146304"/>
          </a:xfrm>
          <a:prstGeom prst="rect">
            <a:avLst/>
          </a:prstGeom>
          <a:noFill/>
        </p:spPr>
        <p:txBody>
          <a:bodyPr wrap="square" lIns="0" rIns="0" tIns="0" bIns="0">
            <a:spAutoFit/>
          </a:bodyPr>
          <a:lstStyle/>
          <a:p>
            <a:pPr algn="l"/>
            <a:r>
              <a:rPr sz="1000" b="1" i="0">
                <a:solidFill>
                  <a:srgbClr val="20263A"/>
                </a:solidFill>
                <a:latin typeface="Arial"/>
              </a:rPr>
              <a:t>−</a:t>
            </a:r>
          </a:p>
        </p:txBody>
      </p:sp>
      <p:cxnSp>
        <p:nvCxnSpPr>
          <p:cNvPr id="57" name="Connector 56"/>
          <p:cNvCxnSpPr/>
          <p:nvPr/>
        </p:nvCxnSpPr>
        <p:spPr>
          <a:xfrm>
            <a:off x="1645920" y="3246120"/>
            <a:ext cx="502920" cy="0"/>
          </a:xfrm>
          <a:prstGeom prst="line">
            <a:avLst/>
          </a:prstGeom>
          <a:ln w="28575">
            <a:solidFill>
              <a:srgbClr val="C83E3E"/>
            </a:solidFill>
          </a:ln>
          <a:effectLst/>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2148840" y="3090672"/>
            <a:ext cx="731520" cy="310896"/>
          </a:xfrm>
          <a:prstGeom prst="roundRect">
            <a:avLst>
              <a:gd name="adj" fmla="val 15000"/>
            </a:avLst>
          </a:prstGeom>
          <a:solidFill>
            <a:srgbClr val="FFFFFF"/>
          </a:solidFill>
          <a:ln w="12700">
            <a:solidFill>
              <a:srgbClr val="5F68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148840" y="3172968"/>
            <a:ext cx="731520" cy="146304"/>
          </a:xfrm>
          <a:prstGeom prst="rect">
            <a:avLst/>
          </a:prstGeom>
          <a:noFill/>
        </p:spPr>
        <p:txBody>
          <a:bodyPr wrap="square" lIns="0" rIns="0" tIns="0" bIns="0">
            <a:spAutoFit/>
          </a:bodyPr>
          <a:lstStyle/>
          <a:p>
            <a:pPr algn="ctr"/>
            <a:r>
              <a:rPr sz="700" b="1" i="0">
                <a:solidFill>
                  <a:srgbClr val="5F687D"/>
                </a:solidFill>
                <a:latin typeface="Arial"/>
              </a:rPr>
              <a:t>wattmeter</a:t>
            </a:r>
          </a:p>
        </p:txBody>
      </p:sp>
      <p:cxnSp>
        <p:nvCxnSpPr>
          <p:cNvPr id="60" name="Connector 59"/>
          <p:cNvCxnSpPr/>
          <p:nvPr/>
        </p:nvCxnSpPr>
        <p:spPr>
          <a:xfrm>
            <a:off x="2880360" y="3246120"/>
            <a:ext cx="320040" cy="0"/>
          </a:xfrm>
          <a:prstGeom prst="line">
            <a:avLst/>
          </a:prstGeom>
          <a:ln w="28575">
            <a:solidFill>
              <a:srgbClr val="C83E3E"/>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645920" y="3657600"/>
            <a:ext cx="1554480" cy="0"/>
          </a:xfrm>
          <a:prstGeom prst="line">
            <a:avLst/>
          </a:prstGeom>
          <a:ln w="28575">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084831" y="2871216"/>
            <a:ext cx="914400" cy="146304"/>
          </a:xfrm>
          <a:prstGeom prst="rect">
            <a:avLst/>
          </a:prstGeom>
          <a:noFill/>
        </p:spPr>
        <p:txBody>
          <a:bodyPr wrap="square" lIns="0" rIns="0" tIns="0" bIns="0">
            <a:spAutoFit/>
          </a:bodyPr>
          <a:lstStyle/>
          <a:p>
            <a:pPr algn="l"/>
            <a:r>
              <a:rPr sz="800" b="1" i="0">
                <a:solidFill>
                  <a:srgbClr val="C83E3E"/>
                </a:solidFill>
                <a:latin typeface="Arial"/>
              </a:rPr>
              <a:t>≈ 20.3 A</a:t>
            </a:r>
          </a:p>
        </p:txBody>
      </p:sp>
      <p:sp>
        <p:nvSpPr>
          <p:cNvPr id="63" name="TextBox 62"/>
          <p:cNvSpPr txBox="1"/>
          <p:nvPr/>
        </p:nvSpPr>
        <p:spPr>
          <a:xfrm>
            <a:off x="2212848" y="3438144"/>
            <a:ext cx="914400" cy="128016"/>
          </a:xfrm>
          <a:prstGeom prst="rect">
            <a:avLst/>
          </a:prstGeom>
          <a:noFill/>
        </p:spPr>
        <p:txBody>
          <a:bodyPr wrap="square" lIns="0" rIns="0" tIns="0" bIns="0">
            <a:spAutoFit/>
          </a:bodyPr>
          <a:lstStyle/>
          <a:p>
            <a:pPr algn="l"/>
            <a:r>
              <a:rPr sz="600" b="0" i="1">
                <a:solidFill>
                  <a:srgbClr val="5F687D"/>
                </a:solidFill>
                <a:latin typeface="Arial"/>
              </a:rPr>
              <a:t>ground test</a:t>
            </a:r>
          </a:p>
        </p:txBody>
      </p:sp>
      <p:sp>
        <p:nvSpPr>
          <p:cNvPr id="64" name="Rounded Rectangle 63"/>
          <p:cNvSpPr/>
          <p:nvPr/>
        </p:nvSpPr>
        <p:spPr>
          <a:xfrm>
            <a:off x="3200400" y="3035808"/>
            <a:ext cx="914400" cy="822960"/>
          </a:xfrm>
          <a:prstGeom prst="roundRect">
            <a:avLst>
              <a:gd name="adj" fmla="val 8000"/>
            </a:avLst>
          </a:prstGeom>
          <a:solidFill>
            <a:srgbClr val="FFFFFF"/>
          </a:solidFill>
          <a:ln w="2222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18688" y="3218688"/>
            <a:ext cx="877824" cy="164592"/>
          </a:xfrm>
          <a:prstGeom prst="rect">
            <a:avLst/>
          </a:prstGeom>
          <a:noFill/>
        </p:spPr>
        <p:txBody>
          <a:bodyPr wrap="square" lIns="0" rIns="0" tIns="0" bIns="0">
            <a:spAutoFit/>
          </a:bodyPr>
          <a:lstStyle/>
          <a:p>
            <a:pPr algn="ctr"/>
            <a:r>
              <a:rPr sz="900" b="1" i="0">
                <a:solidFill>
                  <a:srgbClr val="E0702B"/>
                </a:solidFill>
                <a:latin typeface="Arial"/>
              </a:rPr>
              <a:t>ESC</a:t>
            </a:r>
          </a:p>
        </p:txBody>
      </p:sp>
      <p:sp>
        <p:nvSpPr>
          <p:cNvPr id="66" name="TextBox 65"/>
          <p:cNvSpPr txBox="1"/>
          <p:nvPr/>
        </p:nvSpPr>
        <p:spPr>
          <a:xfrm>
            <a:off x="3218688" y="3401568"/>
            <a:ext cx="877824" cy="274320"/>
          </a:xfrm>
          <a:prstGeom prst="rect">
            <a:avLst/>
          </a:prstGeom>
          <a:noFill/>
        </p:spPr>
        <p:txBody>
          <a:bodyPr wrap="square" lIns="0" rIns="0" tIns="0" bIns="0">
            <a:spAutoFit/>
          </a:bodyPr>
          <a:lstStyle/>
          <a:p>
            <a:pPr algn="ctr"/>
            <a:r>
              <a:rPr sz="650" b="0" i="0">
                <a:solidFill>
                  <a:srgbClr val="5F687D"/>
                </a:solidFill>
                <a:latin typeface="Arial"/>
              </a:rPr>
              <a:t>30 A · BEC 5 V</a:t>
            </a:r>
          </a:p>
        </p:txBody>
      </p:sp>
      <p:cxnSp>
        <p:nvCxnSpPr>
          <p:cNvPr id="67" name="Connector 66"/>
          <p:cNvCxnSpPr/>
          <p:nvPr/>
        </p:nvCxnSpPr>
        <p:spPr>
          <a:xfrm>
            <a:off x="4114800" y="3182112"/>
            <a:ext cx="841248" cy="0"/>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114800" y="3401568"/>
            <a:ext cx="841248" cy="0"/>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4114800" y="3621024"/>
            <a:ext cx="841248" cy="0"/>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4133087" y="3749039"/>
            <a:ext cx="914400" cy="128016"/>
          </a:xfrm>
          <a:prstGeom prst="rect">
            <a:avLst/>
          </a:prstGeom>
          <a:noFill/>
        </p:spPr>
        <p:txBody>
          <a:bodyPr wrap="square" lIns="0" rIns="0" tIns="0" bIns="0">
            <a:spAutoFit/>
          </a:bodyPr>
          <a:lstStyle/>
          <a:p>
            <a:pPr algn="l"/>
            <a:r>
              <a:rPr sz="600" b="0" i="1">
                <a:solidFill>
                  <a:srgbClr val="5F687D"/>
                </a:solidFill>
                <a:latin typeface="Arial"/>
              </a:rPr>
              <a:t>swap any two</a:t>
            </a:r>
          </a:p>
          <a:p>
            <a:pPr algn="l"/>
            <a:r>
              <a:rPr sz="600" b="0" i="1">
                <a:solidFill>
                  <a:srgbClr val="5F687D"/>
                </a:solidFill>
                <a:latin typeface="Arial"/>
              </a:rPr>
              <a:t>to reverse</a:t>
            </a:r>
          </a:p>
        </p:txBody>
      </p:sp>
      <p:sp>
        <p:nvSpPr>
          <p:cNvPr id="71" name="Oval 70"/>
          <p:cNvSpPr/>
          <p:nvPr/>
        </p:nvSpPr>
        <p:spPr>
          <a:xfrm>
            <a:off x="4956048" y="3017520"/>
            <a:ext cx="859536" cy="859536"/>
          </a:xfrm>
          <a:prstGeom prst="ellipse">
            <a:avLst/>
          </a:prstGeom>
          <a:solidFill>
            <a:srgbClr val="FFFFFF"/>
          </a:solidFill>
          <a:ln w="22225">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956048" y="3310128"/>
            <a:ext cx="859536" cy="146304"/>
          </a:xfrm>
          <a:prstGeom prst="rect">
            <a:avLst/>
          </a:prstGeom>
          <a:noFill/>
        </p:spPr>
        <p:txBody>
          <a:bodyPr wrap="square" lIns="0" rIns="0" tIns="0" bIns="0">
            <a:spAutoFit/>
          </a:bodyPr>
          <a:lstStyle/>
          <a:p>
            <a:pPr algn="ctr"/>
            <a:r>
              <a:rPr sz="850" b="1" i="0">
                <a:solidFill>
                  <a:srgbClr val="246BCE"/>
                </a:solidFill>
                <a:latin typeface="Arial"/>
              </a:rPr>
              <a:t>MOTOR</a:t>
            </a:r>
          </a:p>
        </p:txBody>
      </p:sp>
      <p:sp>
        <p:nvSpPr>
          <p:cNvPr id="73" name="TextBox 72"/>
          <p:cNvSpPr txBox="1"/>
          <p:nvPr/>
        </p:nvSpPr>
        <p:spPr>
          <a:xfrm>
            <a:off x="4956048" y="3474720"/>
            <a:ext cx="859536" cy="128016"/>
          </a:xfrm>
          <a:prstGeom prst="rect">
            <a:avLst/>
          </a:prstGeom>
          <a:noFill/>
        </p:spPr>
        <p:txBody>
          <a:bodyPr wrap="square" lIns="0" rIns="0" tIns="0" bIns="0">
            <a:spAutoFit/>
          </a:bodyPr>
          <a:lstStyle/>
          <a:p>
            <a:pPr algn="ctr"/>
            <a:r>
              <a:rPr sz="600" b="0" i="0">
                <a:solidFill>
                  <a:srgbClr val="5F687D"/>
                </a:solidFill>
                <a:latin typeface="Arial"/>
              </a:rPr>
              <a:t>outrunner</a:t>
            </a:r>
          </a:p>
        </p:txBody>
      </p:sp>
      <p:cxnSp>
        <p:nvCxnSpPr>
          <p:cNvPr id="74" name="Connector 73"/>
          <p:cNvCxnSpPr/>
          <p:nvPr/>
        </p:nvCxnSpPr>
        <p:spPr>
          <a:xfrm>
            <a:off x="5815584" y="3447288"/>
            <a:ext cx="310896" cy="0"/>
          </a:xfrm>
          <a:prstGeom prst="line">
            <a:avLst/>
          </a:prstGeom>
          <a:ln w="2540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6071616" y="2990088"/>
            <a:ext cx="118872" cy="914400"/>
          </a:xfrm>
          <a:prstGeom prst="ellipse">
            <a:avLst/>
          </a:prstGeom>
          <a:solidFill>
            <a:srgbClr val="ECF7F0"/>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54496" y="3346704"/>
            <a:ext cx="1005840" cy="146304"/>
          </a:xfrm>
          <a:prstGeom prst="rect">
            <a:avLst/>
          </a:prstGeom>
          <a:noFill/>
        </p:spPr>
        <p:txBody>
          <a:bodyPr wrap="square" lIns="0" rIns="0" tIns="0" bIns="0">
            <a:spAutoFit/>
          </a:bodyPr>
          <a:lstStyle/>
          <a:p>
            <a:pPr algn="l"/>
            <a:r>
              <a:rPr sz="750" b="1" i="0">
                <a:solidFill>
                  <a:srgbClr val="2F8F5B"/>
                </a:solidFill>
                <a:latin typeface="Arial"/>
              </a:rPr>
              <a:t>10×6 prop</a:t>
            </a:r>
          </a:p>
        </p:txBody>
      </p:sp>
      <p:cxnSp>
        <p:nvCxnSpPr>
          <p:cNvPr id="77" name="Connector 76"/>
          <p:cNvCxnSpPr/>
          <p:nvPr/>
        </p:nvCxnSpPr>
        <p:spPr>
          <a:xfrm>
            <a:off x="3657600" y="3858768"/>
            <a:ext cx="0" cy="420624"/>
          </a:xfrm>
          <a:prstGeom prst="line">
            <a:avLst/>
          </a:prstGeom>
          <a:ln w="15875">
            <a:solidFill>
              <a:srgbClr val="138C8C"/>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657600" y="4279392"/>
            <a:ext cx="320039" cy="0"/>
          </a:xfrm>
          <a:prstGeom prst="line">
            <a:avLst/>
          </a:prstGeom>
          <a:ln w="15875">
            <a:solidFill>
              <a:srgbClr val="138C8C"/>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2487168" y="4023360"/>
            <a:ext cx="1417320" cy="128016"/>
          </a:xfrm>
          <a:prstGeom prst="rect">
            <a:avLst/>
          </a:prstGeom>
          <a:noFill/>
        </p:spPr>
        <p:txBody>
          <a:bodyPr wrap="square" lIns="0" rIns="0" tIns="0" bIns="0">
            <a:spAutoFit/>
          </a:bodyPr>
          <a:lstStyle/>
          <a:p>
            <a:pPr algn="r"/>
            <a:r>
              <a:rPr sz="650" b="1" i="0">
                <a:solidFill>
                  <a:srgbClr val="138C8C"/>
                </a:solidFill>
                <a:latin typeface="Arial"/>
              </a:rPr>
              <a:t>BEC: 5 V + signal</a:t>
            </a:r>
          </a:p>
        </p:txBody>
      </p:sp>
      <p:sp>
        <p:nvSpPr>
          <p:cNvPr id="80" name="Rounded Rectangle 79"/>
          <p:cNvSpPr/>
          <p:nvPr/>
        </p:nvSpPr>
        <p:spPr>
          <a:xfrm>
            <a:off x="3977639" y="4059936"/>
            <a:ext cx="1097280" cy="438912"/>
          </a:xfrm>
          <a:prstGeom prst="roundRect">
            <a:avLst>
              <a:gd name="adj" fmla="val 10000"/>
            </a:avLst>
          </a:prstGeom>
          <a:solidFill>
            <a:srgbClr val="FFFFFF"/>
          </a:solidFill>
          <a:ln w="19050">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977639" y="4187952"/>
            <a:ext cx="1097280" cy="146304"/>
          </a:xfrm>
          <a:prstGeom prst="rect">
            <a:avLst/>
          </a:prstGeom>
          <a:noFill/>
        </p:spPr>
        <p:txBody>
          <a:bodyPr wrap="square" lIns="0" rIns="0" tIns="0" bIns="0">
            <a:spAutoFit/>
          </a:bodyPr>
          <a:lstStyle/>
          <a:p>
            <a:pPr algn="ctr"/>
            <a:r>
              <a:rPr sz="750" b="1" i="0">
                <a:solidFill>
                  <a:srgbClr val="138C8C"/>
                </a:solidFill>
                <a:latin typeface="Arial"/>
              </a:rPr>
              <a:t>RECEIVER</a:t>
            </a:r>
          </a:p>
        </p:txBody>
      </p:sp>
      <p:cxnSp>
        <p:nvCxnSpPr>
          <p:cNvPr id="82" name="Connector 81"/>
          <p:cNvCxnSpPr/>
          <p:nvPr/>
        </p:nvCxnSpPr>
        <p:spPr>
          <a:xfrm>
            <a:off x="5074920" y="4279392"/>
            <a:ext cx="502920" cy="0"/>
          </a:xfrm>
          <a:prstGeom prst="line">
            <a:avLst/>
          </a:prstGeom>
          <a:ln w="15875">
            <a:solidFill>
              <a:srgbClr val="138C8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5632704" y="4206240"/>
            <a:ext cx="914400" cy="128016"/>
          </a:xfrm>
          <a:prstGeom prst="rect">
            <a:avLst/>
          </a:prstGeom>
          <a:noFill/>
        </p:spPr>
        <p:txBody>
          <a:bodyPr wrap="square" lIns="0" rIns="0" tIns="0" bIns="0">
            <a:spAutoFit/>
          </a:bodyPr>
          <a:lstStyle/>
          <a:p>
            <a:pPr algn="l"/>
            <a:r>
              <a:rPr sz="650" b="0" i="1">
                <a:solidFill>
                  <a:srgbClr val="5F687D"/>
                </a:solidFill>
                <a:latin typeface="Arial"/>
              </a:rPr>
              <a:t>to servos</a:t>
            </a:r>
          </a:p>
        </p:txBody>
      </p:sp>
      <p:sp>
        <p:nvSpPr>
          <p:cNvPr id="84" name="TextBox 83"/>
          <p:cNvSpPr txBox="1"/>
          <p:nvPr/>
        </p:nvSpPr>
        <p:spPr>
          <a:xfrm>
            <a:off x="548640" y="4535424"/>
            <a:ext cx="6675120" cy="164592"/>
          </a:xfrm>
          <a:prstGeom prst="rect">
            <a:avLst/>
          </a:prstGeom>
          <a:noFill/>
        </p:spPr>
        <p:txBody>
          <a:bodyPr wrap="square" lIns="0" rIns="0" tIns="0" bIns="0">
            <a:spAutoFit/>
          </a:bodyPr>
          <a:lstStyle/>
          <a:p>
            <a:pPr algn="ctr"/>
            <a:r>
              <a:rPr sz="750" b="0" i="0">
                <a:solidFill>
                  <a:srgbClr val="5F687D"/>
                </a:solidFill>
                <a:latin typeface="Arial"/>
              </a:rPr>
              <a:t>Thick lines: the high-current loop (battery → ESC → motor). Thin lines: the BEC control side. Measure at the battery lead during the ground test.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46BCE"/>
                </a:solidFill>
                <a:latin typeface="Arial"/>
              </a:rPr>
              <a:t>CHOOSE THE SYSTEMS</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Radio, servo, and wiring architecture</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A clean installation makes failures less likely and troubleshooting much faster.</a:t>
            </a:r>
          </a:p>
        </p:txBody>
      </p:sp>
      <p:sp>
        <p:nvSpPr>
          <p:cNvPr id="8" name="Rounded Rectangle 7"/>
          <p:cNvSpPr/>
          <p:nvPr/>
        </p:nvSpPr>
        <p:spPr>
          <a:xfrm>
            <a:off x="347472" y="1188720"/>
            <a:ext cx="7077456" cy="2359152"/>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7472" y="3822191"/>
            <a:ext cx="3474720" cy="170078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7472" y="3822191"/>
            <a:ext cx="50292" cy="1700784"/>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 y="3941063"/>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SERVO SELECTION</a:t>
            </a:r>
          </a:p>
        </p:txBody>
      </p:sp>
      <p:sp>
        <p:nvSpPr>
          <p:cNvPr id="25" name="TextBox 24"/>
          <p:cNvSpPr txBox="1"/>
          <p:nvPr/>
        </p:nvSpPr>
        <p:spPr>
          <a:xfrm>
            <a:off x="493776" y="4215383"/>
            <a:ext cx="3200400" cy="1207008"/>
          </a:xfrm>
          <a:prstGeom prst="rect">
            <a:avLst/>
          </a:prstGeom>
          <a:noFill/>
        </p:spPr>
        <p:txBody>
          <a:bodyPr wrap="square" lIns="18288" rIns="9144" tIns="9144" bIns="9144">
            <a:spAutoFit/>
          </a:bodyPr>
          <a:lstStyle/>
          <a:p>
            <a:pPr>
              <a:lnSpc>
                <a:spcPct val="100000"/>
              </a:lnSpc>
              <a:spcAft>
                <a:spcPts val="250"/>
              </a:spcAft>
            </a:pPr>
            <a:r>
              <a:rPr sz="869">
                <a:solidFill>
                  <a:srgbClr val="20263A"/>
                </a:solidFill>
                <a:latin typeface="Arial"/>
              </a:rPr>
              <a:t>• Enough torque at the actual supply voltage.</a:t>
            </a:r>
          </a:p>
          <a:p>
            <a:pPr>
              <a:lnSpc>
                <a:spcPct val="100000"/>
              </a:lnSpc>
              <a:spcAft>
                <a:spcPts val="250"/>
              </a:spcAft>
            </a:pPr>
            <a:r>
              <a:rPr sz="869">
                <a:solidFill>
                  <a:srgbClr val="20263A"/>
                </a:solidFill>
                <a:latin typeface="Arial"/>
              </a:rPr>
              <a:t>• Speed appropriate to aircraft.</a:t>
            </a:r>
          </a:p>
          <a:p>
            <a:pPr>
              <a:lnSpc>
                <a:spcPct val="100000"/>
              </a:lnSpc>
              <a:spcAft>
                <a:spcPts val="250"/>
              </a:spcAft>
            </a:pPr>
            <a:r>
              <a:rPr sz="869">
                <a:solidFill>
                  <a:srgbClr val="20263A"/>
                </a:solidFill>
                <a:latin typeface="Arial"/>
              </a:rPr>
              <a:t>• Metal gears are not automatically better.</a:t>
            </a:r>
          </a:p>
          <a:p>
            <a:pPr>
              <a:lnSpc>
                <a:spcPct val="100000"/>
              </a:lnSpc>
              <a:spcAft>
                <a:spcPts val="250"/>
              </a:spcAft>
            </a:pPr>
            <a:r>
              <a:rPr sz="869">
                <a:solidFill>
                  <a:srgbClr val="20263A"/>
                </a:solidFill>
                <a:latin typeface="Arial"/>
              </a:rPr>
              <a:t>• Mount rigidly; isolate vibration where specified.</a:t>
            </a:r>
          </a:p>
        </p:txBody>
      </p:sp>
      <p:sp>
        <p:nvSpPr>
          <p:cNvPr id="26" name="Rounded Rectangle 25"/>
          <p:cNvSpPr/>
          <p:nvPr/>
        </p:nvSpPr>
        <p:spPr>
          <a:xfrm>
            <a:off x="3950208" y="3822191"/>
            <a:ext cx="3474720" cy="170078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950208" y="3822191"/>
            <a:ext cx="50292" cy="170078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96512" y="3941063"/>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RECEIVER INSTALLATION</a:t>
            </a:r>
          </a:p>
        </p:txBody>
      </p:sp>
      <p:sp>
        <p:nvSpPr>
          <p:cNvPr id="29" name="TextBox 28"/>
          <p:cNvSpPr txBox="1"/>
          <p:nvPr/>
        </p:nvSpPr>
        <p:spPr>
          <a:xfrm>
            <a:off x="4096512" y="4215383"/>
            <a:ext cx="3200400" cy="1207008"/>
          </a:xfrm>
          <a:prstGeom prst="rect">
            <a:avLst/>
          </a:prstGeom>
          <a:noFill/>
        </p:spPr>
        <p:txBody>
          <a:bodyPr wrap="square" lIns="18288" rIns="9144" tIns="9144" bIns="9144">
            <a:spAutoFit/>
          </a:bodyPr>
          <a:lstStyle/>
          <a:p>
            <a:pPr>
              <a:lnSpc>
                <a:spcPct val="100000"/>
              </a:lnSpc>
              <a:spcAft>
                <a:spcPts val="250"/>
              </a:spcAft>
            </a:pPr>
            <a:r>
              <a:rPr sz="869">
                <a:solidFill>
                  <a:srgbClr val="20263A"/>
                </a:solidFill>
                <a:latin typeface="Arial"/>
              </a:rPr>
              <a:t>• Antennas oriented as manufacturer specifies.</a:t>
            </a:r>
          </a:p>
          <a:p>
            <a:pPr>
              <a:lnSpc>
                <a:spcPct val="100000"/>
              </a:lnSpc>
              <a:spcAft>
                <a:spcPts val="250"/>
              </a:spcAft>
            </a:pPr>
            <a:r>
              <a:rPr sz="869">
                <a:solidFill>
                  <a:srgbClr val="20263A"/>
                </a:solidFill>
                <a:latin typeface="Arial"/>
              </a:rPr>
              <a:t>• Away from motor wires, ESC, carbon shielding, and metal.</a:t>
            </a:r>
          </a:p>
          <a:p>
            <a:pPr>
              <a:lnSpc>
                <a:spcPct val="100000"/>
              </a:lnSpc>
              <a:spcAft>
                <a:spcPts val="250"/>
              </a:spcAft>
            </a:pPr>
            <a:r>
              <a:rPr sz="869">
                <a:solidFill>
                  <a:srgbClr val="20263A"/>
                </a:solidFill>
                <a:latin typeface="Arial"/>
              </a:rPr>
              <a:t>• Secure against vibration but do not crush.</a:t>
            </a:r>
          </a:p>
          <a:p>
            <a:pPr>
              <a:lnSpc>
                <a:spcPct val="100000"/>
              </a:lnSpc>
              <a:spcAft>
                <a:spcPts val="250"/>
              </a:spcAft>
            </a:pPr>
            <a:r>
              <a:rPr sz="869">
                <a:solidFill>
                  <a:srgbClr val="20263A"/>
                </a:solidFill>
                <a:latin typeface="Arial"/>
              </a:rPr>
              <a:t>• Easy bind and status access.</a:t>
            </a:r>
          </a:p>
        </p:txBody>
      </p:sp>
      <p:sp>
        <p:nvSpPr>
          <p:cNvPr id="30" name="Rounded Rectangle 29"/>
          <p:cNvSpPr/>
          <p:nvPr/>
        </p:nvSpPr>
        <p:spPr>
          <a:xfrm>
            <a:off x="347472" y="5797296"/>
            <a:ext cx="3474720" cy="157276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47472" y="5797296"/>
            <a:ext cx="50292" cy="1572768"/>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3776" y="591616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FAILSAFE</a:t>
            </a:r>
          </a:p>
        </p:txBody>
      </p:sp>
      <p:sp>
        <p:nvSpPr>
          <p:cNvPr id="33" name="TextBox 32"/>
          <p:cNvSpPr txBox="1"/>
          <p:nvPr/>
        </p:nvSpPr>
        <p:spPr>
          <a:xfrm>
            <a:off x="493776" y="6190488"/>
            <a:ext cx="3200400" cy="1078992"/>
          </a:xfrm>
          <a:prstGeom prst="rect">
            <a:avLst/>
          </a:prstGeom>
          <a:noFill/>
        </p:spPr>
        <p:txBody>
          <a:bodyPr wrap="square" lIns="18288" rIns="9144" tIns="9144" bIns="9144">
            <a:spAutoFit/>
          </a:bodyPr>
          <a:lstStyle/>
          <a:p>
            <a:pPr>
              <a:lnSpc>
                <a:spcPct val="100000"/>
              </a:lnSpc>
              <a:spcAft>
                <a:spcPts val="250"/>
              </a:spcAft>
            </a:pPr>
            <a:r>
              <a:rPr sz="860">
                <a:solidFill>
                  <a:srgbClr val="20263A"/>
                </a:solidFill>
                <a:latin typeface="Arial"/>
              </a:rPr>
              <a:t>• Set throttle to safe/off position.</a:t>
            </a:r>
          </a:p>
          <a:p>
            <a:pPr>
              <a:lnSpc>
                <a:spcPct val="100000"/>
              </a:lnSpc>
              <a:spcAft>
                <a:spcPts val="250"/>
              </a:spcAft>
            </a:pPr>
            <a:r>
              <a:rPr sz="860">
                <a:solidFill>
                  <a:srgbClr val="20263A"/>
                </a:solidFill>
                <a:latin typeface="Arial"/>
              </a:rPr>
              <a:t>• Choose sensible control positions.</a:t>
            </a:r>
          </a:p>
          <a:p>
            <a:pPr>
              <a:lnSpc>
                <a:spcPct val="100000"/>
              </a:lnSpc>
              <a:spcAft>
                <a:spcPts val="250"/>
              </a:spcAft>
            </a:pPr>
            <a:r>
              <a:rPr sz="860">
                <a:solidFill>
                  <a:srgbClr val="20263A"/>
                </a:solidFill>
                <a:latin typeface="Arial"/>
              </a:rPr>
              <a:t>• Test by switching transmitter off only according to radio instructions.</a:t>
            </a:r>
          </a:p>
        </p:txBody>
      </p:sp>
      <p:sp>
        <p:nvSpPr>
          <p:cNvPr id="34" name="Rounded Rectangle 33"/>
          <p:cNvSpPr/>
          <p:nvPr/>
        </p:nvSpPr>
        <p:spPr>
          <a:xfrm>
            <a:off x="3950208" y="5797296"/>
            <a:ext cx="3474720" cy="1572768"/>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950208" y="5797296"/>
            <a:ext cx="50292" cy="1572768"/>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96512" y="591616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WIRE MANAGEMENT</a:t>
            </a:r>
          </a:p>
        </p:txBody>
      </p:sp>
      <p:sp>
        <p:nvSpPr>
          <p:cNvPr id="37" name="TextBox 36"/>
          <p:cNvSpPr txBox="1"/>
          <p:nvPr/>
        </p:nvSpPr>
        <p:spPr>
          <a:xfrm>
            <a:off x="4096512" y="6190488"/>
            <a:ext cx="3200400" cy="1078992"/>
          </a:xfrm>
          <a:prstGeom prst="rect">
            <a:avLst/>
          </a:prstGeom>
          <a:noFill/>
        </p:spPr>
        <p:txBody>
          <a:bodyPr wrap="square" lIns="18288" rIns="9144" tIns="9144" bIns="9144">
            <a:spAutoFit/>
          </a:bodyPr>
          <a:lstStyle/>
          <a:p>
            <a:pPr>
              <a:lnSpc>
                <a:spcPct val="100000"/>
              </a:lnSpc>
              <a:spcAft>
                <a:spcPts val="250"/>
              </a:spcAft>
            </a:pPr>
            <a:r>
              <a:rPr sz="860">
                <a:solidFill>
                  <a:srgbClr val="20263A"/>
                </a:solidFill>
                <a:latin typeface="Arial"/>
              </a:rPr>
              <a:t>• Strain relief at connectors.</a:t>
            </a:r>
          </a:p>
          <a:p>
            <a:pPr>
              <a:lnSpc>
                <a:spcPct val="100000"/>
              </a:lnSpc>
              <a:spcAft>
                <a:spcPts val="250"/>
              </a:spcAft>
            </a:pPr>
            <a:r>
              <a:rPr sz="860">
                <a:solidFill>
                  <a:srgbClr val="20263A"/>
                </a:solidFill>
                <a:latin typeface="Arial"/>
              </a:rPr>
              <a:t>• No rubbing on sharp edges.</a:t>
            </a:r>
          </a:p>
          <a:p>
            <a:pPr>
              <a:lnSpc>
                <a:spcPct val="100000"/>
              </a:lnSpc>
              <a:spcAft>
                <a:spcPts val="250"/>
              </a:spcAft>
            </a:pPr>
            <a:r>
              <a:rPr sz="860">
                <a:solidFill>
                  <a:srgbClr val="20263A"/>
                </a:solidFill>
                <a:latin typeface="Arial"/>
              </a:rPr>
              <a:t>• Servo extensions positively retained.</a:t>
            </a:r>
          </a:p>
          <a:p>
            <a:pPr>
              <a:lnSpc>
                <a:spcPct val="100000"/>
              </a:lnSpc>
              <a:spcAft>
                <a:spcPts val="250"/>
              </a:spcAft>
            </a:pPr>
            <a:r>
              <a:rPr sz="860">
                <a:solidFill>
                  <a:srgbClr val="20263A"/>
                </a:solidFill>
                <a:latin typeface="Arial"/>
              </a:rPr>
              <a:t>• High-current loops kept compact.</a:t>
            </a:r>
          </a:p>
        </p:txBody>
      </p:sp>
      <p:sp>
        <p:nvSpPr>
          <p:cNvPr id="38" name="TextBox 37"/>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Follow the radio manufacturer’s installation, range-test, antenna, failsafe, and power-supply instructions.</a:t>
            </a:r>
          </a:p>
        </p:txBody>
      </p:sp>
      <p:sp>
        <p:nvSpPr>
          <p:cNvPr id="39" name="TextBox 38"/>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58</a:t>
            </a:r>
          </a:p>
        </p:txBody>
      </p:sp>
      <p:sp>
        <p:nvSpPr>
          <p:cNvPr id="58" name="Oval 57"/>
          <p:cNvSpPr/>
          <p:nvPr/>
        </p:nvSpPr>
        <p:spPr>
          <a:xfrm>
            <a:off x="2231136" y="1170432"/>
            <a:ext cx="429768" cy="429768"/>
          </a:xfrm>
          <a:prstGeom prst="ellipse">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57200" y="1316736"/>
            <a:ext cx="2926080" cy="2084831"/>
          </a:xfrm>
          <a:prstGeom prst="roundRect">
            <a:avLst>
              <a:gd name="adj" fmla="val 6000"/>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639312" y="1316736"/>
            <a:ext cx="3611880" cy="2084831"/>
          </a:xfrm>
          <a:prstGeom prst="roundRect">
            <a:avLst>
              <a:gd name="adj" fmla="val 6000"/>
            </a:avLst>
          </a:prstGeom>
          <a:solidFill>
            <a:srgbClr val="EA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66928" y="3200400"/>
            <a:ext cx="2743200" cy="137160"/>
          </a:xfrm>
          <a:prstGeom prst="rect">
            <a:avLst/>
          </a:prstGeom>
          <a:noFill/>
        </p:spPr>
        <p:txBody>
          <a:bodyPr wrap="square" lIns="0" rIns="0" tIns="0" bIns="0">
            <a:spAutoFit/>
          </a:bodyPr>
          <a:lstStyle/>
          <a:p>
            <a:pPr algn="l"/>
            <a:r>
              <a:rPr sz="650" b="1" i="0">
                <a:solidFill>
                  <a:srgbClr val="C83E3E"/>
                </a:solidFill>
                <a:latin typeface="Arial"/>
              </a:rPr>
              <a:t>HIGH-CURRENT SIDE — thick, short, compact</a:t>
            </a:r>
          </a:p>
        </p:txBody>
      </p:sp>
      <p:sp>
        <p:nvSpPr>
          <p:cNvPr id="62" name="TextBox 61"/>
          <p:cNvSpPr txBox="1"/>
          <p:nvPr/>
        </p:nvSpPr>
        <p:spPr>
          <a:xfrm>
            <a:off x="3749039" y="3200400"/>
            <a:ext cx="2103120" cy="137160"/>
          </a:xfrm>
          <a:prstGeom prst="rect">
            <a:avLst/>
          </a:prstGeom>
          <a:noFill/>
        </p:spPr>
        <p:txBody>
          <a:bodyPr wrap="square" lIns="0" rIns="0" tIns="0" bIns="0">
            <a:spAutoFit/>
          </a:bodyPr>
          <a:lstStyle/>
          <a:p>
            <a:pPr algn="l"/>
            <a:r>
              <a:rPr sz="650" b="1" i="0">
                <a:solidFill>
                  <a:srgbClr val="138C8C"/>
                </a:solidFill>
                <a:latin typeface="Arial"/>
              </a:rPr>
              <a:t>SIGNAL SIDE — keep clear of power wires</a:t>
            </a:r>
          </a:p>
        </p:txBody>
      </p:sp>
      <p:sp>
        <p:nvSpPr>
          <p:cNvPr id="63" name="Rounded Rectangle 62"/>
          <p:cNvSpPr/>
          <p:nvPr/>
        </p:nvSpPr>
        <p:spPr>
          <a:xfrm>
            <a:off x="566928" y="1901952"/>
            <a:ext cx="914400" cy="731520"/>
          </a:xfrm>
          <a:prstGeom prst="roundRect">
            <a:avLst>
              <a:gd name="adj" fmla="val 8000"/>
            </a:avLst>
          </a:prstGeom>
          <a:solidFill>
            <a:srgbClr val="FFFFFF"/>
          </a:solidFill>
          <a:ln w="22225">
            <a:solidFill>
              <a:srgbClr val="A23D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6928" y="1956816"/>
            <a:ext cx="914400" cy="128016"/>
          </a:xfrm>
          <a:prstGeom prst="rect">
            <a:avLst/>
          </a:prstGeom>
          <a:noFill/>
        </p:spPr>
        <p:txBody>
          <a:bodyPr wrap="square" lIns="0" rIns="0" tIns="0" bIns="0">
            <a:spAutoFit/>
          </a:bodyPr>
          <a:lstStyle/>
          <a:p>
            <a:pPr algn="ctr"/>
            <a:r>
              <a:rPr sz="750" b="1" i="0">
                <a:solidFill>
                  <a:srgbClr val="A23DB6"/>
                </a:solidFill>
                <a:latin typeface="Arial"/>
              </a:rPr>
              <a:t>3S LiPo</a:t>
            </a:r>
          </a:p>
        </p:txBody>
      </p:sp>
      <p:cxnSp>
        <p:nvCxnSpPr>
          <p:cNvPr id="65" name="Connector 64"/>
          <p:cNvCxnSpPr/>
          <p:nvPr/>
        </p:nvCxnSpPr>
        <p:spPr>
          <a:xfrm>
            <a:off x="758952" y="2157984"/>
            <a:ext cx="0" cy="219456"/>
          </a:xfrm>
          <a:prstGeom prst="line">
            <a:avLst/>
          </a:prstGeom>
          <a:ln w="19050">
            <a:solidFill>
              <a:srgbClr val="A23DB6"/>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27531" y="2203704"/>
            <a:ext cx="0" cy="128016"/>
          </a:xfrm>
          <a:prstGeom prst="line">
            <a:avLst/>
          </a:prstGeom>
          <a:ln w="11430">
            <a:solidFill>
              <a:srgbClr val="A23DB6"/>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41832" y="2157984"/>
            <a:ext cx="0" cy="219456"/>
          </a:xfrm>
          <a:prstGeom prst="line">
            <a:avLst/>
          </a:prstGeom>
          <a:ln w="19050">
            <a:solidFill>
              <a:srgbClr val="A23DB6"/>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10412" y="2203704"/>
            <a:ext cx="0" cy="128016"/>
          </a:xfrm>
          <a:prstGeom prst="line">
            <a:avLst/>
          </a:prstGeom>
          <a:ln w="11430">
            <a:solidFill>
              <a:srgbClr val="A23DB6"/>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124712" y="2157984"/>
            <a:ext cx="0" cy="219456"/>
          </a:xfrm>
          <a:prstGeom prst="line">
            <a:avLst/>
          </a:prstGeom>
          <a:ln w="19050">
            <a:solidFill>
              <a:srgbClr val="A23DB6"/>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193292" y="2203704"/>
            <a:ext cx="0" cy="128016"/>
          </a:xfrm>
          <a:prstGeom prst="line">
            <a:avLst/>
          </a:prstGeom>
          <a:ln w="11430">
            <a:solidFill>
              <a:srgbClr val="A23DB6"/>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66928" y="2432304"/>
            <a:ext cx="914400" cy="118872"/>
          </a:xfrm>
          <a:prstGeom prst="rect">
            <a:avLst/>
          </a:prstGeom>
          <a:noFill/>
        </p:spPr>
        <p:txBody>
          <a:bodyPr wrap="square" lIns="0" rIns="0" tIns="0" bIns="0">
            <a:spAutoFit/>
          </a:bodyPr>
          <a:lstStyle/>
          <a:p>
            <a:pPr algn="ctr"/>
            <a:r>
              <a:rPr sz="600" b="0" i="0">
                <a:solidFill>
                  <a:srgbClr val="5F687D"/>
                </a:solidFill>
                <a:latin typeface="Arial"/>
              </a:rPr>
              <a:t>11.1 V</a:t>
            </a:r>
          </a:p>
        </p:txBody>
      </p:sp>
      <p:cxnSp>
        <p:nvCxnSpPr>
          <p:cNvPr id="72" name="Connector 71"/>
          <p:cNvCxnSpPr/>
          <p:nvPr/>
        </p:nvCxnSpPr>
        <p:spPr>
          <a:xfrm>
            <a:off x="1481328" y="2103120"/>
            <a:ext cx="219456" cy="0"/>
          </a:xfrm>
          <a:prstGeom prst="line">
            <a:avLst/>
          </a:prstGeom>
          <a:ln w="31750">
            <a:solidFill>
              <a:srgbClr val="C83E3E"/>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481328" y="2432304"/>
            <a:ext cx="219456" cy="0"/>
          </a:xfrm>
          <a:prstGeom prst="line">
            <a:avLst/>
          </a:prstGeom>
          <a:ln w="3175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1700784" y="2011680"/>
            <a:ext cx="237744" cy="512064"/>
          </a:xfrm>
          <a:custGeom>
            <a:avLst/>
            <a:gdLst/>
            <a:ahLst/>
            <a:cxnLst/>
            <a:rect l="l" t="t" r="r" b="b"/>
            <a:pathLst>
              <a:path w="237744" h="512064">
                <a:moveTo>
                  <a:pt x="0" y="0"/>
                </a:moveTo>
                <a:lnTo>
                  <a:pt x="182880" y="0"/>
                </a:lnTo>
                <a:lnTo>
                  <a:pt x="237744" y="256032"/>
                </a:lnTo>
                <a:lnTo>
                  <a:pt x="182880" y="512064"/>
                </a:lnTo>
                <a:lnTo>
                  <a:pt x="0" y="512064"/>
                </a:lnTo>
                <a:close/>
              </a:path>
            </a:pathLst>
          </a:custGeom>
          <a:solidFill>
            <a:srgbClr val="FFF3D6"/>
          </a:solidFill>
          <a:ln w="15875">
            <a:solidFill>
              <a:srgbClr val="E2B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72768" y="2615184"/>
            <a:ext cx="548640" cy="118872"/>
          </a:xfrm>
          <a:prstGeom prst="rect">
            <a:avLst/>
          </a:prstGeom>
          <a:noFill/>
        </p:spPr>
        <p:txBody>
          <a:bodyPr wrap="square" lIns="0" rIns="0" tIns="0" bIns="0">
            <a:spAutoFit/>
          </a:bodyPr>
          <a:lstStyle/>
          <a:p>
            <a:pPr algn="ctr"/>
            <a:r>
              <a:rPr sz="600" b="1" i="0">
                <a:solidFill>
                  <a:srgbClr val="5F687D"/>
                </a:solidFill>
                <a:latin typeface="Arial"/>
              </a:rPr>
              <a:t>XT60</a:t>
            </a:r>
          </a:p>
        </p:txBody>
      </p:sp>
      <p:cxnSp>
        <p:nvCxnSpPr>
          <p:cNvPr id="75" name="Connector 74"/>
          <p:cNvCxnSpPr/>
          <p:nvPr/>
        </p:nvCxnSpPr>
        <p:spPr>
          <a:xfrm>
            <a:off x="1938528" y="2103120"/>
            <a:ext cx="237744" cy="0"/>
          </a:xfrm>
          <a:prstGeom prst="line">
            <a:avLst/>
          </a:prstGeom>
          <a:ln w="31750">
            <a:solidFill>
              <a:srgbClr val="C83E3E"/>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938528" y="2432304"/>
            <a:ext cx="237744" cy="0"/>
          </a:xfrm>
          <a:prstGeom prst="line">
            <a:avLst/>
          </a:prstGeom>
          <a:ln w="3175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77" name="Rounded Rectangle 76"/>
          <p:cNvSpPr/>
          <p:nvPr/>
        </p:nvSpPr>
        <p:spPr>
          <a:xfrm>
            <a:off x="2176272" y="1901952"/>
            <a:ext cx="914400" cy="731520"/>
          </a:xfrm>
          <a:prstGeom prst="roundRect">
            <a:avLst>
              <a:gd name="adj" fmla="val 8000"/>
            </a:avLst>
          </a:prstGeom>
          <a:solidFill>
            <a:srgbClr val="FFFFFF"/>
          </a:solidFill>
          <a:ln w="2222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176272" y="2103120"/>
            <a:ext cx="914400" cy="137160"/>
          </a:xfrm>
          <a:prstGeom prst="rect">
            <a:avLst/>
          </a:prstGeom>
          <a:noFill/>
        </p:spPr>
        <p:txBody>
          <a:bodyPr wrap="square" lIns="0" rIns="0" tIns="0" bIns="0">
            <a:spAutoFit/>
          </a:bodyPr>
          <a:lstStyle/>
          <a:p>
            <a:pPr algn="ctr"/>
            <a:r>
              <a:rPr sz="800" b="1" i="0">
                <a:solidFill>
                  <a:srgbClr val="E0702B"/>
                </a:solidFill>
                <a:latin typeface="Arial"/>
              </a:rPr>
              <a:t>ESC 30 A</a:t>
            </a:r>
          </a:p>
        </p:txBody>
      </p:sp>
      <p:sp>
        <p:nvSpPr>
          <p:cNvPr id="79" name="TextBox 78"/>
          <p:cNvSpPr txBox="1"/>
          <p:nvPr/>
        </p:nvSpPr>
        <p:spPr>
          <a:xfrm>
            <a:off x="2176272" y="2267712"/>
            <a:ext cx="914400" cy="118872"/>
          </a:xfrm>
          <a:prstGeom prst="rect">
            <a:avLst/>
          </a:prstGeom>
          <a:noFill/>
        </p:spPr>
        <p:txBody>
          <a:bodyPr wrap="square" lIns="0" rIns="0" tIns="0" bIns="0">
            <a:spAutoFit/>
          </a:bodyPr>
          <a:lstStyle/>
          <a:p>
            <a:pPr algn="ctr"/>
            <a:r>
              <a:rPr sz="650" b="0" i="0">
                <a:solidFill>
                  <a:srgbClr val="5F687D"/>
                </a:solidFill>
                <a:latin typeface="Arial"/>
              </a:rPr>
              <a:t>BEC 5 V</a:t>
            </a:r>
          </a:p>
        </p:txBody>
      </p:sp>
      <p:cxnSp>
        <p:nvCxnSpPr>
          <p:cNvPr id="80" name="Connector 79"/>
          <p:cNvCxnSpPr/>
          <p:nvPr/>
        </p:nvCxnSpPr>
        <p:spPr>
          <a:xfrm flipV="1">
            <a:off x="2496312" y="1645920"/>
            <a:ext cx="0" cy="256032"/>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2473452" y="1700784"/>
            <a:ext cx="45720" cy="45720"/>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2" name="Connector 81"/>
          <p:cNvCxnSpPr/>
          <p:nvPr/>
        </p:nvCxnSpPr>
        <p:spPr>
          <a:xfrm flipV="1">
            <a:off x="2633472" y="1645920"/>
            <a:ext cx="0" cy="256032"/>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2610612" y="1700784"/>
            <a:ext cx="45720" cy="45720"/>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Connector 83"/>
          <p:cNvCxnSpPr/>
          <p:nvPr/>
        </p:nvCxnSpPr>
        <p:spPr>
          <a:xfrm flipV="1">
            <a:off x="2770632" y="1645920"/>
            <a:ext cx="0" cy="256032"/>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2747772" y="1700784"/>
            <a:ext cx="45720" cy="45720"/>
          </a:xfrm>
          <a:prstGeom prst="ellipse">
            <a:avLst/>
          </a:prstGeom>
          <a:solidFill>
            <a:srgbClr val="E2B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404872" y="1298448"/>
            <a:ext cx="457200" cy="457200"/>
          </a:xfrm>
          <a:prstGeom prst="ellipse">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331720" y="1499616"/>
            <a:ext cx="603504" cy="118872"/>
          </a:xfrm>
          <a:prstGeom prst="rect">
            <a:avLst/>
          </a:prstGeom>
          <a:noFill/>
        </p:spPr>
        <p:txBody>
          <a:bodyPr wrap="square" lIns="0" rIns="0" tIns="0" bIns="0">
            <a:spAutoFit/>
          </a:bodyPr>
          <a:lstStyle/>
          <a:p>
            <a:pPr algn="ctr"/>
            <a:r>
              <a:rPr sz="600" b="1" i="0">
                <a:solidFill>
                  <a:srgbClr val="246BCE"/>
                </a:solidFill>
                <a:latin typeface="Arial"/>
              </a:rPr>
              <a:t>motor</a:t>
            </a:r>
          </a:p>
        </p:txBody>
      </p:sp>
      <p:sp>
        <p:nvSpPr>
          <p:cNvPr id="88" name="TextBox 87"/>
          <p:cNvSpPr txBox="1"/>
          <p:nvPr/>
        </p:nvSpPr>
        <p:spPr>
          <a:xfrm>
            <a:off x="3017520" y="1517904"/>
            <a:ext cx="932688" cy="237744"/>
          </a:xfrm>
          <a:prstGeom prst="rect">
            <a:avLst/>
          </a:prstGeom>
          <a:noFill/>
        </p:spPr>
        <p:txBody>
          <a:bodyPr wrap="square" lIns="0" rIns="0" tIns="0" bIns="0">
            <a:spAutoFit/>
          </a:bodyPr>
          <a:lstStyle/>
          <a:p>
            <a:pPr algn="l"/>
            <a:r>
              <a:rPr sz="600" b="0" i="1">
                <a:solidFill>
                  <a:srgbClr val="5F687D"/>
                </a:solidFill>
                <a:latin typeface="Arial"/>
              </a:rPr>
              <a:t>swap any two motor wires to reverse</a:t>
            </a:r>
          </a:p>
        </p:txBody>
      </p:sp>
      <p:cxnSp>
        <p:nvCxnSpPr>
          <p:cNvPr id="89" name="Connector 88"/>
          <p:cNvCxnSpPr/>
          <p:nvPr/>
        </p:nvCxnSpPr>
        <p:spPr>
          <a:xfrm>
            <a:off x="3090672" y="2235708"/>
            <a:ext cx="950976" cy="0"/>
          </a:xfrm>
          <a:prstGeom prst="line">
            <a:avLst/>
          </a:prstGeom>
          <a:ln w="12700">
            <a:solidFill>
              <a:srgbClr val="5F687D"/>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090672" y="2267712"/>
            <a:ext cx="950976" cy="0"/>
          </a:xfrm>
          <a:prstGeom prst="line">
            <a:avLst/>
          </a:prstGeom>
          <a:ln w="12700">
            <a:solidFill>
              <a:srgbClr val="C83E3E"/>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3090672" y="2299716"/>
            <a:ext cx="950976" cy="0"/>
          </a:xfrm>
          <a:prstGeom prst="line">
            <a:avLst/>
          </a:prstGeom>
          <a:ln w="12700">
            <a:solidFill>
              <a:srgbClr val="E0702B"/>
            </a:solidFill>
          </a:ln>
          <a:effectLst/>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3017520" y="2377440"/>
            <a:ext cx="1051560" cy="237744"/>
          </a:xfrm>
          <a:prstGeom prst="rect">
            <a:avLst/>
          </a:prstGeom>
          <a:noFill/>
        </p:spPr>
        <p:txBody>
          <a:bodyPr wrap="square" lIns="0" rIns="0" tIns="0" bIns="0">
            <a:spAutoFit/>
          </a:bodyPr>
          <a:lstStyle/>
          <a:p>
            <a:pPr algn="ctr"/>
            <a:r>
              <a:rPr sz="600" b="1" i="0">
                <a:solidFill>
                  <a:srgbClr val="20263A"/>
                </a:solidFill>
                <a:latin typeface="Arial"/>
              </a:rPr>
              <a:t>throttle lead:</a:t>
            </a:r>
          </a:p>
          <a:p>
            <a:pPr algn="ctr"/>
            <a:r>
              <a:rPr sz="600" b="1" i="0">
                <a:solidFill>
                  <a:srgbClr val="20263A"/>
                </a:solidFill>
                <a:latin typeface="Arial"/>
              </a:rPr>
              <a:t>signal + BEC 5 V</a:t>
            </a:r>
          </a:p>
        </p:txBody>
      </p:sp>
      <p:sp>
        <p:nvSpPr>
          <p:cNvPr id="93" name="Rounded Rectangle 92"/>
          <p:cNvSpPr/>
          <p:nvPr/>
        </p:nvSpPr>
        <p:spPr>
          <a:xfrm>
            <a:off x="4041648" y="1591056"/>
            <a:ext cx="1188720" cy="1481328"/>
          </a:xfrm>
          <a:prstGeom prst="roundRect">
            <a:avLst>
              <a:gd name="adj" fmla="val 6000"/>
            </a:avLst>
          </a:prstGeom>
          <a:solidFill>
            <a:srgbClr val="FFFFFF"/>
          </a:solidFill>
          <a:ln w="2222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059936" y="1645920"/>
            <a:ext cx="1152144" cy="128016"/>
          </a:xfrm>
          <a:prstGeom prst="rect">
            <a:avLst/>
          </a:prstGeom>
          <a:noFill/>
        </p:spPr>
        <p:txBody>
          <a:bodyPr wrap="square" lIns="0" rIns="0" tIns="0" bIns="0">
            <a:spAutoFit/>
          </a:bodyPr>
          <a:lstStyle/>
          <a:p>
            <a:pPr algn="ctr"/>
            <a:r>
              <a:rPr sz="750" b="1" i="0">
                <a:solidFill>
                  <a:srgbClr val="138C8C"/>
                </a:solidFill>
                <a:latin typeface="Arial"/>
              </a:rPr>
              <a:t>RECEIVER</a:t>
            </a:r>
          </a:p>
        </p:txBody>
      </p:sp>
      <p:sp>
        <p:nvSpPr>
          <p:cNvPr id="95" name="Rectangle 94"/>
          <p:cNvSpPr/>
          <p:nvPr/>
        </p:nvSpPr>
        <p:spPr>
          <a:xfrm>
            <a:off x="5029200" y="1847088"/>
            <a:ext cx="182880" cy="146304"/>
          </a:xfrm>
          <a:prstGeom prst="rect">
            <a:avLst/>
          </a:prstGeom>
          <a:solidFill>
            <a:srgbClr val="D2EEEA"/>
          </a:solidFill>
          <a:ln w="952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206240" y="1851660"/>
            <a:ext cx="777240" cy="128016"/>
          </a:xfrm>
          <a:prstGeom prst="rect">
            <a:avLst/>
          </a:prstGeom>
          <a:noFill/>
        </p:spPr>
        <p:txBody>
          <a:bodyPr wrap="square" lIns="0" rIns="0" tIns="0" bIns="0">
            <a:spAutoFit/>
          </a:bodyPr>
          <a:lstStyle/>
          <a:p>
            <a:pPr algn="l"/>
            <a:r>
              <a:rPr sz="650" b="1" i="0">
                <a:solidFill>
                  <a:srgbClr val="20263A"/>
                </a:solidFill>
                <a:latin typeface="Arial"/>
              </a:rPr>
              <a:t>1  AIL</a:t>
            </a:r>
          </a:p>
        </p:txBody>
      </p:sp>
      <p:sp>
        <p:nvSpPr>
          <p:cNvPr id="97" name="Rectangle 96"/>
          <p:cNvSpPr/>
          <p:nvPr/>
        </p:nvSpPr>
        <p:spPr>
          <a:xfrm>
            <a:off x="5029200" y="2121408"/>
            <a:ext cx="182880" cy="146304"/>
          </a:xfrm>
          <a:prstGeom prst="rect">
            <a:avLst/>
          </a:prstGeom>
          <a:solidFill>
            <a:srgbClr val="D2EEEA"/>
          </a:solidFill>
          <a:ln w="952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206240" y="2125979"/>
            <a:ext cx="777240" cy="128016"/>
          </a:xfrm>
          <a:prstGeom prst="rect">
            <a:avLst/>
          </a:prstGeom>
          <a:noFill/>
        </p:spPr>
        <p:txBody>
          <a:bodyPr wrap="square" lIns="0" rIns="0" tIns="0" bIns="0">
            <a:spAutoFit/>
          </a:bodyPr>
          <a:lstStyle/>
          <a:p>
            <a:pPr algn="l"/>
            <a:r>
              <a:rPr sz="650" b="1" i="0">
                <a:solidFill>
                  <a:srgbClr val="20263A"/>
                </a:solidFill>
                <a:latin typeface="Arial"/>
              </a:rPr>
              <a:t>2  ELE</a:t>
            </a:r>
          </a:p>
        </p:txBody>
      </p:sp>
      <p:sp>
        <p:nvSpPr>
          <p:cNvPr id="99" name="Rectangle 98"/>
          <p:cNvSpPr/>
          <p:nvPr/>
        </p:nvSpPr>
        <p:spPr>
          <a:xfrm>
            <a:off x="5029200" y="2395728"/>
            <a:ext cx="182880" cy="146304"/>
          </a:xfrm>
          <a:prstGeom prst="rect">
            <a:avLst/>
          </a:prstGeom>
          <a:solidFill>
            <a:srgbClr val="D2EEEA"/>
          </a:solidFill>
          <a:ln w="952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206240" y="2400300"/>
            <a:ext cx="777240" cy="128016"/>
          </a:xfrm>
          <a:prstGeom prst="rect">
            <a:avLst/>
          </a:prstGeom>
          <a:noFill/>
        </p:spPr>
        <p:txBody>
          <a:bodyPr wrap="square" lIns="0" rIns="0" tIns="0" bIns="0">
            <a:spAutoFit/>
          </a:bodyPr>
          <a:lstStyle/>
          <a:p>
            <a:pPr algn="l"/>
            <a:r>
              <a:rPr sz="650" b="1" i="0">
                <a:solidFill>
                  <a:srgbClr val="20263A"/>
                </a:solidFill>
                <a:latin typeface="Arial"/>
              </a:rPr>
              <a:t>3  THR</a:t>
            </a:r>
          </a:p>
        </p:txBody>
      </p:sp>
      <p:sp>
        <p:nvSpPr>
          <p:cNvPr id="101" name="Rectangle 100"/>
          <p:cNvSpPr/>
          <p:nvPr/>
        </p:nvSpPr>
        <p:spPr>
          <a:xfrm>
            <a:off x="5029200" y="2670048"/>
            <a:ext cx="182880" cy="146304"/>
          </a:xfrm>
          <a:prstGeom prst="rect">
            <a:avLst/>
          </a:prstGeom>
          <a:solidFill>
            <a:srgbClr val="D2EEEA"/>
          </a:solidFill>
          <a:ln w="952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206240" y="2674620"/>
            <a:ext cx="777240" cy="128016"/>
          </a:xfrm>
          <a:prstGeom prst="rect">
            <a:avLst/>
          </a:prstGeom>
          <a:noFill/>
        </p:spPr>
        <p:txBody>
          <a:bodyPr wrap="square" lIns="0" rIns="0" tIns="0" bIns="0">
            <a:spAutoFit/>
          </a:bodyPr>
          <a:lstStyle/>
          <a:p>
            <a:pPr algn="l"/>
            <a:r>
              <a:rPr sz="650" b="1" i="0">
                <a:solidFill>
                  <a:srgbClr val="20263A"/>
                </a:solidFill>
                <a:latin typeface="Arial"/>
              </a:rPr>
              <a:t>4  RUD</a:t>
            </a:r>
          </a:p>
        </p:txBody>
      </p:sp>
      <p:cxnSp>
        <p:nvCxnSpPr>
          <p:cNvPr id="103" name="Connector 102"/>
          <p:cNvCxnSpPr/>
          <p:nvPr/>
        </p:nvCxnSpPr>
        <p:spPr>
          <a:xfrm>
            <a:off x="4041648" y="2267712"/>
            <a:ext cx="0" cy="201168"/>
          </a:xfrm>
          <a:prstGeom prst="line">
            <a:avLst/>
          </a:prstGeom>
          <a:ln>
            <a:solidFill>
              <a:srgbClr val="138C8C"/>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4059936" y="2852928"/>
            <a:ext cx="1152144" cy="118872"/>
          </a:xfrm>
          <a:prstGeom prst="rect">
            <a:avLst/>
          </a:prstGeom>
          <a:noFill/>
        </p:spPr>
        <p:txBody>
          <a:bodyPr wrap="square" lIns="0" rIns="0" tIns="0" bIns="0">
            <a:spAutoFit/>
          </a:bodyPr>
          <a:lstStyle/>
          <a:p>
            <a:pPr algn="ctr"/>
            <a:r>
              <a:rPr sz="550" b="0" i="0">
                <a:solidFill>
                  <a:srgbClr val="5F687D"/>
                </a:solidFill>
                <a:latin typeface="Arial"/>
              </a:rPr>
              <a:t>bind / batt spare</a:t>
            </a:r>
          </a:p>
        </p:txBody>
      </p:sp>
      <p:cxnSp>
        <p:nvCxnSpPr>
          <p:cNvPr id="105" name="Connector 104"/>
          <p:cNvCxnSpPr/>
          <p:nvPr/>
        </p:nvCxnSpPr>
        <p:spPr>
          <a:xfrm flipH="1" flipV="1">
            <a:off x="4041648" y="1353312"/>
            <a:ext cx="219456" cy="237744"/>
          </a:xfrm>
          <a:prstGeom prst="line">
            <a:avLst/>
          </a:prstGeom>
          <a:ln w="19050">
            <a:solidFill>
              <a:srgbClr val="20263A"/>
            </a:solidFill>
          </a:ln>
          <a:effectLst/>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4846320" y="1426464"/>
            <a:ext cx="292608" cy="164592"/>
          </a:xfrm>
          <a:prstGeom prst="line">
            <a:avLst/>
          </a:prstGeom>
          <a:ln w="19050">
            <a:solidFill>
              <a:srgbClr val="2026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230368" y="1316736"/>
            <a:ext cx="1828800" cy="118872"/>
          </a:xfrm>
          <a:prstGeom prst="rect">
            <a:avLst/>
          </a:prstGeom>
          <a:noFill/>
        </p:spPr>
        <p:txBody>
          <a:bodyPr wrap="square" lIns="0" rIns="0" tIns="0" bIns="0">
            <a:spAutoFit/>
          </a:bodyPr>
          <a:lstStyle/>
          <a:p>
            <a:pPr algn="l"/>
            <a:r>
              <a:rPr sz="600" b="0" i="1">
                <a:solidFill>
                  <a:srgbClr val="5F687D"/>
                </a:solidFill>
                <a:latin typeface="Arial"/>
              </a:rPr>
              <a:t>antennas at 90°, clear of ESC and motor wires</a:t>
            </a:r>
          </a:p>
        </p:txBody>
      </p:sp>
      <p:cxnSp>
        <p:nvCxnSpPr>
          <p:cNvPr id="108" name="Connector 107"/>
          <p:cNvCxnSpPr/>
          <p:nvPr/>
        </p:nvCxnSpPr>
        <p:spPr>
          <a:xfrm>
            <a:off x="5212080" y="1920240"/>
            <a:ext cx="329184" cy="0"/>
          </a:xfrm>
          <a:prstGeom prst="line">
            <a:avLst/>
          </a:prstGeom>
          <a:ln w="15875">
            <a:solidFill>
              <a:srgbClr val="138C8C"/>
            </a:solidFill>
          </a:ln>
          <a:effectLst/>
        </p:spPr>
        <p:style>
          <a:lnRef idx="2">
            <a:schemeClr val="accent1"/>
          </a:lnRef>
          <a:fillRef idx="0">
            <a:schemeClr val="accent1"/>
          </a:fillRef>
          <a:effectRef idx="1">
            <a:schemeClr val="accent1"/>
          </a:effectRef>
          <a:fontRef idx="minor">
            <a:schemeClr val="tx1"/>
          </a:fontRef>
        </p:style>
      </p:cxnSp>
      <p:sp>
        <p:nvSpPr>
          <p:cNvPr id="109" name="Oval 108"/>
          <p:cNvSpPr/>
          <p:nvPr/>
        </p:nvSpPr>
        <p:spPr>
          <a:xfrm>
            <a:off x="5513832" y="1892807"/>
            <a:ext cx="54864" cy="54864"/>
          </a:xfrm>
          <a:prstGeom prst="ellipse">
            <a:avLst/>
          </a:prstGeom>
          <a:solidFill>
            <a:srgbClr val="13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0" name="Connector 109"/>
          <p:cNvCxnSpPr/>
          <p:nvPr/>
        </p:nvCxnSpPr>
        <p:spPr>
          <a:xfrm flipV="1">
            <a:off x="5541264" y="1719072"/>
            <a:ext cx="420624" cy="201168"/>
          </a:xfrm>
          <a:prstGeom prst="line">
            <a:avLst/>
          </a:prstGeom>
          <a:ln w="15875">
            <a:solidFill>
              <a:srgbClr val="138C8C"/>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5541264" y="1920240"/>
            <a:ext cx="420624" cy="219456"/>
          </a:xfrm>
          <a:prstGeom prst="line">
            <a:avLst/>
          </a:prstGeom>
          <a:ln w="15875">
            <a:solidFill>
              <a:srgbClr val="138C8C"/>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5303520" y="1737360"/>
            <a:ext cx="502920" cy="118872"/>
          </a:xfrm>
          <a:prstGeom prst="rect">
            <a:avLst/>
          </a:prstGeom>
          <a:noFill/>
        </p:spPr>
        <p:txBody>
          <a:bodyPr wrap="square" lIns="0" rIns="0" tIns="0" bIns="0">
            <a:spAutoFit/>
          </a:bodyPr>
          <a:lstStyle/>
          <a:p>
            <a:pPr algn="l"/>
            <a:r>
              <a:rPr sz="600" b="1" i="0">
                <a:solidFill>
                  <a:srgbClr val="138C8C"/>
                </a:solidFill>
                <a:latin typeface="Arial"/>
              </a:rPr>
              <a:t>Y-lead</a:t>
            </a:r>
          </a:p>
        </p:txBody>
      </p:sp>
      <p:cxnSp>
        <p:nvCxnSpPr>
          <p:cNvPr id="113" name="Connector 112"/>
          <p:cNvCxnSpPr/>
          <p:nvPr/>
        </p:nvCxnSpPr>
        <p:spPr>
          <a:xfrm>
            <a:off x="5212080" y="2194560"/>
            <a:ext cx="749808" cy="365760"/>
          </a:xfrm>
          <a:prstGeom prst="line">
            <a:avLst/>
          </a:prstGeom>
          <a:ln w="15875">
            <a:solidFill>
              <a:srgbClr val="138C8C"/>
            </a:solidFill>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5212080" y="2743200"/>
            <a:ext cx="749808" cy="237744"/>
          </a:xfrm>
          <a:prstGeom prst="line">
            <a:avLst/>
          </a:prstGeom>
          <a:ln w="15875">
            <a:solidFill>
              <a:srgbClr val="138C8C"/>
            </a:solidFill>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4041648" y="2267712"/>
            <a:ext cx="0" cy="201168"/>
          </a:xfrm>
          <a:prstGeom prst="line">
            <a:avLst/>
          </a:prstGeom>
          <a:ln w="9525">
            <a:solidFill>
              <a:srgbClr val="C83E3E"/>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Rounded Rectangle 115"/>
          <p:cNvSpPr/>
          <p:nvPr/>
        </p:nvSpPr>
        <p:spPr>
          <a:xfrm>
            <a:off x="5961888" y="1572768"/>
            <a:ext cx="1078992" cy="310896"/>
          </a:xfrm>
          <a:prstGeom prst="roundRect">
            <a:avLst>
              <a:gd name="adj" fmla="val 15000"/>
            </a:avLst>
          </a:prstGeom>
          <a:solidFill>
            <a:srgbClr val="EAF7F6"/>
          </a:solidFill>
          <a:ln w="1587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5961888" y="1655064"/>
            <a:ext cx="1078992" cy="128016"/>
          </a:xfrm>
          <a:prstGeom prst="rect">
            <a:avLst/>
          </a:prstGeom>
          <a:noFill/>
        </p:spPr>
        <p:txBody>
          <a:bodyPr wrap="square" lIns="0" rIns="0" tIns="0" bIns="0">
            <a:spAutoFit/>
          </a:bodyPr>
          <a:lstStyle/>
          <a:p>
            <a:pPr algn="ctr"/>
            <a:r>
              <a:rPr sz="650" b="1" i="0">
                <a:solidFill>
                  <a:srgbClr val="138C8C"/>
                </a:solidFill>
                <a:latin typeface="Arial"/>
              </a:rPr>
              <a:t>L AILERON</a:t>
            </a:r>
          </a:p>
        </p:txBody>
      </p:sp>
      <p:sp>
        <p:nvSpPr>
          <p:cNvPr id="118" name="Rounded Rectangle 117"/>
          <p:cNvSpPr/>
          <p:nvPr/>
        </p:nvSpPr>
        <p:spPr>
          <a:xfrm>
            <a:off x="5961888" y="1993392"/>
            <a:ext cx="1078992" cy="310896"/>
          </a:xfrm>
          <a:prstGeom prst="roundRect">
            <a:avLst>
              <a:gd name="adj" fmla="val 15000"/>
            </a:avLst>
          </a:prstGeom>
          <a:solidFill>
            <a:srgbClr val="EAF7F6"/>
          </a:solidFill>
          <a:ln w="1587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961888" y="2075688"/>
            <a:ext cx="1078992" cy="128016"/>
          </a:xfrm>
          <a:prstGeom prst="rect">
            <a:avLst/>
          </a:prstGeom>
          <a:noFill/>
        </p:spPr>
        <p:txBody>
          <a:bodyPr wrap="square" lIns="0" rIns="0" tIns="0" bIns="0">
            <a:spAutoFit/>
          </a:bodyPr>
          <a:lstStyle/>
          <a:p>
            <a:pPr algn="ctr"/>
            <a:r>
              <a:rPr sz="650" b="1" i="0">
                <a:solidFill>
                  <a:srgbClr val="138C8C"/>
                </a:solidFill>
                <a:latin typeface="Arial"/>
              </a:rPr>
              <a:t>R AILERON</a:t>
            </a:r>
          </a:p>
        </p:txBody>
      </p:sp>
      <p:sp>
        <p:nvSpPr>
          <p:cNvPr id="120" name="Rounded Rectangle 119"/>
          <p:cNvSpPr/>
          <p:nvPr/>
        </p:nvSpPr>
        <p:spPr>
          <a:xfrm>
            <a:off x="5961888" y="2414016"/>
            <a:ext cx="1078992" cy="310896"/>
          </a:xfrm>
          <a:prstGeom prst="roundRect">
            <a:avLst>
              <a:gd name="adj" fmla="val 15000"/>
            </a:avLst>
          </a:prstGeom>
          <a:solidFill>
            <a:srgbClr val="EAF7F6"/>
          </a:solidFill>
          <a:ln w="1587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961888" y="2496312"/>
            <a:ext cx="1078992" cy="128016"/>
          </a:xfrm>
          <a:prstGeom prst="rect">
            <a:avLst/>
          </a:prstGeom>
          <a:noFill/>
        </p:spPr>
        <p:txBody>
          <a:bodyPr wrap="square" lIns="0" rIns="0" tIns="0" bIns="0">
            <a:spAutoFit/>
          </a:bodyPr>
          <a:lstStyle/>
          <a:p>
            <a:pPr algn="ctr"/>
            <a:r>
              <a:rPr sz="650" b="1" i="0">
                <a:solidFill>
                  <a:srgbClr val="138C8C"/>
                </a:solidFill>
                <a:latin typeface="Arial"/>
              </a:rPr>
              <a:t>ELEVATOR</a:t>
            </a:r>
          </a:p>
        </p:txBody>
      </p:sp>
      <p:sp>
        <p:nvSpPr>
          <p:cNvPr id="122" name="Rounded Rectangle 121"/>
          <p:cNvSpPr/>
          <p:nvPr/>
        </p:nvSpPr>
        <p:spPr>
          <a:xfrm>
            <a:off x="5961888" y="2834640"/>
            <a:ext cx="1078992" cy="310896"/>
          </a:xfrm>
          <a:prstGeom prst="roundRect">
            <a:avLst>
              <a:gd name="adj" fmla="val 15000"/>
            </a:avLst>
          </a:prstGeom>
          <a:solidFill>
            <a:srgbClr val="EAF7F6"/>
          </a:solidFill>
          <a:ln w="15875">
            <a:solidFill>
              <a:srgbClr val="13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961888" y="2916936"/>
            <a:ext cx="1078992" cy="128016"/>
          </a:xfrm>
          <a:prstGeom prst="rect">
            <a:avLst/>
          </a:prstGeom>
          <a:noFill/>
        </p:spPr>
        <p:txBody>
          <a:bodyPr wrap="square" lIns="0" rIns="0" tIns="0" bIns="0">
            <a:spAutoFit/>
          </a:bodyPr>
          <a:lstStyle/>
          <a:p>
            <a:pPr algn="ctr"/>
            <a:r>
              <a:rPr sz="650" b="1" i="0">
                <a:solidFill>
                  <a:srgbClr val="138C8C"/>
                </a:solidFill>
                <a:latin typeface="Arial"/>
              </a:rPr>
              <a:t>RUDDER</a:t>
            </a:r>
          </a:p>
        </p:txBody>
      </p:sp>
      <p:sp>
        <p:nvSpPr>
          <p:cNvPr id="124" name="TextBox 123"/>
          <p:cNvSpPr txBox="1"/>
          <p:nvPr/>
        </p:nvSpPr>
        <p:spPr>
          <a:xfrm>
            <a:off x="5961888" y="3172968"/>
            <a:ext cx="1188720" cy="237744"/>
          </a:xfrm>
          <a:prstGeom prst="rect">
            <a:avLst/>
          </a:prstGeom>
          <a:noFill/>
        </p:spPr>
        <p:txBody>
          <a:bodyPr wrap="square" lIns="0" rIns="0" tIns="0" bIns="0">
            <a:spAutoFit/>
          </a:bodyPr>
          <a:lstStyle/>
          <a:p>
            <a:pPr algn="l"/>
            <a:r>
              <a:rPr sz="550" b="0" i="1">
                <a:solidFill>
                  <a:srgbClr val="5F687D"/>
                </a:solidFill>
                <a:latin typeface="Arial"/>
              </a:rPr>
              <a:t>extensions clipped or taped — never loose</a:t>
            </a:r>
          </a:p>
        </p:txBody>
      </p:sp>
      <p:sp>
        <p:nvSpPr>
          <p:cNvPr id="125" name="TextBox 124"/>
          <p:cNvSpPr txBox="1"/>
          <p:nvPr/>
        </p:nvSpPr>
        <p:spPr>
          <a:xfrm>
            <a:off x="566928" y="3415284"/>
            <a:ext cx="6583680" cy="146304"/>
          </a:xfrm>
          <a:prstGeom prst="rect">
            <a:avLst/>
          </a:prstGeom>
          <a:noFill/>
        </p:spPr>
        <p:txBody>
          <a:bodyPr wrap="square" lIns="0" rIns="0" tIns="0" bIns="0">
            <a:spAutoFit/>
          </a:bodyPr>
          <a:lstStyle/>
          <a:p>
            <a:pPr algn="l"/>
            <a:r>
              <a:rPr sz="700" b="0" i="0">
                <a:solidFill>
                  <a:srgbClr val="5F687D"/>
                </a:solidFill>
                <a:latin typeface="Arial"/>
              </a:rPr>
              <a:t>One plug does double duty: the throttle lead carries the ESC signal out and BEC power in — it is the receiver’s only power source. Check its polarity twice.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262872"/>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94360"/>
            <a:ext cx="6217920" cy="228600"/>
          </a:xfrm>
          <a:prstGeom prst="rect">
            <a:avLst/>
          </a:prstGeom>
          <a:noFill/>
        </p:spPr>
        <p:txBody>
          <a:bodyPr wrap="square" lIns="0" rIns="0" tIns="0" bIns="0" anchor="t">
            <a:spAutoFit/>
          </a:bodyPr>
          <a:lstStyle/>
          <a:p>
            <a:pPr algn="l">
              <a:lnSpc>
                <a:spcPct val="100000"/>
              </a:lnSpc>
            </a:pPr>
            <a:r>
              <a:rPr sz="900" b="1" i="0">
                <a:solidFill>
                  <a:srgbClr val="138C8C"/>
                </a:solidFill>
                <a:latin typeface="Arial"/>
              </a:rPr>
              <a:t>R/C DESIGN &amp; BUILD MANUAL</a:t>
            </a:r>
          </a:p>
        </p:txBody>
      </p:sp>
      <p:sp>
        <p:nvSpPr>
          <p:cNvPr id="5" name="TextBox 4"/>
          <p:cNvSpPr txBox="1"/>
          <p:nvPr/>
        </p:nvSpPr>
        <p:spPr>
          <a:xfrm>
            <a:off x="502920" y="1298448"/>
            <a:ext cx="1280160" cy="1097280"/>
          </a:xfrm>
          <a:prstGeom prst="rect">
            <a:avLst/>
          </a:prstGeom>
          <a:noFill/>
        </p:spPr>
        <p:txBody>
          <a:bodyPr wrap="square" lIns="0" rIns="0" tIns="0" bIns="0" anchor="t">
            <a:spAutoFit/>
          </a:bodyPr>
          <a:lstStyle/>
          <a:p>
            <a:pPr algn="l">
              <a:lnSpc>
                <a:spcPct val="100000"/>
              </a:lnSpc>
            </a:pPr>
            <a:r>
              <a:rPr sz="6800" b="1" i="0">
                <a:solidFill>
                  <a:srgbClr val="138C8C"/>
                </a:solidFill>
                <a:latin typeface="Arial"/>
              </a:rPr>
              <a:t>05</a:t>
            </a:r>
          </a:p>
        </p:txBody>
      </p:sp>
      <p:sp>
        <p:nvSpPr>
          <p:cNvPr id="6" name="TextBox 5"/>
          <p:cNvSpPr txBox="1"/>
          <p:nvPr/>
        </p:nvSpPr>
        <p:spPr>
          <a:xfrm>
            <a:off x="502920" y="2743200"/>
            <a:ext cx="6583680" cy="1188720"/>
          </a:xfrm>
          <a:prstGeom prst="rect">
            <a:avLst/>
          </a:prstGeom>
          <a:noFill/>
        </p:spPr>
        <p:txBody>
          <a:bodyPr wrap="square" lIns="0" rIns="0" tIns="0" bIns="0" anchor="t">
            <a:spAutoFit/>
          </a:bodyPr>
          <a:lstStyle/>
          <a:p>
            <a:pPr algn="l">
              <a:lnSpc>
                <a:spcPct val="100000"/>
              </a:lnSpc>
            </a:pPr>
            <a:r>
              <a:rPr sz="3300" b="1" i="0">
                <a:solidFill>
                  <a:srgbClr val="FFFFFF"/>
                </a:solidFill>
                <a:latin typeface="Arial"/>
              </a:rPr>
              <a:t>Test, fly, and improve</a:t>
            </a:r>
          </a:p>
        </p:txBody>
      </p:sp>
      <p:sp>
        <p:nvSpPr>
          <p:cNvPr id="7" name="TextBox 6"/>
          <p:cNvSpPr txBox="1"/>
          <p:nvPr/>
        </p:nvSpPr>
        <p:spPr>
          <a:xfrm>
            <a:off x="502920" y="4069080"/>
            <a:ext cx="6309360" cy="960120"/>
          </a:xfrm>
          <a:prstGeom prst="rect">
            <a:avLst/>
          </a:prstGeom>
          <a:noFill/>
        </p:spPr>
        <p:txBody>
          <a:bodyPr wrap="square" lIns="0" rIns="0" tIns="0" bIns="0" anchor="t">
            <a:spAutoFit/>
          </a:bodyPr>
          <a:lstStyle/>
          <a:p>
            <a:pPr algn="l">
              <a:lnSpc>
                <a:spcPct val="100000"/>
              </a:lnSpc>
            </a:pPr>
            <a:r>
              <a:rPr sz="1600" b="0" i="0">
                <a:solidFill>
                  <a:srgbClr val="CFD8EC"/>
                </a:solidFill>
                <a:latin typeface="Arial"/>
              </a:rPr>
              <a:t>A maiden flight is a controlled experiment. The goal is not to prove the airplane perfect—it is to collect safe evidence.</a:t>
            </a:r>
          </a:p>
        </p:txBody>
      </p:sp>
      <p:sp>
        <p:nvSpPr>
          <p:cNvPr id="11" name="TextBox 10"/>
          <p:cNvSpPr txBox="1"/>
          <p:nvPr/>
        </p:nvSpPr>
        <p:spPr>
          <a:xfrm>
            <a:off x="502920" y="8430768"/>
            <a:ext cx="6400800" cy="256032"/>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Think → calculate → build straight → test carefully → improve one change at a time.</a:t>
            </a:r>
          </a:p>
        </p:txBody>
      </p:sp>
      <p:sp>
        <p:nvSpPr>
          <p:cNvPr id="12" name="TextBox 11"/>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59</a:t>
            </a:r>
          </a:p>
        </p:txBody>
      </p:sp>
      <p:sp>
        <p:nvSpPr>
          <p:cNvPr id="8" name="Freeform 7"/>
          <p:cNvSpPr/>
          <p:nvPr/>
        </p:nvSpPr>
        <p:spPr>
          <a:xfrm>
            <a:off x="3794760" y="5760720"/>
            <a:ext cx="182879" cy="2212848"/>
          </a:xfrm>
          <a:custGeom>
            <a:avLst/>
            <a:gdLst/>
            <a:ahLst/>
            <a:cxnLst/>
            <a:rect l="l" t="t" r="r" b="b"/>
            <a:pathLst>
              <a:path w="182879" h="2212848">
                <a:moveTo>
                  <a:pt x="27431" y="109728"/>
                </a:moveTo>
                <a:lnTo>
                  <a:pt x="91440" y="0"/>
                </a:lnTo>
                <a:lnTo>
                  <a:pt x="155448" y="109728"/>
                </a:lnTo>
                <a:lnTo>
                  <a:pt x="182879" y="2212848"/>
                </a:lnTo>
                <a:lnTo>
                  <a:pt x="0" y="2212848"/>
                </a:lnTo>
                <a:close/>
              </a:path>
            </a:pathLst>
          </a:custGeom>
          <a:solidFill>
            <a:srgbClr val="F7F9FC"/>
          </a:solidFill>
          <a:ln w="22225">
            <a:solidFill>
              <a:srgbClr val="20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3383280" y="5760720"/>
            <a:ext cx="1005840" cy="0"/>
          </a:xfrm>
          <a:prstGeom prst="line">
            <a:avLst/>
          </a:prstGeom>
          <a:ln w="22225">
            <a:solidFill>
              <a:srgbClr val="5F687D"/>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965960" y="6382512"/>
            <a:ext cx="3840480" cy="694944"/>
          </a:xfrm>
          <a:prstGeom prst="rect">
            <a:avLst/>
          </a:prstGeom>
          <a:solidFill>
            <a:srgbClr val="EDF4FF"/>
          </a:solidFill>
          <a:ln w="22225">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965960" y="6945416"/>
            <a:ext cx="883310" cy="132040"/>
          </a:xfrm>
          <a:custGeom>
            <a:avLst/>
            <a:gdLst/>
            <a:ahLst/>
            <a:cxnLst/>
            <a:rect l="l" t="t" r="r" b="b"/>
            <a:pathLst>
              <a:path w="883310" h="132040">
                <a:moveTo>
                  <a:pt x="0" y="0"/>
                </a:moveTo>
                <a:lnTo>
                  <a:pt x="883310" y="0"/>
                </a:lnTo>
                <a:lnTo>
                  <a:pt x="883310" y="132040"/>
                </a:lnTo>
                <a:lnTo>
                  <a:pt x="0" y="132040"/>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923129" y="6945416"/>
            <a:ext cx="883311" cy="132040"/>
          </a:xfrm>
          <a:custGeom>
            <a:avLst/>
            <a:gdLst/>
            <a:ahLst/>
            <a:cxnLst/>
            <a:rect l="l" t="t" r="r" b="b"/>
            <a:pathLst>
              <a:path w="883311" h="132040">
                <a:moveTo>
                  <a:pt x="0" y="0"/>
                </a:moveTo>
                <a:lnTo>
                  <a:pt x="883311" y="0"/>
                </a:lnTo>
                <a:lnTo>
                  <a:pt x="883311" y="132040"/>
                </a:lnTo>
                <a:lnTo>
                  <a:pt x="0" y="132040"/>
                </a:lnTo>
                <a:close/>
              </a:path>
            </a:pathLst>
          </a:custGeom>
          <a:solidFill>
            <a:srgbClr val="FFE1C4"/>
          </a:solidFill>
          <a:ln w="15875">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77540" y="7626096"/>
            <a:ext cx="1417320" cy="347472"/>
          </a:xfrm>
          <a:prstGeom prst="rect">
            <a:avLst/>
          </a:prstGeom>
          <a:solidFill>
            <a:srgbClr val="ECF7F0"/>
          </a:solidFill>
          <a:ln w="2222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77540" y="7862376"/>
            <a:ext cx="1417320" cy="111191"/>
          </a:xfrm>
          <a:prstGeom prst="rect">
            <a:avLst/>
          </a:prstGeom>
          <a:solidFill>
            <a:srgbClr val="D4EEDD"/>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845052" y="7214616"/>
            <a:ext cx="82296" cy="440192"/>
          </a:xfrm>
          <a:custGeom>
            <a:avLst/>
            <a:gdLst/>
            <a:ahLst/>
            <a:cxnLst/>
            <a:rect l="l" t="t" r="r" b="b"/>
            <a:pathLst>
              <a:path w="82296" h="440192">
                <a:moveTo>
                  <a:pt x="22860" y="0"/>
                </a:moveTo>
                <a:lnTo>
                  <a:pt x="59435" y="0"/>
                </a:lnTo>
                <a:lnTo>
                  <a:pt x="82296" y="440192"/>
                </a:lnTo>
                <a:lnTo>
                  <a:pt x="0" y="440192"/>
                </a:lnTo>
                <a:close/>
              </a:path>
            </a:pathLst>
          </a:custGeom>
          <a:solidFill>
            <a:srgbClr val="ECF7F0"/>
          </a:solidFill>
          <a:ln w="15875">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831336" y="7654808"/>
            <a:ext cx="109727" cy="337048"/>
          </a:xfrm>
          <a:custGeom>
            <a:avLst/>
            <a:gdLst/>
            <a:ahLst/>
            <a:cxnLst/>
            <a:rect l="l" t="t" r="r" b="b"/>
            <a:pathLst>
              <a:path w="109727" h="337048">
                <a:moveTo>
                  <a:pt x="13716" y="0"/>
                </a:moveTo>
                <a:lnTo>
                  <a:pt x="96012" y="0"/>
                </a:lnTo>
                <a:lnTo>
                  <a:pt x="109727" y="337048"/>
                </a:lnTo>
                <a:lnTo>
                  <a:pt x="0" y="337048"/>
                </a:lnTo>
                <a:close/>
              </a:path>
            </a:pathLst>
          </a:custGeom>
          <a:solidFill>
            <a:srgbClr val="B7E0C6"/>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F8F5B"/>
                </a:solidFill>
                <a:latin typeface="Arial"/>
              </a:rPr>
              <a:t>TEST, FLY &amp; IMPROVE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1700" b="1" i="0">
                <a:solidFill>
                  <a:srgbClr val="FFFFFF"/>
                </a:solidFill>
                <a:latin typeface="Arial"/>
              </a:rPr>
              <a:t>Preflight inspection: airframe, controls, power, and radio</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Use a written sequence. Memory is weakest when excitement is highest.</a:t>
            </a:r>
          </a:p>
        </p:txBody>
      </p:sp>
      <p:sp>
        <p:nvSpPr>
          <p:cNvPr id="33" name="Rounded Rectangle 32"/>
          <p:cNvSpPr/>
          <p:nvPr/>
        </p:nvSpPr>
        <p:spPr>
          <a:xfrm>
            <a:off x="347472" y="1188720"/>
            <a:ext cx="3474720" cy="324612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47472" y="1188720"/>
            <a:ext cx="50292" cy="3246120"/>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 y="1335024"/>
            <a:ext cx="3218687" cy="219456"/>
          </a:xfrm>
          <a:prstGeom prst="rect">
            <a:avLst/>
          </a:prstGeom>
          <a:noFill/>
        </p:spPr>
        <p:txBody>
          <a:bodyPr wrap="square" lIns="0" rIns="0" tIns="0" bIns="0" anchor="t">
            <a:spAutoFit/>
          </a:bodyPr>
          <a:lstStyle/>
          <a:p>
            <a:pPr algn="l">
              <a:lnSpc>
                <a:spcPct val="100000"/>
              </a:lnSpc>
            </a:pPr>
            <a:r>
              <a:rPr sz="1200" b="1" i="0">
                <a:solidFill>
                  <a:srgbClr val="20263A"/>
                </a:solidFill>
                <a:latin typeface="Arial"/>
              </a:rPr>
              <a:t>AIRFRAME</a:t>
            </a:r>
          </a:p>
        </p:txBody>
      </p:sp>
      <p:sp>
        <p:nvSpPr>
          <p:cNvPr id="37" name="Rounded Rectangle 36"/>
          <p:cNvSpPr/>
          <p:nvPr/>
        </p:nvSpPr>
        <p:spPr>
          <a:xfrm>
            <a:off x="3950208" y="1188720"/>
            <a:ext cx="3474720" cy="324612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950208" y="1188720"/>
            <a:ext cx="50292" cy="324612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96512" y="1335024"/>
            <a:ext cx="3218687" cy="219456"/>
          </a:xfrm>
          <a:prstGeom prst="rect">
            <a:avLst/>
          </a:prstGeom>
          <a:noFill/>
        </p:spPr>
        <p:txBody>
          <a:bodyPr wrap="square" lIns="0" rIns="0" tIns="0" bIns="0" anchor="t">
            <a:spAutoFit/>
          </a:bodyPr>
          <a:lstStyle/>
          <a:p>
            <a:pPr algn="l">
              <a:lnSpc>
                <a:spcPct val="100000"/>
              </a:lnSpc>
            </a:pPr>
            <a:r>
              <a:rPr sz="1200" b="1" i="0">
                <a:solidFill>
                  <a:srgbClr val="20263A"/>
                </a:solidFill>
                <a:latin typeface="Arial"/>
              </a:rPr>
              <a:t>CONTROLS</a:t>
            </a:r>
          </a:p>
        </p:txBody>
      </p:sp>
      <p:sp>
        <p:nvSpPr>
          <p:cNvPr id="41" name="Rounded Rectangle 40"/>
          <p:cNvSpPr/>
          <p:nvPr/>
        </p:nvSpPr>
        <p:spPr>
          <a:xfrm>
            <a:off x="347472" y="4663440"/>
            <a:ext cx="3474720" cy="324612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47472" y="4663440"/>
            <a:ext cx="50292" cy="3246120"/>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3776" y="4809744"/>
            <a:ext cx="3218687" cy="219456"/>
          </a:xfrm>
          <a:prstGeom prst="rect">
            <a:avLst/>
          </a:prstGeom>
          <a:noFill/>
        </p:spPr>
        <p:txBody>
          <a:bodyPr wrap="square" lIns="0" rIns="0" tIns="0" bIns="0" anchor="t">
            <a:spAutoFit/>
          </a:bodyPr>
          <a:lstStyle/>
          <a:p>
            <a:pPr algn="l">
              <a:lnSpc>
                <a:spcPct val="100000"/>
              </a:lnSpc>
            </a:pPr>
            <a:r>
              <a:rPr sz="1200" b="1" i="0">
                <a:solidFill>
                  <a:srgbClr val="20263A"/>
                </a:solidFill>
                <a:latin typeface="Arial"/>
              </a:rPr>
              <a:t>POWER</a:t>
            </a:r>
          </a:p>
        </p:txBody>
      </p:sp>
      <p:sp>
        <p:nvSpPr>
          <p:cNvPr id="45" name="Rounded Rectangle 44"/>
          <p:cNvSpPr/>
          <p:nvPr/>
        </p:nvSpPr>
        <p:spPr>
          <a:xfrm>
            <a:off x="3950208" y="4663440"/>
            <a:ext cx="3474720" cy="324612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950208" y="4663440"/>
            <a:ext cx="50292" cy="3246120"/>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096512" y="4809744"/>
            <a:ext cx="3218687" cy="219456"/>
          </a:xfrm>
          <a:prstGeom prst="rect">
            <a:avLst/>
          </a:prstGeom>
          <a:noFill/>
        </p:spPr>
        <p:txBody>
          <a:bodyPr wrap="square" lIns="0" rIns="0" tIns="0" bIns="0" anchor="t">
            <a:spAutoFit/>
          </a:bodyPr>
          <a:lstStyle/>
          <a:p>
            <a:pPr algn="l">
              <a:lnSpc>
                <a:spcPct val="100000"/>
              </a:lnSpc>
            </a:pPr>
            <a:r>
              <a:rPr sz="1200" b="1" i="0">
                <a:solidFill>
                  <a:srgbClr val="20263A"/>
                </a:solidFill>
                <a:latin typeface="Arial"/>
              </a:rPr>
              <a:t>RADIO / RANGE</a:t>
            </a:r>
          </a:p>
        </p:txBody>
      </p:sp>
      <p:sp>
        <p:nvSpPr>
          <p:cNvPr id="49" name="TextBox 48"/>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Follow local field rules and the radio, battery, motor, and propeller manufacturer instructions.</a:t>
            </a:r>
          </a:p>
        </p:txBody>
      </p:sp>
      <p:sp>
        <p:nvSpPr>
          <p:cNvPr id="50" name="TextBox 49"/>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60</a:t>
            </a:r>
          </a:p>
        </p:txBody>
      </p:sp>
      <p:sp>
        <p:nvSpPr>
          <p:cNvPr id="51" name="Rounded Rectangle 50"/>
          <p:cNvSpPr/>
          <p:nvPr/>
        </p:nvSpPr>
        <p:spPr>
          <a:xfrm>
            <a:off x="347472" y="8138160"/>
            <a:ext cx="7077456" cy="566928"/>
          </a:xfrm>
          <a:prstGeom prst="roundRect">
            <a:avLst>
              <a:gd name="adj" fmla="val 12000"/>
            </a:avLst>
          </a:prstGeom>
          <a:solidFill>
            <a:srgbClr val="FDEEEE"/>
          </a:solidFill>
          <a:ln w="12700">
            <a:solidFill>
              <a:srgbClr val="C8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75488" y="8275320"/>
            <a:ext cx="292608" cy="292608"/>
          </a:xfrm>
          <a:prstGeom prst="ellipse">
            <a:avLst/>
          </a:prstGeom>
          <a:solidFill>
            <a:srgbClr val="C8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5488" y="8330183"/>
            <a:ext cx="292608" cy="182880"/>
          </a:xfrm>
          <a:prstGeom prst="rect">
            <a:avLst/>
          </a:prstGeom>
          <a:noFill/>
        </p:spPr>
        <p:txBody>
          <a:bodyPr wrap="square" lIns="0" rIns="0" tIns="0" bIns="0">
            <a:spAutoFit/>
          </a:bodyPr>
          <a:lstStyle/>
          <a:p>
            <a:pPr algn="ctr"/>
            <a:r>
              <a:rPr sz="1100" b="1" i="0">
                <a:solidFill>
                  <a:srgbClr val="FFFFFF"/>
                </a:solidFill>
                <a:latin typeface="Arial"/>
              </a:rPr>
              <a:t>!</a:t>
            </a:r>
          </a:p>
        </p:txBody>
      </p:sp>
      <p:sp>
        <p:nvSpPr>
          <p:cNvPr id="54" name="TextBox 53"/>
          <p:cNvSpPr txBox="1"/>
          <p:nvPr/>
        </p:nvSpPr>
        <p:spPr>
          <a:xfrm>
            <a:off x="868680" y="8229600"/>
            <a:ext cx="6446520" cy="402336"/>
          </a:xfrm>
          <a:prstGeom prst="rect">
            <a:avLst/>
          </a:prstGeom>
          <a:noFill/>
        </p:spPr>
        <p:txBody>
          <a:bodyPr wrap="square" lIns="0" rIns="0" tIns="0" bIns="0">
            <a:spAutoFit/>
          </a:bodyPr>
          <a:lstStyle/>
          <a:p>
            <a:pPr algn="l"/>
            <a:r>
              <a:rPr sz="950" b="0" i="0">
                <a:solidFill>
                  <a:srgbClr val="20263A"/>
                </a:solidFill>
                <a:latin typeface="Arial"/>
              </a:rPr>
              <a:t>Same order every time: airframe → controls → power → radio. Anything that fails gets fixed before flying — not watched during it.</a:t>
            </a:r>
          </a:p>
        </p:txBody>
      </p:sp>
      <p:sp>
        <p:nvSpPr>
          <p:cNvPr id="55" name="Rectangle 54"/>
          <p:cNvSpPr/>
          <p:nvPr/>
        </p:nvSpPr>
        <p:spPr>
          <a:xfrm>
            <a:off x="512064" y="1714500"/>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58952" y="1700784"/>
            <a:ext cx="3200400" cy="402336"/>
          </a:xfrm>
          <a:prstGeom prst="rect">
            <a:avLst/>
          </a:prstGeom>
          <a:noFill/>
        </p:spPr>
        <p:txBody>
          <a:bodyPr wrap="square" lIns="0" rIns="0" tIns="0" bIns="0">
            <a:spAutoFit/>
          </a:bodyPr>
          <a:lstStyle/>
          <a:p>
            <a:pPr algn="l"/>
            <a:r>
              <a:rPr sz="1000" b="0" i="0">
                <a:solidFill>
                  <a:srgbClr val="20263A"/>
                </a:solidFill>
                <a:latin typeface="Arial"/>
              </a:rPr>
              <a:t>Wing and tail secure.</a:t>
            </a:r>
          </a:p>
        </p:txBody>
      </p:sp>
      <p:sp>
        <p:nvSpPr>
          <p:cNvPr id="57" name="Rectangle 56"/>
          <p:cNvSpPr/>
          <p:nvPr/>
        </p:nvSpPr>
        <p:spPr>
          <a:xfrm>
            <a:off x="512064" y="2354580"/>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8952" y="2340864"/>
            <a:ext cx="3200400" cy="402336"/>
          </a:xfrm>
          <a:prstGeom prst="rect">
            <a:avLst/>
          </a:prstGeom>
          <a:noFill/>
        </p:spPr>
        <p:txBody>
          <a:bodyPr wrap="square" lIns="0" rIns="0" tIns="0" bIns="0">
            <a:spAutoFit/>
          </a:bodyPr>
          <a:lstStyle/>
          <a:p>
            <a:pPr algn="l"/>
            <a:r>
              <a:rPr sz="1000" b="0" i="0">
                <a:solidFill>
                  <a:srgbClr val="20263A"/>
                </a:solidFill>
                <a:latin typeface="Arial"/>
              </a:rPr>
              <a:t>No cracks, loose covering, or warps.</a:t>
            </a:r>
          </a:p>
        </p:txBody>
      </p:sp>
      <p:sp>
        <p:nvSpPr>
          <p:cNvPr id="59" name="Rectangle 58"/>
          <p:cNvSpPr/>
          <p:nvPr/>
        </p:nvSpPr>
        <p:spPr>
          <a:xfrm>
            <a:off x="512064" y="2994660"/>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8952" y="2980944"/>
            <a:ext cx="3200400" cy="402336"/>
          </a:xfrm>
          <a:prstGeom prst="rect">
            <a:avLst/>
          </a:prstGeom>
          <a:noFill/>
        </p:spPr>
        <p:txBody>
          <a:bodyPr wrap="square" lIns="0" rIns="0" tIns="0" bIns="0">
            <a:spAutoFit/>
          </a:bodyPr>
          <a:lstStyle/>
          <a:p>
            <a:pPr algn="l"/>
            <a:r>
              <a:rPr sz="1000" b="0" i="0">
                <a:solidFill>
                  <a:srgbClr val="20263A"/>
                </a:solidFill>
                <a:latin typeface="Arial"/>
              </a:rPr>
              <a:t>Propeller undamaged and correctly fitted.</a:t>
            </a:r>
          </a:p>
        </p:txBody>
      </p:sp>
      <p:sp>
        <p:nvSpPr>
          <p:cNvPr id="61" name="Rectangle 60"/>
          <p:cNvSpPr/>
          <p:nvPr/>
        </p:nvSpPr>
        <p:spPr>
          <a:xfrm>
            <a:off x="512064" y="3634740"/>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8952" y="3621024"/>
            <a:ext cx="3200400" cy="402336"/>
          </a:xfrm>
          <a:prstGeom prst="rect">
            <a:avLst/>
          </a:prstGeom>
          <a:noFill/>
        </p:spPr>
        <p:txBody>
          <a:bodyPr wrap="square" lIns="0" rIns="0" tIns="0" bIns="0">
            <a:spAutoFit/>
          </a:bodyPr>
          <a:lstStyle/>
          <a:p>
            <a:pPr algn="l"/>
            <a:r>
              <a:rPr sz="1000" b="0" i="0">
                <a:solidFill>
                  <a:srgbClr val="20263A"/>
                </a:solidFill>
                <a:latin typeface="Arial"/>
              </a:rPr>
              <a:t>Landing gear and wheels secure.</a:t>
            </a:r>
          </a:p>
        </p:txBody>
      </p:sp>
      <p:sp>
        <p:nvSpPr>
          <p:cNvPr id="63" name="Rectangle 62"/>
          <p:cNvSpPr/>
          <p:nvPr/>
        </p:nvSpPr>
        <p:spPr>
          <a:xfrm>
            <a:off x="4114800" y="1714500"/>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361688" y="1700784"/>
            <a:ext cx="3200400" cy="402336"/>
          </a:xfrm>
          <a:prstGeom prst="rect">
            <a:avLst/>
          </a:prstGeom>
          <a:noFill/>
        </p:spPr>
        <p:txBody>
          <a:bodyPr wrap="square" lIns="0" rIns="0" tIns="0" bIns="0">
            <a:spAutoFit/>
          </a:bodyPr>
          <a:lstStyle/>
          <a:p>
            <a:pPr algn="l"/>
            <a:r>
              <a:rPr sz="1000" b="0" i="0">
                <a:solidFill>
                  <a:srgbClr val="20263A"/>
                </a:solidFill>
                <a:latin typeface="Arial"/>
              </a:rPr>
              <a:t>Correct direction viewed from behind.</a:t>
            </a:r>
          </a:p>
        </p:txBody>
      </p:sp>
      <p:sp>
        <p:nvSpPr>
          <p:cNvPr id="65" name="Rectangle 64"/>
          <p:cNvSpPr/>
          <p:nvPr/>
        </p:nvSpPr>
        <p:spPr>
          <a:xfrm>
            <a:off x="4114800" y="2354580"/>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361688" y="2340864"/>
            <a:ext cx="3200400" cy="402336"/>
          </a:xfrm>
          <a:prstGeom prst="rect">
            <a:avLst/>
          </a:prstGeom>
          <a:noFill/>
        </p:spPr>
        <p:txBody>
          <a:bodyPr wrap="square" lIns="0" rIns="0" tIns="0" bIns="0">
            <a:spAutoFit/>
          </a:bodyPr>
          <a:lstStyle/>
          <a:p>
            <a:pPr algn="l"/>
            <a:r>
              <a:rPr sz="1000" b="0" i="0">
                <a:solidFill>
                  <a:srgbClr val="20263A"/>
                </a:solidFill>
                <a:latin typeface="Arial"/>
              </a:rPr>
              <a:t>Full movement; no binding or buzz.</a:t>
            </a:r>
          </a:p>
        </p:txBody>
      </p:sp>
      <p:sp>
        <p:nvSpPr>
          <p:cNvPr id="67" name="Rectangle 66"/>
          <p:cNvSpPr/>
          <p:nvPr/>
        </p:nvSpPr>
        <p:spPr>
          <a:xfrm>
            <a:off x="4114800" y="2994660"/>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361688" y="2980944"/>
            <a:ext cx="3200400" cy="402336"/>
          </a:xfrm>
          <a:prstGeom prst="rect">
            <a:avLst/>
          </a:prstGeom>
          <a:noFill/>
        </p:spPr>
        <p:txBody>
          <a:bodyPr wrap="square" lIns="0" rIns="0" tIns="0" bIns="0">
            <a:spAutoFit/>
          </a:bodyPr>
          <a:lstStyle/>
          <a:p>
            <a:pPr algn="l"/>
            <a:r>
              <a:rPr sz="1000" b="0" i="0">
                <a:solidFill>
                  <a:srgbClr val="20263A"/>
                </a:solidFill>
                <a:latin typeface="Arial"/>
              </a:rPr>
              <a:t>Neutral positions match marks.</a:t>
            </a:r>
          </a:p>
        </p:txBody>
      </p:sp>
      <p:sp>
        <p:nvSpPr>
          <p:cNvPr id="69" name="Rectangle 68"/>
          <p:cNvSpPr/>
          <p:nvPr/>
        </p:nvSpPr>
        <p:spPr>
          <a:xfrm>
            <a:off x="4114800" y="3634740"/>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361688" y="3621024"/>
            <a:ext cx="3200400" cy="402336"/>
          </a:xfrm>
          <a:prstGeom prst="rect">
            <a:avLst/>
          </a:prstGeom>
          <a:noFill/>
        </p:spPr>
        <p:txBody>
          <a:bodyPr wrap="square" lIns="0" rIns="0" tIns="0" bIns="0">
            <a:spAutoFit/>
          </a:bodyPr>
          <a:lstStyle/>
          <a:p>
            <a:pPr algn="l"/>
            <a:r>
              <a:rPr sz="1000" b="0" i="0">
                <a:solidFill>
                  <a:srgbClr val="20263A"/>
                </a:solidFill>
                <a:latin typeface="Arial"/>
              </a:rPr>
              <a:t>Hinges, horns, clevises, and retainers secure.</a:t>
            </a:r>
          </a:p>
        </p:txBody>
      </p:sp>
      <p:sp>
        <p:nvSpPr>
          <p:cNvPr id="71" name="Rectangle 70"/>
          <p:cNvSpPr/>
          <p:nvPr/>
        </p:nvSpPr>
        <p:spPr>
          <a:xfrm>
            <a:off x="512064" y="5189220"/>
            <a:ext cx="146304" cy="146304"/>
          </a:xfrm>
          <a:prstGeom prst="rect">
            <a:avLst/>
          </a:prstGeom>
          <a:solidFill>
            <a:srgbClr val="FFFFFF"/>
          </a:solidFill>
          <a:ln w="19050">
            <a:solidFill>
              <a:srgbClr val="A23D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58952" y="5175504"/>
            <a:ext cx="3200400" cy="402336"/>
          </a:xfrm>
          <a:prstGeom prst="rect">
            <a:avLst/>
          </a:prstGeom>
          <a:noFill/>
        </p:spPr>
        <p:txBody>
          <a:bodyPr wrap="square" lIns="0" rIns="0" tIns="0" bIns="0">
            <a:spAutoFit/>
          </a:bodyPr>
          <a:lstStyle/>
          <a:p>
            <a:pPr algn="l"/>
            <a:r>
              <a:rPr sz="1000" b="0" i="0">
                <a:solidFill>
                  <a:srgbClr val="20263A"/>
                </a:solidFill>
                <a:latin typeface="Arial"/>
              </a:rPr>
              <a:t>Correct battery and charge state.</a:t>
            </a:r>
          </a:p>
        </p:txBody>
      </p:sp>
      <p:sp>
        <p:nvSpPr>
          <p:cNvPr id="73" name="Rectangle 72"/>
          <p:cNvSpPr/>
          <p:nvPr/>
        </p:nvSpPr>
        <p:spPr>
          <a:xfrm>
            <a:off x="512064" y="5829300"/>
            <a:ext cx="146304" cy="146304"/>
          </a:xfrm>
          <a:prstGeom prst="rect">
            <a:avLst/>
          </a:prstGeom>
          <a:solidFill>
            <a:srgbClr val="FFFFFF"/>
          </a:solidFill>
          <a:ln w="19050">
            <a:solidFill>
              <a:srgbClr val="A23D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58952" y="5815584"/>
            <a:ext cx="3200400" cy="402336"/>
          </a:xfrm>
          <a:prstGeom prst="rect">
            <a:avLst/>
          </a:prstGeom>
          <a:noFill/>
        </p:spPr>
        <p:txBody>
          <a:bodyPr wrap="square" lIns="0" rIns="0" tIns="0" bIns="0">
            <a:spAutoFit/>
          </a:bodyPr>
          <a:lstStyle/>
          <a:p>
            <a:pPr algn="l"/>
            <a:r>
              <a:rPr sz="1000" b="0" i="0">
                <a:solidFill>
                  <a:srgbClr val="20263A"/>
                </a:solidFill>
                <a:latin typeface="Arial"/>
              </a:rPr>
              <a:t>Pack restrained; hatch latched.</a:t>
            </a:r>
          </a:p>
        </p:txBody>
      </p:sp>
      <p:sp>
        <p:nvSpPr>
          <p:cNvPr id="75" name="Rectangle 74"/>
          <p:cNvSpPr/>
          <p:nvPr/>
        </p:nvSpPr>
        <p:spPr>
          <a:xfrm>
            <a:off x="512064" y="6469380"/>
            <a:ext cx="146304" cy="146304"/>
          </a:xfrm>
          <a:prstGeom prst="rect">
            <a:avLst/>
          </a:prstGeom>
          <a:solidFill>
            <a:srgbClr val="FFFFFF"/>
          </a:solidFill>
          <a:ln w="19050">
            <a:solidFill>
              <a:srgbClr val="A23D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58952" y="6455664"/>
            <a:ext cx="3200400" cy="402336"/>
          </a:xfrm>
          <a:prstGeom prst="rect">
            <a:avLst/>
          </a:prstGeom>
          <a:noFill/>
        </p:spPr>
        <p:txBody>
          <a:bodyPr wrap="square" lIns="0" rIns="0" tIns="0" bIns="0">
            <a:spAutoFit/>
          </a:bodyPr>
          <a:lstStyle/>
          <a:p>
            <a:pPr algn="l"/>
            <a:r>
              <a:rPr sz="1000" b="0" i="0">
                <a:solidFill>
                  <a:srgbClr val="20263A"/>
                </a:solidFill>
                <a:latin typeface="Arial"/>
              </a:rPr>
              <a:t>Cooling path clear.</a:t>
            </a:r>
          </a:p>
        </p:txBody>
      </p:sp>
      <p:sp>
        <p:nvSpPr>
          <p:cNvPr id="77" name="Rectangle 76"/>
          <p:cNvSpPr/>
          <p:nvPr/>
        </p:nvSpPr>
        <p:spPr>
          <a:xfrm>
            <a:off x="512064" y="7109460"/>
            <a:ext cx="146304" cy="146304"/>
          </a:xfrm>
          <a:prstGeom prst="rect">
            <a:avLst/>
          </a:prstGeom>
          <a:solidFill>
            <a:srgbClr val="FFFFFF"/>
          </a:solidFill>
          <a:ln w="19050">
            <a:solidFill>
              <a:srgbClr val="A23D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58952" y="7095744"/>
            <a:ext cx="3200400" cy="402336"/>
          </a:xfrm>
          <a:prstGeom prst="rect">
            <a:avLst/>
          </a:prstGeom>
          <a:noFill/>
        </p:spPr>
        <p:txBody>
          <a:bodyPr wrap="square" lIns="0" rIns="0" tIns="0" bIns="0">
            <a:spAutoFit/>
          </a:bodyPr>
          <a:lstStyle/>
          <a:p>
            <a:pPr algn="l"/>
            <a:r>
              <a:rPr sz="1000" b="0" i="0">
                <a:solidFill>
                  <a:srgbClr val="20263A"/>
                </a:solidFill>
                <a:latin typeface="Arial"/>
              </a:rPr>
              <a:t>Throttle cut works; prop area clear.</a:t>
            </a:r>
          </a:p>
        </p:txBody>
      </p:sp>
      <p:sp>
        <p:nvSpPr>
          <p:cNvPr id="79" name="Rectangle 78"/>
          <p:cNvSpPr/>
          <p:nvPr/>
        </p:nvSpPr>
        <p:spPr>
          <a:xfrm>
            <a:off x="4114800" y="5189220"/>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361688" y="5175504"/>
            <a:ext cx="3200400" cy="402336"/>
          </a:xfrm>
          <a:prstGeom prst="rect">
            <a:avLst/>
          </a:prstGeom>
          <a:noFill/>
        </p:spPr>
        <p:txBody>
          <a:bodyPr wrap="square" lIns="0" rIns="0" tIns="0" bIns="0">
            <a:spAutoFit/>
          </a:bodyPr>
          <a:lstStyle/>
          <a:p>
            <a:pPr algn="l"/>
            <a:r>
              <a:rPr sz="1000" b="0" i="0">
                <a:solidFill>
                  <a:srgbClr val="20263A"/>
                </a:solidFill>
                <a:latin typeface="Arial"/>
              </a:rPr>
              <a:t>Correct model memory.</a:t>
            </a:r>
          </a:p>
        </p:txBody>
      </p:sp>
      <p:sp>
        <p:nvSpPr>
          <p:cNvPr id="81" name="Rectangle 80"/>
          <p:cNvSpPr/>
          <p:nvPr/>
        </p:nvSpPr>
        <p:spPr>
          <a:xfrm>
            <a:off x="4114800" y="5829300"/>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361688" y="5815584"/>
            <a:ext cx="3200400" cy="402336"/>
          </a:xfrm>
          <a:prstGeom prst="rect">
            <a:avLst/>
          </a:prstGeom>
          <a:noFill/>
        </p:spPr>
        <p:txBody>
          <a:bodyPr wrap="square" lIns="0" rIns="0" tIns="0" bIns="0">
            <a:spAutoFit/>
          </a:bodyPr>
          <a:lstStyle/>
          <a:p>
            <a:pPr algn="l"/>
            <a:r>
              <a:rPr sz="1000" b="0" i="0">
                <a:solidFill>
                  <a:srgbClr val="20263A"/>
                </a:solidFill>
                <a:latin typeface="Arial"/>
              </a:rPr>
              <a:t>Low rates selected.</a:t>
            </a:r>
          </a:p>
        </p:txBody>
      </p:sp>
      <p:sp>
        <p:nvSpPr>
          <p:cNvPr id="83" name="Rectangle 82"/>
          <p:cNvSpPr/>
          <p:nvPr/>
        </p:nvSpPr>
        <p:spPr>
          <a:xfrm>
            <a:off x="4114800" y="6469380"/>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361688" y="6455664"/>
            <a:ext cx="3200400" cy="402336"/>
          </a:xfrm>
          <a:prstGeom prst="rect">
            <a:avLst/>
          </a:prstGeom>
          <a:noFill/>
        </p:spPr>
        <p:txBody>
          <a:bodyPr wrap="square" lIns="0" rIns="0" tIns="0" bIns="0">
            <a:spAutoFit/>
          </a:bodyPr>
          <a:lstStyle/>
          <a:p>
            <a:pPr algn="l"/>
            <a:r>
              <a:rPr sz="1000" b="0" i="0">
                <a:solidFill>
                  <a:srgbClr val="20263A"/>
                </a:solidFill>
                <a:latin typeface="Arial"/>
              </a:rPr>
              <a:t>Failsafe verified.</a:t>
            </a:r>
          </a:p>
        </p:txBody>
      </p:sp>
      <p:sp>
        <p:nvSpPr>
          <p:cNvPr id="85" name="Rectangle 84"/>
          <p:cNvSpPr/>
          <p:nvPr/>
        </p:nvSpPr>
        <p:spPr>
          <a:xfrm>
            <a:off x="4114800" y="7109460"/>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361688" y="7095744"/>
            <a:ext cx="3200400" cy="402336"/>
          </a:xfrm>
          <a:prstGeom prst="rect">
            <a:avLst/>
          </a:prstGeom>
          <a:noFill/>
        </p:spPr>
        <p:txBody>
          <a:bodyPr wrap="square" lIns="0" rIns="0" tIns="0" bIns="0">
            <a:spAutoFit/>
          </a:bodyPr>
          <a:lstStyle/>
          <a:p>
            <a:pPr algn="l"/>
            <a:r>
              <a:rPr sz="1000" b="0" i="0">
                <a:solidFill>
                  <a:srgbClr val="20263A"/>
                </a:solidFill>
                <a:latin typeface="Arial"/>
              </a:rPr>
              <a:t>Range test completed as the radio manufacturer specifies.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38C8C"/>
                </a:solidFill>
                <a:latin typeface="Arial"/>
              </a:rPr>
              <a:t>TEST, FLY &amp; IMPROVE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The maiden-flight plan</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Decide what will happen before takeoff—including the abort plan.</a:t>
            </a:r>
          </a:p>
        </p:txBody>
      </p:sp>
      <p:sp>
        <p:nvSpPr>
          <p:cNvPr id="8" name="Oval 7"/>
          <p:cNvSpPr/>
          <p:nvPr/>
        </p:nvSpPr>
        <p:spPr>
          <a:xfrm>
            <a:off x="438912" y="1280160"/>
            <a:ext cx="457200" cy="457200"/>
          </a:xfrm>
          <a:prstGeom prst="ellipse">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39903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1</a:t>
            </a:r>
          </a:p>
        </p:txBody>
      </p:sp>
      <p:sp>
        <p:nvSpPr>
          <p:cNvPr id="10" name="Rounded Rectangle 9"/>
          <p:cNvSpPr/>
          <p:nvPr/>
        </p:nvSpPr>
        <p:spPr>
          <a:xfrm>
            <a:off x="1042415" y="118872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1316736"/>
            <a:ext cx="1234440" cy="182880"/>
          </a:xfrm>
          <a:prstGeom prst="rect">
            <a:avLst/>
          </a:prstGeom>
          <a:noFill/>
        </p:spPr>
        <p:txBody>
          <a:bodyPr wrap="square" lIns="0" rIns="0" tIns="0" bIns="0" anchor="t">
            <a:spAutoFit/>
          </a:bodyPr>
          <a:lstStyle/>
          <a:p>
            <a:pPr algn="l">
              <a:lnSpc>
                <a:spcPct val="100000"/>
              </a:lnSpc>
            </a:pPr>
            <a:r>
              <a:rPr sz="930" b="1" i="0">
                <a:solidFill>
                  <a:srgbClr val="2F8F5B"/>
                </a:solidFill>
                <a:latin typeface="Arial"/>
              </a:rPr>
              <a:t>CONDITIONS</a:t>
            </a:r>
          </a:p>
        </p:txBody>
      </p:sp>
      <p:sp>
        <p:nvSpPr>
          <p:cNvPr id="12" name="TextBox 11"/>
          <p:cNvSpPr txBox="1"/>
          <p:nvPr/>
        </p:nvSpPr>
        <p:spPr>
          <a:xfrm>
            <a:off x="2395728" y="129844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Large familiar field, mild steady wind, good light, charged batteries, experienced helper.</a:t>
            </a:r>
          </a:p>
        </p:txBody>
      </p:sp>
      <p:sp>
        <p:nvSpPr>
          <p:cNvPr id="13" name="Oval 12"/>
          <p:cNvSpPr/>
          <p:nvPr/>
        </p:nvSpPr>
        <p:spPr>
          <a:xfrm>
            <a:off x="438912" y="2286000"/>
            <a:ext cx="457200" cy="457200"/>
          </a:xfrm>
          <a:prstGeom prst="ellipse">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240487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2</a:t>
            </a:r>
          </a:p>
        </p:txBody>
      </p:sp>
      <p:sp>
        <p:nvSpPr>
          <p:cNvPr id="15" name="Rounded Rectangle 14"/>
          <p:cNvSpPr/>
          <p:nvPr/>
        </p:nvSpPr>
        <p:spPr>
          <a:xfrm>
            <a:off x="1042415" y="219456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07008" y="2322576"/>
            <a:ext cx="1234440" cy="182880"/>
          </a:xfrm>
          <a:prstGeom prst="rect">
            <a:avLst/>
          </a:prstGeom>
          <a:noFill/>
        </p:spPr>
        <p:txBody>
          <a:bodyPr wrap="square" lIns="0" rIns="0" tIns="0" bIns="0" anchor="t">
            <a:spAutoFit/>
          </a:bodyPr>
          <a:lstStyle/>
          <a:p>
            <a:pPr algn="l">
              <a:lnSpc>
                <a:spcPct val="100000"/>
              </a:lnSpc>
            </a:pPr>
            <a:r>
              <a:rPr sz="930" b="1" i="0">
                <a:solidFill>
                  <a:srgbClr val="246BCE"/>
                </a:solidFill>
                <a:latin typeface="Arial"/>
              </a:rPr>
              <a:t>GROUND CHECK</a:t>
            </a:r>
          </a:p>
        </p:txBody>
      </p:sp>
      <p:sp>
        <p:nvSpPr>
          <p:cNvPr id="17" name="TextBox 16"/>
          <p:cNvSpPr txBox="1"/>
          <p:nvPr/>
        </p:nvSpPr>
        <p:spPr>
          <a:xfrm>
            <a:off x="2395728" y="230428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CG, directions, range, power, taxi/hand-launch plan, timer, and emergency throttle cut.</a:t>
            </a:r>
          </a:p>
        </p:txBody>
      </p:sp>
      <p:sp>
        <p:nvSpPr>
          <p:cNvPr id="18" name="Oval 17"/>
          <p:cNvSpPr/>
          <p:nvPr/>
        </p:nvSpPr>
        <p:spPr>
          <a:xfrm>
            <a:off x="438912" y="3291840"/>
            <a:ext cx="457200" cy="457200"/>
          </a:xfrm>
          <a:prstGeom prst="ellipse">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341071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3</a:t>
            </a:r>
          </a:p>
        </p:txBody>
      </p:sp>
      <p:sp>
        <p:nvSpPr>
          <p:cNvPr id="20" name="Rounded Rectangle 19"/>
          <p:cNvSpPr/>
          <p:nvPr/>
        </p:nvSpPr>
        <p:spPr>
          <a:xfrm>
            <a:off x="1042415" y="320040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328416"/>
            <a:ext cx="1234440" cy="182880"/>
          </a:xfrm>
          <a:prstGeom prst="rect">
            <a:avLst/>
          </a:prstGeom>
          <a:noFill/>
        </p:spPr>
        <p:txBody>
          <a:bodyPr wrap="square" lIns="0" rIns="0" tIns="0" bIns="0" anchor="t">
            <a:spAutoFit/>
          </a:bodyPr>
          <a:lstStyle/>
          <a:p>
            <a:pPr algn="l">
              <a:lnSpc>
                <a:spcPct val="100000"/>
              </a:lnSpc>
            </a:pPr>
            <a:r>
              <a:rPr sz="930" b="1" i="0">
                <a:solidFill>
                  <a:srgbClr val="E0702B"/>
                </a:solidFill>
                <a:latin typeface="Arial"/>
              </a:rPr>
              <a:t>TAKEOFF</a:t>
            </a:r>
          </a:p>
        </p:txBody>
      </p:sp>
      <p:sp>
        <p:nvSpPr>
          <p:cNvPr id="22" name="TextBox 21"/>
          <p:cNvSpPr txBox="1"/>
          <p:nvPr/>
        </p:nvSpPr>
        <p:spPr>
          <a:xfrm>
            <a:off x="2395728" y="331012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Use a firm smooth launch or straight takeoff. Do not climb at an extreme angle.</a:t>
            </a:r>
          </a:p>
        </p:txBody>
      </p:sp>
      <p:sp>
        <p:nvSpPr>
          <p:cNvPr id="23" name="Oval 22"/>
          <p:cNvSpPr/>
          <p:nvPr/>
        </p:nvSpPr>
        <p:spPr>
          <a:xfrm>
            <a:off x="438912" y="4297680"/>
            <a:ext cx="457200" cy="457200"/>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 y="441655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4</a:t>
            </a:r>
          </a:p>
        </p:txBody>
      </p:sp>
      <p:sp>
        <p:nvSpPr>
          <p:cNvPr id="25" name="Rounded Rectangle 24"/>
          <p:cNvSpPr/>
          <p:nvPr/>
        </p:nvSpPr>
        <p:spPr>
          <a:xfrm>
            <a:off x="1042415" y="420624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07008" y="4334256"/>
            <a:ext cx="1234440" cy="182880"/>
          </a:xfrm>
          <a:prstGeom prst="rect">
            <a:avLst/>
          </a:prstGeom>
          <a:noFill/>
        </p:spPr>
        <p:txBody>
          <a:bodyPr wrap="square" lIns="0" rIns="0" tIns="0" bIns="0" anchor="t">
            <a:spAutoFit/>
          </a:bodyPr>
          <a:lstStyle/>
          <a:p>
            <a:pPr algn="l">
              <a:lnSpc>
                <a:spcPct val="100000"/>
              </a:lnSpc>
            </a:pPr>
            <a:r>
              <a:rPr sz="930" b="1" i="0">
                <a:solidFill>
                  <a:srgbClr val="138C8C"/>
                </a:solidFill>
                <a:latin typeface="Arial"/>
              </a:rPr>
              <a:t>CLIMB TO HEIGHT</a:t>
            </a:r>
          </a:p>
        </p:txBody>
      </p:sp>
      <p:sp>
        <p:nvSpPr>
          <p:cNvPr id="27" name="TextBox 26"/>
          <p:cNvSpPr txBox="1"/>
          <p:nvPr/>
        </p:nvSpPr>
        <p:spPr>
          <a:xfrm>
            <a:off x="2395728" y="431596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Reach a safe altitude before trimming, slowing, or making aggressive turns.</a:t>
            </a:r>
          </a:p>
        </p:txBody>
      </p:sp>
      <p:sp>
        <p:nvSpPr>
          <p:cNvPr id="28" name="Oval 27"/>
          <p:cNvSpPr/>
          <p:nvPr/>
        </p:nvSpPr>
        <p:spPr>
          <a:xfrm>
            <a:off x="438912" y="5303520"/>
            <a:ext cx="457200" cy="457200"/>
          </a:xfrm>
          <a:prstGeom prst="ellipse">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542239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5</a:t>
            </a:r>
          </a:p>
        </p:txBody>
      </p:sp>
      <p:sp>
        <p:nvSpPr>
          <p:cNvPr id="30" name="Rounded Rectangle 29"/>
          <p:cNvSpPr/>
          <p:nvPr/>
        </p:nvSpPr>
        <p:spPr>
          <a:xfrm>
            <a:off x="1042415" y="521208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07008" y="5340096"/>
            <a:ext cx="1234440" cy="182880"/>
          </a:xfrm>
          <a:prstGeom prst="rect">
            <a:avLst/>
          </a:prstGeom>
          <a:noFill/>
        </p:spPr>
        <p:txBody>
          <a:bodyPr wrap="square" lIns="0" rIns="0" tIns="0" bIns="0" anchor="t">
            <a:spAutoFit/>
          </a:bodyPr>
          <a:lstStyle/>
          <a:p>
            <a:pPr algn="l">
              <a:lnSpc>
                <a:spcPct val="100000"/>
              </a:lnSpc>
            </a:pPr>
            <a:r>
              <a:rPr sz="930" b="1" i="0">
                <a:solidFill>
                  <a:srgbClr val="A23DB6"/>
                </a:solidFill>
                <a:latin typeface="Arial"/>
              </a:rPr>
              <a:t>TRIM LIGHTLY</a:t>
            </a:r>
          </a:p>
        </p:txBody>
      </p:sp>
      <p:sp>
        <p:nvSpPr>
          <p:cNvPr id="32" name="TextBox 31"/>
          <p:cNvSpPr txBox="1"/>
          <p:nvPr/>
        </p:nvSpPr>
        <p:spPr>
          <a:xfrm>
            <a:off x="2395728" y="532180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Correct one axis at a time. If large trim is needed, land and inspect instead of masking a problem.</a:t>
            </a:r>
          </a:p>
        </p:txBody>
      </p:sp>
      <p:sp>
        <p:nvSpPr>
          <p:cNvPr id="33" name="Oval 32"/>
          <p:cNvSpPr/>
          <p:nvPr/>
        </p:nvSpPr>
        <p:spPr>
          <a:xfrm>
            <a:off x="438912" y="6309360"/>
            <a:ext cx="457200" cy="457200"/>
          </a:xfrm>
          <a:prstGeom prst="ellipse">
            <a:avLst/>
          </a:prstGeom>
          <a:solidFill>
            <a:srgbClr val="E2B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42823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6</a:t>
            </a:r>
          </a:p>
        </p:txBody>
      </p:sp>
      <p:sp>
        <p:nvSpPr>
          <p:cNvPr id="35" name="Rounded Rectangle 34"/>
          <p:cNvSpPr/>
          <p:nvPr/>
        </p:nvSpPr>
        <p:spPr>
          <a:xfrm>
            <a:off x="1042415" y="621792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07008" y="6345936"/>
            <a:ext cx="1234440" cy="182880"/>
          </a:xfrm>
          <a:prstGeom prst="rect">
            <a:avLst/>
          </a:prstGeom>
          <a:noFill/>
        </p:spPr>
        <p:txBody>
          <a:bodyPr wrap="square" lIns="0" rIns="0" tIns="0" bIns="0" anchor="t">
            <a:spAutoFit/>
          </a:bodyPr>
          <a:lstStyle/>
          <a:p>
            <a:pPr algn="l">
              <a:lnSpc>
                <a:spcPct val="100000"/>
              </a:lnSpc>
            </a:pPr>
            <a:r>
              <a:rPr sz="930" b="1" i="0">
                <a:solidFill>
                  <a:srgbClr val="E2B93B"/>
                </a:solidFill>
                <a:latin typeface="Arial"/>
              </a:rPr>
              <a:t>BASIC CHECKS</a:t>
            </a:r>
          </a:p>
        </p:txBody>
      </p:sp>
      <p:sp>
        <p:nvSpPr>
          <p:cNvPr id="37" name="TextBox 36"/>
          <p:cNvSpPr txBox="1"/>
          <p:nvPr/>
        </p:nvSpPr>
        <p:spPr>
          <a:xfrm>
            <a:off x="2395728" y="632764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Gentle turns, power-off glide, control response, and temperature. No low-altitude stall test.</a:t>
            </a:r>
          </a:p>
        </p:txBody>
      </p:sp>
      <p:sp>
        <p:nvSpPr>
          <p:cNvPr id="38" name="Oval 37"/>
          <p:cNvSpPr/>
          <p:nvPr/>
        </p:nvSpPr>
        <p:spPr>
          <a:xfrm>
            <a:off x="438912" y="7315200"/>
            <a:ext cx="457200" cy="457200"/>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8912" y="7434072"/>
            <a:ext cx="457200" cy="137160"/>
          </a:xfrm>
          <a:prstGeom prst="rect">
            <a:avLst/>
          </a:prstGeom>
          <a:noFill/>
        </p:spPr>
        <p:txBody>
          <a:bodyPr wrap="square" lIns="0" rIns="0" tIns="0" bIns="0" anchor="t">
            <a:spAutoFit/>
          </a:bodyPr>
          <a:lstStyle/>
          <a:p>
            <a:pPr algn="ctr">
              <a:lnSpc>
                <a:spcPct val="100000"/>
              </a:lnSpc>
            </a:pPr>
            <a:r>
              <a:rPr sz="900" b="1" i="0">
                <a:solidFill>
                  <a:srgbClr val="FFFFFF"/>
                </a:solidFill>
                <a:latin typeface="Arial"/>
              </a:rPr>
              <a:t>7</a:t>
            </a:r>
          </a:p>
        </p:txBody>
      </p:sp>
      <p:sp>
        <p:nvSpPr>
          <p:cNvPr id="40" name="Rounded Rectangle 39"/>
          <p:cNvSpPr/>
          <p:nvPr/>
        </p:nvSpPr>
        <p:spPr>
          <a:xfrm>
            <a:off x="1042415" y="7223760"/>
            <a:ext cx="6382512" cy="859536"/>
          </a:xfrm>
          <a:prstGeom prst="roundRect">
            <a:avLst>
              <a:gd name="adj" fmla="val 8000"/>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07008" y="7351776"/>
            <a:ext cx="1234440" cy="182880"/>
          </a:xfrm>
          <a:prstGeom prst="rect">
            <a:avLst/>
          </a:prstGeom>
          <a:noFill/>
        </p:spPr>
        <p:txBody>
          <a:bodyPr wrap="square" lIns="0" rIns="0" tIns="0" bIns="0" anchor="t">
            <a:spAutoFit/>
          </a:bodyPr>
          <a:lstStyle/>
          <a:p>
            <a:pPr algn="l">
              <a:lnSpc>
                <a:spcPct val="100000"/>
              </a:lnSpc>
            </a:pPr>
            <a:r>
              <a:rPr sz="930" b="1" i="0">
                <a:solidFill>
                  <a:srgbClr val="C83E3E"/>
                </a:solidFill>
                <a:latin typeface="Arial"/>
              </a:rPr>
              <a:t>LAND EARLY</a:t>
            </a:r>
          </a:p>
        </p:txBody>
      </p:sp>
      <p:sp>
        <p:nvSpPr>
          <p:cNvPr id="42" name="TextBox 41"/>
          <p:cNvSpPr txBox="1"/>
          <p:nvPr/>
        </p:nvSpPr>
        <p:spPr>
          <a:xfrm>
            <a:off x="2395728" y="7333488"/>
            <a:ext cx="4800600" cy="438912"/>
          </a:xfrm>
          <a:prstGeom prst="rect">
            <a:avLst/>
          </a:prstGeom>
          <a:noFill/>
        </p:spPr>
        <p:txBody>
          <a:bodyPr wrap="square" lIns="0" rIns="0" tIns="0" bIns="0" anchor="ctr">
            <a:spAutoFit/>
          </a:bodyPr>
          <a:lstStyle/>
          <a:p>
            <a:pPr algn="l">
              <a:lnSpc>
                <a:spcPct val="100000"/>
              </a:lnSpc>
            </a:pPr>
            <a:r>
              <a:rPr sz="869" b="0" i="0">
                <a:solidFill>
                  <a:srgbClr val="20263A"/>
                </a:solidFill>
                <a:latin typeface="Arial"/>
              </a:rPr>
              <a:t>Use a wide pattern and extra speed. Save advanced testing for later flights.</a:t>
            </a:r>
          </a:p>
        </p:txBody>
      </p:sp>
      <p:sp>
        <p:nvSpPr>
          <p:cNvPr id="43" name="Rounded Rectangle 42"/>
          <p:cNvSpPr/>
          <p:nvPr/>
        </p:nvSpPr>
        <p:spPr>
          <a:xfrm>
            <a:off x="347472" y="8247888"/>
            <a:ext cx="7077456" cy="475488"/>
          </a:xfrm>
          <a:prstGeom prst="roundRect">
            <a:avLst>
              <a:gd name="adj" fmla="val 8000"/>
            </a:avLst>
          </a:prstGeom>
          <a:solidFill>
            <a:srgbClr val="FDEEEE"/>
          </a:solidFill>
          <a:ln w="10160">
            <a:solidFill>
              <a:srgbClr val="C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57200" y="8339327"/>
            <a:ext cx="292608" cy="292608"/>
          </a:xfrm>
          <a:prstGeom prst="ellipse">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8394192"/>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46" name="TextBox 45"/>
          <p:cNvSpPr txBox="1"/>
          <p:nvPr/>
        </p:nvSpPr>
        <p:spPr>
          <a:xfrm>
            <a:off x="832104" y="8339327"/>
            <a:ext cx="6464808" cy="310896"/>
          </a:xfrm>
          <a:prstGeom prst="rect">
            <a:avLst/>
          </a:prstGeom>
          <a:noFill/>
        </p:spPr>
        <p:txBody>
          <a:bodyPr wrap="square" lIns="0" rIns="0" tIns="0" bIns="0" anchor="ctr">
            <a:spAutoFit/>
          </a:bodyPr>
          <a:lstStyle/>
          <a:p>
            <a:pPr algn="l">
              <a:lnSpc>
                <a:spcPct val="100000"/>
              </a:lnSpc>
            </a:pPr>
            <a:r>
              <a:rPr sz="850" b="0" i="0">
                <a:solidFill>
                  <a:srgbClr val="20263A"/>
                </a:solidFill>
                <a:latin typeface="Arial"/>
              </a:rPr>
              <a:t>Abort if the airplane is badly out of trim, controls feel wrong, power is weak, or the structure sounds or behaves abnormally.</a:t>
            </a:r>
          </a:p>
        </p:txBody>
      </p:sp>
      <p:sp>
        <p:nvSpPr>
          <p:cNvPr id="47" name="TextBox 46"/>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38C8C"/>
                </a:solidFill>
                <a:latin typeface="Arial"/>
              </a:rPr>
              <a:t>TEST, FLY &amp; IMPROVE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Trim and tune in a safe order</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Do not change CG, incidences, control travel, and mixes all at once. You will not know what fixed—or caused—the behavior.</a:t>
            </a:r>
          </a:p>
        </p:txBody>
      </p:sp>
      <p:sp>
        <p:nvSpPr>
          <p:cNvPr id="8" name="Rounded Rectangle 7"/>
          <p:cNvSpPr/>
          <p:nvPr/>
        </p:nvSpPr>
        <p:spPr>
          <a:xfrm>
            <a:off x="347472" y="1188720"/>
            <a:ext cx="3474720" cy="179222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188720"/>
            <a:ext cx="50292" cy="179222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1. MECHANICAL ZERO</a:t>
            </a:r>
          </a:p>
        </p:txBody>
      </p:sp>
      <p:sp>
        <p:nvSpPr>
          <p:cNvPr id="11" name="TextBox 10"/>
          <p:cNvSpPr txBox="1"/>
          <p:nvPr/>
        </p:nvSpPr>
        <p:spPr>
          <a:xfrm>
            <a:off x="493776" y="1581912"/>
            <a:ext cx="3200400" cy="1298448"/>
          </a:xfrm>
          <a:prstGeom prst="rect">
            <a:avLst/>
          </a:prstGeom>
          <a:noFill/>
        </p:spPr>
        <p:txBody>
          <a:bodyPr wrap="square" lIns="0" rIns="0" tIns="0" bIns="0" anchor="t">
            <a:spAutoFit/>
          </a:bodyPr>
          <a:lstStyle/>
          <a:p>
            <a:pPr algn="l">
              <a:lnSpc>
                <a:spcPct val="100000"/>
              </a:lnSpc>
            </a:pPr>
            <a:r>
              <a:rPr sz="900" b="0" i="0">
                <a:solidFill>
                  <a:srgbClr val="20263A"/>
                </a:solidFill>
                <a:latin typeface="Arial"/>
              </a:rPr>
              <a:t>Straight surfaces, centered servo arms, equal link lengths. Use transmitter trim only for small flight corrections.</a:t>
            </a:r>
          </a:p>
        </p:txBody>
      </p:sp>
      <p:sp>
        <p:nvSpPr>
          <p:cNvPr id="12" name="Rounded Rectangle 11"/>
          <p:cNvSpPr/>
          <p:nvPr/>
        </p:nvSpPr>
        <p:spPr>
          <a:xfrm>
            <a:off x="3950208" y="1188720"/>
            <a:ext cx="3474720" cy="179222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0208" y="1188720"/>
            <a:ext cx="50292" cy="1792224"/>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6512"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2. CG FIRST</a:t>
            </a:r>
          </a:p>
        </p:txBody>
      </p:sp>
      <p:sp>
        <p:nvSpPr>
          <p:cNvPr id="15" name="TextBox 14"/>
          <p:cNvSpPr txBox="1"/>
          <p:nvPr/>
        </p:nvSpPr>
        <p:spPr>
          <a:xfrm>
            <a:off x="4096512" y="1581912"/>
            <a:ext cx="3200400" cy="1298448"/>
          </a:xfrm>
          <a:prstGeom prst="rect">
            <a:avLst/>
          </a:prstGeom>
          <a:noFill/>
        </p:spPr>
        <p:txBody>
          <a:bodyPr wrap="square" lIns="0" rIns="0" tIns="0" bIns="0" anchor="t">
            <a:spAutoFit/>
          </a:bodyPr>
          <a:lstStyle/>
          <a:p>
            <a:pPr algn="l">
              <a:lnSpc>
                <a:spcPct val="100000"/>
              </a:lnSpc>
            </a:pPr>
            <a:r>
              <a:rPr sz="900" b="0" i="0">
                <a:solidFill>
                  <a:srgbClr val="20263A"/>
                </a:solidFill>
                <a:latin typeface="Arial"/>
              </a:rPr>
              <a:t>Confirm balance and pitch behavior before adding mixes. Move aft only in small steps after stable flights.</a:t>
            </a:r>
          </a:p>
        </p:txBody>
      </p:sp>
      <p:sp>
        <p:nvSpPr>
          <p:cNvPr id="16" name="Rounded Rectangle 15"/>
          <p:cNvSpPr/>
          <p:nvPr/>
        </p:nvSpPr>
        <p:spPr>
          <a:xfrm>
            <a:off x="347472" y="3273552"/>
            <a:ext cx="3474720" cy="179222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3273552"/>
            <a:ext cx="50292" cy="1792224"/>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339242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3. THROWS + EXPO</a:t>
            </a:r>
          </a:p>
        </p:txBody>
      </p:sp>
      <p:sp>
        <p:nvSpPr>
          <p:cNvPr id="19" name="TextBox 18"/>
          <p:cNvSpPr txBox="1"/>
          <p:nvPr/>
        </p:nvSpPr>
        <p:spPr>
          <a:xfrm>
            <a:off x="493776" y="3666744"/>
            <a:ext cx="3200400" cy="1298448"/>
          </a:xfrm>
          <a:prstGeom prst="rect">
            <a:avLst/>
          </a:prstGeom>
          <a:noFill/>
        </p:spPr>
        <p:txBody>
          <a:bodyPr wrap="square" lIns="0" rIns="0" tIns="0" bIns="0" anchor="t">
            <a:spAutoFit/>
          </a:bodyPr>
          <a:lstStyle/>
          <a:p>
            <a:pPr algn="l">
              <a:lnSpc>
                <a:spcPct val="100000"/>
              </a:lnSpc>
            </a:pPr>
            <a:r>
              <a:rPr sz="900" b="0" i="0">
                <a:solidFill>
                  <a:srgbClr val="20263A"/>
                </a:solidFill>
                <a:latin typeface="Arial"/>
              </a:rPr>
              <a:t>Set maximum rate for required maneuvers; use expo to shape center feel, not hide slop.</a:t>
            </a:r>
          </a:p>
        </p:txBody>
      </p:sp>
      <p:sp>
        <p:nvSpPr>
          <p:cNvPr id="20" name="Rounded Rectangle 19"/>
          <p:cNvSpPr/>
          <p:nvPr/>
        </p:nvSpPr>
        <p:spPr>
          <a:xfrm>
            <a:off x="3950208" y="3273552"/>
            <a:ext cx="3474720" cy="179222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50208" y="3273552"/>
            <a:ext cx="50292" cy="1792224"/>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96512" y="339242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4. AILERON DIFFERENTIAL</a:t>
            </a:r>
          </a:p>
        </p:txBody>
      </p:sp>
      <p:sp>
        <p:nvSpPr>
          <p:cNvPr id="23" name="TextBox 22"/>
          <p:cNvSpPr txBox="1"/>
          <p:nvPr/>
        </p:nvSpPr>
        <p:spPr>
          <a:xfrm>
            <a:off x="4096512" y="3666744"/>
            <a:ext cx="3200400" cy="1298448"/>
          </a:xfrm>
          <a:prstGeom prst="rect">
            <a:avLst/>
          </a:prstGeom>
          <a:noFill/>
        </p:spPr>
        <p:txBody>
          <a:bodyPr wrap="square" lIns="0" rIns="0" tIns="0" bIns="0" anchor="t">
            <a:spAutoFit/>
          </a:bodyPr>
          <a:lstStyle/>
          <a:p>
            <a:pPr algn="l">
              <a:lnSpc>
                <a:spcPct val="100000"/>
              </a:lnSpc>
            </a:pPr>
            <a:r>
              <a:rPr sz="900" b="0" i="0">
                <a:solidFill>
                  <a:srgbClr val="20263A"/>
                </a:solidFill>
                <a:latin typeface="Arial"/>
              </a:rPr>
              <a:t>Adjust to reduce adverse yaw. Observe coordinated turns at safe height.</a:t>
            </a:r>
          </a:p>
        </p:txBody>
      </p:sp>
      <p:sp>
        <p:nvSpPr>
          <p:cNvPr id="24" name="Rounded Rectangle 23"/>
          <p:cNvSpPr/>
          <p:nvPr/>
        </p:nvSpPr>
        <p:spPr>
          <a:xfrm>
            <a:off x="347472" y="5358383"/>
            <a:ext cx="3474720" cy="179222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7472" y="5358383"/>
            <a:ext cx="50292" cy="1792224"/>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 y="5477255"/>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5. POWER EFFECTS</a:t>
            </a:r>
          </a:p>
        </p:txBody>
      </p:sp>
      <p:sp>
        <p:nvSpPr>
          <p:cNvPr id="27" name="TextBox 26"/>
          <p:cNvSpPr txBox="1"/>
          <p:nvPr/>
        </p:nvSpPr>
        <p:spPr>
          <a:xfrm>
            <a:off x="493776" y="5751575"/>
            <a:ext cx="3200400" cy="1298448"/>
          </a:xfrm>
          <a:prstGeom prst="rect">
            <a:avLst/>
          </a:prstGeom>
          <a:noFill/>
        </p:spPr>
        <p:txBody>
          <a:bodyPr wrap="square" lIns="0" rIns="0" tIns="0" bIns="0" anchor="t">
            <a:spAutoFit/>
          </a:bodyPr>
          <a:lstStyle/>
          <a:p>
            <a:pPr algn="l">
              <a:lnSpc>
                <a:spcPct val="100000"/>
              </a:lnSpc>
            </a:pPr>
            <a:r>
              <a:rPr sz="900" b="0" i="0">
                <a:solidFill>
                  <a:srgbClr val="20263A"/>
                </a:solidFill>
                <a:latin typeface="Arial"/>
              </a:rPr>
              <a:t>Correct thrust-line or mixing only after checking CG, alignment, and control neutral.</a:t>
            </a:r>
          </a:p>
        </p:txBody>
      </p:sp>
      <p:sp>
        <p:nvSpPr>
          <p:cNvPr id="28" name="Rounded Rectangle 27"/>
          <p:cNvSpPr/>
          <p:nvPr/>
        </p:nvSpPr>
        <p:spPr>
          <a:xfrm>
            <a:off x="3950208" y="5358383"/>
            <a:ext cx="3474720" cy="1792224"/>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50208" y="5358383"/>
            <a:ext cx="50292" cy="1792224"/>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96512" y="5477255"/>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6. FLAPS / SPECIAL MODES</a:t>
            </a:r>
          </a:p>
        </p:txBody>
      </p:sp>
      <p:sp>
        <p:nvSpPr>
          <p:cNvPr id="31" name="TextBox 30"/>
          <p:cNvSpPr txBox="1"/>
          <p:nvPr/>
        </p:nvSpPr>
        <p:spPr>
          <a:xfrm>
            <a:off x="4096512" y="5751575"/>
            <a:ext cx="3200400" cy="1298448"/>
          </a:xfrm>
          <a:prstGeom prst="rect">
            <a:avLst/>
          </a:prstGeom>
          <a:noFill/>
        </p:spPr>
        <p:txBody>
          <a:bodyPr wrap="square" lIns="0" rIns="0" tIns="0" bIns="0" anchor="t">
            <a:spAutoFit/>
          </a:bodyPr>
          <a:lstStyle/>
          <a:p>
            <a:pPr algn="l">
              <a:lnSpc>
                <a:spcPct val="100000"/>
              </a:lnSpc>
            </a:pPr>
            <a:r>
              <a:rPr sz="900" b="0" i="0">
                <a:solidFill>
                  <a:srgbClr val="20263A"/>
                </a:solidFill>
                <a:latin typeface="Arial"/>
              </a:rPr>
              <a:t>Add elevator compensation gradually at altitude; use slow deployment.</a:t>
            </a:r>
          </a:p>
        </p:txBody>
      </p:sp>
      <p:sp>
        <p:nvSpPr>
          <p:cNvPr id="32" name="Rounded Rectangle 31"/>
          <p:cNvSpPr/>
          <p:nvPr/>
        </p:nvSpPr>
        <p:spPr>
          <a:xfrm>
            <a:off x="347472" y="7653527"/>
            <a:ext cx="7077456" cy="713232"/>
          </a:xfrm>
          <a:prstGeom prst="roundRect">
            <a:avLst>
              <a:gd name="adj" fmla="val 8000"/>
            </a:avLst>
          </a:prstGeom>
          <a:solidFill>
            <a:srgbClr val="EAF7F6"/>
          </a:solidFill>
          <a:ln w="10160">
            <a:solidFill>
              <a:srgbClr val="13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7200" y="7863840"/>
            <a:ext cx="292608" cy="292608"/>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7918704"/>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35" name="TextBox 34"/>
          <p:cNvSpPr txBox="1"/>
          <p:nvPr/>
        </p:nvSpPr>
        <p:spPr>
          <a:xfrm>
            <a:off x="832104" y="7744967"/>
            <a:ext cx="6464808" cy="548640"/>
          </a:xfrm>
          <a:prstGeom prst="rect">
            <a:avLst/>
          </a:prstGeom>
          <a:noFill/>
        </p:spPr>
        <p:txBody>
          <a:bodyPr wrap="square" lIns="0" rIns="0" tIns="0" bIns="0" anchor="ctr">
            <a:spAutoFit/>
          </a:bodyPr>
          <a:lstStyle/>
          <a:p>
            <a:pPr algn="l">
              <a:lnSpc>
                <a:spcPct val="100000"/>
              </a:lnSpc>
            </a:pPr>
            <a:r>
              <a:rPr sz="910" b="0" i="0">
                <a:solidFill>
                  <a:srgbClr val="20263A"/>
                </a:solidFill>
                <a:latin typeface="Arial"/>
              </a:rPr>
              <a:t>Keep a flight log: configuration, battery, wind, CG, throws, trim clicks, temperatures, flight time, observations, and next single change.</a:t>
            </a:r>
          </a:p>
        </p:txBody>
      </p:sp>
      <p:sp>
        <p:nvSpPr>
          <p:cNvPr id="36" name="TextBox 35"/>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C83E3E"/>
                </a:solidFill>
                <a:latin typeface="Arial"/>
              </a:rPr>
              <a:t>TEST, FLY &amp; IMPROVE</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Troubleshooting by symptom</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Land first. Then separate aerodynamic, mechanical, electrical, and pilot-input causes.</a:t>
            </a:r>
          </a:p>
        </p:txBody>
      </p:sp>
      <p:sp>
        <p:nvSpPr>
          <p:cNvPr id="8" name="Rectangle 7"/>
          <p:cNvSpPr/>
          <p:nvPr/>
        </p:nvSpPr>
        <p:spPr>
          <a:xfrm>
            <a:off x="347472" y="1234440"/>
            <a:ext cx="1316736"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3192" y="1353312"/>
            <a:ext cx="1225295" cy="182880"/>
          </a:xfrm>
          <a:prstGeom prst="rect">
            <a:avLst/>
          </a:prstGeom>
          <a:noFill/>
        </p:spPr>
        <p:txBody>
          <a:bodyPr wrap="square" lIns="0" rIns="0" tIns="0" bIns="0" anchor="t">
            <a:spAutoFit/>
          </a:bodyPr>
          <a:lstStyle/>
          <a:p>
            <a:pPr algn="l">
              <a:lnSpc>
                <a:spcPct val="100000"/>
              </a:lnSpc>
            </a:pPr>
            <a:r>
              <a:rPr sz="780" b="1" i="0">
                <a:solidFill>
                  <a:srgbClr val="FFFFFF"/>
                </a:solidFill>
                <a:latin typeface="Arial"/>
              </a:rPr>
              <a:t>SYMPTOM</a:t>
            </a:r>
          </a:p>
        </p:txBody>
      </p:sp>
      <p:sp>
        <p:nvSpPr>
          <p:cNvPr id="10" name="Rectangle 9"/>
          <p:cNvSpPr/>
          <p:nvPr/>
        </p:nvSpPr>
        <p:spPr>
          <a:xfrm>
            <a:off x="1664207" y="1234440"/>
            <a:ext cx="1993392"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9928" y="1353312"/>
            <a:ext cx="1901952" cy="182880"/>
          </a:xfrm>
          <a:prstGeom prst="rect">
            <a:avLst/>
          </a:prstGeom>
          <a:noFill/>
        </p:spPr>
        <p:txBody>
          <a:bodyPr wrap="square" lIns="0" rIns="0" tIns="0" bIns="0" anchor="t">
            <a:spAutoFit/>
          </a:bodyPr>
          <a:lstStyle/>
          <a:p>
            <a:pPr algn="l">
              <a:lnSpc>
                <a:spcPct val="100000"/>
              </a:lnSpc>
            </a:pPr>
            <a:r>
              <a:rPr sz="780" b="1" i="0">
                <a:solidFill>
                  <a:srgbClr val="FFFFFF"/>
                </a:solidFill>
                <a:latin typeface="Arial"/>
              </a:rPr>
              <a:t>POSSIBLE CAUSES</a:t>
            </a:r>
          </a:p>
        </p:txBody>
      </p:sp>
      <p:sp>
        <p:nvSpPr>
          <p:cNvPr id="12" name="Rectangle 11"/>
          <p:cNvSpPr/>
          <p:nvPr/>
        </p:nvSpPr>
        <p:spPr>
          <a:xfrm>
            <a:off x="3657600" y="1234440"/>
            <a:ext cx="1865376"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3320" y="1353312"/>
            <a:ext cx="1773936" cy="182880"/>
          </a:xfrm>
          <a:prstGeom prst="rect">
            <a:avLst/>
          </a:prstGeom>
          <a:noFill/>
        </p:spPr>
        <p:txBody>
          <a:bodyPr wrap="square" lIns="0" rIns="0" tIns="0" bIns="0" anchor="t">
            <a:spAutoFit/>
          </a:bodyPr>
          <a:lstStyle/>
          <a:p>
            <a:pPr algn="l">
              <a:lnSpc>
                <a:spcPct val="100000"/>
              </a:lnSpc>
            </a:pPr>
            <a:r>
              <a:rPr sz="780" b="1" i="0">
                <a:solidFill>
                  <a:srgbClr val="FFFFFF"/>
                </a:solidFill>
                <a:latin typeface="Arial"/>
              </a:rPr>
              <a:t>TEST</a:t>
            </a:r>
          </a:p>
        </p:txBody>
      </p:sp>
      <p:sp>
        <p:nvSpPr>
          <p:cNvPr id="14" name="Rectangle 13"/>
          <p:cNvSpPr/>
          <p:nvPr/>
        </p:nvSpPr>
        <p:spPr>
          <a:xfrm>
            <a:off x="5522976" y="1234440"/>
            <a:ext cx="1901952" cy="502920"/>
          </a:xfrm>
          <a:prstGeom prst="rect">
            <a:avLst/>
          </a:prstGeom>
          <a:solidFill>
            <a:srgbClr val="111A4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68696" y="1353312"/>
            <a:ext cx="1810512" cy="182880"/>
          </a:xfrm>
          <a:prstGeom prst="rect">
            <a:avLst/>
          </a:prstGeom>
          <a:noFill/>
        </p:spPr>
        <p:txBody>
          <a:bodyPr wrap="square" lIns="0" rIns="0" tIns="0" bIns="0" anchor="t">
            <a:spAutoFit/>
          </a:bodyPr>
          <a:lstStyle/>
          <a:p>
            <a:pPr algn="l">
              <a:lnSpc>
                <a:spcPct val="100000"/>
              </a:lnSpc>
            </a:pPr>
            <a:r>
              <a:rPr sz="780" b="1" i="0">
                <a:solidFill>
                  <a:srgbClr val="FFFFFF"/>
                </a:solidFill>
                <a:latin typeface="Arial"/>
              </a:rPr>
              <a:t>LIKELY ACTION</a:t>
            </a:r>
          </a:p>
        </p:txBody>
      </p:sp>
      <p:sp>
        <p:nvSpPr>
          <p:cNvPr id="16" name="Rectangle 15"/>
          <p:cNvSpPr/>
          <p:nvPr/>
        </p:nvSpPr>
        <p:spPr>
          <a:xfrm>
            <a:off x="347472" y="1737360"/>
            <a:ext cx="1316736"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 y="1810512"/>
            <a:ext cx="1225295" cy="722376"/>
          </a:xfrm>
          <a:prstGeom prst="rect">
            <a:avLst/>
          </a:prstGeom>
          <a:noFill/>
        </p:spPr>
        <p:txBody>
          <a:bodyPr wrap="square" lIns="0" rIns="0" tIns="0" bIns="0" anchor="ctr">
            <a:spAutoFit/>
          </a:bodyPr>
          <a:lstStyle/>
          <a:p>
            <a:pPr algn="l">
              <a:lnSpc>
                <a:spcPct val="100000"/>
              </a:lnSpc>
            </a:pPr>
            <a:r>
              <a:rPr sz="790" b="1" i="0">
                <a:solidFill>
                  <a:srgbClr val="20263A"/>
                </a:solidFill>
                <a:latin typeface="Arial"/>
              </a:rPr>
              <a:t>Pitches up with throttle</a:t>
            </a:r>
          </a:p>
        </p:txBody>
      </p:sp>
      <p:sp>
        <p:nvSpPr>
          <p:cNvPr id="18" name="Rectangle 17"/>
          <p:cNvSpPr/>
          <p:nvPr/>
        </p:nvSpPr>
        <p:spPr>
          <a:xfrm>
            <a:off x="1664207" y="1737360"/>
            <a:ext cx="1993392"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9928" y="1810512"/>
            <a:ext cx="190195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CG aft; thrust line; wing incidence; flexible tail</a:t>
            </a:r>
          </a:p>
        </p:txBody>
      </p:sp>
      <p:sp>
        <p:nvSpPr>
          <p:cNvPr id="20" name="Rectangle 19"/>
          <p:cNvSpPr/>
          <p:nvPr/>
        </p:nvSpPr>
        <p:spPr>
          <a:xfrm>
            <a:off x="3657600" y="1737360"/>
            <a:ext cx="1865376"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03320" y="1810512"/>
            <a:ext cx="1773936"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Check CG/alignment; static run; inspect flex</a:t>
            </a:r>
          </a:p>
        </p:txBody>
      </p:sp>
      <p:sp>
        <p:nvSpPr>
          <p:cNvPr id="22" name="Rectangle 21"/>
          <p:cNvSpPr/>
          <p:nvPr/>
        </p:nvSpPr>
        <p:spPr>
          <a:xfrm>
            <a:off x="5522976" y="1737360"/>
            <a:ext cx="1901952"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68696" y="1810512"/>
            <a:ext cx="181051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Correct cause; avoid large mix first</a:t>
            </a:r>
          </a:p>
        </p:txBody>
      </p:sp>
      <p:sp>
        <p:nvSpPr>
          <p:cNvPr id="24" name="Rectangle 23"/>
          <p:cNvSpPr/>
          <p:nvPr/>
        </p:nvSpPr>
        <p:spPr>
          <a:xfrm>
            <a:off x="347472" y="2569464"/>
            <a:ext cx="1316736"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2642616"/>
            <a:ext cx="1225295" cy="722376"/>
          </a:xfrm>
          <a:prstGeom prst="rect">
            <a:avLst/>
          </a:prstGeom>
          <a:noFill/>
        </p:spPr>
        <p:txBody>
          <a:bodyPr wrap="square" lIns="0" rIns="0" tIns="0" bIns="0" anchor="ctr">
            <a:spAutoFit/>
          </a:bodyPr>
          <a:lstStyle/>
          <a:p>
            <a:pPr algn="l">
              <a:lnSpc>
                <a:spcPct val="100000"/>
              </a:lnSpc>
            </a:pPr>
            <a:r>
              <a:rPr sz="790" b="1" i="0">
                <a:solidFill>
                  <a:srgbClr val="20263A"/>
                </a:solidFill>
                <a:latin typeface="Arial"/>
              </a:rPr>
              <a:t>Needs much up elevator</a:t>
            </a:r>
          </a:p>
        </p:txBody>
      </p:sp>
      <p:sp>
        <p:nvSpPr>
          <p:cNvPr id="26" name="Rectangle 25"/>
          <p:cNvSpPr/>
          <p:nvPr/>
        </p:nvSpPr>
        <p:spPr>
          <a:xfrm>
            <a:off x="1664207" y="2569464"/>
            <a:ext cx="1993392"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09928" y="2642616"/>
            <a:ext cx="190195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CG forward; tail incidence; heavy model</a:t>
            </a:r>
          </a:p>
        </p:txBody>
      </p:sp>
      <p:sp>
        <p:nvSpPr>
          <p:cNvPr id="28" name="Rectangle 27"/>
          <p:cNvSpPr/>
          <p:nvPr/>
        </p:nvSpPr>
        <p:spPr>
          <a:xfrm>
            <a:off x="3657600" y="2569464"/>
            <a:ext cx="1865376"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03320" y="2642616"/>
            <a:ext cx="1773936"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Verify balance and neutral; glide behavior</a:t>
            </a:r>
          </a:p>
        </p:txBody>
      </p:sp>
      <p:sp>
        <p:nvSpPr>
          <p:cNvPr id="30" name="Rectangle 29"/>
          <p:cNvSpPr/>
          <p:nvPr/>
        </p:nvSpPr>
        <p:spPr>
          <a:xfrm>
            <a:off x="5522976" y="2569464"/>
            <a:ext cx="1901952"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68696" y="2642616"/>
            <a:ext cx="181051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Move mass / correct geometry carefully</a:t>
            </a:r>
          </a:p>
        </p:txBody>
      </p:sp>
      <p:sp>
        <p:nvSpPr>
          <p:cNvPr id="32" name="Rectangle 31"/>
          <p:cNvSpPr/>
          <p:nvPr/>
        </p:nvSpPr>
        <p:spPr>
          <a:xfrm>
            <a:off x="347472" y="3401568"/>
            <a:ext cx="1316736"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3192" y="3474720"/>
            <a:ext cx="1225295" cy="722376"/>
          </a:xfrm>
          <a:prstGeom prst="rect">
            <a:avLst/>
          </a:prstGeom>
          <a:noFill/>
        </p:spPr>
        <p:txBody>
          <a:bodyPr wrap="square" lIns="0" rIns="0" tIns="0" bIns="0" anchor="ctr">
            <a:spAutoFit/>
          </a:bodyPr>
          <a:lstStyle/>
          <a:p>
            <a:pPr algn="l">
              <a:lnSpc>
                <a:spcPct val="100000"/>
              </a:lnSpc>
            </a:pPr>
            <a:r>
              <a:rPr sz="790" b="1" i="0">
                <a:solidFill>
                  <a:srgbClr val="20263A"/>
                </a:solidFill>
                <a:latin typeface="Arial"/>
              </a:rPr>
              <a:t>Rolls one way hands-off</a:t>
            </a:r>
          </a:p>
        </p:txBody>
      </p:sp>
      <p:sp>
        <p:nvSpPr>
          <p:cNvPr id="34" name="Rectangle 33"/>
          <p:cNvSpPr/>
          <p:nvPr/>
        </p:nvSpPr>
        <p:spPr>
          <a:xfrm>
            <a:off x="1664207" y="3401568"/>
            <a:ext cx="1993392"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09928" y="3474720"/>
            <a:ext cx="190195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Wing warp; lateral balance; aileron neutral</a:t>
            </a:r>
          </a:p>
        </p:txBody>
      </p:sp>
      <p:sp>
        <p:nvSpPr>
          <p:cNvPr id="36" name="Rectangle 35"/>
          <p:cNvSpPr/>
          <p:nvPr/>
        </p:nvSpPr>
        <p:spPr>
          <a:xfrm>
            <a:off x="3657600" y="3401568"/>
            <a:ext cx="1865376"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03320" y="3474720"/>
            <a:ext cx="1773936"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Measure both panels; support at centerline</a:t>
            </a:r>
          </a:p>
        </p:txBody>
      </p:sp>
      <p:sp>
        <p:nvSpPr>
          <p:cNvPr id="38" name="Rectangle 37"/>
          <p:cNvSpPr/>
          <p:nvPr/>
        </p:nvSpPr>
        <p:spPr>
          <a:xfrm>
            <a:off x="5522976" y="3401568"/>
            <a:ext cx="1901952"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68696" y="3474720"/>
            <a:ext cx="181051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Remove warp; balance; reset linkage</a:t>
            </a:r>
          </a:p>
        </p:txBody>
      </p:sp>
      <p:sp>
        <p:nvSpPr>
          <p:cNvPr id="40" name="Rectangle 39"/>
          <p:cNvSpPr/>
          <p:nvPr/>
        </p:nvSpPr>
        <p:spPr>
          <a:xfrm>
            <a:off x="347472" y="4233672"/>
            <a:ext cx="1316736"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3192" y="4306824"/>
            <a:ext cx="1225295" cy="722376"/>
          </a:xfrm>
          <a:prstGeom prst="rect">
            <a:avLst/>
          </a:prstGeom>
          <a:noFill/>
        </p:spPr>
        <p:txBody>
          <a:bodyPr wrap="square" lIns="0" rIns="0" tIns="0" bIns="0" anchor="ctr">
            <a:spAutoFit/>
          </a:bodyPr>
          <a:lstStyle/>
          <a:p>
            <a:pPr algn="l">
              <a:lnSpc>
                <a:spcPct val="100000"/>
              </a:lnSpc>
            </a:pPr>
            <a:r>
              <a:rPr sz="790" b="1" i="0">
                <a:solidFill>
                  <a:srgbClr val="20263A"/>
                </a:solidFill>
                <a:latin typeface="Arial"/>
              </a:rPr>
              <a:t>Wanders in yaw</a:t>
            </a:r>
          </a:p>
        </p:txBody>
      </p:sp>
      <p:sp>
        <p:nvSpPr>
          <p:cNvPr id="42" name="Rectangle 41"/>
          <p:cNvSpPr/>
          <p:nvPr/>
        </p:nvSpPr>
        <p:spPr>
          <a:xfrm>
            <a:off x="1664207" y="4233672"/>
            <a:ext cx="1993392"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709928" y="4306824"/>
            <a:ext cx="190195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Small fin; linkage slop; aft CG; turbulence</a:t>
            </a:r>
          </a:p>
        </p:txBody>
      </p:sp>
      <p:sp>
        <p:nvSpPr>
          <p:cNvPr id="44" name="Rectangle 43"/>
          <p:cNvSpPr/>
          <p:nvPr/>
        </p:nvSpPr>
        <p:spPr>
          <a:xfrm>
            <a:off x="3657600" y="4233672"/>
            <a:ext cx="1865376"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03320" y="4306824"/>
            <a:ext cx="1773936"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Inspect rudder; compare tail volume</a:t>
            </a:r>
          </a:p>
        </p:txBody>
      </p:sp>
      <p:sp>
        <p:nvSpPr>
          <p:cNvPr id="46" name="Rectangle 45"/>
          <p:cNvSpPr/>
          <p:nvPr/>
        </p:nvSpPr>
        <p:spPr>
          <a:xfrm>
            <a:off x="5522976" y="4233672"/>
            <a:ext cx="1901952"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68696" y="4306824"/>
            <a:ext cx="181051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Repair linkage; CG forward; larger fin if proven</a:t>
            </a:r>
          </a:p>
        </p:txBody>
      </p:sp>
      <p:sp>
        <p:nvSpPr>
          <p:cNvPr id="48" name="Rectangle 47"/>
          <p:cNvSpPr/>
          <p:nvPr/>
        </p:nvSpPr>
        <p:spPr>
          <a:xfrm>
            <a:off x="347472" y="5065776"/>
            <a:ext cx="1316736"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93192" y="5138928"/>
            <a:ext cx="1225295" cy="722376"/>
          </a:xfrm>
          <a:prstGeom prst="rect">
            <a:avLst/>
          </a:prstGeom>
          <a:noFill/>
        </p:spPr>
        <p:txBody>
          <a:bodyPr wrap="square" lIns="0" rIns="0" tIns="0" bIns="0" anchor="ctr">
            <a:spAutoFit/>
          </a:bodyPr>
          <a:lstStyle/>
          <a:p>
            <a:pPr algn="l">
              <a:lnSpc>
                <a:spcPct val="100000"/>
              </a:lnSpc>
            </a:pPr>
            <a:r>
              <a:rPr sz="790" b="1" i="0">
                <a:solidFill>
                  <a:srgbClr val="20263A"/>
                </a:solidFill>
                <a:latin typeface="Arial"/>
              </a:rPr>
              <a:t>Tip drops near stall</a:t>
            </a:r>
          </a:p>
        </p:txBody>
      </p:sp>
      <p:sp>
        <p:nvSpPr>
          <p:cNvPr id="50" name="Rectangle 49"/>
          <p:cNvSpPr/>
          <p:nvPr/>
        </p:nvSpPr>
        <p:spPr>
          <a:xfrm>
            <a:off x="1664207" y="5065776"/>
            <a:ext cx="1993392"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709928" y="5138928"/>
            <a:ext cx="190195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Taper/warp; tip incidence; aileron input</a:t>
            </a:r>
          </a:p>
        </p:txBody>
      </p:sp>
      <p:sp>
        <p:nvSpPr>
          <p:cNvPr id="52" name="Rectangle 51"/>
          <p:cNvSpPr/>
          <p:nvPr/>
        </p:nvSpPr>
        <p:spPr>
          <a:xfrm>
            <a:off x="3657600" y="5065776"/>
            <a:ext cx="1865376"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03320" y="5138928"/>
            <a:ext cx="1773936"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Measure washout; inspect surface roughness</a:t>
            </a:r>
          </a:p>
        </p:txBody>
      </p:sp>
      <p:sp>
        <p:nvSpPr>
          <p:cNvPr id="54" name="Rectangle 53"/>
          <p:cNvSpPr/>
          <p:nvPr/>
        </p:nvSpPr>
        <p:spPr>
          <a:xfrm>
            <a:off x="5522976" y="5065776"/>
            <a:ext cx="1901952"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568696" y="5138928"/>
            <a:ext cx="181051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Correct twist; reduce taper effect; fly faster</a:t>
            </a:r>
          </a:p>
        </p:txBody>
      </p:sp>
      <p:sp>
        <p:nvSpPr>
          <p:cNvPr id="56" name="Rectangle 55"/>
          <p:cNvSpPr/>
          <p:nvPr/>
        </p:nvSpPr>
        <p:spPr>
          <a:xfrm>
            <a:off x="347472" y="5897880"/>
            <a:ext cx="1316736"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93192" y="5971032"/>
            <a:ext cx="1225295" cy="722376"/>
          </a:xfrm>
          <a:prstGeom prst="rect">
            <a:avLst/>
          </a:prstGeom>
          <a:noFill/>
        </p:spPr>
        <p:txBody>
          <a:bodyPr wrap="square" lIns="0" rIns="0" tIns="0" bIns="0" anchor="ctr">
            <a:spAutoFit/>
          </a:bodyPr>
          <a:lstStyle/>
          <a:p>
            <a:pPr algn="l">
              <a:lnSpc>
                <a:spcPct val="100000"/>
              </a:lnSpc>
            </a:pPr>
            <a:r>
              <a:rPr sz="790" b="1" i="0">
                <a:solidFill>
                  <a:srgbClr val="20263A"/>
                </a:solidFill>
                <a:latin typeface="Arial"/>
              </a:rPr>
              <a:t>Servo chatters / buzzes</a:t>
            </a:r>
          </a:p>
        </p:txBody>
      </p:sp>
      <p:sp>
        <p:nvSpPr>
          <p:cNvPr id="58" name="Rectangle 57"/>
          <p:cNvSpPr/>
          <p:nvPr/>
        </p:nvSpPr>
        <p:spPr>
          <a:xfrm>
            <a:off x="1664207" y="5897880"/>
            <a:ext cx="1993392"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709928" y="5971032"/>
            <a:ext cx="190195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Binding; overload; poor power; RF/noise</a:t>
            </a:r>
          </a:p>
        </p:txBody>
      </p:sp>
      <p:sp>
        <p:nvSpPr>
          <p:cNvPr id="60" name="Rectangle 59"/>
          <p:cNvSpPr/>
          <p:nvPr/>
        </p:nvSpPr>
        <p:spPr>
          <a:xfrm>
            <a:off x="3657600" y="5897880"/>
            <a:ext cx="1865376"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703320" y="5971032"/>
            <a:ext cx="1773936"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Disconnect linkage; load-test BEC</a:t>
            </a:r>
          </a:p>
        </p:txBody>
      </p:sp>
      <p:sp>
        <p:nvSpPr>
          <p:cNvPr id="62" name="Rectangle 61"/>
          <p:cNvSpPr/>
          <p:nvPr/>
        </p:nvSpPr>
        <p:spPr>
          <a:xfrm>
            <a:off x="5522976" y="5897880"/>
            <a:ext cx="1901952" cy="832104"/>
          </a:xfrm>
          <a:prstGeom prst="rect">
            <a:avLst/>
          </a:prstGeom>
          <a:solidFill>
            <a:srgbClr val="F7F9FC"/>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568696" y="5971032"/>
            <a:ext cx="181051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Fix geometry; power system; replace damaged servo</a:t>
            </a:r>
          </a:p>
        </p:txBody>
      </p:sp>
      <p:sp>
        <p:nvSpPr>
          <p:cNvPr id="64" name="Rectangle 63"/>
          <p:cNvSpPr/>
          <p:nvPr/>
        </p:nvSpPr>
        <p:spPr>
          <a:xfrm>
            <a:off x="347472" y="6729984"/>
            <a:ext cx="1316736"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93192" y="6803136"/>
            <a:ext cx="1225295" cy="722376"/>
          </a:xfrm>
          <a:prstGeom prst="rect">
            <a:avLst/>
          </a:prstGeom>
          <a:noFill/>
        </p:spPr>
        <p:txBody>
          <a:bodyPr wrap="square" lIns="0" rIns="0" tIns="0" bIns="0" anchor="ctr">
            <a:spAutoFit/>
          </a:bodyPr>
          <a:lstStyle/>
          <a:p>
            <a:pPr algn="l">
              <a:lnSpc>
                <a:spcPct val="100000"/>
              </a:lnSpc>
            </a:pPr>
            <a:r>
              <a:rPr sz="790" b="1" i="0">
                <a:solidFill>
                  <a:srgbClr val="20263A"/>
                </a:solidFill>
                <a:latin typeface="Arial"/>
              </a:rPr>
              <a:t>Short flight time</a:t>
            </a:r>
          </a:p>
        </p:txBody>
      </p:sp>
      <p:sp>
        <p:nvSpPr>
          <p:cNvPr id="66" name="Rectangle 65"/>
          <p:cNvSpPr/>
          <p:nvPr/>
        </p:nvSpPr>
        <p:spPr>
          <a:xfrm>
            <a:off x="1664207" y="6729984"/>
            <a:ext cx="1993392"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09928" y="6803136"/>
            <a:ext cx="190195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High current; damaged pack; drag; overprop</a:t>
            </a:r>
          </a:p>
        </p:txBody>
      </p:sp>
      <p:sp>
        <p:nvSpPr>
          <p:cNvPr id="68" name="Rectangle 67"/>
          <p:cNvSpPr/>
          <p:nvPr/>
        </p:nvSpPr>
        <p:spPr>
          <a:xfrm>
            <a:off x="3657600" y="6729984"/>
            <a:ext cx="1865376"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703320" y="6803136"/>
            <a:ext cx="1773936"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Wattmeter; capacity; temperatures</a:t>
            </a:r>
          </a:p>
        </p:txBody>
      </p:sp>
      <p:sp>
        <p:nvSpPr>
          <p:cNvPr id="70" name="Rectangle 69"/>
          <p:cNvSpPr/>
          <p:nvPr/>
        </p:nvSpPr>
        <p:spPr>
          <a:xfrm>
            <a:off x="5522976" y="6729984"/>
            <a:ext cx="1901952" cy="832104"/>
          </a:xfrm>
          <a:prstGeom prst="rect">
            <a:avLst/>
          </a:prstGeom>
          <a:solidFill>
            <a:srgbClr val="FFFFFF"/>
          </a:solidFill>
          <a:ln w="1016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568696" y="6803136"/>
            <a:ext cx="1810512" cy="722376"/>
          </a:xfrm>
          <a:prstGeom prst="rect">
            <a:avLst/>
          </a:prstGeom>
          <a:noFill/>
        </p:spPr>
        <p:txBody>
          <a:bodyPr wrap="square" lIns="0" rIns="0" tIns="0" bIns="0" anchor="ctr">
            <a:spAutoFit/>
          </a:bodyPr>
          <a:lstStyle/>
          <a:p>
            <a:pPr algn="l">
              <a:lnSpc>
                <a:spcPct val="100000"/>
              </a:lnSpc>
            </a:pPr>
            <a:r>
              <a:rPr sz="790" b="0" i="0">
                <a:solidFill>
                  <a:srgbClr val="20263A"/>
                </a:solidFill>
                <a:latin typeface="Arial"/>
              </a:rPr>
              <a:t>Use correct prop; reduce drag; replace pack</a:t>
            </a:r>
          </a:p>
        </p:txBody>
      </p:sp>
      <p:sp>
        <p:nvSpPr>
          <p:cNvPr id="72" name="TextBox 71"/>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Never keep flying an aircraft that needs large unexplained trim, shows flutter, overheats, or has intermittent controls.</a:t>
            </a:r>
          </a:p>
        </p:txBody>
      </p:sp>
      <p:sp>
        <p:nvSpPr>
          <p:cNvPr id="73" name="TextBox 72"/>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46BCE"/>
                </a:solidFill>
                <a:latin typeface="Arial"/>
              </a:rPr>
              <a:t>WORKSHEET</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One-page preliminary design worksheet</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Print this page or duplicate it in the PowerPoint. Fill every box before cutting material.</a:t>
            </a:r>
          </a:p>
        </p:txBody>
      </p:sp>
      <p:sp>
        <p:nvSpPr>
          <p:cNvPr id="8" name="Rounded Rectangle 7"/>
          <p:cNvSpPr/>
          <p:nvPr/>
        </p:nvSpPr>
        <p:spPr>
          <a:xfrm>
            <a:off x="347472" y="1188720"/>
            <a:ext cx="3474720" cy="15544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188720"/>
            <a:ext cx="50292" cy="155448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MISSION + FIELD</a:t>
            </a:r>
          </a:p>
        </p:txBody>
      </p:sp>
      <p:sp>
        <p:nvSpPr>
          <p:cNvPr id="11" name="TextBox 10"/>
          <p:cNvSpPr txBox="1"/>
          <p:nvPr/>
        </p:nvSpPr>
        <p:spPr>
          <a:xfrm>
            <a:off x="493776" y="1581912"/>
            <a:ext cx="3200400" cy="1060704"/>
          </a:xfrm>
          <a:prstGeom prst="rect">
            <a:avLst/>
          </a:prstGeom>
          <a:noFill/>
        </p:spPr>
        <p:txBody>
          <a:bodyPr wrap="square" lIns="0" rIns="0" tIns="0" bIns="0" anchor="t">
            <a:spAutoFit/>
          </a:bodyPr>
          <a:lstStyle/>
          <a:p>
            <a:pPr algn="l">
              <a:lnSpc>
                <a:spcPct val="100000"/>
              </a:lnSpc>
            </a:pPr>
            <a:r>
              <a:rPr sz="869" b="0" i="0">
                <a:solidFill>
                  <a:srgbClr val="20263A"/>
                </a:solidFill>
                <a:latin typeface="Arial"/>
              </a:rPr>
              <a:t>Primary mission: ________________________</a:t>
            </a:r>
            <a:br/>
            <a:r>
              <a:rPr sz="869" b="0" i="0">
                <a:solidFill>
                  <a:srgbClr val="20263A"/>
                </a:solidFill>
                <a:latin typeface="Arial"/>
              </a:rPr>
              <a:t>Field / launch / landing limits: ______________________________</a:t>
            </a:r>
          </a:p>
        </p:txBody>
      </p:sp>
      <p:sp>
        <p:nvSpPr>
          <p:cNvPr id="12" name="Rounded Rectangle 11"/>
          <p:cNvSpPr/>
          <p:nvPr/>
        </p:nvSpPr>
        <p:spPr>
          <a:xfrm>
            <a:off x="3950208" y="1188720"/>
            <a:ext cx="3474720" cy="15544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0208" y="1188720"/>
            <a:ext cx="50292" cy="1554480"/>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6512"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MASS BUDGET</a:t>
            </a:r>
          </a:p>
        </p:txBody>
      </p:sp>
      <p:sp>
        <p:nvSpPr>
          <p:cNvPr id="15" name="TextBox 14"/>
          <p:cNvSpPr txBox="1"/>
          <p:nvPr/>
        </p:nvSpPr>
        <p:spPr>
          <a:xfrm>
            <a:off x="4096512" y="1581912"/>
            <a:ext cx="3200400" cy="1060704"/>
          </a:xfrm>
          <a:prstGeom prst="rect">
            <a:avLst/>
          </a:prstGeom>
          <a:noFill/>
        </p:spPr>
        <p:txBody>
          <a:bodyPr wrap="square" lIns="0" rIns="0" tIns="0" bIns="0" anchor="t">
            <a:spAutoFit/>
          </a:bodyPr>
          <a:lstStyle/>
          <a:p>
            <a:pPr algn="l">
              <a:lnSpc>
                <a:spcPct val="100000"/>
              </a:lnSpc>
            </a:pPr>
            <a:r>
              <a:rPr sz="869" b="0" i="0">
                <a:solidFill>
                  <a:srgbClr val="20263A"/>
                </a:solidFill>
                <a:latin typeface="Arial"/>
              </a:rPr>
              <a:t>Target all-up mass: ______ g</a:t>
            </a:r>
            <a:br/>
            <a:r>
              <a:rPr sz="869" b="0" i="0">
                <a:solidFill>
                  <a:srgbClr val="20263A"/>
                </a:solidFill>
                <a:latin typeface="Arial"/>
              </a:rPr>
              <a:t>Measured estimate: ______ g</a:t>
            </a:r>
            <a:br/>
            <a:r>
              <a:rPr sz="869" b="0" i="0">
                <a:solidFill>
                  <a:srgbClr val="20263A"/>
                </a:solidFill>
                <a:latin typeface="Arial"/>
              </a:rPr>
              <a:t>Reserve: ______ %</a:t>
            </a:r>
          </a:p>
        </p:txBody>
      </p:sp>
      <p:sp>
        <p:nvSpPr>
          <p:cNvPr id="16" name="Rounded Rectangle 15"/>
          <p:cNvSpPr/>
          <p:nvPr/>
        </p:nvSpPr>
        <p:spPr>
          <a:xfrm>
            <a:off x="347472" y="2980944"/>
            <a:ext cx="3474720" cy="15544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2980944"/>
            <a:ext cx="50292" cy="1554480"/>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3099815"/>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WING</a:t>
            </a:r>
          </a:p>
        </p:txBody>
      </p:sp>
      <p:sp>
        <p:nvSpPr>
          <p:cNvPr id="19" name="TextBox 18"/>
          <p:cNvSpPr txBox="1"/>
          <p:nvPr/>
        </p:nvSpPr>
        <p:spPr>
          <a:xfrm>
            <a:off x="493776" y="3374136"/>
            <a:ext cx="3200400" cy="1060704"/>
          </a:xfrm>
          <a:prstGeom prst="rect">
            <a:avLst/>
          </a:prstGeom>
          <a:noFill/>
        </p:spPr>
        <p:txBody>
          <a:bodyPr wrap="square" lIns="0" rIns="0" tIns="0" bIns="0" anchor="t">
            <a:spAutoFit/>
          </a:bodyPr>
          <a:lstStyle/>
          <a:p>
            <a:pPr algn="l">
              <a:lnSpc>
                <a:spcPct val="100000"/>
              </a:lnSpc>
            </a:pPr>
            <a:r>
              <a:rPr sz="869" b="0" i="0">
                <a:solidFill>
                  <a:srgbClr val="20263A"/>
                </a:solidFill>
                <a:latin typeface="Arial"/>
              </a:rPr>
              <a:t>Target loading: ______ g/dm²</a:t>
            </a:r>
            <a:br/>
            <a:r>
              <a:rPr sz="869" b="0" i="0">
                <a:solidFill>
                  <a:srgbClr val="20263A"/>
                </a:solidFill>
                <a:latin typeface="Arial"/>
              </a:rPr>
              <a:t>Area S: ______ dm²</a:t>
            </a:r>
            <a:br/>
            <a:r>
              <a:rPr sz="869" b="0" i="0">
                <a:solidFill>
                  <a:srgbClr val="20263A"/>
                </a:solidFill>
                <a:latin typeface="Arial"/>
              </a:rPr>
              <a:t>AR: ______</a:t>
            </a:r>
            <a:br/>
            <a:r>
              <a:rPr sz="869" b="0" i="0">
                <a:solidFill>
                  <a:srgbClr val="20263A"/>
                </a:solidFill>
                <a:latin typeface="Arial"/>
              </a:rPr>
              <a:t>Span b: ______ mm</a:t>
            </a:r>
            <a:br/>
            <a:r>
              <a:rPr sz="869" b="0" i="0">
                <a:solidFill>
                  <a:srgbClr val="20263A"/>
                </a:solidFill>
                <a:latin typeface="Arial"/>
              </a:rPr>
              <a:t>Mean chord c̄: ______ mm</a:t>
            </a:r>
          </a:p>
        </p:txBody>
      </p:sp>
      <p:sp>
        <p:nvSpPr>
          <p:cNvPr id="20" name="Rounded Rectangle 19"/>
          <p:cNvSpPr/>
          <p:nvPr/>
        </p:nvSpPr>
        <p:spPr>
          <a:xfrm>
            <a:off x="3950208" y="2980944"/>
            <a:ext cx="3474720" cy="15544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50208" y="2980944"/>
            <a:ext cx="50292" cy="1554480"/>
          </a:xfrm>
          <a:prstGeom prst="rect">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96512" y="3099815"/>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STALL + SPEED</a:t>
            </a:r>
          </a:p>
        </p:txBody>
      </p:sp>
      <p:sp>
        <p:nvSpPr>
          <p:cNvPr id="23" name="TextBox 22"/>
          <p:cNvSpPr txBox="1"/>
          <p:nvPr/>
        </p:nvSpPr>
        <p:spPr>
          <a:xfrm>
            <a:off x="4096512" y="3374136"/>
            <a:ext cx="3200400" cy="1060704"/>
          </a:xfrm>
          <a:prstGeom prst="rect">
            <a:avLst/>
          </a:prstGeom>
          <a:noFill/>
        </p:spPr>
        <p:txBody>
          <a:bodyPr wrap="square" lIns="0" rIns="0" tIns="0" bIns="0" anchor="t">
            <a:spAutoFit/>
          </a:bodyPr>
          <a:lstStyle/>
          <a:p>
            <a:pPr algn="l">
              <a:lnSpc>
                <a:spcPct val="100000"/>
              </a:lnSpc>
            </a:pPr>
            <a:r>
              <a:rPr sz="869" b="0" i="0">
                <a:solidFill>
                  <a:srgbClr val="20263A"/>
                </a:solidFill>
                <a:latin typeface="Arial"/>
              </a:rPr>
              <a:t>Assumed Cₗmax: ______</a:t>
            </a:r>
            <a:br/>
            <a:r>
              <a:rPr sz="869" b="0" i="0">
                <a:solidFill>
                  <a:srgbClr val="20263A"/>
                </a:solidFill>
                <a:latin typeface="Arial"/>
              </a:rPr>
              <a:t>Estimated Vₛ: ______ m/s</a:t>
            </a:r>
            <a:br/>
            <a:r>
              <a:rPr sz="869" b="0" i="0">
                <a:solidFill>
                  <a:srgbClr val="20263A"/>
                </a:solidFill>
                <a:latin typeface="Arial"/>
              </a:rPr>
              <a:t>Approach target: ______ m/s</a:t>
            </a:r>
          </a:p>
        </p:txBody>
      </p:sp>
      <p:sp>
        <p:nvSpPr>
          <p:cNvPr id="24" name="Rounded Rectangle 23"/>
          <p:cNvSpPr/>
          <p:nvPr/>
        </p:nvSpPr>
        <p:spPr>
          <a:xfrm>
            <a:off x="347472" y="4773168"/>
            <a:ext cx="3474720" cy="15544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7472" y="4773168"/>
            <a:ext cx="50292" cy="1554480"/>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 y="489204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HORIZONTAL TAIL</a:t>
            </a:r>
          </a:p>
        </p:txBody>
      </p:sp>
      <p:sp>
        <p:nvSpPr>
          <p:cNvPr id="27" name="TextBox 26"/>
          <p:cNvSpPr txBox="1"/>
          <p:nvPr/>
        </p:nvSpPr>
        <p:spPr>
          <a:xfrm>
            <a:off x="493776" y="5166359"/>
            <a:ext cx="3200400" cy="1060704"/>
          </a:xfrm>
          <a:prstGeom prst="rect">
            <a:avLst/>
          </a:prstGeom>
          <a:noFill/>
        </p:spPr>
        <p:txBody>
          <a:bodyPr wrap="square" lIns="0" rIns="0" tIns="0" bIns="0" anchor="t">
            <a:spAutoFit/>
          </a:bodyPr>
          <a:lstStyle/>
          <a:p>
            <a:pPr algn="l">
              <a:lnSpc>
                <a:spcPct val="100000"/>
              </a:lnSpc>
            </a:pPr>
            <a:r>
              <a:rPr sz="869" b="0" i="0">
                <a:solidFill>
                  <a:srgbClr val="20263A"/>
                </a:solidFill>
                <a:latin typeface="Arial"/>
              </a:rPr>
              <a:t>Vₕ: ______</a:t>
            </a:r>
            <a:br/>
            <a:r>
              <a:rPr sz="869" b="0" i="0">
                <a:solidFill>
                  <a:srgbClr val="20263A"/>
                </a:solidFill>
                <a:latin typeface="Arial"/>
              </a:rPr>
              <a:t>Tail arm lₕ: ______ mm</a:t>
            </a:r>
            <a:br/>
            <a:r>
              <a:rPr sz="869" b="0" i="0">
                <a:solidFill>
                  <a:srgbClr val="20263A"/>
                </a:solidFill>
                <a:latin typeface="Arial"/>
              </a:rPr>
              <a:t>Area Sₕ: ______ cm²</a:t>
            </a:r>
            <a:br/>
            <a:r>
              <a:rPr sz="869" b="0" i="0">
                <a:solidFill>
                  <a:srgbClr val="20263A"/>
                </a:solidFill>
                <a:latin typeface="Arial"/>
              </a:rPr>
              <a:t>Elevator chord: ______ mm</a:t>
            </a:r>
          </a:p>
        </p:txBody>
      </p:sp>
      <p:sp>
        <p:nvSpPr>
          <p:cNvPr id="28" name="Rounded Rectangle 27"/>
          <p:cNvSpPr/>
          <p:nvPr/>
        </p:nvSpPr>
        <p:spPr>
          <a:xfrm>
            <a:off x="3950208" y="4773168"/>
            <a:ext cx="3474720" cy="15544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50208" y="4773168"/>
            <a:ext cx="50292" cy="1554480"/>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96512" y="4892040"/>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VERTICAL TAIL</a:t>
            </a:r>
          </a:p>
        </p:txBody>
      </p:sp>
      <p:sp>
        <p:nvSpPr>
          <p:cNvPr id="31" name="TextBox 30"/>
          <p:cNvSpPr txBox="1"/>
          <p:nvPr/>
        </p:nvSpPr>
        <p:spPr>
          <a:xfrm>
            <a:off x="4096512" y="5166359"/>
            <a:ext cx="3200400" cy="1060704"/>
          </a:xfrm>
          <a:prstGeom prst="rect">
            <a:avLst/>
          </a:prstGeom>
          <a:noFill/>
        </p:spPr>
        <p:txBody>
          <a:bodyPr wrap="square" lIns="0" rIns="0" tIns="0" bIns="0" anchor="t">
            <a:spAutoFit/>
          </a:bodyPr>
          <a:lstStyle/>
          <a:p>
            <a:pPr algn="l">
              <a:lnSpc>
                <a:spcPct val="100000"/>
              </a:lnSpc>
            </a:pPr>
            <a:r>
              <a:rPr sz="869" b="0" i="0">
                <a:solidFill>
                  <a:srgbClr val="20263A"/>
                </a:solidFill>
                <a:latin typeface="Arial"/>
              </a:rPr>
              <a:t>Vᵥ: ______</a:t>
            </a:r>
            <a:br/>
            <a:r>
              <a:rPr sz="869" b="0" i="0">
                <a:solidFill>
                  <a:srgbClr val="20263A"/>
                </a:solidFill>
                <a:latin typeface="Arial"/>
              </a:rPr>
              <a:t>Tail arm lᵥ: ______ mm</a:t>
            </a:r>
            <a:br/>
            <a:r>
              <a:rPr sz="869" b="0" i="0">
                <a:solidFill>
                  <a:srgbClr val="20263A"/>
                </a:solidFill>
                <a:latin typeface="Arial"/>
              </a:rPr>
              <a:t>Area Sᵥ: ______ cm²</a:t>
            </a:r>
            <a:br/>
            <a:r>
              <a:rPr sz="869" b="0" i="0">
                <a:solidFill>
                  <a:srgbClr val="20263A"/>
                </a:solidFill>
                <a:latin typeface="Arial"/>
              </a:rPr>
              <a:t>Rudder chord: ______ mm</a:t>
            </a:r>
          </a:p>
        </p:txBody>
      </p:sp>
      <p:sp>
        <p:nvSpPr>
          <p:cNvPr id="32" name="Rounded Rectangle 31"/>
          <p:cNvSpPr/>
          <p:nvPr/>
        </p:nvSpPr>
        <p:spPr>
          <a:xfrm>
            <a:off x="347472" y="6565392"/>
            <a:ext cx="3474720" cy="15544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7472" y="6565392"/>
            <a:ext cx="50292" cy="1554480"/>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 y="668426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CG + CONTROLS</a:t>
            </a:r>
          </a:p>
        </p:txBody>
      </p:sp>
      <p:sp>
        <p:nvSpPr>
          <p:cNvPr id="35" name="TextBox 34"/>
          <p:cNvSpPr txBox="1"/>
          <p:nvPr/>
        </p:nvSpPr>
        <p:spPr>
          <a:xfrm>
            <a:off x="493776" y="6958583"/>
            <a:ext cx="3200400" cy="1060704"/>
          </a:xfrm>
          <a:prstGeom prst="rect">
            <a:avLst/>
          </a:prstGeom>
          <a:noFill/>
        </p:spPr>
        <p:txBody>
          <a:bodyPr wrap="square" lIns="0" rIns="0" tIns="0" bIns="0" anchor="t">
            <a:spAutoFit/>
          </a:bodyPr>
          <a:lstStyle/>
          <a:p>
            <a:pPr algn="l">
              <a:lnSpc>
                <a:spcPct val="100000"/>
              </a:lnSpc>
            </a:pPr>
            <a:r>
              <a:rPr sz="869" b="0" i="0">
                <a:solidFill>
                  <a:srgbClr val="20263A"/>
                </a:solidFill>
                <a:latin typeface="Arial"/>
              </a:rPr>
              <a:t>CG datum: __________________</a:t>
            </a:r>
            <a:br/>
            <a:r>
              <a:rPr sz="869" b="0" i="0">
                <a:solidFill>
                  <a:srgbClr val="20263A"/>
                </a:solidFill>
                <a:latin typeface="Arial"/>
              </a:rPr>
              <a:t>Maiden CG: ______ mm / ______ % MAC</a:t>
            </a:r>
            <a:br/>
            <a:r>
              <a:rPr sz="869" b="0" i="0">
                <a:solidFill>
                  <a:srgbClr val="20263A"/>
                </a:solidFill>
                <a:latin typeface="Arial"/>
              </a:rPr>
              <a:t>Ail: ___°  Elev: ___°  Rud: ___°</a:t>
            </a:r>
          </a:p>
        </p:txBody>
      </p:sp>
      <p:sp>
        <p:nvSpPr>
          <p:cNvPr id="36" name="Rounded Rectangle 35"/>
          <p:cNvSpPr/>
          <p:nvPr/>
        </p:nvSpPr>
        <p:spPr>
          <a:xfrm>
            <a:off x="3950208" y="6565392"/>
            <a:ext cx="3474720" cy="15544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950208" y="6565392"/>
            <a:ext cx="50292" cy="155448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96512" y="668426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POWER + RADIO</a:t>
            </a:r>
          </a:p>
        </p:txBody>
      </p:sp>
      <p:sp>
        <p:nvSpPr>
          <p:cNvPr id="39" name="TextBox 38"/>
          <p:cNvSpPr txBox="1"/>
          <p:nvPr/>
        </p:nvSpPr>
        <p:spPr>
          <a:xfrm>
            <a:off x="4096512" y="6958583"/>
            <a:ext cx="3200400" cy="1060704"/>
          </a:xfrm>
          <a:prstGeom prst="rect">
            <a:avLst/>
          </a:prstGeom>
          <a:noFill/>
        </p:spPr>
        <p:txBody>
          <a:bodyPr wrap="square" lIns="0" rIns="0" tIns="0" bIns="0" anchor="t">
            <a:spAutoFit/>
          </a:bodyPr>
          <a:lstStyle/>
          <a:p>
            <a:pPr algn="l">
              <a:lnSpc>
                <a:spcPct val="100000"/>
              </a:lnSpc>
            </a:pPr>
            <a:r>
              <a:rPr sz="869" b="0" i="0">
                <a:solidFill>
                  <a:srgbClr val="20263A"/>
                </a:solidFill>
                <a:latin typeface="Arial"/>
              </a:rPr>
              <a:t>Battery: ______S ______mAh</a:t>
            </a:r>
            <a:br/>
            <a:r>
              <a:rPr sz="869" b="0" i="0">
                <a:solidFill>
                  <a:srgbClr val="20263A"/>
                </a:solidFill>
                <a:latin typeface="Arial"/>
              </a:rPr>
              <a:t>Prop: ______</a:t>
            </a:r>
            <a:br/>
            <a:r>
              <a:rPr sz="869" b="0" i="0">
                <a:solidFill>
                  <a:srgbClr val="20263A"/>
                </a:solidFill>
                <a:latin typeface="Arial"/>
              </a:rPr>
              <a:t>Measured A/W: ______ / ______</a:t>
            </a:r>
            <a:br/>
            <a:r>
              <a:rPr sz="869" b="0" i="0">
                <a:solidFill>
                  <a:srgbClr val="20263A"/>
                </a:solidFill>
                <a:latin typeface="Arial"/>
              </a:rPr>
              <a:t>ESC/BEC: ______</a:t>
            </a:r>
            <a:br/>
            <a:r>
              <a:rPr sz="869" b="0" i="0">
                <a:solidFill>
                  <a:srgbClr val="20263A"/>
                </a:solidFill>
                <a:latin typeface="Arial"/>
              </a:rPr>
              <a:t>Receiver/servos: __________________</a:t>
            </a:r>
          </a:p>
        </p:txBody>
      </p:sp>
      <p:sp>
        <p:nvSpPr>
          <p:cNvPr id="40" name="TextBox 39"/>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Keep the completed worksheet with the build log and update it with measured finished values.</a:t>
            </a:r>
          </a:p>
        </p:txBody>
      </p:sp>
      <p:sp>
        <p:nvSpPr>
          <p:cNvPr id="41" name="TextBox 40"/>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64</a:t>
            </a:r>
          </a:p>
        </p:txBody>
      </p:sp>
      <p:sp>
        <p:nvSpPr>
          <p:cNvPr id="42" name="TextBox 41"/>
          <p:cNvSpPr txBox="1"/>
          <p:nvPr/>
        </p:nvSpPr>
        <p:spPr>
          <a:xfrm>
            <a:off x="493776" y="2432304"/>
            <a:ext cx="3200400" cy="137160"/>
          </a:xfrm>
          <a:prstGeom prst="rect">
            <a:avLst/>
          </a:prstGeom>
          <a:noFill/>
        </p:spPr>
        <p:txBody>
          <a:bodyPr wrap="square" lIns="0" rIns="0" tIns="0" bIns="0">
            <a:spAutoFit/>
          </a:bodyPr>
          <a:lstStyle/>
          <a:p>
            <a:pPr algn="l"/>
            <a:r>
              <a:rPr sz="650" b="0" i="1">
                <a:solidFill>
                  <a:srgbClr val="5F687D"/>
                </a:solidFill>
                <a:latin typeface="Arial"/>
              </a:rPr>
              <a:t>one primary mission; numbers, not adjectives</a:t>
            </a:r>
          </a:p>
        </p:txBody>
      </p:sp>
      <p:sp>
        <p:nvSpPr>
          <p:cNvPr id="43" name="TextBox 42"/>
          <p:cNvSpPr txBox="1"/>
          <p:nvPr/>
        </p:nvSpPr>
        <p:spPr>
          <a:xfrm>
            <a:off x="4096512" y="2432304"/>
            <a:ext cx="3200400" cy="137160"/>
          </a:xfrm>
          <a:prstGeom prst="rect">
            <a:avLst/>
          </a:prstGeom>
          <a:noFill/>
        </p:spPr>
        <p:txBody>
          <a:bodyPr wrap="square" lIns="0" rIns="0" tIns="0" bIns="0">
            <a:spAutoFit/>
          </a:bodyPr>
          <a:lstStyle/>
          <a:p>
            <a:pPr algn="l"/>
            <a:r>
              <a:rPr sz="650" b="0" i="1">
                <a:solidFill>
                  <a:srgbClr val="5F687D"/>
                </a:solidFill>
                <a:latin typeface="Arial"/>
              </a:rPr>
              <a:t>keep a 10–15% reserve for what you forgot</a:t>
            </a:r>
          </a:p>
        </p:txBody>
      </p:sp>
      <p:sp>
        <p:nvSpPr>
          <p:cNvPr id="44" name="TextBox 43"/>
          <p:cNvSpPr txBox="1"/>
          <p:nvPr/>
        </p:nvSpPr>
        <p:spPr>
          <a:xfrm>
            <a:off x="493776" y="4224528"/>
            <a:ext cx="3200400" cy="137160"/>
          </a:xfrm>
          <a:prstGeom prst="rect">
            <a:avLst/>
          </a:prstGeom>
          <a:noFill/>
        </p:spPr>
        <p:txBody>
          <a:bodyPr wrap="square" lIns="0" rIns="0" tIns="0" bIns="0">
            <a:spAutoFit/>
          </a:bodyPr>
          <a:lstStyle/>
          <a:p>
            <a:pPr algn="l"/>
            <a:r>
              <a:rPr sz="650" b="0" i="1">
                <a:solidFill>
                  <a:srgbClr val="5F687D"/>
                </a:solidFill>
                <a:latin typeface="Arial"/>
              </a:rPr>
              <a:t>S = m ÷ loading · b = √(AR·S) · c = S ÷ b</a:t>
            </a:r>
          </a:p>
        </p:txBody>
      </p:sp>
      <p:sp>
        <p:nvSpPr>
          <p:cNvPr id="45" name="TextBox 44"/>
          <p:cNvSpPr txBox="1"/>
          <p:nvPr/>
        </p:nvSpPr>
        <p:spPr>
          <a:xfrm>
            <a:off x="4096512" y="4224528"/>
            <a:ext cx="3200400" cy="137160"/>
          </a:xfrm>
          <a:prstGeom prst="rect">
            <a:avLst/>
          </a:prstGeom>
          <a:noFill/>
        </p:spPr>
        <p:txBody>
          <a:bodyPr wrap="square" lIns="0" rIns="0" tIns="0" bIns="0">
            <a:spAutoFit/>
          </a:bodyPr>
          <a:lstStyle/>
          <a:p>
            <a:pPr algn="l"/>
            <a:r>
              <a:rPr sz="650" b="0" i="1">
                <a:solidFill>
                  <a:srgbClr val="5F687D"/>
                </a:solidFill>
                <a:latin typeface="Arial"/>
              </a:rPr>
              <a:t>Vₛ = √( 2W / ρSCₗmax ) · approach ≈ 1.3 Vₛ</a:t>
            </a:r>
          </a:p>
        </p:txBody>
      </p:sp>
      <p:sp>
        <p:nvSpPr>
          <p:cNvPr id="46" name="TextBox 45"/>
          <p:cNvSpPr txBox="1"/>
          <p:nvPr/>
        </p:nvSpPr>
        <p:spPr>
          <a:xfrm>
            <a:off x="493776" y="6016752"/>
            <a:ext cx="3200400" cy="137160"/>
          </a:xfrm>
          <a:prstGeom prst="rect">
            <a:avLst/>
          </a:prstGeom>
          <a:noFill/>
        </p:spPr>
        <p:txBody>
          <a:bodyPr wrap="square" lIns="0" rIns="0" tIns="0" bIns="0">
            <a:spAutoFit/>
          </a:bodyPr>
          <a:lstStyle/>
          <a:p>
            <a:pPr algn="l"/>
            <a:r>
              <a:rPr sz="650" b="0" i="1">
                <a:solidFill>
                  <a:srgbClr val="5F687D"/>
                </a:solidFill>
                <a:latin typeface="Arial"/>
              </a:rPr>
              <a:t>Sₕ = Vₕ S c̄ / lₕ · start Vₕ ≈ 0.50–0.60</a:t>
            </a:r>
          </a:p>
        </p:txBody>
      </p:sp>
      <p:sp>
        <p:nvSpPr>
          <p:cNvPr id="47" name="TextBox 46"/>
          <p:cNvSpPr txBox="1"/>
          <p:nvPr/>
        </p:nvSpPr>
        <p:spPr>
          <a:xfrm>
            <a:off x="4096512" y="6016752"/>
            <a:ext cx="3200400" cy="137160"/>
          </a:xfrm>
          <a:prstGeom prst="rect">
            <a:avLst/>
          </a:prstGeom>
          <a:noFill/>
        </p:spPr>
        <p:txBody>
          <a:bodyPr wrap="square" lIns="0" rIns="0" tIns="0" bIns="0">
            <a:spAutoFit/>
          </a:bodyPr>
          <a:lstStyle/>
          <a:p>
            <a:pPr algn="l"/>
            <a:r>
              <a:rPr sz="650" b="0" i="1">
                <a:solidFill>
                  <a:srgbClr val="5F687D"/>
                </a:solidFill>
                <a:latin typeface="Arial"/>
              </a:rPr>
              <a:t>Sᵥ = Vᵥ S b / lᵥ · start Vᵥ ≈ 0.035–0.05</a:t>
            </a:r>
          </a:p>
        </p:txBody>
      </p:sp>
      <p:sp>
        <p:nvSpPr>
          <p:cNvPr id="48" name="TextBox 47"/>
          <p:cNvSpPr txBox="1"/>
          <p:nvPr/>
        </p:nvSpPr>
        <p:spPr>
          <a:xfrm>
            <a:off x="493776" y="7808975"/>
            <a:ext cx="3200400" cy="137160"/>
          </a:xfrm>
          <a:prstGeom prst="rect">
            <a:avLst/>
          </a:prstGeom>
          <a:noFill/>
        </p:spPr>
        <p:txBody>
          <a:bodyPr wrap="square" lIns="0" rIns="0" tIns="0" bIns="0">
            <a:spAutoFit/>
          </a:bodyPr>
          <a:lstStyle/>
          <a:p>
            <a:pPr algn="l"/>
            <a:r>
              <a:rPr sz="650" b="0" i="1">
                <a:solidFill>
                  <a:srgbClr val="5F687D"/>
                </a:solidFill>
                <a:latin typeface="Arial"/>
              </a:rPr>
              <a:t>maiden at 10–15% static margin, low rates</a:t>
            </a:r>
          </a:p>
        </p:txBody>
      </p:sp>
      <p:sp>
        <p:nvSpPr>
          <p:cNvPr id="49" name="TextBox 48"/>
          <p:cNvSpPr txBox="1"/>
          <p:nvPr/>
        </p:nvSpPr>
        <p:spPr>
          <a:xfrm>
            <a:off x="4096512" y="7808975"/>
            <a:ext cx="3200400" cy="137160"/>
          </a:xfrm>
          <a:prstGeom prst="rect">
            <a:avLst/>
          </a:prstGeom>
          <a:noFill/>
        </p:spPr>
        <p:txBody>
          <a:bodyPr wrap="square" lIns="0" rIns="0" tIns="0" bIns="0">
            <a:spAutoFit/>
          </a:bodyPr>
          <a:lstStyle/>
          <a:p>
            <a:pPr algn="l"/>
            <a:r>
              <a:rPr sz="650" b="0" i="1">
                <a:solidFill>
                  <a:srgbClr val="5F687D"/>
                </a:solidFill>
                <a:latin typeface="Arial"/>
              </a:rPr>
              <a:t>trainer ≈ 130–160 W/kg; verify with a wattmeter</a:t>
            </a:r>
          </a:p>
        </p:txBody>
      </p:sp>
      <p:sp>
        <p:nvSpPr>
          <p:cNvPr id="50" name="Rounded Rectangle 49"/>
          <p:cNvSpPr/>
          <p:nvPr/>
        </p:nvSpPr>
        <p:spPr>
          <a:xfrm>
            <a:off x="347472" y="8321040"/>
            <a:ext cx="7077456" cy="438912"/>
          </a:xfrm>
          <a:prstGeom prst="roundRect">
            <a:avLst>
              <a:gd name="adj" fmla="val 15000"/>
            </a:avLst>
          </a:prstGeom>
          <a:solidFill>
            <a:srgbClr val="ECF7F0"/>
          </a:solidFill>
          <a:ln w="1270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8403336"/>
            <a:ext cx="6766560" cy="164592"/>
          </a:xfrm>
          <a:prstGeom prst="rect">
            <a:avLst/>
          </a:prstGeom>
          <a:noFill/>
        </p:spPr>
        <p:txBody>
          <a:bodyPr wrap="square" lIns="0" rIns="0" tIns="0" bIns="0">
            <a:spAutoFit/>
          </a:bodyPr>
          <a:lstStyle/>
          <a:p>
            <a:pPr algn="l"/>
            <a:r>
              <a:rPr sz="800" b="1" i="0">
                <a:solidFill>
                  <a:srgbClr val="20263A"/>
                </a:solidFill>
                <a:latin typeface="Arial"/>
              </a:rPr>
              <a:t>AS BUILT — measured all-up mass: ________ g · measured CG: ________ mm aft of LE · date / builder: ______________</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2F8F5B"/>
                </a:solidFill>
                <a:latin typeface="Arial"/>
              </a:rPr>
              <a:t>CHECKLIST</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Build-stage gates</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Do not advance because the calendar says so. Advance when the evidence says the stage is complete.</a:t>
            </a:r>
          </a:p>
        </p:txBody>
      </p:sp>
      <p:sp>
        <p:nvSpPr>
          <p:cNvPr id="8" name="Rounded Rectangle 7"/>
          <p:cNvSpPr/>
          <p:nvPr/>
        </p:nvSpPr>
        <p:spPr>
          <a:xfrm>
            <a:off x="347472" y="1225296"/>
            <a:ext cx="3474720" cy="3273552"/>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225296"/>
            <a:ext cx="50292" cy="3273552"/>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34416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DESIGN FREEZE</a:t>
            </a:r>
          </a:p>
        </p:txBody>
      </p:sp>
      <p:sp>
        <p:nvSpPr>
          <p:cNvPr id="12" name="Rounded Rectangle 11"/>
          <p:cNvSpPr/>
          <p:nvPr/>
        </p:nvSpPr>
        <p:spPr>
          <a:xfrm>
            <a:off x="3950208" y="1225296"/>
            <a:ext cx="3474720" cy="3273552"/>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0208" y="1225296"/>
            <a:ext cx="50292" cy="3273552"/>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6512" y="1344168"/>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STRUCTURE</a:t>
            </a:r>
          </a:p>
        </p:txBody>
      </p:sp>
      <p:sp>
        <p:nvSpPr>
          <p:cNvPr id="16" name="Rounded Rectangle 15"/>
          <p:cNvSpPr/>
          <p:nvPr/>
        </p:nvSpPr>
        <p:spPr>
          <a:xfrm>
            <a:off x="347472" y="4828032"/>
            <a:ext cx="3474720" cy="3273552"/>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4828032"/>
            <a:ext cx="50292" cy="3273552"/>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494690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BEFORE COVERING</a:t>
            </a:r>
          </a:p>
        </p:txBody>
      </p:sp>
      <p:sp>
        <p:nvSpPr>
          <p:cNvPr id="20" name="Rounded Rectangle 19"/>
          <p:cNvSpPr/>
          <p:nvPr/>
        </p:nvSpPr>
        <p:spPr>
          <a:xfrm>
            <a:off x="3950208" y="4828032"/>
            <a:ext cx="3474720" cy="3273552"/>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50208" y="4828032"/>
            <a:ext cx="50292" cy="3273552"/>
          </a:xfrm>
          <a:prstGeom prst="rect">
            <a:avLst/>
          </a:prstGeom>
          <a:solidFill>
            <a:srgbClr val="C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96512" y="4946904"/>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READY TO MAIDEN</a:t>
            </a:r>
          </a:p>
        </p:txBody>
      </p:sp>
      <p:sp>
        <p:nvSpPr>
          <p:cNvPr id="24" name="TextBox 23"/>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65</a:t>
            </a:r>
          </a:p>
        </p:txBody>
      </p:sp>
      <p:sp>
        <p:nvSpPr>
          <p:cNvPr id="25" name="Rectangle 24"/>
          <p:cNvSpPr/>
          <p:nvPr/>
        </p:nvSpPr>
        <p:spPr>
          <a:xfrm>
            <a:off x="512064" y="1691640"/>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1682496"/>
            <a:ext cx="2944368" cy="155448"/>
          </a:xfrm>
          <a:prstGeom prst="rect">
            <a:avLst/>
          </a:prstGeom>
          <a:noFill/>
        </p:spPr>
        <p:txBody>
          <a:bodyPr wrap="square" lIns="0" rIns="0" tIns="0" bIns="0">
            <a:spAutoFit/>
          </a:bodyPr>
          <a:lstStyle/>
          <a:p>
            <a:pPr algn="l"/>
            <a:r>
              <a:rPr sz="950" b="1" i="0">
                <a:solidFill>
                  <a:srgbClr val="20263A"/>
                </a:solidFill>
                <a:latin typeface="Arial"/>
              </a:rPr>
              <a:t>Mission written down</a:t>
            </a:r>
          </a:p>
        </p:txBody>
      </p:sp>
      <p:sp>
        <p:nvSpPr>
          <p:cNvPr id="27" name="TextBox 26"/>
          <p:cNvSpPr txBox="1"/>
          <p:nvPr/>
        </p:nvSpPr>
        <p:spPr>
          <a:xfrm>
            <a:off x="758952" y="1847088"/>
            <a:ext cx="2944368" cy="384048"/>
          </a:xfrm>
          <a:prstGeom prst="rect">
            <a:avLst/>
          </a:prstGeom>
          <a:noFill/>
        </p:spPr>
        <p:txBody>
          <a:bodyPr wrap="square" lIns="0" rIns="0" tIns="0" bIns="0">
            <a:spAutoFit/>
          </a:bodyPr>
          <a:lstStyle/>
          <a:p>
            <a:pPr algn="l"/>
            <a:r>
              <a:rPr sz="750" b="0" i="0">
                <a:solidFill>
                  <a:srgbClr val="5F687D"/>
                </a:solidFill>
                <a:latin typeface="Arial"/>
              </a:rPr>
              <a:t>One primary mission with numbers — target mass, stall speed, field size. Not adjectives.</a:t>
            </a:r>
          </a:p>
        </p:txBody>
      </p:sp>
      <p:sp>
        <p:nvSpPr>
          <p:cNvPr id="28" name="Rectangle 27"/>
          <p:cNvSpPr/>
          <p:nvPr/>
        </p:nvSpPr>
        <p:spPr>
          <a:xfrm>
            <a:off x="512064" y="2386584"/>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2377440"/>
            <a:ext cx="2944368" cy="155448"/>
          </a:xfrm>
          <a:prstGeom prst="rect">
            <a:avLst/>
          </a:prstGeom>
          <a:noFill/>
        </p:spPr>
        <p:txBody>
          <a:bodyPr wrap="square" lIns="0" rIns="0" tIns="0" bIns="0">
            <a:spAutoFit/>
          </a:bodyPr>
          <a:lstStyle/>
          <a:p>
            <a:pPr algn="l"/>
            <a:r>
              <a:rPr sz="950" b="1" i="0">
                <a:solidFill>
                  <a:srgbClr val="20263A"/>
                </a:solidFill>
                <a:latin typeface="Arial"/>
              </a:rPr>
              <a:t>Wing and tail sized</a:t>
            </a:r>
          </a:p>
        </p:txBody>
      </p:sp>
      <p:sp>
        <p:nvSpPr>
          <p:cNvPr id="30" name="TextBox 29"/>
          <p:cNvSpPr txBox="1"/>
          <p:nvPr/>
        </p:nvSpPr>
        <p:spPr>
          <a:xfrm>
            <a:off x="758952" y="2542032"/>
            <a:ext cx="2944368" cy="384048"/>
          </a:xfrm>
          <a:prstGeom prst="rect">
            <a:avLst/>
          </a:prstGeom>
          <a:noFill/>
        </p:spPr>
        <p:txBody>
          <a:bodyPr wrap="square" lIns="0" rIns="0" tIns="0" bIns="0">
            <a:spAutoFit/>
          </a:bodyPr>
          <a:lstStyle/>
          <a:p>
            <a:pPr algn="l"/>
            <a:r>
              <a:rPr sz="750" b="0" i="0">
                <a:solidFill>
                  <a:srgbClr val="5F687D"/>
                </a:solidFill>
                <a:latin typeface="Arial"/>
              </a:rPr>
              <a:t>Area, span, chord, and both tail volumes on the worksheet, sanity-checked against a proven model of similar size.</a:t>
            </a:r>
          </a:p>
        </p:txBody>
      </p:sp>
      <p:sp>
        <p:nvSpPr>
          <p:cNvPr id="31" name="Rectangle 30"/>
          <p:cNvSpPr/>
          <p:nvPr/>
        </p:nvSpPr>
        <p:spPr>
          <a:xfrm>
            <a:off x="512064" y="3081528"/>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2" y="3072384"/>
            <a:ext cx="2944368" cy="155448"/>
          </a:xfrm>
          <a:prstGeom prst="rect">
            <a:avLst/>
          </a:prstGeom>
          <a:noFill/>
        </p:spPr>
        <p:txBody>
          <a:bodyPr wrap="square" lIns="0" rIns="0" tIns="0" bIns="0">
            <a:spAutoFit/>
          </a:bodyPr>
          <a:lstStyle/>
          <a:p>
            <a:pPr algn="l"/>
            <a:r>
              <a:rPr sz="950" b="1" i="0">
                <a:solidFill>
                  <a:srgbClr val="20263A"/>
                </a:solidFill>
                <a:latin typeface="Arial"/>
              </a:rPr>
              <a:t>CG range and datum defined</a:t>
            </a:r>
          </a:p>
        </p:txBody>
      </p:sp>
      <p:sp>
        <p:nvSpPr>
          <p:cNvPr id="33" name="TextBox 32"/>
          <p:cNvSpPr txBox="1"/>
          <p:nvPr/>
        </p:nvSpPr>
        <p:spPr>
          <a:xfrm>
            <a:off x="758952" y="3236976"/>
            <a:ext cx="2944368" cy="384048"/>
          </a:xfrm>
          <a:prstGeom prst="rect">
            <a:avLst/>
          </a:prstGeom>
          <a:noFill/>
        </p:spPr>
        <p:txBody>
          <a:bodyPr wrap="square" lIns="0" rIns="0" tIns="0" bIns="0">
            <a:spAutoFit/>
          </a:bodyPr>
          <a:lstStyle/>
          <a:p>
            <a:pPr algn="l"/>
            <a:r>
              <a:rPr sz="750" b="0" i="0">
                <a:solidFill>
                  <a:srgbClr val="5F687D"/>
                </a:solidFill>
                <a:latin typeface="Arial"/>
              </a:rPr>
              <a:t>You know where the CG must sit, what you measure it from, and how the battery moves to trim it.</a:t>
            </a:r>
          </a:p>
        </p:txBody>
      </p:sp>
      <p:sp>
        <p:nvSpPr>
          <p:cNvPr id="34" name="Rectangle 33"/>
          <p:cNvSpPr/>
          <p:nvPr/>
        </p:nvSpPr>
        <p:spPr>
          <a:xfrm>
            <a:off x="512064" y="3776472"/>
            <a:ext cx="146304" cy="146304"/>
          </a:xfrm>
          <a:prstGeom prst="rect">
            <a:avLst/>
          </a:prstGeom>
          <a:solidFill>
            <a:srgbClr val="FFFFFF"/>
          </a:solidFill>
          <a:ln w="19050">
            <a:solidFill>
              <a:srgbClr val="E07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2" y="3767328"/>
            <a:ext cx="2944368" cy="155448"/>
          </a:xfrm>
          <a:prstGeom prst="rect">
            <a:avLst/>
          </a:prstGeom>
          <a:noFill/>
        </p:spPr>
        <p:txBody>
          <a:bodyPr wrap="square" lIns="0" rIns="0" tIns="0" bIns="0">
            <a:spAutoFit/>
          </a:bodyPr>
          <a:lstStyle/>
          <a:p>
            <a:pPr algn="l"/>
            <a:r>
              <a:rPr sz="950" b="1" i="0">
                <a:solidFill>
                  <a:srgbClr val="20263A"/>
                </a:solidFill>
                <a:latin typeface="Arial"/>
              </a:rPr>
              <a:t>Power system chosen from data</a:t>
            </a:r>
          </a:p>
        </p:txBody>
      </p:sp>
      <p:sp>
        <p:nvSpPr>
          <p:cNvPr id="36" name="TextBox 35"/>
          <p:cNvSpPr txBox="1"/>
          <p:nvPr/>
        </p:nvSpPr>
        <p:spPr>
          <a:xfrm>
            <a:off x="758952" y="3931920"/>
            <a:ext cx="2944368" cy="384048"/>
          </a:xfrm>
          <a:prstGeom prst="rect">
            <a:avLst/>
          </a:prstGeom>
          <a:noFill/>
        </p:spPr>
        <p:txBody>
          <a:bodyPr wrap="square" lIns="0" rIns="0" tIns="0" bIns="0">
            <a:spAutoFit/>
          </a:bodyPr>
          <a:lstStyle/>
          <a:p>
            <a:pPr algn="l"/>
            <a:r>
              <a:rPr sz="750" b="0" i="0">
                <a:solidFill>
                  <a:srgbClr val="5F687D"/>
                </a:solidFill>
                <a:latin typeface="Arial"/>
              </a:rPr>
              <a:t>Motor, prop, ESC, and battery picked as a tested combination — not mixed from guesses.</a:t>
            </a:r>
          </a:p>
        </p:txBody>
      </p:sp>
      <p:sp>
        <p:nvSpPr>
          <p:cNvPr id="37" name="Rectangle 36"/>
          <p:cNvSpPr/>
          <p:nvPr/>
        </p:nvSpPr>
        <p:spPr>
          <a:xfrm>
            <a:off x="4114800" y="1691640"/>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61688" y="1682496"/>
            <a:ext cx="2944368" cy="155448"/>
          </a:xfrm>
          <a:prstGeom prst="rect">
            <a:avLst/>
          </a:prstGeom>
          <a:noFill/>
        </p:spPr>
        <p:txBody>
          <a:bodyPr wrap="square" lIns="0" rIns="0" tIns="0" bIns="0">
            <a:spAutoFit/>
          </a:bodyPr>
          <a:lstStyle/>
          <a:p>
            <a:pPr algn="l"/>
            <a:r>
              <a:rPr sz="950" b="1" i="0">
                <a:solidFill>
                  <a:srgbClr val="20263A"/>
                </a:solidFill>
                <a:latin typeface="Arial"/>
              </a:rPr>
              <a:t>Load paths identified</a:t>
            </a:r>
          </a:p>
        </p:txBody>
      </p:sp>
      <p:sp>
        <p:nvSpPr>
          <p:cNvPr id="39" name="TextBox 38"/>
          <p:cNvSpPr txBox="1"/>
          <p:nvPr/>
        </p:nvSpPr>
        <p:spPr>
          <a:xfrm>
            <a:off x="4361688" y="1847088"/>
            <a:ext cx="2944368" cy="384048"/>
          </a:xfrm>
          <a:prstGeom prst="rect">
            <a:avLst/>
          </a:prstGeom>
          <a:noFill/>
        </p:spPr>
        <p:txBody>
          <a:bodyPr wrap="square" lIns="0" rIns="0" tIns="0" bIns="0">
            <a:spAutoFit/>
          </a:bodyPr>
          <a:lstStyle/>
          <a:p>
            <a:pPr algn="l"/>
            <a:r>
              <a:rPr sz="750" b="0" i="0">
                <a:solidFill>
                  <a:srgbClr val="5F687D"/>
                </a:solidFill>
                <a:latin typeface="Arial"/>
              </a:rPr>
              <a:t>You can point at the drawing and say how wing lift reaches the fuselage and where landing loads go.</a:t>
            </a:r>
          </a:p>
        </p:txBody>
      </p:sp>
      <p:sp>
        <p:nvSpPr>
          <p:cNvPr id="40" name="Rectangle 39"/>
          <p:cNvSpPr/>
          <p:nvPr/>
        </p:nvSpPr>
        <p:spPr>
          <a:xfrm>
            <a:off x="4114800" y="2386584"/>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61688" y="2377440"/>
            <a:ext cx="2944368" cy="155448"/>
          </a:xfrm>
          <a:prstGeom prst="rect">
            <a:avLst/>
          </a:prstGeom>
          <a:noFill/>
        </p:spPr>
        <p:txBody>
          <a:bodyPr wrap="square" lIns="0" rIns="0" tIns="0" bIns="0">
            <a:spAutoFit/>
          </a:bodyPr>
          <a:lstStyle/>
          <a:p>
            <a:pPr algn="l"/>
            <a:r>
              <a:rPr sz="950" b="1" i="0">
                <a:solidFill>
                  <a:srgbClr val="20263A"/>
                </a:solidFill>
                <a:latin typeface="Arial"/>
              </a:rPr>
              <a:t>Jigs and datums prepared</a:t>
            </a:r>
          </a:p>
        </p:txBody>
      </p:sp>
      <p:sp>
        <p:nvSpPr>
          <p:cNvPr id="42" name="TextBox 41"/>
          <p:cNvSpPr txBox="1"/>
          <p:nvPr/>
        </p:nvSpPr>
        <p:spPr>
          <a:xfrm>
            <a:off x="4361688" y="2542032"/>
            <a:ext cx="2944368" cy="384048"/>
          </a:xfrm>
          <a:prstGeom prst="rect">
            <a:avLst/>
          </a:prstGeom>
          <a:noFill/>
        </p:spPr>
        <p:txBody>
          <a:bodyPr wrap="square" lIns="0" rIns="0" tIns="0" bIns="0">
            <a:spAutoFit/>
          </a:bodyPr>
          <a:lstStyle/>
          <a:p>
            <a:pPr algn="l"/>
            <a:r>
              <a:rPr sz="750" b="0" i="0">
                <a:solidFill>
                  <a:srgbClr val="5F687D"/>
                </a:solidFill>
                <a:latin typeface="Arial"/>
              </a:rPr>
              <a:t>Flat board, incidence blocks, and matched rib sets ready before any glue is opened.</a:t>
            </a:r>
          </a:p>
        </p:txBody>
      </p:sp>
      <p:sp>
        <p:nvSpPr>
          <p:cNvPr id="43" name="Rectangle 42"/>
          <p:cNvSpPr/>
          <p:nvPr/>
        </p:nvSpPr>
        <p:spPr>
          <a:xfrm>
            <a:off x="4114800" y="3081528"/>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61688" y="3072384"/>
            <a:ext cx="2944368" cy="155448"/>
          </a:xfrm>
          <a:prstGeom prst="rect">
            <a:avLst/>
          </a:prstGeom>
          <a:noFill/>
        </p:spPr>
        <p:txBody>
          <a:bodyPr wrap="square" lIns="0" rIns="0" tIns="0" bIns="0">
            <a:spAutoFit/>
          </a:bodyPr>
          <a:lstStyle/>
          <a:p>
            <a:pPr algn="l"/>
            <a:r>
              <a:rPr sz="950" b="1" i="0">
                <a:solidFill>
                  <a:srgbClr val="20263A"/>
                </a:solidFill>
                <a:latin typeface="Arial"/>
              </a:rPr>
              <a:t>Access designed in</a:t>
            </a:r>
          </a:p>
        </p:txBody>
      </p:sp>
      <p:sp>
        <p:nvSpPr>
          <p:cNvPr id="45" name="TextBox 44"/>
          <p:cNvSpPr txBox="1"/>
          <p:nvPr/>
        </p:nvSpPr>
        <p:spPr>
          <a:xfrm>
            <a:off x="4361688" y="3236976"/>
            <a:ext cx="2944368" cy="384048"/>
          </a:xfrm>
          <a:prstGeom prst="rect">
            <a:avLst/>
          </a:prstGeom>
          <a:noFill/>
        </p:spPr>
        <p:txBody>
          <a:bodyPr wrap="square" lIns="0" rIns="0" tIns="0" bIns="0">
            <a:spAutoFit/>
          </a:bodyPr>
          <a:lstStyle/>
          <a:p>
            <a:pPr algn="l"/>
            <a:r>
              <a:rPr sz="750" b="0" i="0">
                <a:solidFill>
                  <a:srgbClr val="5F687D"/>
                </a:solidFill>
                <a:latin typeface="Arial"/>
              </a:rPr>
              <a:t>Battery, servos, receiver, and cooling openings planned now — not carved out of finished structure later.</a:t>
            </a:r>
          </a:p>
        </p:txBody>
      </p:sp>
      <p:sp>
        <p:nvSpPr>
          <p:cNvPr id="46" name="Rectangle 45"/>
          <p:cNvSpPr/>
          <p:nvPr/>
        </p:nvSpPr>
        <p:spPr>
          <a:xfrm>
            <a:off x="4114800" y="3776472"/>
            <a:ext cx="146304" cy="146304"/>
          </a:xfrm>
          <a:prstGeom prst="rect">
            <a:avLst/>
          </a:prstGeom>
          <a:solidFill>
            <a:srgbClr val="FFFFFF"/>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61688" y="3767328"/>
            <a:ext cx="2944368" cy="155448"/>
          </a:xfrm>
          <a:prstGeom prst="rect">
            <a:avLst/>
          </a:prstGeom>
          <a:noFill/>
        </p:spPr>
        <p:txBody>
          <a:bodyPr wrap="square" lIns="0" rIns="0" tIns="0" bIns="0">
            <a:spAutoFit/>
          </a:bodyPr>
          <a:lstStyle/>
          <a:p>
            <a:pPr algn="l"/>
            <a:r>
              <a:rPr sz="950" b="1" i="0">
                <a:solidFill>
                  <a:srgbClr val="20263A"/>
                </a:solidFill>
                <a:latin typeface="Arial"/>
              </a:rPr>
              <a:t>Materials compatibility checked</a:t>
            </a:r>
          </a:p>
        </p:txBody>
      </p:sp>
      <p:sp>
        <p:nvSpPr>
          <p:cNvPr id="48" name="TextBox 47"/>
          <p:cNvSpPr txBox="1"/>
          <p:nvPr/>
        </p:nvSpPr>
        <p:spPr>
          <a:xfrm>
            <a:off x="4361688" y="3931920"/>
            <a:ext cx="2944368" cy="384048"/>
          </a:xfrm>
          <a:prstGeom prst="rect">
            <a:avLst/>
          </a:prstGeom>
          <a:noFill/>
        </p:spPr>
        <p:txBody>
          <a:bodyPr wrap="square" lIns="0" rIns="0" tIns="0" bIns="0">
            <a:spAutoFit/>
          </a:bodyPr>
          <a:lstStyle/>
          <a:p>
            <a:pPr algn="l"/>
            <a:r>
              <a:rPr sz="750" b="0" i="0">
                <a:solidFill>
                  <a:srgbClr val="5F687D"/>
                </a:solidFill>
                <a:latin typeface="Arial"/>
              </a:rPr>
              <a:t>Adhesives tried on scrap of the actual wood or foam; hardware sized to the loads it carries.</a:t>
            </a:r>
          </a:p>
        </p:txBody>
      </p:sp>
      <p:sp>
        <p:nvSpPr>
          <p:cNvPr id="49" name="Rectangle 48"/>
          <p:cNvSpPr/>
          <p:nvPr/>
        </p:nvSpPr>
        <p:spPr>
          <a:xfrm>
            <a:off x="512064" y="5294376"/>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58952" y="5285232"/>
            <a:ext cx="2944368" cy="155448"/>
          </a:xfrm>
          <a:prstGeom prst="rect">
            <a:avLst/>
          </a:prstGeom>
          <a:noFill/>
        </p:spPr>
        <p:txBody>
          <a:bodyPr wrap="square" lIns="0" rIns="0" tIns="0" bIns="0">
            <a:spAutoFit/>
          </a:bodyPr>
          <a:lstStyle/>
          <a:p>
            <a:pPr algn="l"/>
            <a:r>
              <a:rPr sz="950" b="1" i="0">
                <a:solidFill>
                  <a:srgbClr val="20263A"/>
                </a:solidFill>
                <a:latin typeface="Arial"/>
              </a:rPr>
              <a:t>Incidence and washout measured</a:t>
            </a:r>
          </a:p>
        </p:txBody>
      </p:sp>
      <p:sp>
        <p:nvSpPr>
          <p:cNvPr id="51" name="TextBox 50"/>
          <p:cNvSpPr txBox="1"/>
          <p:nvPr/>
        </p:nvSpPr>
        <p:spPr>
          <a:xfrm>
            <a:off x="758952" y="5449824"/>
            <a:ext cx="2944368" cy="384048"/>
          </a:xfrm>
          <a:prstGeom prst="rect">
            <a:avLst/>
          </a:prstGeom>
          <a:noFill/>
        </p:spPr>
        <p:txBody>
          <a:bodyPr wrap="square" lIns="0" rIns="0" tIns="0" bIns="0">
            <a:spAutoFit/>
          </a:bodyPr>
          <a:lstStyle/>
          <a:p>
            <a:pPr algn="l"/>
            <a:r>
              <a:rPr sz="750" b="0" i="0">
                <a:solidFill>
                  <a:srgbClr val="5F687D"/>
                </a:solidFill>
                <a:latin typeface="Arial"/>
              </a:rPr>
              <a:t>Both panels read the same numbers from the same datum — written down, not eyeballed.</a:t>
            </a:r>
          </a:p>
        </p:txBody>
      </p:sp>
      <p:sp>
        <p:nvSpPr>
          <p:cNvPr id="52" name="Rectangle 51"/>
          <p:cNvSpPr/>
          <p:nvPr/>
        </p:nvSpPr>
        <p:spPr>
          <a:xfrm>
            <a:off x="512064" y="5989320"/>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8952" y="5980176"/>
            <a:ext cx="2944368" cy="155448"/>
          </a:xfrm>
          <a:prstGeom prst="rect">
            <a:avLst/>
          </a:prstGeom>
          <a:noFill/>
        </p:spPr>
        <p:txBody>
          <a:bodyPr wrap="square" lIns="0" rIns="0" tIns="0" bIns="0">
            <a:spAutoFit/>
          </a:bodyPr>
          <a:lstStyle/>
          <a:p>
            <a:pPr algn="l"/>
            <a:r>
              <a:rPr sz="950" b="1" i="0">
                <a:solidFill>
                  <a:srgbClr val="20263A"/>
                </a:solidFill>
                <a:latin typeface="Arial"/>
              </a:rPr>
              <a:t>Tail square, fin vertical</a:t>
            </a:r>
          </a:p>
        </p:txBody>
      </p:sp>
      <p:sp>
        <p:nvSpPr>
          <p:cNvPr id="54" name="TextBox 53"/>
          <p:cNvSpPr txBox="1"/>
          <p:nvPr/>
        </p:nvSpPr>
        <p:spPr>
          <a:xfrm>
            <a:off x="758952" y="6144768"/>
            <a:ext cx="2944368" cy="384048"/>
          </a:xfrm>
          <a:prstGeom prst="rect">
            <a:avLst/>
          </a:prstGeom>
          <a:noFill/>
        </p:spPr>
        <p:txBody>
          <a:bodyPr wrap="square" lIns="0" rIns="0" tIns="0" bIns="0">
            <a:spAutoFit/>
          </a:bodyPr>
          <a:lstStyle/>
          <a:p>
            <a:pPr algn="l"/>
            <a:r>
              <a:rPr sz="750" b="0" i="0">
                <a:solidFill>
                  <a:srgbClr val="5F687D"/>
                </a:solidFill>
                <a:latin typeface="Arial"/>
              </a:rPr>
              <a:t>Diagonal measurements match left and right; the fin is checked from the front and the rear.</a:t>
            </a:r>
          </a:p>
        </p:txBody>
      </p:sp>
      <p:sp>
        <p:nvSpPr>
          <p:cNvPr id="55" name="Rectangle 54"/>
          <p:cNvSpPr/>
          <p:nvPr/>
        </p:nvSpPr>
        <p:spPr>
          <a:xfrm>
            <a:off x="512064" y="6684264"/>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58952" y="6675120"/>
            <a:ext cx="2944368" cy="155448"/>
          </a:xfrm>
          <a:prstGeom prst="rect">
            <a:avLst/>
          </a:prstGeom>
          <a:noFill/>
        </p:spPr>
        <p:txBody>
          <a:bodyPr wrap="square" lIns="0" rIns="0" tIns="0" bIns="0">
            <a:spAutoFit/>
          </a:bodyPr>
          <a:lstStyle/>
          <a:p>
            <a:pPr algn="l"/>
            <a:r>
              <a:rPr sz="950" b="1" i="0">
                <a:solidFill>
                  <a:srgbClr val="20263A"/>
                </a:solidFill>
                <a:latin typeface="Arial"/>
              </a:rPr>
              <a:t>Linkages cycle freely</a:t>
            </a:r>
          </a:p>
        </p:txBody>
      </p:sp>
      <p:sp>
        <p:nvSpPr>
          <p:cNvPr id="57" name="TextBox 56"/>
          <p:cNvSpPr txBox="1"/>
          <p:nvPr/>
        </p:nvSpPr>
        <p:spPr>
          <a:xfrm>
            <a:off x="758952" y="6839712"/>
            <a:ext cx="2944368" cy="384048"/>
          </a:xfrm>
          <a:prstGeom prst="rect">
            <a:avLst/>
          </a:prstGeom>
          <a:noFill/>
        </p:spPr>
        <p:txBody>
          <a:bodyPr wrap="square" lIns="0" rIns="0" tIns="0" bIns="0">
            <a:spAutoFit/>
          </a:bodyPr>
          <a:lstStyle/>
          <a:p>
            <a:pPr algn="l"/>
            <a:r>
              <a:rPr sz="750" b="0" i="0">
                <a:solidFill>
                  <a:srgbClr val="5F687D"/>
                </a:solidFill>
                <a:latin typeface="Arial"/>
              </a:rPr>
              <a:t>Full travel with no slop, no binding, and no servo buzz at the extremes.</a:t>
            </a:r>
          </a:p>
        </p:txBody>
      </p:sp>
      <p:sp>
        <p:nvSpPr>
          <p:cNvPr id="58" name="Rectangle 57"/>
          <p:cNvSpPr/>
          <p:nvPr/>
        </p:nvSpPr>
        <p:spPr>
          <a:xfrm>
            <a:off x="512064" y="7379208"/>
            <a:ext cx="146304" cy="146304"/>
          </a:xfrm>
          <a:prstGeom prst="rect">
            <a:avLst/>
          </a:prstGeom>
          <a:solidFill>
            <a:srgbClr val="FFFFFF"/>
          </a:solidFill>
          <a:ln w="19050">
            <a:solidFill>
              <a:srgbClr val="246B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58952" y="7370064"/>
            <a:ext cx="2944368" cy="155448"/>
          </a:xfrm>
          <a:prstGeom prst="rect">
            <a:avLst/>
          </a:prstGeom>
          <a:noFill/>
        </p:spPr>
        <p:txBody>
          <a:bodyPr wrap="square" lIns="0" rIns="0" tIns="0" bIns="0">
            <a:spAutoFit/>
          </a:bodyPr>
          <a:lstStyle/>
          <a:p>
            <a:pPr algn="l"/>
            <a:r>
              <a:rPr sz="950" b="1" i="0">
                <a:solidFill>
                  <a:srgbClr val="20263A"/>
                </a:solidFill>
                <a:latin typeface="Arial"/>
              </a:rPr>
              <a:t>Mass and CG updated</a:t>
            </a:r>
          </a:p>
        </p:txBody>
      </p:sp>
      <p:sp>
        <p:nvSpPr>
          <p:cNvPr id="60" name="TextBox 59"/>
          <p:cNvSpPr txBox="1"/>
          <p:nvPr/>
        </p:nvSpPr>
        <p:spPr>
          <a:xfrm>
            <a:off x="758952" y="7534656"/>
            <a:ext cx="2944368" cy="384048"/>
          </a:xfrm>
          <a:prstGeom prst="rect">
            <a:avLst/>
          </a:prstGeom>
          <a:noFill/>
        </p:spPr>
        <p:txBody>
          <a:bodyPr wrap="square" lIns="0" rIns="0" tIns="0" bIns="0">
            <a:spAutoFit/>
          </a:bodyPr>
          <a:lstStyle/>
          <a:p>
            <a:pPr algn="l"/>
            <a:r>
              <a:rPr sz="750" b="0" i="0">
                <a:solidFill>
                  <a:srgbClr val="5F687D"/>
                </a:solidFill>
                <a:latin typeface="Arial"/>
              </a:rPr>
              <a:t>Estimates replaced with weighed numbers — and the balance plan still works with them.</a:t>
            </a:r>
          </a:p>
        </p:txBody>
      </p:sp>
      <p:sp>
        <p:nvSpPr>
          <p:cNvPr id="61" name="Rectangle 60"/>
          <p:cNvSpPr/>
          <p:nvPr/>
        </p:nvSpPr>
        <p:spPr>
          <a:xfrm>
            <a:off x="4114800" y="5294376"/>
            <a:ext cx="146304" cy="146304"/>
          </a:xfrm>
          <a:prstGeom prst="rect">
            <a:avLst/>
          </a:prstGeom>
          <a:solidFill>
            <a:srgbClr val="FFFFFF"/>
          </a:solidFill>
          <a:ln w="19050">
            <a:solidFill>
              <a:srgbClr val="C8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61688" y="5285232"/>
            <a:ext cx="2944368" cy="155448"/>
          </a:xfrm>
          <a:prstGeom prst="rect">
            <a:avLst/>
          </a:prstGeom>
          <a:noFill/>
        </p:spPr>
        <p:txBody>
          <a:bodyPr wrap="square" lIns="0" rIns="0" tIns="0" bIns="0">
            <a:spAutoFit/>
          </a:bodyPr>
          <a:lstStyle/>
          <a:p>
            <a:pPr algn="l"/>
            <a:r>
              <a:rPr sz="950" b="1" i="0">
                <a:solidFill>
                  <a:srgbClr val="20263A"/>
                </a:solidFill>
                <a:latin typeface="Arial"/>
              </a:rPr>
              <a:t>Power verified</a:t>
            </a:r>
          </a:p>
        </p:txBody>
      </p:sp>
      <p:sp>
        <p:nvSpPr>
          <p:cNvPr id="63" name="TextBox 62"/>
          <p:cNvSpPr txBox="1"/>
          <p:nvPr/>
        </p:nvSpPr>
        <p:spPr>
          <a:xfrm>
            <a:off x="4361688" y="5449824"/>
            <a:ext cx="2944368" cy="384048"/>
          </a:xfrm>
          <a:prstGeom prst="rect">
            <a:avLst/>
          </a:prstGeom>
          <a:noFill/>
        </p:spPr>
        <p:txBody>
          <a:bodyPr wrap="square" lIns="0" rIns="0" tIns="0" bIns="0">
            <a:spAutoFit/>
          </a:bodyPr>
          <a:lstStyle/>
          <a:p>
            <a:pPr algn="l"/>
            <a:r>
              <a:rPr sz="750" b="0" i="0">
                <a:solidFill>
                  <a:srgbClr val="5F687D"/>
                </a:solidFill>
                <a:latin typeface="Arial"/>
              </a:rPr>
              <a:t>Full-throttle current, watts, and temperatures measured with a wattmeter — cowling installed.</a:t>
            </a:r>
          </a:p>
        </p:txBody>
      </p:sp>
      <p:sp>
        <p:nvSpPr>
          <p:cNvPr id="64" name="Rectangle 63"/>
          <p:cNvSpPr/>
          <p:nvPr/>
        </p:nvSpPr>
        <p:spPr>
          <a:xfrm>
            <a:off x="4114800" y="5989320"/>
            <a:ext cx="146304" cy="146304"/>
          </a:xfrm>
          <a:prstGeom prst="rect">
            <a:avLst/>
          </a:prstGeom>
          <a:solidFill>
            <a:srgbClr val="FFFFFF"/>
          </a:solidFill>
          <a:ln w="19050">
            <a:solidFill>
              <a:srgbClr val="C8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361688" y="5980176"/>
            <a:ext cx="2944368" cy="155448"/>
          </a:xfrm>
          <a:prstGeom prst="rect">
            <a:avLst/>
          </a:prstGeom>
          <a:noFill/>
        </p:spPr>
        <p:txBody>
          <a:bodyPr wrap="square" lIns="0" rIns="0" tIns="0" bIns="0">
            <a:spAutoFit/>
          </a:bodyPr>
          <a:lstStyle/>
          <a:p>
            <a:pPr algn="l"/>
            <a:r>
              <a:rPr sz="950" b="1" i="0">
                <a:solidFill>
                  <a:srgbClr val="20263A"/>
                </a:solidFill>
                <a:latin typeface="Arial"/>
              </a:rPr>
              <a:t>Battery, failsafe, range test</a:t>
            </a:r>
          </a:p>
        </p:txBody>
      </p:sp>
      <p:sp>
        <p:nvSpPr>
          <p:cNvPr id="66" name="TextBox 65"/>
          <p:cNvSpPr txBox="1"/>
          <p:nvPr/>
        </p:nvSpPr>
        <p:spPr>
          <a:xfrm>
            <a:off x="4361688" y="6144768"/>
            <a:ext cx="2944368" cy="384048"/>
          </a:xfrm>
          <a:prstGeom prst="rect">
            <a:avLst/>
          </a:prstGeom>
          <a:noFill/>
        </p:spPr>
        <p:txBody>
          <a:bodyPr wrap="square" lIns="0" rIns="0" tIns="0" bIns="0">
            <a:spAutoFit/>
          </a:bodyPr>
          <a:lstStyle/>
          <a:p>
            <a:pPr algn="l"/>
            <a:r>
              <a:rPr sz="750" b="0" i="0">
                <a:solidFill>
                  <a:srgbClr val="5F687D"/>
                </a:solidFill>
                <a:latin typeface="Arial"/>
              </a:rPr>
              <a:t>Pack restrained for crash loads; failsafe closes the throttle; range test done per the radio manual.</a:t>
            </a:r>
          </a:p>
        </p:txBody>
      </p:sp>
      <p:sp>
        <p:nvSpPr>
          <p:cNvPr id="67" name="Rectangle 66"/>
          <p:cNvSpPr/>
          <p:nvPr/>
        </p:nvSpPr>
        <p:spPr>
          <a:xfrm>
            <a:off x="4114800" y="6684264"/>
            <a:ext cx="146304" cy="146304"/>
          </a:xfrm>
          <a:prstGeom prst="rect">
            <a:avLst/>
          </a:prstGeom>
          <a:solidFill>
            <a:srgbClr val="FFFFFF"/>
          </a:solidFill>
          <a:ln w="19050">
            <a:solidFill>
              <a:srgbClr val="C8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361688" y="6675120"/>
            <a:ext cx="2944368" cy="155448"/>
          </a:xfrm>
          <a:prstGeom prst="rect">
            <a:avLst/>
          </a:prstGeom>
          <a:noFill/>
        </p:spPr>
        <p:txBody>
          <a:bodyPr wrap="square" lIns="0" rIns="0" tIns="0" bIns="0">
            <a:spAutoFit/>
          </a:bodyPr>
          <a:lstStyle/>
          <a:p>
            <a:pPr algn="l"/>
            <a:r>
              <a:rPr sz="950" b="1" i="0">
                <a:solidFill>
                  <a:srgbClr val="20263A"/>
                </a:solidFill>
                <a:latin typeface="Arial"/>
              </a:rPr>
              <a:t>Controls confirmed</a:t>
            </a:r>
          </a:p>
        </p:txBody>
      </p:sp>
      <p:sp>
        <p:nvSpPr>
          <p:cNvPr id="69" name="TextBox 68"/>
          <p:cNvSpPr txBox="1"/>
          <p:nvPr/>
        </p:nvSpPr>
        <p:spPr>
          <a:xfrm>
            <a:off x="4361688" y="6839712"/>
            <a:ext cx="2944368" cy="384048"/>
          </a:xfrm>
          <a:prstGeom prst="rect">
            <a:avLst/>
          </a:prstGeom>
          <a:noFill/>
        </p:spPr>
        <p:txBody>
          <a:bodyPr wrap="square" lIns="0" rIns="0" tIns="0" bIns="0">
            <a:spAutoFit/>
          </a:bodyPr>
          <a:lstStyle/>
          <a:p>
            <a:pPr algn="l"/>
            <a:r>
              <a:rPr sz="750" b="0" i="0">
                <a:solidFill>
                  <a:srgbClr val="5F687D"/>
                </a:solidFill>
                <a:latin typeface="Arial"/>
              </a:rPr>
              <a:t>Correct directions checked from behind the plane, low rates selected, trims centered.</a:t>
            </a:r>
          </a:p>
        </p:txBody>
      </p:sp>
      <p:sp>
        <p:nvSpPr>
          <p:cNvPr id="70" name="Rectangle 69"/>
          <p:cNvSpPr/>
          <p:nvPr/>
        </p:nvSpPr>
        <p:spPr>
          <a:xfrm>
            <a:off x="4114800" y="7379208"/>
            <a:ext cx="146304" cy="146304"/>
          </a:xfrm>
          <a:prstGeom prst="rect">
            <a:avLst/>
          </a:prstGeom>
          <a:solidFill>
            <a:srgbClr val="FFFFFF"/>
          </a:solidFill>
          <a:ln w="19050">
            <a:solidFill>
              <a:srgbClr val="C8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361688" y="7370064"/>
            <a:ext cx="2944368" cy="155448"/>
          </a:xfrm>
          <a:prstGeom prst="rect">
            <a:avLst/>
          </a:prstGeom>
          <a:noFill/>
        </p:spPr>
        <p:txBody>
          <a:bodyPr wrap="square" lIns="0" rIns="0" tIns="0" bIns="0">
            <a:spAutoFit/>
          </a:bodyPr>
          <a:lstStyle/>
          <a:p>
            <a:pPr algn="l"/>
            <a:r>
              <a:rPr sz="950" b="1" i="0">
                <a:solidFill>
                  <a:srgbClr val="20263A"/>
                </a:solidFill>
                <a:latin typeface="Arial"/>
              </a:rPr>
              <a:t>Maiden plan agreed</a:t>
            </a:r>
          </a:p>
        </p:txBody>
      </p:sp>
      <p:sp>
        <p:nvSpPr>
          <p:cNvPr id="72" name="TextBox 71"/>
          <p:cNvSpPr txBox="1"/>
          <p:nvPr/>
        </p:nvSpPr>
        <p:spPr>
          <a:xfrm>
            <a:off x="4361688" y="7534656"/>
            <a:ext cx="2944368" cy="384048"/>
          </a:xfrm>
          <a:prstGeom prst="rect">
            <a:avLst/>
          </a:prstGeom>
          <a:noFill/>
        </p:spPr>
        <p:txBody>
          <a:bodyPr wrap="square" lIns="0" rIns="0" tIns="0" bIns="0">
            <a:spAutoFit/>
          </a:bodyPr>
          <a:lstStyle/>
          <a:p>
            <a:pPr algn="l"/>
            <a:r>
              <a:rPr sz="750" b="0" i="0">
                <a:solidFill>
                  <a:srgbClr val="5F687D"/>
                </a:solidFill>
                <a:latin typeface="Arial"/>
              </a:rPr>
              <a:t>Written flight plan and abort criteria, helper briefed, conditions chosen — before driving to the field.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9262872"/>
          </a:xfrm>
          <a:prstGeom prst="rect">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896112"/>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7772400" cy="54864"/>
          </a:xfrm>
          <a:prstGeom prst="rect">
            <a:avLst/>
          </a:prstGeom>
          <a:solidFill>
            <a:srgbClr val="111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91440"/>
            <a:ext cx="3200400" cy="164592"/>
          </a:xfrm>
          <a:prstGeom prst="rect">
            <a:avLst/>
          </a:prstGeom>
          <a:noFill/>
        </p:spPr>
        <p:txBody>
          <a:bodyPr wrap="square" lIns="0" rIns="0" tIns="0" bIns="0" anchor="t">
            <a:spAutoFit/>
          </a:bodyPr>
          <a:lstStyle/>
          <a:p>
            <a:pPr algn="l">
              <a:lnSpc>
                <a:spcPct val="100000"/>
              </a:lnSpc>
            </a:pPr>
            <a:r>
              <a:rPr sz="819" b="1" i="0">
                <a:solidFill>
                  <a:srgbClr val="111A42"/>
                </a:solidFill>
                <a:latin typeface="Arial"/>
              </a:rPr>
              <a:t>REFERENCES &amp; ROADMAP</a:t>
            </a:r>
          </a:p>
        </p:txBody>
      </p:sp>
      <p:sp>
        <p:nvSpPr>
          <p:cNvPr id="6" name="TextBox 5"/>
          <p:cNvSpPr txBox="1"/>
          <p:nvPr/>
        </p:nvSpPr>
        <p:spPr>
          <a:xfrm>
            <a:off x="347472" y="265176"/>
            <a:ext cx="7086600" cy="310896"/>
          </a:xfrm>
          <a:prstGeom prst="rect">
            <a:avLst/>
          </a:prstGeom>
          <a:noFill/>
        </p:spPr>
        <p:txBody>
          <a:bodyPr wrap="square" lIns="0" rIns="0" tIns="0" bIns="0" anchor="t">
            <a:spAutoFit/>
          </a:bodyPr>
          <a:lstStyle/>
          <a:p>
            <a:pPr algn="l">
              <a:lnSpc>
                <a:spcPct val="100000"/>
              </a:lnSpc>
            </a:pPr>
            <a:r>
              <a:rPr sz="2150" b="1" i="0">
                <a:solidFill>
                  <a:srgbClr val="FFFFFF"/>
                </a:solidFill>
                <a:latin typeface="Arial"/>
              </a:rPr>
              <a:t>Sources, validation, and the road ahead</a:t>
            </a:r>
          </a:p>
        </p:txBody>
      </p:sp>
      <p:sp>
        <p:nvSpPr>
          <p:cNvPr id="7" name="TextBox 6"/>
          <p:cNvSpPr txBox="1"/>
          <p:nvPr/>
        </p:nvSpPr>
        <p:spPr>
          <a:xfrm>
            <a:off x="347472" y="621792"/>
            <a:ext cx="7040880" cy="182880"/>
          </a:xfrm>
          <a:prstGeom prst="rect">
            <a:avLst/>
          </a:prstGeom>
          <a:noFill/>
        </p:spPr>
        <p:txBody>
          <a:bodyPr wrap="square" lIns="0" rIns="0" tIns="0" bIns="0" anchor="t">
            <a:spAutoFit/>
          </a:bodyPr>
          <a:lstStyle/>
          <a:p>
            <a:pPr algn="l">
              <a:lnSpc>
                <a:spcPct val="100000"/>
              </a:lnSpc>
            </a:pPr>
            <a:r>
              <a:rPr sz="900" b="0" i="0">
                <a:solidFill>
                  <a:srgbClr val="DDE4F4"/>
                </a:solidFill>
                <a:latin typeface="Arial"/>
              </a:rPr>
              <a:t>Use authoritative sources, successful comparable models, measured test data, and disciplined flight notes together.</a:t>
            </a:r>
          </a:p>
        </p:txBody>
      </p:sp>
      <p:sp>
        <p:nvSpPr>
          <p:cNvPr id="8" name="Rounded Rectangle 7"/>
          <p:cNvSpPr/>
          <p:nvPr/>
        </p:nvSpPr>
        <p:spPr>
          <a:xfrm>
            <a:off x="347472" y="1188720"/>
            <a:ext cx="3474720" cy="219456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188720"/>
            <a:ext cx="50292" cy="2194560"/>
          </a:xfrm>
          <a:prstGeom prst="rect">
            <a:avLst/>
          </a:prstGeom>
          <a:solidFill>
            <a:srgbClr val="246B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CORE REFERENCES</a:t>
            </a:r>
          </a:p>
        </p:txBody>
      </p:sp>
      <p:sp>
        <p:nvSpPr>
          <p:cNvPr id="11" name="TextBox 10"/>
          <p:cNvSpPr txBox="1"/>
          <p:nvPr/>
        </p:nvSpPr>
        <p:spPr>
          <a:xfrm>
            <a:off x="493776" y="1581912"/>
            <a:ext cx="3200400" cy="1700784"/>
          </a:xfrm>
          <a:prstGeom prst="rect">
            <a:avLst/>
          </a:prstGeom>
          <a:noFill/>
        </p:spPr>
        <p:txBody>
          <a:bodyPr wrap="square" lIns="18288" rIns="9144" tIns="9144" bIns="9144">
            <a:spAutoFit/>
          </a:bodyPr>
          <a:lstStyle/>
          <a:p>
            <a:pPr>
              <a:lnSpc>
                <a:spcPct val="100000"/>
              </a:lnSpc>
              <a:spcAft>
                <a:spcPts val="250"/>
              </a:spcAft>
            </a:pPr>
            <a:r>
              <a:rPr sz="800">
                <a:solidFill>
                  <a:srgbClr val="20263A"/>
                </a:solidFill>
                <a:latin typeface="Arial"/>
              </a:rPr>
              <a:t>• NASA Glenn — Beginner’s Guide to Aeronautics — lift, drag, forces, controls, interactive sims.</a:t>
            </a:r>
          </a:p>
          <a:p>
            <a:pPr>
              <a:spcAft>
                <a:spcPts val="500"/>
              </a:spcAft>
            </a:pPr>
            <a:r>
              <a:rPr sz="700" u="sng">
                <a:solidFill>
                  <a:srgbClr val="246BCE"/>
                </a:solidFill>
                <a:latin typeface="Arial"/>
                <a:hlinkClick r:id="rId2"/>
              </a:rPr>
              <a:t>   www1.grc.nasa.gov/beginners-guide-to-aeronautics</a:t>
            </a:r>
          </a:p>
          <a:p>
            <a:r>
              <a:rPr sz="800">
                <a:solidFill>
                  <a:srgbClr val="20263A"/>
                </a:solidFill>
                <a:latin typeface="Arial"/>
              </a:rPr>
              <a:t>• MIT OpenCourseWare — Unified Engineering (16.01) — preliminary design and stability rules.</a:t>
            </a:r>
          </a:p>
          <a:p>
            <a:pPr>
              <a:spcAft>
                <a:spcPts val="500"/>
              </a:spcAft>
            </a:pPr>
            <a:r>
              <a:rPr sz="700" u="sng">
                <a:solidFill>
                  <a:srgbClr val="246BCE"/>
                </a:solidFill>
                <a:latin typeface="Arial"/>
                <a:hlinkClick r:id="rId3"/>
              </a:rPr>
              <a:t>   ocw.mit.edu/courses/16-01-unified-engineering…</a:t>
            </a:r>
          </a:p>
          <a:p>
            <a:r>
              <a:rPr sz="800">
                <a:solidFill>
                  <a:srgbClr val="20263A"/>
                </a:solidFill>
                <a:latin typeface="Arial"/>
              </a:rPr>
              <a:t>• UIUC Airfoil Coordinates Database — published geometry, low-Re test data.</a:t>
            </a:r>
          </a:p>
          <a:p>
            <a:pPr>
              <a:spcAft>
                <a:spcPts val="500"/>
              </a:spcAft>
            </a:pPr>
            <a:r>
              <a:rPr sz="700" u="sng">
                <a:solidFill>
                  <a:srgbClr val="246BCE"/>
                </a:solidFill>
                <a:latin typeface="Arial"/>
                <a:hlinkClick r:id="rId4"/>
              </a:rPr>
              <a:t>   m-selig.ae.illinois.edu/ads/coord_database.html</a:t>
            </a:r>
          </a:p>
          <a:p>
            <a:r>
              <a:rPr sz="800">
                <a:solidFill>
                  <a:srgbClr val="20263A"/>
                </a:solidFill>
                <a:latin typeface="Arial"/>
              </a:rPr>
              <a:t>• Academy of Model Aeronautics — safety code, education, technical library.</a:t>
            </a:r>
          </a:p>
          <a:p>
            <a:pPr>
              <a:spcAft>
                <a:spcPts val="500"/>
              </a:spcAft>
            </a:pPr>
            <a:r>
              <a:rPr sz="700" u="sng">
                <a:solidFill>
                  <a:srgbClr val="246BCE"/>
                </a:solidFill>
                <a:latin typeface="Arial"/>
                <a:hlinkClick r:id="rId5"/>
              </a:rPr>
              <a:t>   modelaircraft.org</a:t>
            </a:r>
          </a:p>
        </p:txBody>
      </p:sp>
      <p:sp>
        <p:nvSpPr>
          <p:cNvPr id="12" name="Rounded Rectangle 11"/>
          <p:cNvSpPr/>
          <p:nvPr/>
        </p:nvSpPr>
        <p:spPr>
          <a:xfrm>
            <a:off x="3950208" y="1188720"/>
            <a:ext cx="3474720" cy="219456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0208" y="1188720"/>
            <a:ext cx="50292" cy="2194560"/>
          </a:xfrm>
          <a:prstGeom prst="rect">
            <a:avLst/>
          </a:prstGeom>
          <a:solidFill>
            <a:srgbClr val="2F8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6512" y="1307592"/>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VERIFY WITH</a:t>
            </a:r>
          </a:p>
        </p:txBody>
      </p:sp>
      <p:sp>
        <p:nvSpPr>
          <p:cNvPr id="15" name="TextBox 14"/>
          <p:cNvSpPr txBox="1"/>
          <p:nvPr/>
        </p:nvSpPr>
        <p:spPr>
          <a:xfrm>
            <a:off x="4096512" y="1581912"/>
            <a:ext cx="3200400" cy="1700784"/>
          </a:xfrm>
          <a:prstGeom prst="rect">
            <a:avLst/>
          </a:prstGeom>
          <a:noFill/>
        </p:spPr>
        <p:txBody>
          <a:bodyPr wrap="square" lIns="18288" rIns="9144" tIns="9144" bIns="9144">
            <a:spAutoFit/>
          </a:bodyPr>
          <a:lstStyle/>
          <a:p>
            <a:pPr>
              <a:lnSpc>
                <a:spcPct val="100000"/>
              </a:lnSpc>
              <a:spcAft>
                <a:spcPts val="250"/>
              </a:spcAft>
            </a:pPr>
            <a:r>
              <a:rPr sz="880">
                <a:solidFill>
                  <a:srgbClr val="20263A"/>
                </a:solidFill>
                <a:latin typeface="Arial"/>
              </a:rPr>
              <a:t>• Component manufacturer data sheets and tested motor/prop combinations.</a:t>
            </a:r>
          </a:p>
          <a:p>
            <a:pPr>
              <a:lnSpc>
                <a:spcPct val="100000"/>
              </a:lnSpc>
              <a:spcAft>
                <a:spcPts val="250"/>
              </a:spcAft>
            </a:pPr>
            <a:r>
              <a:rPr sz="880">
                <a:solidFill>
                  <a:srgbClr val="20263A"/>
                </a:solidFill>
                <a:latin typeface="Arial"/>
              </a:rPr>
              <a:t>• Local regulations, club rules, insurance requirements, and field procedures.</a:t>
            </a:r>
          </a:p>
          <a:p>
            <a:pPr>
              <a:lnSpc>
                <a:spcPct val="100000"/>
              </a:lnSpc>
              <a:spcAft>
                <a:spcPts val="250"/>
              </a:spcAft>
            </a:pPr>
            <a:r>
              <a:rPr sz="880">
                <a:solidFill>
                  <a:srgbClr val="20263A"/>
                </a:solidFill>
                <a:latin typeface="Arial"/>
              </a:rPr>
              <a:t>• A proven aircraft of similar size, configuration, Reynolds number, and mission.</a:t>
            </a:r>
          </a:p>
          <a:p>
            <a:pPr>
              <a:lnSpc>
                <a:spcPct val="100000"/>
              </a:lnSpc>
              <a:spcAft>
                <a:spcPts val="250"/>
              </a:spcAft>
            </a:pPr>
            <a:r>
              <a:rPr sz="880">
                <a:solidFill>
                  <a:srgbClr val="20263A"/>
                </a:solidFill>
                <a:latin typeface="Arial"/>
              </a:rPr>
              <a:t>• Measured mass, current, power, temperature, CG, geometry, and flight behavior.</a:t>
            </a:r>
          </a:p>
        </p:txBody>
      </p:sp>
      <p:sp>
        <p:nvSpPr>
          <p:cNvPr id="16" name="Rounded Rectangle 15"/>
          <p:cNvSpPr/>
          <p:nvPr/>
        </p:nvSpPr>
        <p:spPr>
          <a:xfrm>
            <a:off x="347472" y="3675887"/>
            <a:ext cx="3474720" cy="205740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3675887"/>
            <a:ext cx="50292" cy="2057400"/>
          </a:xfrm>
          <a:prstGeom prst="rect">
            <a:avLst/>
          </a:prstGeom>
          <a:solidFill>
            <a:srgbClr val="A23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379475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PLANNED DEEP-DIVE VOLUMES</a:t>
            </a:r>
          </a:p>
        </p:txBody>
      </p:sp>
      <p:sp>
        <p:nvSpPr>
          <p:cNvPr id="19" name="TextBox 18"/>
          <p:cNvSpPr txBox="1"/>
          <p:nvPr/>
        </p:nvSpPr>
        <p:spPr>
          <a:xfrm>
            <a:off x="493776" y="4069079"/>
            <a:ext cx="3200400" cy="1737360"/>
          </a:xfrm>
          <a:prstGeom prst="rect">
            <a:avLst/>
          </a:prstGeom>
          <a:noFill/>
        </p:spPr>
        <p:txBody>
          <a:bodyPr wrap="square" lIns="18288" rIns="9144" tIns="9144" bIns="9144">
            <a:spAutoFit/>
          </a:bodyPr>
          <a:lstStyle/>
          <a:p>
            <a:pPr>
              <a:lnSpc>
                <a:spcPct val="100000"/>
              </a:lnSpc>
              <a:spcAft>
                <a:spcPts val="250"/>
              </a:spcAft>
            </a:pPr>
            <a:r>
              <a:rPr sz="869">
                <a:solidFill>
                  <a:srgbClr val="20263A"/>
                </a:solidFill>
                <a:latin typeface="Arial"/>
              </a:rPr>
              <a:t>• Detailed aerodynamic analysis and XFOIL workflow.</a:t>
            </a:r>
          </a:p>
          <a:p>
            <a:pPr>
              <a:lnSpc>
                <a:spcPct val="100000"/>
              </a:lnSpc>
              <a:spcAft>
                <a:spcPts val="250"/>
              </a:spcAft>
            </a:pPr>
            <a:r>
              <a:rPr sz="869">
                <a:solidFill>
                  <a:srgbClr val="20263A"/>
                </a:solidFill>
                <a:latin typeface="Arial"/>
              </a:rPr>
              <a:t>• Advanced structures and composite techniques.</a:t>
            </a:r>
          </a:p>
          <a:p>
            <a:pPr>
              <a:lnSpc>
                <a:spcPct val="100000"/>
              </a:lnSpc>
              <a:spcAft>
                <a:spcPts val="250"/>
              </a:spcAft>
            </a:pPr>
            <a:r>
              <a:rPr sz="869">
                <a:solidFill>
                  <a:srgbClr val="20263A"/>
                </a:solidFill>
                <a:latin typeface="Arial"/>
              </a:rPr>
              <a:t>• Electric propulsion and propeller matching.</a:t>
            </a:r>
          </a:p>
          <a:p>
            <a:pPr>
              <a:lnSpc>
                <a:spcPct val="100000"/>
              </a:lnSpc>
              <a:spcAft>
                <a:spcPts val="250"/>
              </a:spcAft>
            </a:pPr>
            <a:r>
              <a:rPr sz="869">
                <a:solidFill>
                  <a:srgbClr val="20263A"/>
                </a:solidFill>
                <a:latin typeface="Arial"/>
              </a:rPr>
              <a:t>• Gliders, flying wings, biplanes, and unusual configurations.</a:t>
            </a:r>
          </a:p>
          <a:p>
            <a:r>
              <a:rPr sz="869">
                <a:solidFill>
                  <a:srgbClr val="20263A"/>
                </a:solidFill>
                <a:latin typeface="Arial"/>
              </a:rPr>
              <a:t>• 3D-printed fixed wings: LW-PLA structures, print orientation, spar integration.</a:t>
            </a:r>
          </a:p>
          <a:p>
            <a:r>
              <a:rPr sz="869">
                <a:solidFill>
                  <a:srgbClr val="20263A"/>
                </a:solidFill>
                <a:latin typeface="Arial"/>
              </a:rPr>
              <a:t>• CFD modelling: from XFLR5 panel methods to full Navier–Stokes — and when each is worth the effort.</a:t>
            </a:r>
          </a:p>
        </p:txBody>
      </p:sp>
      <p:sp>
        <p:nvSpPr>
          <p:cNvPr id="20" name="Rounded Rectangle 19"/>
          <p:cNvSpPr/>
          <p:nvPr/>
        </p:nvSpPr>
        <p:spPr>
          <a:xfrm>
            <a:off x="3950208" y="3675887"/>
            <a:ext cx="3474720" cy="205740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50208" y="3675887"/>
            <a:ext cx="50292" cy="205740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96512" y="3794759"/>
            <a:ext cx="3218687"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BUILDER’S EVIDENCE PACK</a:t>
            </a:r>
          </a:p>
        </p:txBody>
      </p:sp>
      <p:sp>
        <p:nvSpPr>
          <p:cNvPr id="23" name="TextBox 22"/>
          <p:cNvSpPr txBox="1"/>
          <p:nvPr/>
        </p:nvSpPr>
        <p:spPr>
          <a:xfrm>
            <a:off x="4096512" y="4069079"/>
            <a:ext cx="3200400" cy="1563624"/>
          </a:xfrm>
          <a:prstGeom prst="rect">
            <a:avLst/>
          </a:prstGeom>
          <a:noFill/>
        </p:spPr>
        <p:txBody>
          <a:bodyPr wrap="square" lIns="18288" rIns="9144" tIns="9144" bIns="9144">
            <a:spAutoFit/>
          </a:bodyPr>
          <a:lstStyle/>
          <a:p>
            <a:pPr>
              <a:lnSpc>
                <a:spcPct val="100000"/>
              </a:lnSpc>
              <a:spcAft>
                <a:spcPts val="250"/>
              </a:spcAft>
            </a:pPr>
            <a:r>
              <a:rPr sz="869">
                <a:solidFill>
                  <a:srgbClr val="20263A"/>
                </a:solidFill>
                <a:latin typeface="Arial"/>
              </a:rPr>
              <a:t>• Design worksheet and mass budget.</a:t>
            </a:r>
          </a:p>
          <a:p>
            <a:pPr>
              <a:lnSpc>
                <a:spcPct val="100000"/>
              </a:lnSpc>
              <a:spcAft>
                <a:spcPts val="250"/>
              </a:spcAft>
            </a:pPr>
            <a:r>
              <a:rPr sz="869">
                <a:solidFill>
                  <a:srgbClr val="20263A"/>
                </a:solidFill>
                <a:latin typeface="Arial"/>
              </a:rPr>
              <a:t>• Dimensioned drawings and datums.</a:t>
            </a:r>
          </a:p>
          <a:p>
            <a:pPr>
              <a:lnSpc>
                <a:spcPct val="100000"/>
              </a:lnSpc>
              <a:spcAft>
                <a:spcPts val="250"/>
              </a:spcAft>
            </a:pPr>
            <a:r>
              <a:rPr sz="869">
                <a:solidFill>
                  <a:srgbClr val="20263A"/>
                </a:solidFill>
                <a:latin typeface="Arial"/>
              </a:rPr>
              <a:t>• Photos of critical joints and wiring.</a:t>
            </a:r>
          </a:p>
          <a:p>
            <a:pPr>
              <a:lnSpc>
                <a:spcPct val="100000"/>
              </a:lnSpc>
              <a:spcAft>
                <a:spcPts val="250"/>
              </a:spcAft>
            </a:pPr>
            <a:r>
              <a:rPr sz="869">
                <a:solidFill>
                  <a:srgbClr val="20263A"/>
                </a:solidFill>
                <a:latin typeface="Arial"/>
              </a:rPr>
              <a:t>• Ground-test results and maiden-flight log.</a:t>
            </a:r>
          </a:p>
        </p:txBody>
      </p:sp>
      <p:sp>
        <p:nvSpPr>
          <p:cNvPr id="24" name="Rounded Rectangle 23"/>
          <p:cNvSpPr/>
          <p:nvPr/>
        </p:nvSpPr>
        <p:spPr>
          <a:xfrm>
            <a:off x="347472" y="6035040"/>
            <a:ext cx="7077456" cy="1133856"/>
          </a:xfrm>
          <a:prstGeom prst="roundRect">
            <a:avLst>
              <a:gd name="adj" fmla="val 8000"/>
            </a:avLst>
          </a:prstGeom>
          <a:solidFill>
            <a:srgbClr val="EAF7F6"/>
          </a:solidFill>
          <a:ln w="10160">
            <a:solidFill>
              <a:srgbClr val="13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7200" y="6455664"/>
            <a:ext cx="292608" cy="292608"/>
          </a:xfrm>
          <a:prstGeom prst="ellipse">
            <a:avLst/>
          </a:prstGeom>
          <a:solidFill>
            <a:srgbClr val="1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510527"/>
            <a:ext cx="292608" cy="18288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t>
            </a:r>
          </a:p>
        </p:txBody>
      </p:sp>
      <p:sp>
        <p:nvSpPr>
          <p:cNvPr id="27" name="TextBox 26"/>
          <p:cNvSpPr txBox="1"/>
          <p:nvPr/>
        </p:nvSpPr>
        <p:spPr>
          <a:xfrm>
            <a:off x="832104" y="6126479"/>
            <a:ext cx="6464808" cy="969264"/>
          </a:xfrm>
          <a:prstGeom prst="rect">
            <a:avLst/>
          </a:prstGeom>
          <a:noFill/>
        </p:spPr>
        <p:txBody>
          <a:bodyPr wrap="square" lIns="0" rIns="0" tIns="0" bIns="0" anchor="ctr">
            <a:spAutoFit/>
          </a:bodyPr>
          <a:lstStyle/>
          <a:p>
            <a:pPr algn="l">
              <a:lnSpc>
                <a:spcPct val="100000"/>
              </a:lnSpc>
            </a:pPr>
            <a:r>
              <a:rPr sz="1010" b="0" i="0">
                <a:solidFill>
                  <a:srgbClr val="20263A"/>
                </a:solidFill>
                <a:latin typeface="Arial"/>
              </a:rPr>
              <a:t>The strongest design habit is intellectual honesty: label assumptions, measure finished values, record failures, and update the model instead of defending the original guess.</a:t>
            </a:r>
          </a:p>
        </p:txBody>
      </p:sp>
      <p:sp>
        <p:nvSpPr>
          <p:cNvPr id="28" name="Rounded Rectangle 27"/>
          <p:cNvSpPr/>
          <p:nvPr/>
        </p:nvSpPr>
        <p:spPr>
          <a:xfrm>
            <a:off x="347472" y="7424927"/>
            <a:ext cx="7077456" cy="868680"/>
          </a:xfrm>
          <a:prstGeom prst="roundRect">
            <a:avLst>
              <a:gd name="adj" fmla="val 8000"/>
            </a:avLst>
          </a:prstGeom>
          <a:solidFill>
            <a:srgbClr val="FFFFFF"/>
          </a:solidFill>
          <a:ln w="8890">
            <a:solidFill>
              <a:srgbClr val="D8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7472" y="7424927"/>
            <a:ext cx="50292" cy="868680"/>
          </a:xfrm>
          <a:prstGeom prst="rect">
            <a:avLst/>
          </a:prstGeom>
          <a:solidFill>
            <a:srgbClr val="E07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 y="7543800"/>
            <a:ext cx="6821424" cy="219456"/>
          </a:xfrm>
          <a:prstGeom prst="rect">
            <a:avLst/>
          </a:prstGeom>
          <a:noFill/>
        </p:spPr>
        <p:txBody>
          <a:bodyPr wrap="square" lIns="0" rIns="0" tIns="0" bIns="0" anchor="t">
            <a:spAutoFit/>
          </a:bodyPr>
          <a:lstStyle/>
          <a:p>
            <a:pPr algn="l">
              <a:lnSpc>
                <a:spcPct val="100000"/>
              </a:lnSpc>
            </a:pPr>
            <a:r>
              <a:rPr sz="1019" b="1" i="0">
                <a:solidFill>
                  <a:srgbClr val="20263A"/>
                </a:solidFill>
                <a:latin typeface="Arial"/>
              </a:rPr>
              <a:t>ONE SENTENCE TO REMEMBER</a:t>
            </a:r>
          </a:p>
        </p:txBody>
      </p:sp>
      <p:sp>
        <p:nvSpPr>
          <p:cNvPr id="31" name="TextBox 30"/>
          <p:cNvSpPr txBox="1"/>
          <p:nvPr/>
        </p:nvSpPr>
        <p:spPr>
          <a:xfrm>
            <a:off x="493776" y="7818119"/>
            <a:ext cx="6803136" cy="374903"/>
          </a:xfrm>
          <a:prstGeom prst="rect">
            <a:avLst/>
          </a:prstGeom>
          <a:noFill/>
        </p:spPr>
        <p:txBody>
          <a:bodyPr wrap="square" lIns="0" rIns="0" tIns="0" bIns="0" anchor="t">
            <a:spAutoFit/>
          </a:bodyPr>
          <a:lstStyle/>
          <a:p>
            <a:pPr algn="l">
              <a:lnSpc>
                <a:spcPct val="100000"/>
              </a:lnSpc>
            </a:pPr>
            <a:r>
              <a:rPr sz="960" b="0" i="0">
                <a:solidFill>
                  <a:srgbClr val="20263A"/>
                </a:solidFill>
                <a:latin typeface="Arial"/>
              </a:rPr>
              <a:t>Size for the mission, balance conservatively, build straight and stiff, test at safe altitude, and change only one major variable at a time.</a:t>
            </a:r>
          </a:p>
        </p:txBody>
      </p:sp>
      <p:sp>
        <p:nvSpPr>
          <p:cNvPr id="32" name="TextBox 31"/>
          <p:cNvSpPr txBox="1"/>
          <p:nvPr/>
        </p:nvSpPr>
        <p:spPr>
          <a:xfrm>
            <a:off x="347472" y="8860536"/>
            <a:ext cx="6510528" cy="137160"/>
          </a:xfrm>
          <a:prstGeom prst="rect">
            <a:avLst/>
          </a:prstGeom>
          <a:noFill/>
        </p:spPr>
        <p:txBody>
          <a:bodyPr wrap="square" lIns="0" rIns="0" tIns="0" bIns="0" anchor="t">
            <a:spAutoFit/>
          </a:bodyPr>
          <a:lstStyle/>
          <a:p>
            <a:pPr algn="l">
              <a:lnSpc>
                <a:spcPct val="100000"/>
              </a:lnSpc>
            </a:pPr>
            <a:r>
              <a:rPr sz="650" b="0" i="0">
                <a:solidFill>
                  <a:srgbClr val="5F687D"/>
                </a:solidFill>
                <a:latin typeface="Arial"/>
              </a:rPr>
              <a:t>Links verified July 2026. Always follow current manufacturer and regulatory guidance.</a:t>
            </a:r>
          </a:p>
        </p:txBody>
      </p:sp>
      <p:sp>
        <p:nvSpPr>
          <p:cNvPr id="33" name="TextBox 32"/>
          <p:cNvSpPr txBox="1"/>
          <p:nvPr/>
        </p:nvSpPr>
        <p:spPr>
          <a:xfrm>
            <a:off x="7168896" y="8860536"/>
            <a:ext cx="320040" cy="146304"/>
          </a:xfrm>
          <a:prstGeom prst="rect">
            <a:avLst/>
          </a:prstGeom>
          <a:noFill/>
        </p:spPr>
        <p:txBody>
          <a:bodyPr wrap="square" lIns="0" rIns="0" tIns="0" bIns="0" anchor="t">
            <a:spAutoFit/>
          </a:bodyPr>
          <a:lstStyle/>
          <a:p>
            <a:pPr algn="r">
              <a:lnSpc>
                <a:spcPct val="100000"/>
              </a:lnSpc>
            </a:pPr>
            <a:r>
              <a:rPr sz="740" b="1" i="0">
                <a:solidFill>
                  <a:srgbClr val="5F687D"/>
                </a:solidFill>
                <a:latin typeface="Arial"/>
              </a:rPr>
              <a:t>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 Aircraft Design &amp; Build Manual, Volume 1</dc:title>
  <dc:subject>From mission to maiden flight: practical fixed-wing R/C aircraft design and construction</dc:subject>
  <dc:creator>OpenAI</dc:creator>
  <cp:lastModifiedBy>OpenAI</cp:lastModifiedBy>
  <cp:revision>1</cp:revision>
  <dcterms:created xsi:type="dcterms:W3CDTF">2026-07-11T00:11:18Z</dcterms:created>
  <dcterms:modified xsi:type="dcterms:W3CDTF">2026-07-11T00:11:18Z</dcterms:modified>
  <cp:keywords>RC aircraft, model airplane, airfoil, wing sizing, tail volume, control surfaces, construction, propulsion, maiden flight</cp:keywords>
</cp:coreProperties>
</file>